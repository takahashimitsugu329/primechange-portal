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分析6: 品質→売上 弾力性分析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731520" y="246888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651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Quality-to-Revenue Elasticity Analysis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3200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対象: 19ホテル | 月間総売上: ¥99,847,777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4747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2026-03-10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920240" cy="73152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92024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スコア-RevPAR相関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r=0.6382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2423160" y="731520"/>
            <a:ext cx="192024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731520"/>
            <a:ext cx="192024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弾力性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2.61%/0.1pt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4572000" y="731520"/>
            <a:ext cx="1920240" cy="731520"/>
          </a:xfrm>
          <a:prstGeom prst="rect">
            <a:avLst/>
          </a:prstGeom>
          <a:solidFill>
            <a:srgbClr val="E0F2F1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731520"/>
            <a:ext cx="1920240" cy="36576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vs業界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業界ベンチマーク比 3%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6720840" y="731520"/>
            <a:ext cx="192024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20840" y="73152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月間改善余地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2084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¥12,677,391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274320" y="1828800"/>
            <a:ext cx="2743200" cy="246888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1828800"/>
            <a:ext cx="27432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正の相関を確認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11480" y="228600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スコアとRevPARの相関はr=0.6382。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決定係数R²=0.4073で、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RevPAR変動の約41%がスコアで説明可能。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154680" y="1828800"/>
            <a:ext cx="2743200" cy="246888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154680" y="1828800"/>
            <a:ext cx="27432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27" name="Text 25"/>
          <p:cNvSpPr/>
          <p:nvPr/>
        </p:nvSpPr>
        <p:spPr>
          <a:xfrm>
            <a:off x="329184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業界以上の弾力性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291840" y="228600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自社データ: 0.1pt改善→RevPAR 2.61%向上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業界: 0.1pt→1.0%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品質改善の経済効果がベンチマーク以上。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35040" y="1828800"/>
            <a:ext cx="2743200" cy="246888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35040" y="182880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31" name="Text 29"/>
          <p:cNvSpPr/>
          <p:nvPr/>
        </p:nvSpPr>
        <p:spPr>
          <a:xfrm>
            <a:off x="617220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大きな改善余地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172200" y="228600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全ホテル合計で月間¥12,677,391、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年間¥152,128,692の改善余地。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URGENTホテルが最大のポテンシャル。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4" name="Text 32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回帰分析結果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スコア1点改善のインパクト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77240"/>
          <a:ext cx="8595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914400"/>
                <a:gridCol w="731520"/>
                <a:gridCol w="5029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指標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相関 (r)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R²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解釈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稼働率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9800"/>
                          </a:solidFill>
                        </a:rPr>
                        <a:t>0.385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0.148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スコア1点上昇で稼働率が4.3%ポイント変動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ADR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0.589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0.347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スコア1点上昇でADRが267円変動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RevPAR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0.638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0.407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スコア1点上昇でRevPARが245円変動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1室売上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0.638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0.407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スコア1点上昇で1室あたり月間売上が6847円変動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22860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19ホテル: スコア vs RevPAR</a:t>
            </a:r>
            <a:endParaRPr lang="en-US" sz="11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560320"/>
          <a:ext cx="8595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731520"/>
                <a:gridCol w="822960"/>
                <a:gridCol w="109728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ホテル名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スコア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稼働率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RevPAR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月間売上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7.02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67.8%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¥655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¥5,578,650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7.03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70.9%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¥693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¥3,705,215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7.44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74.5%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¥760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¥4,679,520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7.70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55.9%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¥596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¥4,051,890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7.87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78.1%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¥851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¥5,764,630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8.10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72.3%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¥891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¥2,842,630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アパホテル相模原橋本駅東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8.12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66.9%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¥824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¥2,698,420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変なホテル東京羽田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8.25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78.2%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¥957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¥5,358,150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コンフォートホテル成田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66%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¥668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¥2,655,760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79.7%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¥894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¥11,211,550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79.4%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¥1,391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¥7,168,120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リッチモンドホテル東京目白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81.8%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¥902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¥3,663,440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ホテルケヤキゲート東京府中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8.81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82.4%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¥1,013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¥4,425,395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8.81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79.2%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¥1,374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¥4,463,320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8.88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70.3%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¥958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¥5,203,037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コンフォートホテルERA東京東神田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8.93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65.8%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¥769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¥4,047,280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京成リッチモンドホテル東京錦糸町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9.00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87.2%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¥978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¥4,791,800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第一イン池袋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9.03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76.2%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¥1,108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¥4,310,610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コンフォートスイーツ東京ベイ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9.19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72.1%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¥1,514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¥13,228,360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9" name="Text 5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閾値分析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スコア帯別の売上パフォーマンス比較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011680" cy="21945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201168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7.0-8.0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7432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5ホテル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28016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69.4%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6576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28016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E74C3C"/>
                </a:solidFill>
              </a:rPr>
              <a:t>¥711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6576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28016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¥4,755,981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6576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600" dirty="0"/>
          </a:p>
        </p:txBody>
      </p:sp>
      <p:sp>
        <p:nvSpPr>
          <p:cNvPr id="16" name="Shape 14"/>
          <p:cNvSpPr/>
          <p:nvPr/>
        </p:nvSpPr>
        <p:spPr>
          <a:xfrm>
            <a:off x="2423160" y="777240"/>
            <a:ext cx="2011680" cy="219456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423160" y="777240"/>
            <a:ext cx="201168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8" name="Text 16"/>
          <p:cNvSpPr/>
          <p:nvPr/>
        </p:nvSpPr>
        <p:spPr>
          <a:xfrm>
            <a:off x="242316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8.0-8.5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42316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1460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42900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72.5%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51460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42900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9800"/>
                </a:solidFill>
              </a:rPr>
              <a:t>¥890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51460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42900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¥3,633,067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51460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600" dirty="0"/>
          </a:p>
        </p:txBody>
      </p:sp>
      <p:sp>
        <p:nvSpPr>
          <p:cNvPr id="27" name="Shape 25"/>
          <p:cNvSpPr/>
          <p:nvPr/>
        </p:nvSpPr>
        <p:spPr>
          <a:xfrm>
            <a:off x="4572000" y="777240"/>
            <a:ext cx="2011680" cy="219456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72000" y="777240"/>
            <a:ext cx="201168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8.5-9.0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7200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8ホテル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66344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57784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75.6%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66344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57784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E75B6"/>
                </a:solidFill>
              </a:rPr>
              <a:t>¥996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66344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57784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¥5,354,738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66344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600" dirty="0"/>
          </a:p>
        </p:txBody>
      </p:sp>
      <p:sp>
        <p:nvSpPr>
          <p:cNvPr id="38" name="Shape 36"/>
          <p:cNvSpPr/>
          <p:nvPr/>
        </p:nvSpPr>
        <p:spPr>
          <a:xfrm>
            <a:off x="6720840" y="777240"/>
            <a:ext cx="2011680" cy="21945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720840" y="777240"/>
            <a:ext cx="201168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40" name="Text 38"/>
          <p:cNvSpPr/>
          <p:nvPr/>
        </p:nvSpPr>
        <p:spPr>
          <a:xfrm>
            <a:off x="672084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9.0+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72084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81228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772668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78.5%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81228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772668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7AE60"/>
                </a:solidFill>
              </a:rPr>
              <a:t>¥1,200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81228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772668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¥7,443,590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81228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274320" y="3200400"/>
            <a:ext cx="8595360" cy="13716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457200" y="32918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分析の示唆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457200" y="35661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</a:rPr>
              <a:t>スコア7-8帯と8.5-9帯のRevPAR差: ¥285</a:t>
            </a:r>
            <a:pPr indent="0" marL="0">
              <a:buNone/>
            </a:pPr>
            <a:r>
              <a:rPr lang="en-US" sz="1100" dirty="0">
                <a:solidFill>
                  <a:srgbClr val="27AE60"/>
                </a:solidFill>
              </a:rPr>
              <a:t>（40%差）
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スコア8.5以上を全ホテルの目標に設定すべき。
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低スコアホテルの改善が最大のRevPAR改善機会。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53" name="Text 51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業界ベンチマークとの比較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 vs 業界標準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4114800" cy="228600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4114800" cy="36576"/>
          </a:xfrm>
          <a:prstGeom prst="rect">
            <a:avLst/>
          </a:prstGeom>
          <a:solidFill>
            <a:srgbClr val="66666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68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スコア0.1点改善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RevPAR 1.0%向上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（出典: 業界研究データ）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09160" y="777240"/>
            <a:ext cx="4160520" cy="228600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777240"/>
            <a:ext cx="416052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2" name="Text 10"/>
          <p:cNvSpPr/>
          <p:nvPr/>
        </p:nvSpPr>
        <p:spPr>
          <a:xfrm>
            <a:off x="4892040" y="868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自社データ（N=19）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92040" y="1280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スコア0.1点改善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RevPAR 2.61%向上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892040" y="2286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対ベンチマーク: 業界ベンチマーク比 3%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3291840"/>
            <a:ext cx="8595360" cy="12801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57200" y="33832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解釈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自社データでも正の相関が確認された。業界ベンチマークと同等以上の弾力性がある可能性。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42062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サンプルサイズN=19のため、弾力性値は参考値。データ蓄積で精度向上。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収益インパクト試算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3シナリオでの売上改善額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77240"/>
          <a:ext cx="8595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  <a:gridCol w="237744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項目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控えめ(+0.1)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標準(+0.3)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積極的(+0.5)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RevPAR変動率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</a:rPr>
                        <a:t>2.6%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</a:rPr>
                        <a:t>7.8%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</a:rPr>
                        <a:t>13.1%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月間売上改善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¥2,607,039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¥7,821,118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¥13,035,195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年間売上改善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¥31,284,468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¥93,853,416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¥156,422,340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22860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 改善余地 TOP5</a:t>
            </a:r>
            <a:endParaRPr lang="en-US" sz="11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560320"/>
          <a:ext cx="859536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914400"/>
                <a:gridCol w="914400"/>
                <a:gridCol w="164592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現スコア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目標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月間効果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年間効果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9.1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¥1,533,707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¥18,404,485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7.02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¥1,040,730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¥12,488,758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7.70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¥831,899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¥9,982,789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7.87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¥828,476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¥9,941,709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7.44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¥753,160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¥9,037,917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023360"/>
            <a:ext cx="8595360" cy="5486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457200" y="40690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全19ホテル合計: 月間 ¥12,677,391 ／ 年間 ¥152,128,692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1" name="Text 7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提言と次のステップ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00584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2801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801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12984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品質改善=投資として位置づけ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71600" y="15270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弾力性データを経営会議で共有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31520" y="19659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9659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19842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スコア8.5を全ホテル最低目標に設定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71600" y="22128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閾値分析に基づく戦略的目標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1520" y="26517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6517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71600" y="26700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URGENT/HIGHホテルに集中投資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71600" y="28986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改善余地が最も大きい4施設を優先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1520" y="33375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3375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71600" y="33558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分析1（クレーム類型）に着手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371600" y="35844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弾力性データと組み合わせて具体的な改善項目を特定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31520" y="40233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40233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71600" y="4041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四半期ごとに弾力性を再計算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371600" y="42702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データ蓄積で統計的精度を向上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31520" y="4389120"/>
            <a:ext cx="768096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452628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データに基づく品質改善投資で、CS向上→売上増加の好循環を実現する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分析6: 品質→売上弾力性分析</dc:title>
  <dc:subject>PptxGenJS Presentation</dc:subject>
  <dc:creator>PRIMECHANGE</dc:creator>
  <cp:lastModifiedBy>PRIMECHANGE</cp:lastModifiedBy>
  <cp:revision>1</cp:revision>
  <dcterms:created xsi:type="dcterms:W3CDTF">2026-04-05T00:17:47Z</dcterms:created>
  <dcterms:modified xsi:type="dcterms:W3CDTF">2026-04-05T00:17:47Z</dcterms:modified>
</cp:coreProperties>
</file>