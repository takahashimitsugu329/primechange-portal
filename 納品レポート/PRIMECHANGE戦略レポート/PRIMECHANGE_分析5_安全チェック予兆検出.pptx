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PRIMECHANGE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0116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分析5: 安全チェック×予兆検出分析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3108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19ホテルの安全チェックデータに基づく予兆検出レポート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27AE60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対象ホテル数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7432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27432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全ホテル実施済み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42316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2E75B6"/>
          </a:solidFill>
          <a:ln/>
        </p:spPr>
      </p:sp>
      <p:sp>
        <p:nvSpPr>
          <p:cNvPr id="8" name="Text 6"/>
          <p:cNvSpPr/>
          <p:nvPr/>
        </p:nvSpPr>
        <p:spPr>
          <a:xfrm>
            <a:off x="242316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平均安全スコア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42316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2.83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242316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5点満点中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E74C3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問題項目数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7200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68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457200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要改善項目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72084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FF9800"/>
          </a:solidFill>
          <a:ln/>
        </p:spPr>
      </p:sp>
      <p:sp>
        <p:nvSpPr>
          <p:cNvPr id="16" name="Text 14"/>
          <p:cNvSpPr/>
          <p:nvPr/>
        </p:nvSpPr>
        <p:spPr>
          <a:xfrm>
            <a:off x="672084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安全vs口コミ相関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72084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r=0.224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672084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弱い正の相関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57200" y="32004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全ホテルで安全チェック実施。「整理整頓」「現場運営」に課題が集中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35661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安全スコアと口コミに弱い正の相関。安全管理の充実が品質向上に寄与する可能性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ホテル別安全スコアランキング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097280"/>
          <a:ext cx="8412480" cy="3200400"/>
        </p:xfrm>
        <a:graphic>
          <a:graphicData uri="http://schemas.openxmlformats.org/drawingml/2006/table">
            <a:tbl>
              <a:tblPr/>
              <a:tblGrid>
                <a:gridCol w="548640"/>
                <a:gridCol w="2926080"/>
                <a:gridCol w="1097280"/>
                <a:gridCol w="914400"/>
                <a:gridCol w="1097280"/>
                <a:gridCol w="914400"/>
              </a:tblGrid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順位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ホテル名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安全スコア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クレーム率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問題件数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コンフォートH.ERA東神田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6.55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変なH.東京羽田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アパH.相模原橋本駅東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4.40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川崎日航H.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14.95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コンフォートイン六本木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コンフォートスイーツ東京ベイ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10.79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ダイワロイネットH.東京大崎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コートH.新横浜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H.コメント横浜関内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京成リッチモンドH.東京錦糸町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13.93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チサンH.浜松町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ハートンH.東品川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問題領域の分析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097280"/>
            <a:ext cx="2651760" cy="1280160"/>
          </a:xfrm>
          <a:prstGeom prst="roundRect">
            <a:avLst>
              <a:gd name="adj" fmla="val 7143"/>
            </a:avLst>
          </a:prstGeom>
          <a:solidFill>
            <a:srgbClr val="E74C3C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118872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整理整頓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274320" y="150876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23件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74320" y="196596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 72.6%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108960" y="1097280"/>
            <a:ext cx="2651760" cy="1280160"/>
          </a:xfrm>
          <a:prstGeom prst="roundRect">
            <a:avLst>
              <a:gd name="adj" fmla="val 7143"/>
            </a:avLst>
          </a:prstGeom>
          <a:solidFill>
            <a:srgbClr val="FF9800"/>
          </a:solidFill>
          <a:ln/>
        </p:spPr>
      </p:sp>
      <p:sp>
        <p:nvSpPr>
          <p:cNvPr id="8" name="Text 6"/>
          <p:cNvSpPr/>
          <p:nvPr/>
        </p:nvSpPr>
        <p:spPr>
          <a:xfrm>
            <a:off x="3108960" y="118872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安全管理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108960" y="150876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0件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3108960" y="196596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 93.3%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943600" y="1097280"/>
            <a:ext cx="2651760" cy="1280160"/>
          </a:xfrm>
          <a:prstGeom prst="roundRect">
            <a:avLst>
              <a:gd name="adj" fmla="val 7143"/>
            </a:avLst>
          </a:prstGeom>
          <a:solidFill>
            <a:srgbClr val="00695C"/>
          </a:solidFill>
          <a:ln/>
        </p:spPr>
      </p:sp>
      <p:sp>
        <p:nvSpPr>
          <p:cNvPr id="12" name="Text 10"/>
          <p:cNvSpPr/>
          <p:nvPr/>
        </p:nvSpPr>
        <p:spPr>
          <a:xfrm>
            <a:off x="5943600" y="118872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衛生管理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943600" y="150876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6件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5943600" y="196596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 87.5%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74320" y="2606040"/>
            <a:ext cx="2651760" cy="1280160"/>
          </a:xfrm>
          <a:prstGeom prst="roundRect">
            <a:avLst>
              <a:gd name="adj" fmla="val 7143"/>
            </a:avLst>
          </a:prstGeom>
          <a:solidFill>
            <a:srgbClr val="E74C3C"/>
          </a:solidFill>
          <a:ln/>
        </p:spPr>
      </p:sp>
      <p:sp>
        <p:nvSpPr>
          <p:cNvPr id="16" name="Text 14"/>
          <p:cNvSpPr/>
          <p:nvPr/>
        </p:nvSpPr>
        <p:spPr>
          <a:xfrm>
            <a:off x="274320" y="269748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現場運営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74320" y="301752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39件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274320" y="347472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 66.9%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08960" y="2606040"/>
            <a:ext cx="2651760" cy="1280160"/>
          </a:xfrm>
          <a:prstGeom prst="roundRect">
            <a:avLst>
              <a:gd name="adj" fmla="val 7143"/>
            </a:avLst>
          </a:prstGeom>
          <a:solidFill>
            <a:srgbClr val="2E75B6"/>
          </a:solidFill>
          <a:ln/>
        </p:spPr>
      </p:sp>
      <p:sp>
        <p:nvSpPr>
          <p:cNvPr id="20" name="Text 18"/>
          <p:cNvSpPr/>
          <p:nvPr/>
        </p:nvSpPr>
        <p:spPr>
          <a:xfrm>
            <a:off x="3108960" y="269748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現場ルール・マナー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108960" y="301752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0件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3108960" y="347472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 90.7%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57200" y="4114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問題項目合計: 68件 / 最頻出: 「棚に物が積みあがっていないか」(全19ホテル)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提言とアクションプラン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09728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E74C3C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14300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安全チェック実施率の向上  [最優先]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50876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月1回の安全チェック実施を全ホテルに義務化 / チェックリストのデジタル化による入力率向上 / チェック結果の本社共有と改善追跡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74320" y="219456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FF980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224028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問題項目の重点改善  [高]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60604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△・✖評価の項目への是正措置と期限設定 / 改善前後の写真記録による可視化 / 四半期での改善進捗レビュー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74320" y="329184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00695C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333756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安全スコアと品質KPIの連動  [中]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370332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安全スコアの低下→クレーム増加の早期警戒指標化 / 月次ダッシュボードへの安全チェックスコア統合 / ベストプラクティスホテルの安全管理手法の横展開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2026-04-05T10:02:51Z</dcterms:created>
  <dcterms:modified xsi:type="dcterms:W3CDTF">2026-04-05T10:02:51Z</dcterms:modified>
</cp:coreProperties>
</file>