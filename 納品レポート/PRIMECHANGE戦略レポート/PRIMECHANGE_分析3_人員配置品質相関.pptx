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3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09728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PRIMECHANGE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457200" y="20116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分析3: 人員配置×品質 相関分析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31089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19ホテル日報データに基づくスタッフ配置と品質の関連分析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主要な発見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274320" y="1280160"/>
            <a:ext cx="1965960" cy="1463040"/>
          </a:xfrm>
          <a:prstGeom prst="roundRect">
            <a:avLst>
              <a:gd name="adj" fmla="val 6250"/>
            </a:avLst>
          </a:prstGeom>
          <a:solidFill>
            <a:srgbClr val="E74C3C"/>
          </a:solidFill>
          <a:ln/>
        </p:spPr>
      </p:sp>
      <p:sp>
        <p:nvSpPr>
          <p:cNvPr id="4" name="Text 2"/>
          <p:cNvSpPr/>
          <p:nvPr/>
        </p:nvSpPr>
        <p:spPr>
          <a:xfrm>
            <a:off x="274320" y="13716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M:C比率 vs スコア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274320" y="1737360"/>
            <a:ext cx="1965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r=-0.441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274320" y="22860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中程度の負の相関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2423160" y="1280160"/>
            <a:ext cx="1965960" cy="1463040"/>
          </a:xfrm>
          <a:prstGeom prst="roundRect">
            <a:avLst>
              <a:gd name="adj" fmla="val 6250"/>
            </a:avLst>
          </a:prstGeom>
          <a:solidFill>
            <a:srgbClr val="2E75B6"/>
          </a:solidFill>
          <a:ln/>
        </p:spPr>
      </p:sp>
      <p:sp>
        <p:nvSpPr>
          <p:cNvPr id="8" name="Text 6"/>
          <p:cNvSpPr/>
          <p:nvPr/>
        </p:nvSpPr>
        <p:spPr>
          <a:xfrm>
            <a:off x="2423160" y="13716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チェッカー vs スコア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2423160" y="1737360"/>
            <a:ext cx="1965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r=0.302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2423160" y="22860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弱い正の相関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572000" y="1280160"/>
            <a:ext cx="1965960" cy="1463040"/>
          </a:xfrm>
          <a:prstGeom prst="roundRect">
            <a:avLst>
              <a:gd name="adj" fmla="val 6250"/>
            </a:avLst>
          </a:prstGeom>
          <a:solidFill>
            <a:srgbClr val="666666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0" y="13716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メイド vs スコア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572000" y="1737360"/>
            <a:ext cx="1965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r=-0.005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4572000" y="22860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ほぼ無相関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6720840" y="1280160"/>
            <a:ext cx="1965960" cy="1463040"/>
          </a:xfrm>
          <a:prstGeom prst="roundRect">
            <a:avLst>
              <a:gd name="adj" fmla="val 6250"/>
            </a:avLst>
          </a:prstGeom>
          <a:solidFill>
            <a:srgbClr val="FF9800"/>
          </a:solidFill>
          <a:ln/>
        </p:spPr>
      </p:sp>
      <p:sp>
        <p:nvSpPr>
          <p:cNvPr id="16" name="Text 14"/>
          <p:cNvSpPr/>
          <p:nvPr/>
        </p:nvSpPr>
        <p:spPr>
          <a:xfrm>
            <a:off x="6720840" y="13716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 vs クレーム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720840" y="1737360"/>
            <a:ext cx="1965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r=0.436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6720840" y="22860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中程度の正の相関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57200" y="32004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「数」よりも「質」と「チェック体制」が品質を決定する重要な要因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35661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メイド:チェッカー比率の最適化がスコア向上の最も効果的なレバー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ホテル別人員配置と品質</a:t>
            </a:r>
            <a:endParaRPr lang="en-US" sz="22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1097280"/>
          <a:ext cx="8229600" cy="3200400"/>
        </p:xfrm>
        <a:graphic>
          <a:graphicData uri="http://schemas.openxmlformats.org/drawingml/2006/table">
            <a:tbl>
              <a:tblPr/>
              <a:tblGrid>
                <a:gridCol w="2743200"/>
                <a:gridCol w="1097280"/>
                <a:gridCol w="1097280"/>
                <a:gridCol w="1097280"/>
                <a:gridCol w="1097280"/>
              </a:tblGrid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ホテル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メイド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チェッカー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M:C比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スコア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コンフォートスイーツ東京ベイ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22.4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4.0:1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9.19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第一イン池袋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1.5:1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9.03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京成リッチモンドH.東京錦糸町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2.7:1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9.00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コンフォートH.ERA東神田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8.93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ダイワロイネットH.東京大崎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4.1:1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8.88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H.ケヤキゲート東京府中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6.0:1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8.81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H.コメント横浜関内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3.3:1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8.81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リッチモンドH.東京目白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2.0:1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8.65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ハートンH.東品川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12.4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8.0:1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8.62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川崎日航H.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1.8:1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8.62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コンフォートH.成田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8.2:1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8.60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変なH.東京羽田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12.6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4.2:1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8.25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配置水準別の品質比較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457200" y="1280160"/>
            <a:ext cx="3840480" cy="2011680"/>
          </a:xfrm>
          <a:prstGeom prst="roundRect">
            <a:avLst>
              <a:gd name="adj" fmla="val 4545"/>
            </a:avLst>
          </a:prstGeom>
          <a:solidFill>
            <a:srgbClr val="FF9800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371600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低配置グループ (9ホテル)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731520" y="182880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平均メイド: 7.0名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平均スコア: 8.45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731520" y="265176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クレーム率: 5.9/万室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572000" y="1280160"/>
            <a:ext cx="3840480" cy="2011680"/>
          </a:xfrm>
          <a:prstGeom prst="roundRect">
            <a:avLst>
              <a:gd name="adj" fmla="val 4545"/>
            </a:avLst>
          </a:prstGeom>
          <a:solidFill>
            <a:srgbClr val="2E75B6"/>
          </a:solidFill>
          <a:ln/>
        </p:spPr>
      </p:sp>
      <p:sp>
        <p:nvSpPr>
          <p:cNvPr id="9" name="Text 7"/>
          <p:cNvSpPr/>
          <p:nvPr/>
        </p:nvSpPr>
        <p:spPr>
          <a:xfrm>
            <a:off x="4572000" y="1371600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高配置グループ (10ホテル)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846320" y="182880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平均メイド: 12.5名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846320" y="219456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平均スコア: 8.26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4846320" y="265176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クレーム率: 6.2/万室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57200" y="36576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メイド「数」の多寡よりも、チェッカー配置と比率の最適化が品質を左右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提言とアクションプラン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274320" y="1097280"/>
            <a:ext cx="8412480" cy="914400"/>
          </a:xfrm>
          <a:prstGeom prst="roundRect">
            <a:avLst>
              <a:gd name="adj" fmla="val 8000"/>
            </a:avLst>
          </a:prstGeom>
          <a:solidFill>
            <a:srgbClr val="E74C3C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143000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メイド・チェッカー比率の最適化  [高]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1508760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メイド3〜5名に対しチェッカー1名の配置基準を設定 / 高稼働日（150室超）は追加チェッカーの配置を検討 / チェッカー不在ホテルへの配置導入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274320" y="2194560"/>
            <a:ext cx="8412480" cy="914400"/>
          </a:xfrm>
          <a:prstGeom prst="roundRect">
            <a:avLst>
              <a:gd name="adj" fmla="val 8000"/>
            </a:avLst>
          </a:prstGeom>
          <a:solidFill>
            <a:srgbClr val="FF9800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2240280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チェッカー配置とスコアの連動強化  [最優先]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2606040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チェッカー配置率100%を目標に採用・配置計画を策定 / チェッカー研修プログラムの統一と強化 / チェッカー不在時の代替チェック体制の確立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274320" y="3291840"/>
            <a:ext cx="8412480" cy="914400"/>
          </a:xfrm>
          <a:prstGeom prst="roundRect">
            <a:avLst>
              <a:gd name="adj" fmla="val 8000"/>
            </a:avLst>
          </a:prstGeom>
          <a:solidFill>
            <a:srgbClr val="00695C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3337560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データ入力の標準化と充実  [中]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3703320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日報必須入力項目の明確化（メイド数・チェッカー数・完了時間） / 翌日稼働数の数値入力フォーマット統一 / 月次での入力率チェックと改善フィードバック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2026-03-25T11:12:28Z</dcterms:created>
  <dcterms:modified xsi:type="dcterms:W3CDTF">2026-03-25T11:12:28Z</dcterms:modified>
</cp:coreProperties>
</file>