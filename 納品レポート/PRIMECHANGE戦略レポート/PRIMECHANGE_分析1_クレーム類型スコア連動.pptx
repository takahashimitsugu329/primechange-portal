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分析1: クレーム類型×口コミスコア連動分析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2651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Type × Review Score Correlation Analysis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対象: 19ホテル | 総クレーム: 87件 | 13類型分析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2025年3月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19ホテル×13クレーム類型の統合分析から得られた重要な洞察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27432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総クレーム件数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130,709室中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42316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7AE60"/>
          </a:solidFill>
          <a:ln/>
        </p:spPr>
      </p:sp>
      <p:sp>
        <p:nvSpPr>
          <p:cNvPr id="9" name="Text 7"/>
          <p:cNvSpPr/>
          <p:nvPr/>
        </p:nvSpPr>
        <p:spPr>
          <a:xfrm>
            <a:off x="242316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万室あたりクレーム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42316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6.1件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42316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19ホテル平均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最多類型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セット漏れ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57200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28.7% (25件)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72084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7" name="Text 15"/>
          <p:cNvSpPr/>
          <p:nvPr/>
        </p:nvSpPr>
        <p:spPr>
          <a:xfrm>
            <a:off x="672084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72084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72084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達成率 15.8%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3291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「客室準備系」クレームが全体の55.2%を占有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3611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上位2類型（セット漏れ・残置）で全体の55.9%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3931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クレーム50%削減で年間約¥41,789,401の改善ポテンシャル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クレーム類型別頻度ランキング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4114800" cy="3200400"/>
        </p:xfrm>
        <a:graphic>
          <a:graphicData uri="http://schemas.openxmlformats.org/drawingml/2006/table">
            <a:tbl>
              <a:tblPr/>
              <a:tblGrid>
                <a:gridCol w="1371600"/>
                <a:gridCol w="731520"/>
                <a:gridCol w="914400"/>
                <a:gridCol w="1097280"/>
              </a:tblGrid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類型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構成比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影響ホテル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その他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髪の毛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巻き込み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ドア閉め忘れ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手配ミス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破損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846320" y="128016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2E75B6"/>
          </a:solidFill>
          <a:ln/>
        </p:spPr>
      </p:sp>
      <p:sp>
        <p:nvSpPr>
          <p:cNvPr id="5" name="Text 2"/>
          <p:cNvSpPr/>
          <p:nvPr/>
        </p:nvSpPr>
        <p:spPr>
          <a:xfrm>
            <a:off x="5029200" y="132588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客室準備系  48件 (55.2%)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029200" y="164592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残置、セット漏れ、手配ミス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846320" y="210312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FF9800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0" y="21488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清潔性系  22件 (25.3%)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029200" y="246888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髪の毛、汚れ、清掃不備、未清掃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846320" y="292608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00695C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0" y="29718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その他  12件 (13.8%)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029200" y="329184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私物破棄、その他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4846320" y="374904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666666"/>
          </a:solidFill>
          <a:ln/>
        </p:spPr>
      </p:sp>
      <p:sp>
        <p:nvSpPr>
          <p:cNvPr id="14" name="Text 11"/>
          <p:cNvSpPr/>
          <p:nvPr/>
        </p:nvSpPr>
        <p:spPr>
          <a:xfrm>
            <a:off x="5029200" y="37947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安全・設備系  5件 (5.7%)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029200" y="411480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巻き込み、誤入室、ドア閉め忘れ、破損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クレーム率×スコア相関分析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全体相関: r=0.2982 (弱い相関)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280160"/>
          <a:ext cx="4572000" cy="2743200"/>
        </p:xfrm>
        <a:graphic>
          <a:graphicData uri="http://schemas.openxmlformats.org/drawingml/2006/table">
            <a:tbl>
              <a:tblPr/>
              <a:tblGrid>
                <a:gridCol w="1371600"/>
                <a:gridCol w="822960"/>
                <a:gridCol w="731520"/>
                <a:gridCol w="1097280"/>
              </a:tblGrid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類型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相関 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|r|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破損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巻き込み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手配ミス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ドア閉め忘れ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ほぼ無相関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髪の毛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ほぼ無相関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120640" y="1280160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F0F4F8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303520" y="13716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分析上の考察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303520" y="17373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全ホテルのクレーム率が極めて低水準（0〜0.15%）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303520" y="20574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高品質ホテルほど検知力が高い可能性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303520" y="23774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「汚れ」が最高相関（r=0.42）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303520" y="26974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データ蓄積で分析精度向上が見込まれる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303520" y="30175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N=19のため参考値として活用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ホテル別クレームプロファイル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50292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640080"/>
                <a:gridCol w="914400"/>
                <a:gridCol w="1097280"/>
              </a:tblGrid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ホテル名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万室あたり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主要類型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コンフォートH.博多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アパH.蒲田駅東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アパH.相模原橋本駅東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0" y="1097280"/>
            <a:ext cx="3291840" cy="1645920"/>
          </a:xfrm>
          <a:prstGeom prst="roundRect">
            <a:avLst>
              <a:gd name="adj" fmla="val 5556"/>
            </a:avLst>
          </a:prstGeom>
          <a:solidFill>
            <a:srgbClr val="27AE60"/>
          </a:solidFill>
          <a:ln/>
        </p:spPr>
      </p:sp>
      <p:sp>
        <p:nvSpPr>
          <p:cNvPr id="5" name="Text 2"/>
          <p:cNvSpPr/>
          <p:nvPr/>
        </p:nvSpPr>
        <p:spPr>
          <a:xfrm>
            <a:off x="5669280" y="118872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ゼロクレーム達成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760720" y="16002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リッチモンドホテル東京目白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760720" y="187452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コンフォートホテル成田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760720" y="214884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コンフォートホテル横浜関内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760720" y="251460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成功手法の横展開推奨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収益インパクト試算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分析6の弾力性を活用したクレーム削減→売上改善の連鎖効果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27AE6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4630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25%削減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 ¥1,741,225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2860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 ¥20,894,701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291840" y="137160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2E75B6"/>
          </a:solidFill>
          <a:ln/>
        </p:spPr>
      </p:sp>
      <p:sp>
        <p:nvSpPr>
          <p:cNvPr id="9" name="Text 7"/>
          <p:cNvSpPr/>
          <p:nvPr/>
        </p:nvSpPr>
        <p:spPr>
          <a:xfrm>
            <a:off x="3291840" y="14630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50%削減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29184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 ¥3,482,450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91840" y="22860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 ¥41,789,401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126480" y="137160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6126480" y="14630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75%削減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12648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 ¥5,223,675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26480" y="22860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 ¥62,684,102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類型別インパクト（50%削減時）: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3840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セット漏れ: 25件→12件 ¥925,259/月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383280" y="3840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残置: 22件→11件 ¥814,228/月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309360" y="3840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その他: 12件→6件 ¥444,125/月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41148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汚れ: 9件→4件 ¥333,093/月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383280" y="41148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清掃不備: 7件→3件 ¥259,073/月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改善優先度と提言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18872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23444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残置  (22件, |r|=0.315)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74320" y="169164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FF980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73736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 汚れ  (9件, |r|=0.365)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219456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F57F17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2402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 セット漏れ  (25件, |r|=0.081)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269748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2E75B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74320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 その他  (12件, |r|=0.033)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20040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00695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24612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#5 髪の毛  (6件, |r|=0.048)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1188720"/>
            <a:ext cx="4023360" cy="3200400"/>
          </a:xfrm>
          <a:prstGeom prst="roundRect">
            <a:avLst>
              <a:gd name="adj" fmla="val 2857"/>
            </a:avLst>
          </a:prstGeom>
          <a:solidFill>
            <a:srgbClr val="F0F4F8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0" y="12801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実施ロードマップ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937760" y="1691640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E74C3C"/>
          </a:solidFill>
          <a:ln/>
        </p:spPr>
      </p:sp>
      <p:sp>
        <p:nvSpPr>
          <p:cNvPr id="16" name="Text 14"/>
          <p:cNvSpPr/>
          <p:nvPr/>
        </p:nvSpPr>
        <p:spPr>
          <a:xfrm>
            <a:off x="4983480" y="17373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(1-2月)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16916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残置・セット漏れ対策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チェックリスト強化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37760" y="2350008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FF9800"/>
          </a:solidFill>
          <a:ln/>
        </p:spPr>
      </p:sp>
      <p:sp>
        <p:nvSpPr>
          <p:cNvPr id="19" name="Text 17"/>
          <p:cNvSpPr/>
          <p:nvPr/>
        </p:nvSpPr>
        <p:spPr>
          <a:xfrm>
            <a:off x="4983480" y="2395728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(3-4月)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492240" y="2350008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清潔性系対策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研修プログラム導入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937760" y="3008376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27AE60"/>
          </a:solidFill>
          <a:ln/>
        </p:spPr>
      </p:sp>
      <p:sp>
        <p:nvSpPr>
          <p:cNvPr id="22" name="Text 20"/>
          <p:cNvSpPr/>
          <p:nvPr/>
        </p:nvSpPr>
        <p:spPr>
          <a:xfrm>
            <a:off x="4983480" y="3054096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(5-6月)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92240" y="3008376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ゼロクレームホテル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ベストプラクティス横展開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937760" y="3666744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00695C"/>
          </a:solidFill>
          <a:ln/>
        </p:spPr>
      </p:sp>
      <p:sp>
        <p:nvSpPr>
          <p:cNvPr id="25" name="Text 23"/>
          <p:cNvSpPr/>
          <p:nvPr/>
        </p:nvSpPr>
        <p:spPr>
          <a:xfrm>
            <a:off x="4983480" y="3712464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 (7-12月)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492240" y="3666744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統一予防体制確立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効果測定・PDCA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分析1: クレーム類型×スコア連動分析</dc:subject>
  <dc:creator>PRIMECHANGE</dc:creator>
  <cp:lastModifiedBy>PRIMECHANGE</cp:lastModifiedBy>
  <cp:revision>1</cp:revision>
  <dcterms:created xsi:type="dcterms:W3CDTF">2026-03-19T23:27:42Z</dcterms:created>
  <dcterms:modified xsi:type="dcterms:W3CDTF">2026-03-19T23:27:42Z</dcterms:modified>
</cp:coreProperties>
</file>