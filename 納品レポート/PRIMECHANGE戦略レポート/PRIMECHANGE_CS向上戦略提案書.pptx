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PRIMECHANGE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CS向上 × 売上増加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戦略提案書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1828800" cy="36576"/>
          </a:xfrm>
          <a:prstGeom prst="rect">
            <a:avLst/>
          </a:prstGeom>
          <a:solidFill>
            <a:srgbClr val="5A9BE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200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Proposal for Customer Satisfaction &amp; Revenue Growth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対象：19ホテル | 月間総売上：¥99,847,777 | 口コミ：2194件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2026年3月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株式会社PRIMECHANGE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エグゼクティブサマリー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CS向上から売上増加へ — 3つの重要な発見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1920240" cy="77724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192024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8412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平均スコア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0241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8.38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423160" y="731520"/>
            <a:ext cx="1920240" cy="77724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731520"/>
            <a:ext cx="192024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2423160" y="8412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月間総売上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23160" y="10241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¥1.0億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572000" y="731520"/>
            <a:ext cx="1920240" cy="77724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731520"/>
            <a:ext cx="192024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8412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クレーム率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0" y="10241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6720840" y="731520"/>
            <a:ext cx="1920240" cy="777240"/>
          </a:xfrm>
          <a:prstGeom prst="rect">
            <a:avLst/>
          </a:prstGeom>
          <a:solidFill>
            <a:srgbClr val="E0F2F1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20840" y="731520"/>
            <a:ext cx="1920240" cy="36576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8412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改善余地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20840" y="10241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+3-5%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274320" y="1828800"/>
            <a:ext cx="2743200" cy="25603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1828800"/>
            <a:ext cx="274320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1965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未発掘データの宝庫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" y="228600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月次レポート22シートのうち70%以上が未分析。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クレーム類型・人員配置・安全チェック等の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データが眠っている。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54680" y="1828800"/>
            <a:ext cx="2743200" cy="25603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54680" y="1828800"/>
            <a:ext cx="27432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7" name="Text 25"/>
          <p:cNvSpPr/>
          <p:nvPr/>
        </p:nvSpPr>
        <p:spPr>
          <a:xfrm>
            <a:off x="3291840" y="1965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高リスクの3ホテル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91840" y="228600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低品質×高売上の3ホテル（博多/蒲田/浜松町）は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月間売上計約2,000万円。品質悪化→売上急落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リスクが最も高い。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1828800"/>
            <a:ext cx="2743200" cy="25603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1828800"/>
            <a:ext cx="27432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1" name="Text 29"/>
          <p:cNvSpPr/>
          <p:nvPr/>
        </p:nvSpPr>
        <p:spPr>
          <a:xfrm>
            <a:off x="6172200" y="1965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月間+300-500万円の余地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72200" y="228600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7つの分析テーマで品質を改善し、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スコア0.5点向上を実現すれば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月間300-500万円の売上増加。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PRIMECHANGE CS戦略提案書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CS→売上の因果メカニズム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口コミスコア0.1点改善 ≒ RevPAR約1%向上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91440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分析による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課題特定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508760" y="10972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691640" y="914400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91640" y="91440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的確な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26080" y="10972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108960" y="914400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108960" y="91440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清掃品質向上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クレーム削減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43400" y="10972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26280" y="914400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26280" y="91440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口コミスコア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760720" y="10972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43600" y="914400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0" y="91440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OTAランキング↑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稼働率向上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78040" y="10972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60920" y="914400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FFEBE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60920" y="91440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ホテル売上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増加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011680"/>
            <a:ext cx="8595360" cy="45720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PRIMECHANGEの契約維持 ・ 単価交渉力向上 ・ 新規受注競争力 → PRIMECHANGE売上増加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2743200"/>
            <a:ext cx="4114800" cy="1828800"/>
          </a:xfrm>
          <a:prstGeom prst="rect">
            <a:avLst/>
          </a:prstGeom>
          <a:solidFill>
            <a:srgbClr val="F0F7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自社データによる推定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15468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月間総売上: </a:t>
            </a:r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</a:rPr>
              <a:t>¥99,847,777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ポートフォリオ平均: </a:t>
            </a:r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</a:rPr>
              <a:t>8.38点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0.5点改善時の推定効果: </a:t>
            </a:r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+月間300-500万円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年間換算: </a:t>
            </a:r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+3,600-6,000万円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2743200"/>
            <a:ext cx="4114800" cy="1828800"/>
          </a:xfrm>
          <a:prstGeom prst="rect">
            <a:avLst/>
          </a:prstGeom>
          <a:solidFill>
            <a:srgbClr val="FFF8E1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3776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業界ベンチマーク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0" y="315468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スコア0.1点改善 → RevPAR +1%
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高スコアホテル（9.0+）は低スコアホテル（7.0-8.0）と比べ
稼働率が平均10-15%高い
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清掃品質は口コミスコアに最も影響する因子の一つ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PRIMECHANGE CS戦略提案書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現状：品質×売上マトリクス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19ホテルの4象限分類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60520" cy="182880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416052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0467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高品質×高売上 (7)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051560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維持・横展開モデル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28016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コンフォートスイーツ東京ベイ（9.17点, ¥13,228,360）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京成リッチモンドホテル東京錦糸町（9.03点, ¥4,791,800）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ダイワロイネットホテル東京大崎（8.91点, ¥5,203,037）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ホテルコメント横浜関内（8.83点, ¥4,463,320）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川崎日航ホテル（8.67点, ¥7,168,120）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ハートンホテル東品川（8.66点, ¥11,211,550）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変なホテル東京羽田（8.27点, ¥5,358,150）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709160" y="731520"/>
            <a:ext cx="4160520" cy="182880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731520"/>
            <a:ext cx="4160520" cy="36576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80467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高品質×低売上 (7)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051560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営業強化対象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46320" y="128016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第一イン池袋（9.08点, ¥4,310,610）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コンフォートホテルERA東京東神田（8.94点, ¥4,047,280）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ホテルケヤキゲート東京府中（8.77点, ¥4,425,395）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リッチモンドホテル東京目白（8.66点, ¥3,663,440）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コンフォートホテル成田（8.54点, ¥2,655,760）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コンフォートイン六本木（8.16点, ¥2,842,630）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アパホテル相模原橋本駅東（8.12点, ¥2,698,420）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2743200"/>
            <a:ext cx="4160520" cy="173736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743200"/>
            <a:ext cx="416052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8163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低品質×高売上 (3)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3063240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最大リスク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11480" y="329184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コンフォートホテル博多（7.86点, ¥5,764,630）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アパホテル蒲田駅東（7.35点, ¥4,679,520）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チサンホテル浜松町（7.07点, ¥5,578,650）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709160" y="2743200"/>
            <a:ext cx="4160520" cy="1737360"/>
          </a:xfrm>
          <a:prstGeom prst="rect">
            <a:avLst/>
          </a:prstGeom>
          <a:solidFill>
            <a:srgbClr val="FBE9E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743200"/>
            <a:ext cx="4160520" cy="36576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8163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3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低品質×低売上 (2)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3063240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根本改革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46320" y="329184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コンフォートホテル横浜関内（7.57点, ¥4,051,890）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コートホテル新横浜（7.03点, ¥3,705,215）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PRIMECHANGE CS戦略提案書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課題：未発掘データの宝庫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月次レポートXLSX 22シートのうち70%以上が未分析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743200" cy="356616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27432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68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活用済みデータ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234440"/>
            <a:ext cx="2468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</a:rPr>
              <a:t>①R8_*集計
</a:t>
            </a:r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月次KPI（売上/稼働率/利益率等）
</a:t>
            </a:r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</a:rPr>
              <a:t>💭口コミ
</a:t>
            </a:r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6サイトの口コミテキスト
（1,583件分析済み）
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777240"/>
            <a:ext cx="5577840" cy="356616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777240"/>
            <a:ext cx="5577840" cy="36576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8686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未活用データ（分析提案対象）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29000" y="1234440"/>
          <a:ext cx="53035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シート名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データ内容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対応分析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🔵クレーム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13類型の月別集計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E75B6"/>
                          </a:solidFill>
                        </a:rPr>
                        <a:t>→ 分析1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R8品質データまとめ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メイド/チェッカー別クレーム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E75B6"/>
                          </a:solidFill>
                        </a:rPr>
                        <a:t>→ 分析2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③日報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出勤人数/完了時間/日次クレーム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E75B6"/>
                          </a:solidFill>
                        </a:rPr>
                        <a:t>→ 分析3,4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✅安全チェック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パトロール◎/△/✖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E75B6"/>
                          </a:solidFill>
                        </a:rPr>
                        <a:t>→ 分析5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🏆皆勤アワード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スタッフ勤務/清掃部屋数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E75B6"/>
                          </a:solidFill>
                        </a:rPr>
                        <a:t>→ 分析2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④月報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改善進捗/スタッフ在籍数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年間集計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12ヶ月トレンド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🧹特別清掃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特別清掃請求管理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PRIMECHANGE CS戦略提案書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分析1: クレーム類型×口コミスコア連動分析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最もスコアに効くクレーム類型を特定する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14800" cy="3794760"/>
          </a:xfrm>
          <a:prstGeom prst="rect">
            <a:avLst/>
          </a:prstGeom>
          <a:solidFill>
            <a:srgbClr val="F0F7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411480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22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なぜ必要か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0972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13種のクレーム類型のうち、どれがスコア低下に最も影響するかが未特定。限られたリソースを最もインパクトのある類型に集中するため。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使用データ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0574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🔵クレームシート: 13類型の月別集計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（巻き込み/誤入室/髪の毛/残置/セット漏れ/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汚れ/清掃不備/未清掃 等）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口コミスコア: ホテル別月次平均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834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分析手法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1089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類型別発生率とスコアの相関係数算出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重回帰分析でインパクトを分離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類型別「スコア弾力性」の推定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731520"/>
            <a:ext cx="4160520" cy="21945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731520"/>
            <a:ext cx="416052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822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期待される発見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09728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「髪の毛」と「汚れ」のどちらがスコアに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より大きく影響するかが判明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ゲストが最も不快に感じる類型の優先順位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ホテルごとの「改善すべき類型」の違い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3108960"/>
            <a:ext cx="4160520" cy="141732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3108960"/>
            <a:ext cx="4160520" cy="36576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3200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CS→売上インパクト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474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最もスコアに効く類型に集中対策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効率的にスコア改善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OTAランキング上昇 → 売上増加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41148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推定: スコア+0.3点 → 月間+約300万円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617720"/>
            <a:ext cx="3657600" cy="1371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4343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難易度: 中 | 期間: 1-2週間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PRIMECHANGE CS戦略提案書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分析2-3: 人に関する分析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スタッフパフォーマンスと最適人員配置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14800" cy="3794760"/>
          </a:xfrm>
          <a:prstGeom prst="rect">
            <a:avLst/>
          </a:prstGeom>
          <a:solidFill>
            <a:srgbClr val="F0F7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411480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229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分析2: スタッフ個人別パフォーマンス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14300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</a:rPr>
              <a:t>使用データ: 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R8品質データまとめ, 🏆皆勤アワード
</a:t>
            </a:r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</a:rPr>
              <a:t>手法:
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- メイド別「1室あたりクレーム率」算出
- トップ10% / ボトム10%の特定
- ハイパフォーマーの共通点分析
</a:t>
            </a:r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</a:rPr>
              <a:t>期待される発見:
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- クレームの大半が少数スタッフに集中
  （パレートの法則）
- チェッカーの「見逃し率」の個人差
- ハイパフォーマーの清掃手順の特徴
</a:t>
            </a:r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</a:rPr>
              <a:t>効果: </a:t>
            </a:r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</a:rPr>
              <a:t>ボトム20%を平均まで改善 →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</a:rPr>
              <a:t>       クレーム率20-30%削減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09160" y="731520"/>
            <a:ext cx="4160520" cy="37947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731520"/>
            <a:ext cx="4160520" cy="36576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8229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分析3: 人員配置×品質 相関分析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14300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</a:rPr>
              <a:t>使用データ: 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③日報（出勤メイド数/チェッカー数/稼働客室数）
</a:t>
            </a:r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</a:rPr>
              <a:t>手法:
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- 「1メイドあたり客室数」vs「クレーム率」
  の散布図＋回帰分析
- チェッカー不在日のクレーム率比較
- ホテル規模別の人員効率分析
</a:t>
            </a:r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</a:rPr>
              <a:t>期待される発見:
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- 「15室超でクレーム率急増」等の閾値
- チェッカー不在日のクレーム増加量
- ホテル規模別の推奨メイド数
</a:t>
            </a:r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</a:rPr>
              <a:t>効果: </a:t>
            </a:r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</a:rPr>
              <a:t>人員不足日のクレーム率を50%削減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</a:rPr>
              <a:t>       → 全体クレーム率10-15%削減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PRIMECHANGE CS戦略提案書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分析4-5: プロセスと予防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時間管理の最適化とクレームの未然防止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14800" cy="379476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4114800" cy="36576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229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分析4: 清掃完了時間×品質 分析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14300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</a:rPr>
              <a:t>使用データ: 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③日報（清掃完了時間/クレーム件数/稼働客室数）
</a:t>
            </a:r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</a:rPr>
              <a:t>手法:
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- 完了時間帯別のクレーム率比較
  （〜13時 / 13-14時 / 14-15時 / 15時〜）
- 負荷度（客室÷メイド数）と完了時間
- チェッカー検査の余裕度分析
</a:t>
            </a:r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</a:rPr>
              <a:t>期待される発見:
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- 15時以降完了日はクレーム率2倍以上
- チェッカー検査時間と品質の関係
</a:t>
            </a:r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</a:rPr>
              <a:t>効果: </a:t>
            </a:r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</a:rPr>
              <a:t>スケジュール最適化で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</a:rPr>
              <a:t>時間起因クレームを60%削減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43434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難易度: 低〜中 | 期間: 1-2週間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709160" y="731520"/>
            <a:ext cx="4160520" cy="379476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731520"/>
            <a:ext cx="416052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8229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分析5: 安全チェック×クレーム予兆検出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14300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</a:rPr>
              <a:t>使用データ: 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✅安全チェック（◎/△/✖評価）
🔵クレーム（月別件数）
</a:t>
            </a:r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</a:rPr>
              <a:t>手法:
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- パトロール「△/✖」率と翌月クレームの相関
- 衛生管理✖ → 翌月クレーム率の検証
- 予兆スコア開発（翌月予測モデル）
</a:t>
            </a:r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</a:rPr>
              <a:t>期待される発見:
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- 「△」3項目以上 → 翌月クレーム有意増加
- 最も予測力の高い評価項目の特定
</a:t>
            </a:r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</a:rPr>
              <a:t>効果: </a:t>
            </a:r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</a:rPr>
              <a:t>予兆検知で先手対応 →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</a:rPr>
              <a:t>クレーム発生を30-40%回避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43434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難易度: 高 | 期間: 3-4週間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PRIMECHANGE CS戦略提案書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分析6-7: ROI精密化と横展開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既存データで今すぐ始められる分析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14800" cy="379476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41148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229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分析6: 品質→売上 弾力性分析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115568"/>
            <a:ext cx="2011680" cy="228600"/>
          </a:xfrm>
          <a:prstGeom prst="roundRect">
            <a:avLst>
              <a:gd name="adj" fmla="val 16000"/>
            </a:avLst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1556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既存データで即実施可能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11480" y="137160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</a:rPr>
              <a:t>使用データ: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19ホテルのスコア × 稼働率 × 売上 × ADR
（既存JSONファイルで全て保有）
</a:t>
            </a:r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</a:rPr>
              <a:t>手法:
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- スコア vs 稼働率/ADR/RevPARの回帰分析
- 「スコア1点あたりの差分」算出
- ホテル規模で補正した弾力性推定
</a:t>
            </a:r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</a:rPr>
              <a:t>期待される発見:
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- 自社データでの弾力性の精密値
- 「8.0未満で稼働率急落」等の非線形パターン
</a:t>
            </a:r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</a:rPr>
              <a:t>効果: </a:t>
            </a:r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</a:rPr>
              <a:t>投資配分最適化で同予算から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</a:rPr>
              <a:t>20-30%多い効果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43434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難易度: 低 | 期間: 1週間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09160" y="731520"/>
            <a:ext cx="4160520" cy="3794760"/>
          </a:xfrm>
          <a:prstGeom prst="rect">
            <a:avLst/>
          </a:prstGeom>
          <a:solidFill>
            <a:srgbClr val="F0F7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731520"/>
            <a:ext cx="416052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8229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分析7: ベストプラクティス横展開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09728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高スコアホテルの成功要因を体系化:
</a:t>
            </a:r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</a:rPr>
              <a:t>🏆 トップ3:
</a:t>
            </a:r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</a:rPr>
              <a:t>  コンフォートスイーツ東京ベイ（9.17点）
  第一イン池袋（9.08点）
  京成リッチモンドホテル東京錦糸町（9.03点）
</a:t>
            </a:r>
            <a:pPr indent="0" marL="0">
              <a:buNone/>
            </a:pPr>
            <a:r>
              <a:rPr lang="en-US" sz="900" b="1" dirty="0">
                <a:solidFill>
                  <a:srgbClr val="E74C3C"/>
                </a:solidFill>
              </a:rPr>
              <a:t>要改善3:
</a:t>
            </a:r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</a:rPr>
              <a:t>  アパホテル蒲田駅東（7.35点）
  チサンホテル浜松町（7.07点）
  コートホテル新横浜（7.03点）
</a:t>
            </a:r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</a:rPr>
              <a:t>手法:
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- 口コミ「good」コメントのテキスト分析
- オペレーション指標の比較
- メイド/客室比率の違い
</a:t>
            </a:r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</a:rPr>
              <a:t>効果: </a:t>
            </a:r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</a:rPr>
              <a:t>低スコア5施設 +0.5点改善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</a:rPr>
              <a:t>→ 月間+約250万円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0" y="43434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難易度: 中 | 期間: 3-4週間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PRIMECHANGE CS戦略提案書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7テーマ一覧サマリー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難易度・効果・期間の全体マップ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731520"/>
          <a:ext cx="877824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2560320"/>
                <a:gridCol w="640080"/>
                <a:gridCol w="457200"/>
                <a:gridCol w="640080"/>
                <a:gridCol w="64008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分析テーマ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難易度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効果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期間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データ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推定売上効果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</a:rPr>
                        <a:t>クレーム類型×スコア連動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9800"/>
                          </a:solidFill>
                        </a:rPr>
                        <a:t>中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7AE60"/>
                          </a:solidFill>
                        </a:rPr>
                        <a:t>大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1-2週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未活用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+300万/月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</a:rPr>
                        <a:t>スタッフ個人パフォーマンス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9800"/>
                          </a:solidFill>
                        </a:rPr>
                        <a:t>中〜高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7AE60"/>
                          </a:solidFill>
                        </a:rPr>
                        <a:t>大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2-3週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未活用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CR -20-30%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</a:rPr>
                        <a:t>人員配置×品質 相関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9800"/>
                          </a:solidFill>
                        </a:rPr>
                        <a:t>中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7AE60"/>
                          </a:solidFill>
                        </a:rPr>
                        <a:t>大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2週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未活用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CR -10-15%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</a:rPr>
                        <a:t>清掃完了時間×品質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7AE60"/>
                          </a:solidFill>
                        </a:rPr>
                        <a:t>低〜中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9800"/>
                          </a:solidFill>
                        </a:rPr>
                        <a:t>中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1-2週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未活用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CR -60%(時間起因)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</a:rPr>
                        <a:t>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</a:rPr>
                        <a:t>安全チェック×予兆検出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</a:rPr>
                        <a:t>高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7AE60"/>
                          </a:solidFill>
                        </a:rPr>
                        <a:t>大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3-4週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未活用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CR -30-40%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</a:rPr>
                        <a:t>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</a:rPr>
                        <a:t>品質→売上弾力性（ROI）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7AE60"/>
                          </a:solidFill>
                        </a:rPr>
                        <a:t>低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7AE60"/>
                          </a:solidFill>
                        </a:rPr>
                        <a:t>大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1週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既存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ROI精密化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</a:rPr>
                        <a:t>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</a:rPr>
                        <a:t>ベストプラクティス横展開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9800"/>
                          </a:solidFill>
                        </a:rPr>
                        <a:t>中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7AE60"/>
                          </a:solidFill>
                        </a:rPr>
                        <a:t>大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3-4週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既存+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+250万/月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474720"/>
            <a:ext cx="8595360" cy="1097280"/>
          </a:xfrm>
          <a:prstGeom prst="rect">
            <a:avLst/>
          </a:prstGeom>
          <a:solidFill>
            <a:srgbClr val="F0F7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3474720"/>
            <a:ext cx="859536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566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推奨実施順序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① 分析6（即実施・1週間）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 → ROIの精密値を確立し、全施策の費用対効果を定量化
</a:t>
            </a:r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</a:rPr>
              <a:t>② 分析1（2週間）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 → 最もインパクトのあるクレーム類型を特定
</a:t>
            </a:r>
            <a:pPr indent="0" marL="0">
              <a:buNone/>
            </a:pPr>
            <a:r>
              <a:rPr lang="en-US" sz="1000" b="1" dirty="0">
                <a:solidFill>
                  <a:srgbClr val="FF9800"/>
                </a:solidFill>
              </a:rPr>
              <a:t>③ 分析3,4（並行・2週間）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 → 人員配置と時間管理の最適化
</a:t>
            </a:r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</a:rPr>
              <a:t>④ 分析2,5,7（1-3ヶ月）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 → スタッフ育成・予兆検出・横展開の仕組み化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PRIMECHANGE CS戦略提案書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統合アクションプラン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3フェーズ改善計画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743200" cy="374904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27432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8503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即時（2週間）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品質→売上弾力性の算出（分析6）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URGENTホテル緊急清掃監査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低品質×高売上3ホテルの責任者面談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クレーム類型データ抽出開始（分析1）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3611880"/>
            <a:ext cx="2560320" cy="77724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6576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推定効果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3886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+100-200万円/月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（売上減少の防止）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54680" y="777240"/>
            <a:ext cx="2743200" cy="374904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777240"/>
            <a:ext cx="2743200" cy="36576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8503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短期（1-3ヶ月）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46120" y="118872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クレーム類型×スコア分析完了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スタッフパフォーマンス分析実施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人員配置最適化基準の策定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ボトムパフォーマーへのOJT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ベストプラクティス横展開開始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46120" y="3611880"/>
            <a:ext cx="2560320" cy="77724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37560" y="36576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推定効果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37560" y="3886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+200-300万円/月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（URGENT改善）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777240"/>
            <a:ext cx="2743200" cy="374904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777240"/>
            <a:ext cx="274320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8503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中期（3-6ヶ月）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118872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月次品質ダッシュボード構築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安全チェック×予兆検出の自動化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スタッフ評価制度への品質KPI組込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継続的改善サイクル（PDCA）確立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3611880"/>
            <a:ext cx="2560320" cy="77724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17920" y="36576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推定効果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217920" y="3886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+300-500万円/月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（全体底上げ）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PRIMECHANGE CS戦略提案書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KPI・効果測定フレームワーク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月次追跡KPI一覧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97280"/>
                <a:gridCol w="1097280"/>
                <a:gridCol w="109728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KPI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現状値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3ヶ月目標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6ヶ月目標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測定方法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</a:rPr>
                        <a:t>ポートフォリオ平均スコア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8.39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8.55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8.80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月次口コミ集計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</a:rPr>
                        <a:t>清掃クレーム率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4.6%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3.5%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2.5%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🔵クレーム月次集計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</a:rPr>
                        <a:t>URGENT判定ホテル数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優先度再判定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</a:rPr>
                        <a:t>月間総売上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¥99.8M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¥101M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¥104M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①集計シート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</a:rPr>
                        <a:t>平均稼働率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73.9%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75.0%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77.0%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①集計シート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</a:rPr>
                        <a:t>高評価率（8点以上）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78.1%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80.0%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83.0%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口コミ分析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</a:rPr>
                        <a:t>スタッフ充足率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未測定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90%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95%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④月報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</a:rPr>
                        <a:t>予兆検出対応率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0%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50%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90%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安全チェック連動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291840"/>
            <a:ext cx="8595360" cy="11887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3383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レポーティングサイクル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370332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7200" y="37307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週次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3977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URGENTホテルの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クレーム件数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560320" y="370332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560320" y="37307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月次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560320" y="3977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全KPIの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ダッシュボード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663440" y="370332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663440" y="37307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四半期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663440" y="3977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品質監査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+ベストプラクティス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766560" y="370332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766560" y="37307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半期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766560" y="3977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戦略レビュー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+目標更新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PRIMECHANGE CS戦略提案書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投資対効果（ROI）試算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3シナリオでの費用対効果分析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731520"/>
          <a:ext cx="8778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  <a:gridCol w="246888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項目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控えめ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標準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楽観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B3A5C"/>
                          </a:solidFill>
                        </a:rPr>
                        <a:t>対象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URGENT 4ホテル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URGENT+HIGH 7ホテル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全19ホテル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B3A5C"/>
                          </a:solidFill>
                        </a:rPr>
                        <a:t>分析投資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100-200万円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200-400万円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400-600万円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B3A5C"/>
                          </a:solidFill>
                        </a:rPr>
                        <a:t>改善施策投資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200-300万円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400-600万円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600-800万円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B3A5C"/>
                          </a:solidFill>
                        </a:rPr>
                        <a:t>スコア改善幅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+0.3〜0.5点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+0.3〜0.7点(対象)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+0.3〜0.5点(全体)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B3A5C"/>
                          </a:solidFill>
                        </a:rPr>
                        <a:t>月間売上改善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+100〜200万円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+200〜400万円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+300〜500万円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B3A5C"/>
                          </a:solidFill>
                        </a:rPr>
                        <a:t>年間売上改善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+1,200〜2,400万円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+2,400〜4,800万円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+3,600〜6,000万円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B3A5C"/>
                          </a:solidFill>
                        </a:rPr>
                        <a:t>投資回収期間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3-6ヶ月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4-8ヶ月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6-12ヶ月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B3A5C"/>
                          </a:solidFill>
                        </a:rPr>
                        <a:t>PRIMECHANGE効果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契約維持確保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単価交渉材料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新規受注競争力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383280"/>
            <a:ext cx="8595360" cy="1097280"/>
          </a:xfrm>
          <a:prstGeom prst="rect">
            <a:avLst/>
          </a:prstGeom>
          <a:solidFill>
            <a:srgbClr val="F0F7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3383280"/>
            <a:ext cx="859536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474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推奨：「控えめシナリオ」から開始 → 成果確認後に段階拡大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3794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URGENTホテル4施設への集中投資（投資額300-500万円）で最短3ヶ月回収。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成果を確認後、標準→楽観シナリオへ拡大。最終的にデータドリブン品質管理を全社に展開。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PRIMECHANGE CS戦略提案書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5A9BE6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280160"/>
            <a:ext cx="502920" cy="411480"/>
          </a:xfrm>
          <a:prstGeom prst="roundRect">
            <a:avLst>
              <a:gd name="adj" fmla="val 13333"/>
            </a:avLst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80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2984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本提案書の内容について経営層との合意形成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15087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1週間以内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874520"/>
            <a:ext cx="502920" cy="411480"/>
          </a:xfrm>
          <a:prstGeom prst="roundRect">
            <a:avLst>
              <a:gd name="adj" fmla="val 13333"/>
            </a:avLst>
          </a:prstGeom>
          <a:solidFill>
            <a:srgbClr val="E74C3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8745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18928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分析6（品質→売上弾力性）の即時実施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21031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1週間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2468880"/>
            <a:ext cx="502920" cy="411480"/>
          </a:xfrm>
          <a:prstGeom prst="roundRect">
            <a:avLst>
              <a:gd name="adj" fmla="val 13333"/>
            </a:avLst>
          </a:prstGeom>
          <a:solidFill>
            <a:srgbClr val="FF980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4688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248716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URGENTホテルの現地視察・緊急監査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26974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2週間以内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" y="3063240"/>
            <a:ext cx="502920" cy="411480"/>
          </a:xfrm>
          <a:prstGeom prst="roundRect">
            <a:avLst>
              <a:gd name="adj" fmla="val 13333"/>
            </a:avLst>
          </a:prstGeom>
          <a:solidFill>
            <a:srgbClr val="FF9800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0632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30815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クレーム類型データの抽出・分析1の実施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71600" y="32918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2-3週間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1520" y="3657600"/>
            <a:ext cx="502920" cy="411480"/>
          </a:xfrm>
          <a:prstGeom prst="roundRect">
            <a:avLst>
              <a:gd name="adj" fmla="val 13333"/>
            </a:avLst>
          </a:prstGeom>
          <a:solidFill>
            <a:srgbClr val="5A9BE6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6576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36758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2施策のキックオフ（スタッフ分析・人員配置分析）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71600" y="38862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1ヶ月〜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1520" y="4251960"/>
            <a:ext cx="502920" cy="411480"/>
          </a:xfrm>
          <a:prstGeom prst="roundRect">
            <a:avLst>
              <a:gd name="adj" fmla="val 13333"/>
            </a:avLst>
          </a:prstGeom>
          <a:solidFill>
            <a:srgbClr val="5A9BE6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2519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71600" y="42702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月次品質ダッシュボードの設計・構築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371600" y="44805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3ヶ月〜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31520" y="4206240"/>
            <a:ext cx="7680960" cy="36576"/>
          </a:xfrm>
          <a:prstGeom prst="rect">
            <a:avLst/>
          </a:prstGeom>
          <a:solidFill>
            <a:srgbClr val="5A9BE6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43891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データドリブンな品質管理で、CS向上と売上増加の好循環を実現する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PRIMECHANGE CS戦略提案書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PRIMECHANGE CS向上×売上増加 戦略提案書</dc:title>
  <dc:subject>PptxGenJS Presentation</dc:subject>
  <dc:creator>PRIMECHANGE</dc:creator>
  <cp:lastModifiedBy>PRIMECHANGE</cp:lastModifiedBy>
  <cp:revision>1</cp:revision>
  <dcterms:created xsi:type="dcterms:W3CDTF">2026-03-19T01:52:13Z</dcterms:created>
  <dcterms:modified xsi:type="dcterms:W3CDTF">2026-03-19T01:52:13Z</dcterms:modified>
</cp:coreProperties>
</file>