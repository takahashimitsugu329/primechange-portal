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914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155448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ホテル清掃戦略レポート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ゲスト口コミデータに基づく清掃品質改善提案書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2026年3月26日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31520" y="3566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対象：19ホテル | レビュー：2400件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411480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提出先：株式会社PRIMECHANGE 代表取締役社長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44805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920240" cy="82296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92024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ポートフォリオ平均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8.41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423160" y="731520"/>
            <a:ext cx="1920240" cy="82296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731520"/>
            <a:ext cx="192024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42316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78.8%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572000" y="731520"/>
            <a:ext cx="1920240" cy="82296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731520"/>
            <a:ext cx="192024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清掃クレーム率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720840" y="731520"/>
            <a:ext cx="1920240" cy="82296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720840" y="731520"/>
            <a:ext cx="1920240" cy="36576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7"/>
          <p:cNvSpPr/>
          <p:nvPr/>
        </p:nvSpPr>
        <p:spPr>
          <a:xfrm>
            <a:off x="6720840" y="841248"/>
            <a:ext cx="1920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720840" y="1024128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2400件</a:t>
            </a:r>
            <a:endParaRPr lang="en-US" sz="2800" dirty="0"/>
          </a:p>
        </p:txBody>
      </p:sp>
      <p:sp>
        <p:nvSpPr>
          <p:cNvPr id="21" name="Shape 19"/>
          <p:cNvSpPr/>
          <p:nvPr/>
        </p:nvSpPr>
        <p:spPr>
          <a:xfrm>
            <a:off x="274320" y="1828800"/>
            <a:ext cx="8321040" cy="2560320"/>
          </a:xfrm>
          <a:prstGeom prst="rect">
            <a:avLst/>
          </a:prstGeom>
          <a:solidFill>
            <a:srgbClr val="F0F7FC"/>
          </a:solidFill>
          <a:ln w="19050">
            <a:solidFill>
              <a:srgbClr val="2E75B6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57200" y="1920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457200" y="228600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上位5ホテル平均8.7点超。コンフォートスイーツ東京ベイが9.21点で最高評価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57200" y="2926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5ホテルがURGENT。清掃クレーム率4.4%（業界平均2-3%超過）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5661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Opportunity: </a:t>
            </a:r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清掃品質標準化によりURGENTホテル+0.5-1.0pt改善、RevPAR 5-10%向上見込み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ポートフォリオ概況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全19ホテルスコアランキング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" y="685800"/>
          <a:ext cx="87782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108960"/>
                <a:gridCol w="731520"/>
                <a:gridCol w="914400"/>
                <a:gridCol w="1097280"/>
                <a:gridCol w="73152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#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平均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高評価率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ティア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コンフォートスイーツ東京ベイ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9.21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97.2%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91.4%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京成リッチモンドホテル東京錦糸町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9.13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89.9%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MAINTENANCE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F5E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優秀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84.5%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8.85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81.4%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87.1%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82.3%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8.71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85.7%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8.65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83.3%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8.53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76.0%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8.23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79.8%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8.17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70.3%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196F3"/>
                          </a:solidFill>
                        </a:rPr>
                        <a:t>STANDARD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2F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概ね良好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67.6%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7.43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66.4%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7.39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63.2%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57.5%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50.8%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要改善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 Deep Dive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カテゴリ別清掃クレーム分析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2560320" cy="777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256032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清掃クレーム総数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106件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3108960" y="731520"/>
            <a:ext cx="2560320" cy="777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08960" y="731520"/>
            <a:ext cx="256032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310896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10896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4.4%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5943600" y="731520"/>
            <a:ext cx="2560320" cy="77724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43600" y="731520"/>
            <a:ext cx="256032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5" name="Text 13"/>
          <p:cNvSpPr/>
          <p:nvPr/>
        </p:nvSpPr>
        <p:spPr>
          <a:xfrm>
            <a:off x="5943600" y="841248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カテゴリ数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943600" y="102412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E75B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828800"/>
          <a:ext cx="8595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371600"/>
                <a:gridCol w="1645920"/>
                <a:gridCol w="1371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カテゴリ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言及数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該当ホテル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深刻度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清掃品質全般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臭気・異臭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10/19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シミ・汚れ跡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</a:rPr>
                        <a:t>CRITICAL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排水・詰まり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タバコ関連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9/19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カビ・モールド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カーペット汚れ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毛髪・髪の毛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ゴミ残置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ほこり・塵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害虫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3/19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666666"/>
                          </a:solidFill>
                        </a:rPr>
                        <a:t>MEDIUM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9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ホテル別清掃課題マトリクス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ヒートマップ：色が濃いほど件数が多い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4864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ホテル名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合計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清掃品質全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臭気・異臭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シミ・汚れ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排水・詰ま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タバコ関連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FFFFFF"/>
                          </a:solidFill>
                        </a:rPr>
                        <a:t>カビ・モー</a:t>
                      </a:r>
                      <a:endParaRPr lang="en-US" sz="6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11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川崎日航ホテル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ハートンホテル東品川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コンフォートホテル成田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4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ホテルケヤキゲート東京府中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アパホテル相模原橋本駅東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リッチモンドホテル東京目白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0B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変なホテル東京羽田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E74C3C"/>
                          </a:solidFill>
                        </a:rPr>
                        <a:t>6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DD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第一イン池袋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コンフォートホテルERA東京東神田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C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333333"/>
                          </a:solidFill>
                        </a:rPr>
                        <a:t>-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274320" y="4389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</a:rPr>
              <a:t>凡例: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1-2件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3-5件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 </a:t>
            </a:r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6件以上 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優先度マトリクス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4象限分類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4114800" cy="192024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4114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41148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URGENT（緊急） (5)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1148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アパホテル蒲田駅東（7.39点）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コンフォートホテル博多（7.83点）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コンフォートホテル横浜関内（7.43点）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チサンホテル浜松町（7.12点）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コートホテル新横浜（7.12点）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663440" y="731520"/>
            <a:ext cx="4114800" cy="192024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3440" y="731520"/>
            <a:ext cx="41148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82296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HIGH（高） (3)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143000"/>
            <a:ext cx="3840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コンフォートイン六本木（8.23点）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ホテルコメント横浜関内（8.88点）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ダイワロイネットホテル東京大崎（8.85点）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74320" y="2834640"/>
            <a:ext cx="4114800" cy="164592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74320" y="2834640"/>
            <a:ext cx="41148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148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STANDARD（標準） (9)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1148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川崎日航ホテル（8.72点）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ハートンホテル東品川（8.65点）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コンフォートホテル成田（8.53点）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ホテルケヤキゲート東京府中（8.71点）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アパホテル相模原橋本駅東（8.17点）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リッチモンドホテル東京目白（8.72点）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変なホテル東京羽田（8.29点）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第一イン池袋（9.16点）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コンフォートホテルERA東京東神田（8.89点）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663440" y="2834640"/>
            <a:ext cx="4114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9" name="Text 17"/>
          <p:cNvSpPr/>
          <p:nvPr/>
        </p:nvSpPr>
        <p:spPr>
          <a:xfrm>
            <a:off x="4800600" y="2926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MAINTENANCE（維持） (2)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00600" y="324612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京成リッチモンドホテル東京錦糸町（9.13点）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コンフォートスイーツ東京ベイ（9.21点）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【URGENT】アパホテル蒲田駅東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#1 | 現状 7.39点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7.39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テレビ裏・家具裏の清掃徹底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【URGENT】コンフォートホテル博多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#2 | 現状 7.83点 → 目標 8.5点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7.83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11件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7件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5件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ゴミ残置: 4件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汚損箇所のスポットクリーニング即時実施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四半期ごとのカーペットディープクリーニング導入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【URGENT】コンフォートホテル横浜関内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#3 | 現状 7.43点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7.43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シミ・汚れ跡: 8件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6件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毛髪・髪の毛: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喫煙室との動線分離確認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シミ発見時の即時報告・対処フロー構築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清掃チェックリストに毛髪確認項目を明記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【URGENT】チサンホテル浜松町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#4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排水・詰まり: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ほこり・塵: 1件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カーペット汚れ: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排水口の徹底清掃と詰まり除去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排水トラップの点検・洗浄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高所・棚上部・エアコン上部のほこり除去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月次排水管高圧洗浄の定期実施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排水口ストレーナーの定期交換サイクル導入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週次の高所清掃スケジュール導入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排水管の老朽化調査と更新計画の策定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高耐久・防汚カーペットへの段階的張替え提案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【URGENT】コートホテル新横浜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優先度 #5 | 現状 7.12点 → 目標 8点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1828800" cy="73152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18288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27432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現状スコア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27432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7.12</a:t>
            </a:r>
            <a:endParaRPr lang="en-US" sz="2800" dirty="0"/>
          </a:p>
        </p:txBody>
      </p:sp>
      <p:sp>
        <p:nvSpPr>
          <p:cNvPr id="9" name="Shape 7"/>
          <p:cNvSpPr/>
          <p:nvPr/>
        </p:nvSpPr>
        <p:spPr>
          <a:xfrm>
            <a:off x="2286000" y="731520"/>
            <a:ext cx="1828800" cy="731520"/>
          </a:xfrm>
          <a:prstGeom prst="rect">
            <a:avLst/>
          </a:prstGeom>
          <a:solidFill>
            <a:srgbClr val="E8F5E9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0" y="731520"/>
            <a:ext cx="1828800" cy="36576"/>
          </a:xfrm>
          <a:prstGeom prst="rect">
            <a:avLst/>
          </a:prstGeom>
          <a:solidFill>
            <a:srgbClr val="27AE60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4124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目標スコア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2286000" y="10241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800" dirty="0"/>
          </a:p>
        </p:txBody>
      </p:sp>
      <p:sp>
        <p:nvSpPr>
          <p:cNvPr id="13" name="Shape 11"/>
          <p:cNvSpPr/>
          <p:nvPr/>
        </p:nvSpPr>
        <p:spPr>
          <a:xfrm>
            <a:off x="4389120" y="731520"/>
            <a:ext cx="4389120" cy="73152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749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80560" y="9144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清掃品質全般: 4件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臭気・異臭: 3件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タバコ関連: 2件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害虫: 1件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274320" y="1691640"/>
            <a:ext cx="2743200" cy="26974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74320" y="1691640"/>
            <a:ext cx="274320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1: 即時対応（1-2週間）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6576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禁煙室の残留臭調査と脱臭処理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3154680" y="1691640"/>
            <a:ext cx="2743200" cy="26974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154680" y="1691640"/>
            <a:ext cx="274320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22" name="Text 20"/>
          <p:cNvSpPr/>
          <p:nvPr/>
        </p:nvSpPr>
        <p:spPr>
          <a:xfrm>
            <a:off x="324612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2: 短期施策（1-3ヶ月）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4612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品質管理チェックリストの導入と実施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QCインスペクション体制の構築（ランダム抜き打ち検査）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定期的な換気・消臭ルーティンの標準化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エアコン・排水系の臭気源の根本対策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廊下・共用部の定期脱臭処理スケジュール導入</a:t>
            </a:r>
            <a:endParaRPr lang="en-US" sz="700" dirty="0"/>
          </a:p>
        </p:txBody>
      </p:sp>
      <p:sp>
        <p:nvSpPr>
          <p:cNvPr id="24" name="Shape 22"/>
          <p:cNvSpPr/>
          <p:nvPr/>
        </p:nvSpPr>
        <p:spPr>
          <a:xfrm>
            <a:off x="6035040" y="1691640"/>
            <a:ext cx="2743200" cy="26974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35040" y="1691640"/>
            <a:ext cx="274320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6" name="Text 24"/>
          <p:cNvSpPr/>
          <p:nvPr/>
        </p:nvSpPr>
        <p:spPr>
          <a:xfrm>
            <a:off x="6126480" y="1764792"/>
            <a:ext cx="2560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3: 中期施策（3-6ヶ月）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6126480" y="2039112"/>
            <a:ext cx="2560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清掃スタッフの定期研修プログラム導入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デジタル清掃記録システムの検討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オゾン脱臭機の導入検討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空気品質モニタリングの導入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フロア単位での完全禁煙化提案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HIGHホテル改善サマリー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対象：3ホテル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コンフォートイン六本木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0" y="80467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8.23点 → 9点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105156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主要課題：臭気・異臭(4件)、カビ・モールド(2件)、清掃品質全般(2件)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28016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消臭・脱臭処理の実施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エアコンフィルター・内部のカビ除去と消毒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05740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05740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13055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72000" y="213055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8.88点 → 9.2点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237744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主要課題：清掃品質全般(6件)、臭気・異臭(2件)、タバコ関連(1件)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260604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臭気発生源の特定と即時対処（排水トラップ、換気扇）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274320" y="3383280"/>
            <a:ext cx="8595360" cy="118872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74320" y="3383280"/>
            <a:ext cx="85953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456432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ダイワロイネットホテル東京大崎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0" y="345643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7AE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8.85点 → 9.2点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70332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主要課題：清掃品質全般(3件)、シミ・汚れ跡(2件)、害虫(2件)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7772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清掃品質基準の明確化と全スタッフへの共有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重点箇所（水回り・ベッド周り）の清掃手順見直し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シミ箇所の特定と専用クリーナーによる除去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HIGHホテル推奨アクション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Phase別主要施策</a:t>
            </a:r>
            <a:endParaRPr lang="en-US" sz="10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21945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1（即時）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2（短期）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Phase 3（中期）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臭気発生源の特定と即時対処（排水トラップ、換気扇）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消臭・脱臭処理の実施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定期的な換気・消臭ルーティンの標準化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エアコン・排水系の臭気源の根本対策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オゾン脱臭機の導入検討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空気品質モニタリングの導入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清掃品質基準の明確化と全スタッフへの共有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重点箇所（水回り・ベッド周り）の清掃手順見直し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品質管理チェックリストの導入と実施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QCインスペクション体制の構築（ランダム抜き打ち検査）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清掃スタッフの定期研修プログラム導入</a:t>
                      </a:r>
                      <a:endParaRPr lang="en-US" sz="700" dirty="0"/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デジタル清掃記録システムの検討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8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1-2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清掃チェックリスト標準化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統一された50項目の清掃チェックリストを全ホテルに導入。客室タイプ別（シングル・ダブル・ツイン）の基準を明確化し、チェック漏れを防止する。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バスルーム清掃チェック（排水口、鏡、タオルラック、アメニティ配置）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ベッド周り清掃チェック（シーツ交換、枕カバー、粘着ローラー仕上げ）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フロア清掃チェック（掃除機、カーペットスポット確認）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エアコン・換気扇チェック（フィルター状態、異臭確認）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水回り動作確認（排水速度、水圧、温度）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品質管理（QC）体制構築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対象：全19ホテル（特にURGENT/HIGHホテル優先） | 優先度：HIGH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ランダム抜き打ち検査と定期品質監査の二層体制を構築。ゲスト口コミデータとの連動により、改善効果を定量的にモニタリングする。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週次ランダム抜き打ち検査（各ホテル最低3室/週）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月次品質監査レポートの作成と共有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ゲスト口コミスコアの月次トラッキング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清掃クレーム発生時の即時フィードバックループ構築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施策 3-4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274320" y="731520"/>
            <a:ext cx="8595360" cy="18288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74320" y="73152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80467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予防保全プログラム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0" y="8046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対象：全19ホテル | 優先度：MEDIUM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1097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清掃関連設備の定期メンテナンスにより、カビ・排水・臭気等の根本原因を予防する。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エアコンフィルター月次清掃・半年次内部洗浄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排水管四半期高圧洗浄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カーペットディープクリーニング四半期実施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換気扇・排気設備の半年次点検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害虫予防駆除の月次定期契約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274320" y="2743200"/>
            <a:ext cx="8595360" cy="1828800"/>
          </a:xfrm>
          <a:prstGeom prst="rect">
            <a:avLst/>
          </a:prstGeom>
          <a:solidFill>
            <a:srgbClr val="F5F7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74320" y="2743200"/>
            <a:ext cx="8595360" cy="36576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8163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テクノロジー活用による清掃DX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029200" y="281635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対象：パイロット3ホテル → 全展開 | 優先度：MEDIUM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デジタルツールを活用した清掃品質の可視化と効率化。URGENTホテルでパイロット導入し、効果検証後に全展開する。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タブレット型デジタル清掃チェックリスト（写真記録付き）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空気品質モニタリングセンサー（臭気・湿度）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UV-C除菌デバイスの導入（枕・リモコン等の高接触面）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清掃完了報告のリアルタイムダッシュボード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全社横断施策提案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（続き）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KPIフレームワーク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ポートフォリオ目標 &amp; ホテル別目標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6858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ポートフォリオ全体KPI</a:t>
            </a:r>
            <a:endParaRPr lang="en-US" sz="11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60120"/>
          <a:ext cx="8595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64592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KPI項目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現状値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目標値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期限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ポートフォリオ平均スコア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8.41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8.91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清掃関連クレーム率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4.4%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1.8%以下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高評価率（8-10点）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78.8%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83.8%以上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低評価率（1-4点）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4.8%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2.4%以下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2026年9月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274320" y="2468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ホテル別KPI目標（URGENT/HIGH）</a:t>
            </a:r>
            <a:endParaRPr lang="en-US" sz="1100" dirty="0"/>
          </a:p>
        </p:txBody>
      </p:sp>
      <p:graphicFrame>
        <p:nvGraphicFramePr>
          <p:cNvPr id="3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743200"/>
          <a:ext cx="859536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22960"/>
                <a:gridCol w="914400"/>
                <a:gridCol w="914400"/>
                <a:gridCol w="118872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ホテル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優先度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現スコア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現クレーム率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FFFF"/>
                          </a:solidFill>
                        </a:rPr>
                        <a:t>目標率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アパホテル蒲田駅東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7.39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12.3%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3.7%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コンフォートホテル博多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7.83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11.5%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3.4%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コンフォートホテル横浜関内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7.43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7.90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9.8%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チサンホテル浜松町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2.6%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コートホテル新横浜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E74C3C"/>
                          </a:solidFill>
                        </a:rPr>
                        <a:t>URGENT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B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7.12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7.60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2.5%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コンフォートイン六本木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8.23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8.70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ホテルコメント横浜関内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9.40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6.2%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1.9%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</a:rPr>
                        <a:t>ダイワロイネットホテル東京大崎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FF9800"/>
                          </a:solidFill>
                        </a:rPr>
                        <a:t>HIGH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E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8.85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9.30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</a:rPr>
                        <a:t>5.1%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27AE60"/>
                          </a:solidFill>
                        </a:rPr>
                        <a:t>1.5%</a:t>
                      </a:r>
                      <a:endParaRPr lang="en-US" sz="7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ROI試算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口コミスコア0.1pt改善 ≒ RevPAR約1%向上（業界ベンチマーク）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22960"/>
                <a:gridCol w="1371600"/>
                <a:gridCol w="1463040"/>
                <a:gridCol w="14630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シナリオ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対象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概算コスト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期待改善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収益効果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</a:rPr>
                        <a:t>ROI回収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シナリオA: URGENTホテル集中改善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300-500万円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+0.5-1.0pt（対象ホテル平均）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5-10%向上見込み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6-12ヶ月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シナリオB: URGENT + HIGHホテル改善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500-800万円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+0.3-0.7pt（対象ホテル平均）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RevPAR 3-7%向上見込み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8-14ヶ月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</a:rPr>
                        <a:t>シナリオC: 全社品質管理システム導入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19ホテル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800-1,200万円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+0.3-0.5pt（ポートフォリオ全体）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27AE60"/>
                          </a:solidFill>
                        </a:rPr>
                        <a:t>ポートフォリオ全体RevPAR 3-5%向上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</a:rPr>
                        <a:t>12-18ヶ月</a:t>
                      </a:r>
                      <a:endParaRPr lang="en-US" sz="8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274320" y="2743200"/>
            <a:ext cx="8595360" cy="1371600"/>
          </a:xfrm>
          <a:prstGeom prst="rect">
            <a:avLst/>
          </a:prstGeom>
          <a:solidFill>
            <a:srgbClr val="F0F7F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457200" y="28346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推奨：シナリオA（URGENTホテル集中改善）から開始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57200" y="32004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最も費用対効果が高く、短期間でROI回収が見込めます。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成果を確認後、シナリオBへ拡大し、最終的に全社品質管理システム（シナリオC）へ移行することを推奨いたします。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5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32004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3フェーズ改善計画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960120"/>
            <a:ext cx="8229600" cy="54864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6" name="Shape 4"/>
          <p:cNvSpPr/>
          <p:nvPr/>
        </p:nvSpPr>
        <p:spPr>
          <a:xfrm>
            <a:off x="1554480" y="822960"/>
            <a:ext cx="320040" cy="320040"/>
          </a:xfrm>
          <a:prstGeom prst="ellipse">
            <a:avLst/>
          </a:prstGeom>
          <a:solidFill>
            <a:srgbClr val="E74C3C"/>
          </a:solidFill>
          <a:ln/>
        </p:spPr>
      </p:sp>
      <p:sp>
        <p:nvSpPr>
          <p:cNvPr id="7" name="Text 5"/>
          <p:cNvSpPr/>
          <p:nvPr/>
        </p:nvSpPr>
        <p:spPr>
          <a:xfrm>
            <a:off x="155448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371600"/>
            <a:ext cx="2651760" cy="2926080"/>
          </a:xfrm>
          <a:prstGeom prst="rect">
            <a:avLst/>
          </a:prstGeom>
          <a:solidFill>
            <a:srgbClr val="FFEBE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57200" y="1371600"/>
            <a:ext cx="2651760" cy="36576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74C3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即時対応（1-2週間）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4864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清掃品質基準の明確化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重点箇所の清掃手順見直し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臭気発生源の特定と対処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汚損箇所のスポットクリーニング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434840" y="822960"/>
            <a:ext cx="320040" cy="320040"/>
          </a:xfrm>
          <a:prstGeom prst="ellipse">
            <a:avLst/>
          </a:prstGeom>
          <a:solidFill>
            <a:srgbClr val="FF9800"/>
          </a:solidFill>
          <a:ln/>
        </p:spPr>
      </p:sp>
      <p:sp>
        <p:nvSpPr>
          <p:cNvPr id="14" name="Text 12"/>
          <p:cNvSpPr/>
          <p:nvPr/>
        </p:nvSpPr>
        <p:spPr>
          <a:xfrm>
            <a:off x="443484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337560" y="1371600"/>
            <a:ext cx="2651760" cy="2926080"/>
          </a:xfrm>
          <a:prstGeom prst="rect">
            <a:avLst/>
          </a:prstGeom>
          <a:solidFill>
            <a:srgbClr val="FFF3E0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337560" y="1371600"/>
            <a:ext cx="2651760" cy="36576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7" name="Text 15"/>
          <p:cNvSpPr/>
          <p:nvPr/>
        </p:nvSpPr>
        <p:spPr>
          <a:xfrm>
            <a:off x="342900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8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42900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短期施策（1-3ヶ月）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42900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品質管理チェックリスト導入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QCインスペクション体制構築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定期メンテナンスサイクル導入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カーペットディープクリーニング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7315200" y="822960"/>
            <a:ext cx="320040" cy="320040"/>
          </a:xfrm>
          <a:prstGeom prst="ellipse">
            <a:avLst/>
          </a:prstGeom>
          <a:solidFill>
            <a:srgbClr val="2196F3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0" y="8229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E3F2F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217920" y="1371600"/>
            <a:ext cx="2651760" cy="36576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24" name="Text 22"/>
          <p:cNvSpPr/>
          <p:nvPr/>
        </p:nvSpPr>
        <p:spPr>
          <a:xfrm>
            <a:off x="6309360" y="14447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309360" y="1719072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中期施策（3-6ヶ月）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309360" y="2011680"/>
            <a:ext cx="24688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清掃スタッフ研修プログラム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デジタル清掃記録システム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設備更新計画の策定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 空気品質モニタリング導入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4800600"/>
            <a:ext cx="36576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3A5C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828800" cy="36576"/>
          </a:xfrm>
          <a:prstGeom prst="rect">
            <a:avLst/>
          </a:prstGeom>
          <a:solidFill>
            <a:srgbClr val="5A9BE6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71600" y="164592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本レポートの内容について経営層との合意形成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9202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1週間以内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24231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371600" y="2423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URGENTホテルの現地視察と清掃責任者との改善ミーティング実施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371600" y="26974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2週間以内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20040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0" y="32004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清掃チェックリストの最終版作成と全ホテルへの展開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71600" y="347472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1ヶ月以内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31520" y="39776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371600" y="397764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改善効果の初回レビューとKPIモニタリング開始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371600" y="42519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3ヶ月後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1520" y="43891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486400" y="45720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| PRIMECHANGE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PRIMECHANGE ホテル清掃戦略レポート</dc:title>
  <dc:subject>PptxGenJS Presentation</dc:subject>
  <dc:creator>PRIMECHANGE Consulting</dc:creator>
  <cp:lastModifiedBy>PRIMECHANGE Consulting</cp:lastModifiedBy>
  <cp:revision>1</cp:revision>
  <dcterms:created xsi:type="dcterms:W3CDTF">2026-03-25T22:27:26Z</dcterms:created>
  <dcterms:modified xsi:type="dcterms:W3CDTF">2026-03-25T22:27:26Z</dcterms:modified>
</cp:coreProperties>
</file>