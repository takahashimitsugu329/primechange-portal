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</p:sldIdLst>
  <p:notesMasterIdLst>
    <p:notesMasterId r:id="rId7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notesMaster" Target="notesMasters/notesMaster1.xml"/><Relationship Id="rId8" Type="http://schemas.openxmlformats.org/officeDocument/2006/relationships/presProps" Target="presProps.xml"/><Relationship Id="rId9" Type="http://schemas.openxmlformats.org/officeDocument/2006/relationships/viewProps" Target="viewProps.xml"/><Relationship Id="rId10" Type="http://schemas.openxmlformats.org/officeDocument/2006/relationships/theme" Target="theme/theme1.xml"/><Relationship Id="rId1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B3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097280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PRIMECHANGE</a:t>
            </a:r>
            <a:endParaRPr lang="en-US" sz="4000" dirty="0"/>
          </a:p>
        </p:txBody>
      </p:sp>
      <p:sp>
        <p:nvSpPr>
          <p:cNvPr id="3" name="Text 1"/>
          <p:cNvSpPr/>
          <p:nvPr/>
        </p:nvSpPr>
        <p:spPr>
          <a:xfrm>
            <a:off x="457200" y="201168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分析2: スタッフ個人別パフォーマンス分析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57200" y="310896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19ホテル・510名のスタッフパフォーマンスデータに基づく分析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B3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主要KPI</a:t>
            </a:r>
            <a:endParaRPr lang="en-US" sz="2200" dirty="0"/>
          </a:p>
        </p:txBody>
      </p:sp>
      <p:sp>
        <p:nvSpPr>
          <p:cNvPr id="3" name="Shape 1"/>
          <p:cNvSpPr/>
          <p:nvPr/>
        </p:nvSpPr>
        <p:spPr>
          <a:xfrm>
            <a:off x="274320" y="1280160"/>
            <a:ext cx="1965960" cy="1463040"/>
          </a:xfrm>
          <a:prstGeom prst="roundRect">
            <a:avLst>
              <a:gd name="adj" fmla="val 6250"/>
            </a:avLst>
          </a:prstGeom>
          <a:solidFill>
            <a:srgbClr val="2E75B6"/>
          </a:solidFill>
          <a:ln/>
        </p:spPr>
      </p:sp>
      <p:sp>
        <p:nvSpPr>
          <p:cNvPr id="4" name="Text 2"/>
          <p:cNvSpPr/>
          <p:nvPr/>
        </p:nvSpPr>
        <p:spPr>
          <a:xfrm>
            <a:off x="274320" y="1371600"/>
            <a:ext cx="1965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分析対象スタッフ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274320" y="1737360"/>
            <a:ext cx="1965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510名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274320" y="2286000"/>
            <a:ext cx="1965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19ホテル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2423160" y="1280160"/>
            <a:ext cx="1965960" cy="1463040"/>
          </a:xfrm>
          <a:prstGeom prst="roundRect">
            <a:avLst>
              <a:gd name="adj" fmla="val 6250"/>
            </a:avLst>
          </a:prstGeom>
          <a:solidFill>
            <a:srgbClr val="E74C3C"/>
          </a:solidFill>
          <a:ln/>
        </p:spPr>
      </p:sp>
      <p:sp>
        <p:nvSpPr>
          <p:cNvPr id="8" name="Text 6"/>
          <p:cNvSpPr/>
          <p:nvPr/>
        </p:nvSpPr>
        <p:spPr>
          <a:xfrm>
            <a:off x="2423160" y="1371600"/>
            <a:ext cx="1965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クレーム発生メイド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2423160" y="1737360"/>
            <a:ext cx="1965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68名</a:t>
            </a:r>
            <a:endParaRPr lang="en-US" sz="2400" dirty="0"/>
          </a:p>
        </p:txBody>
      </p:sp>
      <p:sp>
        <p:nvSpPr>
          <p:cNvPr id="10" name="Text 8"/>
          <p:cNvSpPr/>
          <p:nvPr/>
        </p:nvSpPr>
        <p:spPr>
          <a:xfrm>
            <a:off x="2423160" y="2286000"/>
            <a:ext cx="1965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個別研修対象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4572000" y="1280160"/>
            <a:ext cx="1965960" cy="1463040"/>
          </a:xfrm>
          <a:prstGeom prst="roundRect">
            <a:avLst>
              <a:gd name="adj" fmla="val 6250"/>
            </a:avLst>
          </a:prstGeom>
          <a:solidFill>
            <a:srgbClr val="00695C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0" y="1371600"/>
            <a:ext cx="1965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平均清掃室数/日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4572000" y="1737360"/>
            <a:ext cx="1965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10.2室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4572000" y="2286000"/>
            <a:ext cx="1965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最高24.3室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6720840" y="1280160"/>
            <a:ext cx="1965960" cy="1463040"/>
          </a:xfrm>
          <a:prstGeom prst="roundRect">
            <a:avLst>
              <a:gd name="adj" fmla="val 6250"/>
            </a:avLst>
          </a:prstGeom>
          <a:solidFill>
            <a:srgbClr val="FF9800"/>
          </a:solidFill>
          <a:ln/>
        </p:spPr>
      </p:sp>
      <p:sp>
        <p:nvSpPr>
          <p:cNvPr id="16" name="Text 14"/>
          <p:cNvSpPr/>
          <p:nvPr/>
        </p:nvSpPr>
        <p:spPr>
          <a:xfrm>
            <a:off x="6720840" y="1371600"/>
            <a:ext cx="1965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平均出勤日数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6720840" y="1737360"/>
            <a:ext cx="1965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19.3日</a:t>
            </a:r>
            <a:endParaRPr lang="en-US" sz="2400" dirty="0"/>
          </a:p>
        </p:txBody>
      </p:sp>
      <p:sp>
        <p:nvSpPr>
          <p:cNvPr id="18" name="Text 16"/>
          <p:cNvSpPr/>
          <p:nvPr/>
        </p:nvSpPr>
        <p:spPr>
          <a:xfrm>
            <a:off x="6720840" y="2286000"/>
            <a:ext cx="1965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高出勤243名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457200" y="320040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クレーム2件以上のメイド13名に個別研修が急務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57200" y="356616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チェッカー不在時のクレーム9件 — チェック体制の見直しが必要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B3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ホテル別クレーム分析</a:t>
            </a:r>
            <a:endParaRPr lang="en-US" sz="22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74320" y="1097280"/>
          <a:ext cx="8229600" cy="3200400"/>
        </p:xfrm>
        <a:graphic>
          <a:graphicData uri="http://schemas.openxmlformats.org/drawingml/2006/table">
            <a:tbl>
              <a:tblPr/>
              <a:tblGrid>
                <a:gridCol w="2926080"/>
                <a:gridCol w="914400"/>
                <a:gridCol w="914400"/>
                <a:gridCol w="1097280"/>
                <a:gridCol w="1097280"/>
              </a:tblGrid>
              <a:tr h="24618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ホテル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人数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メイド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クレーム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件/メイド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</a:tr>
              <a:tr h="24618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川崎日航H.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27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E74C3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1.00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24618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ダイワロイネットH.東京大崎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E74C3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0.73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4618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コンフォートH.博多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36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0.28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24618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ハートンH.東品川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34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29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0.34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4618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アパH.蒲田駅東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37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26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0.38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24618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京成リッチモンドH.東京錦糸町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29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0.42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4618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チサンH.浜松町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0.42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24618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H.ケヤキゲート東京府中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28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0.21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4618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コンフォートH.ERA東神田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0.21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24618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第一イン池袋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0.43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4618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コンフォートイン六本木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0.13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24618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変なH.東京羽田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28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0.04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Text 1"/>
          <p:cNvSpPr/>
          <p:nvPr/>
        </p:nvSpPr>
        <p:spPr>
          <a:xfrm>
            <a:off x="457200" y="420624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E74C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川崎日航H.・ダイワロイネットH.東京大崎が件/メイド比で要改善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B3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生産性比較（清掃室数/日）</a:t>
            </a:r>
            <a:endParaRPr lang="en-US" sz="22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74320" y="1097280"/>
          <a:ext cx="8229600" cy="1828800"/>
        </p:xfrm>
        <a:graphic>
          <a:graphicData uri="http://schemas.openxmlformats.org/drawingml/2006/table">
            <a:tbl>
              <a:tblPr/>
              <a:tblGrid>
                <a:gridCol w="1645920"/>
                <a:gridCol w="2743200"/>
                <a:gridCol w="914400"/>
                <a:gridCol w="1097280"/>
                <a:gridCol w="914400"/>
              </a:tblGrid>
              <a:tr h="3048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名前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9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ホテル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9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出勤日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9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清掃室数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9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室/日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95C"/>
                    </a:solidFill>
                  </a:tcPr>
                </a:tc>
              </a:tr>
              <a:tr h="3048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辛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チサンH.浜松町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852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00695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24.3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3048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楊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チサンH.浜松町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36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867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00695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24.1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48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スーザン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リッチモンドH.東京目白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767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00695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21.9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3048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グルン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リッチモンドH.東京目白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36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787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00695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21.9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48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アルチャナ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ハートンH.東品川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515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00695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21.5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</a:tbl>
          </a:graphicData>
        </a:graphic>
      </p:graphicFrame>
      <p:sp>
        <p:nvSpPr>
          <p:cNvPr id="4" name="Shape 1"/>
          <p:cNvSpPr/>
          <p:nvPr/>
        </p:nvSpPr>
        <p:spPr>
          <a:xfrm>
            <a:off x="457200" y="3291840"/>
            <a:ext cx="2194560" cy="822960"/>
          </a:xfrm>
          <a:prstGeom prst="roundRect">
            <a:avLst>
              <a:gd name="adj" fmla="val 8889"/>
            </a:avLst>
          </a:prstGeom>
          <a:solidFill>
            <a:srgbClr val="2E75B6"/>
          </a:solidFill>
          <a:ln/>
        </p:spPr>
      </p:sp>
      <p:sp>
        <p:nvSpPr>
          <p:cNvPr id="5" name="Text 2"/>
          <p:cNvSpPr/>
          <p:nvPr/>
        </p:nvSpPr>
        <p:spPr>
          <a:xfrm>
            <a:off x="457200" y="3337560"/>
            <a:ext cx="2194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平均</a:t>
            </a:r>
            <a:endParaRPr lang="en-US" sz="1000" dirty="0"/>
          </a:p>
        </p:txBody>
      </p:sp>
      <p:sp>
        <p:nvSpPr>
          <p:cNvPr id="6" name="Text 3"/>
          <p:cNvSpPr/>
          <p:nvPr/>
        </p:nvSpPr>
        <p:spPr>
          <a:xfrm>
            <a:off x="457200" y="3611880"/>
            <a:ext cx="21945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10.2室/日</a:t>
            </a:r>
            <a:endParaRPr lang="en-US" sz="1800" dirty="0"/>
          </a:p>
        </p:txBody>
      </p:sp>
      <p:sp>
        <p:nvSpPr>
          <p:cNvPr id="7" name="Shape 4"/>
          <p:cNvSpPr/>
          <p:nvPr/>
        </p:nvSpPr>
        <p:spPr>
          <a:xfrm>
            <a:off x="2926080" y="3291840"/>
            <a:ext cx="2194560" cy="822960"/>
          </a:xfrm>
          <a:prstGeom prst="roundRect">
            <a:avLst>
              <a:gd name="adj" fmla="val 8889"/>
            </a:avLst>
          </a:prstGeom>
          <a:solidFill>
            <a:srgbClr val="00695C"/>
          </a:solidFill>
          <a:ln/>
        </p:spPr>
      </p:sp>
      <p:sp>
        <p:nvSpPr>
          <p:cNvPr id="8" name="Text 5"/>
          <p:cNvSpPr/>
          <p:nvPr/>
        </p:nvSpPr>
        <p:spPr>
          <a:xfrm>
            <a:off x="2926080" y="3337560"/>
            <a:ext cx="2194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中央値</a:t>
            </a:r>
            <a:endParaRPr lang="en-US" sz="1000" dirty="0"/>
          </a:p>
        </p:txBody>
      </p:sp>
      <p:sp>
        <p:nvSpPr>
          <p:cNvPr id="9" name="Text 6"/>
          <p:cNvSpPr/>
          <p:nvPr/>
        </p:nvSpPr>
        <p:spPr>
          <a:xfrm>
            <a:off x="2926080" y="3611880"/>
            <a:ext cx="21945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10.1室/日</a:t>
            </a:r>
            <a:endParaRPr lang="en-US" sz="1800" dirty="0"/>
          </a:p>
        </p:txBody>
      </p:sp>
      <p:sp>
        <p:nvSpPr>
          <p:cNvPr id="10" name="Shape 7"/>
          <p:cNvSpPr/>
          <p:nvPr/>
        </p:nvSpPr>
        <p:spPr>
          <a:xfrm>
            <a:off x="5394960" y="3291840"/>
            <a:ext cx="2194560" cy="822960"/>
          </a:xfrm>
          <a:prstGeom prst="roundRect">
            <a:avLst>
              <a:gd name="adj" fmla="val 8889"/>
            </a:avLst>
          </a:prstGeom>
          <a:solidFill>
            <a:srgbClr val="27AE60"/>
          </a:solidFill>
          <a:ln/>
        </p:spPr>
      </p:sp>
      <p:sp>
        <p:nvSpPr>
          <p:cNvPr id="11" name="Text 8"/>
          <p:cNvSpPr/>
          <p:nvPr/>
        </p:nvSpPr>
        <p:spPr>
          <a:xfrm>
            <a:off x="5394960" y="3337560"/>
            <a:ext cx="2194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最高</a:t>
            </a:r>
            <a:endParaRPr lang="en-US" sz="1000" dirty="0"/>
          </a:p>
        </p:txBody>
      </p:sp>
      <p:sp>
        <p:nvSpPr>
          <p:cNvPr id="12" name="Text 9"/>
          <p:cNvSpPr/>
          <p:nvPr/>
        </p:nvSpPr>
        <p:spPr>
          <a:xfrm>
            <a:off x="5394960" y="3611880"/>
            <a:ext cx="21945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24.3室/日</a:t>
            </a:r>
            <a:endParaRPr lang="en-US" sz="1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B3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提言とアクションプラン</a:t>
            </a:r>
            <a:endParaRPr lang="en-US" sz="2200" dirty="0"/>
          </a:p>
        </p:txBody>
      </p:sp>
      <p:sp>
        <p:nvSpPr>
          <p:cNvPr id="3" name="Shape 1"/>
          <p:cNvSpPr/>
          <p:nvPr/>
        </p:nvSpPr>
        <p:spPr>
          <a:xfrm>
            <a:off x="274320" y="1097280"/>
            <a:ext cx="8412480" cy="914400"/>
          </a:xfrm>
          <a:prstGeom prst="roundRect">
            <a:avLst>
              <a:gd name="adj" fmla="val 8000"/>
            </a:avLst>
          </a:prstGeom>
          <a:solidFill>
            <a:srgbClr val="E74C3C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1143000"/>
            <a:ext cx="8046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クレーム多発スタッフへの個別研修  [最優先]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57200" y="1508760"/>
            <a:ext cx="8046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クレーム2件以上のメイドへの個別フィードバック面談 / 清掃手順の再確認と実技研修 / 改善後のフォローアップ（1ヶ月後再評価）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274320" y="2194560"/>
            <a:ext cx="8412480" cy="914400"/>
          </a:xfrm>
          <a:prstGeom prst="roundRect">
            <a:avLst>
              <a:gd name="adj" fmla="val 8000"/>
            </a:avLst>
          </a:prstGeom>
          <a:solidFill>
            <a:srgbClr val="FF9800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2240280"/>
            <a:ext cx="8046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チェッカー品質管理力の強化  [高]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57200" y="2606040"/>
            <a:ext cx="8046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チェッカー間のクレーム発見率比較と是正 / ベストチェッカーの手法共有会の開催 / チェック項目の統一と漏れ防止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274320" y="3291840"/>
            <a:ext cx="8412480" cy="914400"/>
          </a:xfrm>
          <a:prstGeom prst="roundRect">
            <a:avLst>
              <a:gd name="adj" fmla="val 8000"/>
            </a:avLst>
          </a:prstGeom>
          <a:solidFill>
            <a:srgbClr val="00695C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3337560"/>
            <a:ext cx="8046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生産性指標の導入と目標管理  [中]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3703320"/>
            <a:ext cx="8046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日あたり清掃室数の個人別トラッキング / 効率と品質のバランス指標の設定 / トップパフォーマーのベストプラクティス抽出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5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2026-03-27T00:19:01Z</dcterms:created>
  <dcterms:modified xsi:type="dcterms:W3CDTF">2026-03-27T00:19:01Z</dcterms:modified>
</cp:coreProperties>
</file>