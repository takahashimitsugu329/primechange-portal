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2333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PRIMECHANGE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経営コンサルティング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レポート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1828800" cy="36576"/>
          </a:xfrm>
          <a:prstGeom prst="rect">
            <a:avLst/>
          </a:prstGeom>
          <a:solidFill>
            <a:srgbClr val="C233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Consulting Report — Data-Driven Growth Strategy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対象：19ホテル | 口コミ：2,070件 | 月間総売上：¥9,985万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2026年3月17日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株式会社PRIMECHANGE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エグゼクティブサマリー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5つの提言領域 — データ資産を最大限に活用する成長戦略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31520"/>
            <a:ext cx="1920240" cy="77724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31520"/>
            <a:ext cx="192024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229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管理ホテル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423160" y="731520"/>
            <a:ext cx="1920240" cy="777240"/>
          </a:xfrm>
          <a:prstGeom prst="rect">
            <a:avLst/>
          </a:prstGeom>
          <a:solidFill>
            <a:srgbClr val="E0F2F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731520"/>
            <a:ext cx="1920240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8229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23160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2,070件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572000" y="731520"/>
            <a:ext cx="1920240" cy="77724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731520"/>
            <a:ext cx="192024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8229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平均スコア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8.39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720840" y="731520"/>
            <a:ext cx="1920240" cy="777240"/>
          </a:xfrm>
          <a:prstGeom prst="rect">
            <a:avLst/>
          </a:prstGeom>
          <a:solidFill>
            <a:srgbClr val="FFEBE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731520"/>
            <a:ext cx="1920240" cy="36576"/>
          </a:xfrm>
          <a:prstGeom prst="rect">
            <a:avLst/>
          </a:prstGeom>
          <a:solidFill>
            <a:srgbClr val="C2333A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8229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月間総売上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20840" y="1005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¥1.0億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6576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核心的発見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5760" y="19659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PRIMECHANGEは清掃会社でありながら、業界で極めて稀な「データ分析基盤」を保有。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OTAから2,070件の口コミを構造化分析し、7種の深掘り分析と79本の自動レポートを生成。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しかしこの強みはHPにも営業にも活かされておらず、最大の成長機会を逃している。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88036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880360"/>
            <a:ext cx="1572768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0040" y="35661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データ資産の事業化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38862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営業ツール→顧客ポータル→SaaS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993392" y="288036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93392" y="2880360"/>
            <a:ext cx="1572768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1" name="Shape 29"/>
          <p:cNvSpPr/>
          <p:nvPr/>
        </p:nvSpPr>
        <p:spPr>
          <a:xfrm>
            <a:off x="2542032" y="3017520"/>
            <a:ext cx="457200" cy="4572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2542032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039112" y="35661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品質→売上ROI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039112" y="38862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年間+1.47億円の売上改善余地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712464" y="288036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712464" y="2880360"/>
            <a:ext cx="1572768" cy="36576"/>
          </a:xfrm>
          <a:prstGeom prst="rect">
            <a:avLst/>
          </a:prstGeom>
          <a:solidFill>
            <a:srgbClr val="C2333A"/>
          </a:solidFill>
          <a:ln/>
        </p:spPr>
      </p:sp>
      <p:sp>
        <p:nvSpPr>
          <p:cNvPr id="37" name="Shape 35"/>
          <p:cNvSpPr/>
          <p:nvPr/>
        </p:nvSpPr>
        <p:spPr>
          <a:xfrm>
            <a:off x="4261104" y="3017520"/>
            <a:ext cx="457200" cy="457200"/>
          </a:xfrm>
          <a:prstGeom prst="ellipse">
            <a:avLst/>
          </a:prstGeom>
          <a:solidFill>
            <a:srgbClr val="C2333A"/>
          </a:solidFill>
          <a:ln/>
        </p:spPr>
      </p:sp>
      <p:sp>
        <p:nvSpPr>
          <p:cNvPr id="38" name="Text 36"/>
          <p:cNvSpPr/>
          <p:nvPr/>
        </p:nvSpPr>
        <p:spPr>
          <a:xfrm>
            <a:off x="4261104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758184" y="35661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HP・営業戦略刷新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58184" y="38862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データドリブンなブランディング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31536" y="288036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31536" y="2880360"/>
            <a:ext cx="1572768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3" name="Shape 41"/>
          <p:cNvSpPr/>
          <p:nvPr/>
        </p:nvSpPr>
        <p:spPr>
          <a:xfrm>
            <a:off x="5980176" y="3017520"/>
            <a:ext cx="457200" cy="45720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44" name="Text 42"/>
          <p:cNvSpPr/>
          <p:nvPr/>
        </p:nvSpPr>
        <p:spPr>
          <a:xfrm>
            <a:off x="5980176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477256" y="35661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ポートフォリオ最適化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77256" y="38862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19ホテルのティア別戦略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150608" y="2880360"/>
            <a:ext cx="157276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150608" y="2880360"/>
            <a:ext cx="1572768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9" name="Shape 47"/>
          <p:cNvSpPr/>
          <p:nvPr/>
        </p:nvSpPr>
        <p:spPr>
          <a:xfrm>
            <a:off x="7699248" y="3017520"/>
            <a:ext cx="457200" cy="45720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50" name="Text 48"/>
          <p:cNvSpPr/>
          <p:nvPr/>
        </p:nvSpPr>
        <p:spPr>
          <a:xfrm>
            <a:off x="7699248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7196328" y="3566160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組織・オペ強化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196328" y="3886200"/>
            <a:ext cx="14813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KPI運用・自動化・V3完成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経営コンサルティングレポート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領域1：データ資産の事業化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清掃業界で類を見ない知的資産を事業に転換する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保有するデジタル資産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196596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972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口コミ分析基盤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OTAから2,070件を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構造化分析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0058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05840"/>
            <a:ext cx="1965960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10972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3世代ダッシュボード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13716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V1(6P)→V2(9P)→V3(10P)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の進化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05840"/>
            <a:ext cx="196596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0972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自動レポート生成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17720" y="13716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79本のDOCX/PPTXを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自動生成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0840" y="100584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1005840"/>
            <a:ext cx="1965960" cy="36576"/>
          </a:xfrm>
          <a:prstGeom prst="rect">
            <a:avLst/>
          </a:prstGeom>
          <a:solidFill>
            <a:srgbClr val="C2333A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09728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7種深掘り分析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13716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クレーム分類・人員配置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売上弾性等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194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3段階の事業化ロードマップ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256032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560320"/>
            <a:ext cx="2697480" cy="32004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560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1（即時）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2926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営業ツール活用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2004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・ダッシュボードデモで新規提案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・79本レポートを匿名サンプルに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・競合との明確な差別化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2514600" cy="2743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160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期待効果：新規受注率向上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54680" y="256032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54680" y="2560320"/>
            <a:ext cx="2697480" cy="32004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2" name="Text 30"/>
          <p:cNvSpPr/>
          <p:nvPr/>
        </p:nvSpPr>
        <p:spPr>
          <a:xfrm>
            <a:off x="3154680" y="2560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2（3-6ヶ月）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46120" y="2926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顧客ポータル提供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46120" y="32004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・各ホテルに専用ログイン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・月次レポート自動配信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・月額5-10万円アップセル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46120" y="4160520"/>
            <a:ext cx="2514600" cy="2743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3246120" y="4160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期待効果：解約率低下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0" y="2560320"/>
            <a:ext cx="2697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035040" y="2560320"/>
            <a:ext cx="269748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0" y="25603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3（6-12ヶ月）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26480" y="29260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SaaS独立事業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26480" y="320040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・清掃契約なしでも分析提供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・チェーン本部向け管理ツール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・月額3-8万円/ホテル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26480" y="4160520"/>
            <a:ext cx="2514600" cy="2743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3" name="Text 41"/>
          <p:cNvSpPr/>
          <p:nvPr/>
        </p:nvSpPr>
        <p:spPr>
          <a:xfrm>
            <a:off x="6126480" y="4160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期待効果：ストック収入確立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経営コンサルティングレポート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領域2：清掃品質 → 売上のROIストーリー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スコアと売上の統計的相関をホテルオーナーへの価値提案に転換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回帰分析結果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4114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731520"/>
                <a:gridCol w="1097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スコア1点あたり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相関 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解釈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稼働率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+3.9%pt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弱〜中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+¥255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RevPAR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+¥230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中〜強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月間売上/室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+¥6,453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中〜強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960120"/>
            <a:ext cx="41148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9601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指標        スコア1点あたり   相関 r     解釈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754880" y="685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スコア帯別パフォーマンス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960120"/>
          <a:ext cx="4114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1097280"/>
                <a:gridCol w="12801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スコア帯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ホテル数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平均RevPAR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最高帯との差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7.0-8.0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¥711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8.0-8.5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¥890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8.5-9.0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¥1,029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¥1,092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基準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663440" y="960120"/>
            <a:ext cx="4114800" cy="25603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Text 8"/>
          <p:cNvSpPr/>
          <p:nvPr/>
        </p:nvSpPr>
        <p:spPr>
          <a:xfrm>
            <a:off x="4709160" y="9601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スコア帯    ホテル数   平均RevPAR   最高帯との差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6576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改善シナリオ別インパクト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74320" y="2743200"/>
            <a:ext cx="2697480" cy="173736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74320" y="2743200"/>
            <a:ext cx="26974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6" name="Text 12"/>
          <p:cNvSpPr/>
          <p:nvPr/>
        </p:nvSpPr>
        <p:spPr>
          <a:xfrm>
            <a:off x="274320" y="2834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シナリオA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+0.1点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74320" y="32918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+¥23/RevPAR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74320" y="35661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+¥246万/月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274320" y="3886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+¥2,949万/年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3154680" y="2743200"/>
            <a:ext cx="2697480" cy="173736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154680" y="2743200"/>
            <a:ext cx="269748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18"/>
          <p:cNvSpPr/>
          <p:nvPr/>
        </p:nvSpPr>
        <p:spPr>
          <a:xfrm>
            <a:off x="3154680" y="2834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シナリオB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+0.3点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154680" y="32918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+¥69/RevPAR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154680" y="35661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+¥737万/月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154680" y="3886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+¥8,846万/年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6035040" y="2743200"/>
            <a:ext cx="2697480" cy="173736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035040" y="2743200"/>
            <a:ext cx="269748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8" name="Text 24"/>
          <p:cNvSpPr/>
          <p:nvPr/>
        </p:nvSpPr>
        <p:spPr>
          <a:xfrm>
            <a:off x="6035040" y="2834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シナリオC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+0.5点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035040" y="32918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+¥115/RevPAR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035040" y="35661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+¥1,229万/月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35040" y="38862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+¥1.47億/年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274320" y="4572000"/>
            <a:ext cx="8595360" cy="18288"/>
          </a:xfrm>
          <a:prstGeom prst="rect">
            <a:avLst/>
          </a:prstGeom>
          <a:solidFill>
            <a:srgbClr val="C2333A"/>
          </a:solidFill>
          <a:ln/>
        </p:spPr>
      </p:sp>
      <p:sp>
        <p:nvSpPr>
          <p:cNvPr id="33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4" name="Text 30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経営コンサルティングレポート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領域3：ホームページと営業戦略のギャップ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最大の強み（データ分析力）が対外的に全く伝わっていない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現状の問題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54864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メッセージ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20240" y="1005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「本気の清掃」— 抽象的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98448"/>
            <a:ext cx="54864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2984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実績・データ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12984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記載なし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1591056"/>
            <a:ext cx="54864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59105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20240" y="159105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自己啓発的で事業無関連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883664"/>
            <a:ext cx="54864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8836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FC募集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1883664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バナーのみ・詳細なし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176272"/>
            <a:ext cx="54864" cy="228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1762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会社概要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20240" y="21762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住所・電話のみ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685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改善提案（優先順位順）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105156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57800" y="1005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トップに数値実績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57800" y="120700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19ホテル / 2,070件 / 8.39点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1527048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527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257800" y="148132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事例ページ新設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16824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Before/After・デモ動画・サンプルDL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2002536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002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19568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ブログ戦略転換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21579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業界分析記事でSEO強化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2478024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4780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57800" y="24323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FC募集ページ充実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57800" y="26334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収益モデル・支援内容・声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46320" y="2953512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9535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57800" y="290779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10周年ブランディング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57800" y="31089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記念キャンペーン・PR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3566160"/>
            <a:ext cx="8595360" cy="822960"/>
          </a:xfrm>
          <a:prstGeom prst="rect">
            <a:avLst/>
          </a:prstGeom>
          <a:solidFill>
            <a:srgbClr val="FFF8E1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566160"/>
            <a:ext cx="54864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核心メッセージ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「清掃品質の見える化で、口コミスコア向上 → 売上向上を実現する」— このメッセージをHPのファーストビューに。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ダッシュボードのスクリーンショットと、「スコア+0.5で年間+1.47億円」の数字を出すだけで、競合と決定的に差別化できる。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経営コンサルティングレポート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領域4：ポートフォリオ戦略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19ホテルのティア別リソース配分と成長戦略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85800"/>
            <a:ext cx="201168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77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優秀 (9.0+)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097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3ホテル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平均: 9.10 | 課題率: 0.6%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ベストプラクティス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抽出・横展開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6858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685800"/>
            <a:ext cx="20116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777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良好 (8.5-9.0)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68880" y="1097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7ホテル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1371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平均: 8.74 | 課題率: 4.0%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6888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維持・微調整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6858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685800"/>
            <a:ext cx="201168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777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概ね良好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(8.0-8.5)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1097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4ホテル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63440" y="1371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平均: 8.27 | 課題率: 3.6%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344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重点監視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予防的改善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685800"/>
            <a:ext cx="20116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685800"/>
            <a:ext cx="201168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777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要改善 (&lt;8.0)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1097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5ホテル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0" y="13716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平均: 7.41 | 課題率: 11.1%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85800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緊急集中改善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プログラム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4つの戦略的アクション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2697480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2697480"/>
            <a:ext cx="36576" cy="9601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2" name="Shape 30"/>
          <p:cNvSpPr/>
          <p:nvPr/>
        </p:nvSpPr>
        <p:spPr>
          <a:xfrm>
            <a:off x="411480" y="2834640"/>
            <a:ext cx="365760" cy="3657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8680" y="27706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要改善5ホテル集中改善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68680" y="299923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博多(14.9%)、浜松町(12.5%)、新横浜(9.2%)、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蒲田(9.8%)、横浜関内(9.2%)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6ヶ月でスコア8.0超え目標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月額+292万円（+0.5点時）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09160" y="2697480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697480"/>
            <a:ext cx="36576" cy="9601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8" name="Shape 36"/>
          <p:cNvSpPr/>
          <p:nvPr/>
        </p:nvSpPr>
        <p:spPr>
          <a:xfrm>
            <a:off x="4846320" y="283464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303520" y="27706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ベストプラクティス横展開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299923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ERA東神田(9.16)、スイーツ東京ベイ(9.15)の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清掃手順を「PRIMECHANGE清掃スタンダード」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として文書化し全ホテルに展開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74320" y="3749040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74320" y="3749040"/>
            <a:ext cx="36576" cy="9601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4" name="Shape 42"/>
          <p:cNvSpPr/>
          <p:nvPr/>
        </p:nvSpPr>
        <p:spPr>
          <a:xfrm>
            <a:off x="411480" y="3886200"/>
            <a:ext cx="365760" cy="36576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8680" y="3822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新規獲得ターゲティング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680" y="40507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理想：スコア7.0-8.0の中価格帯BH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営業ピッチ：スコア分析→売上増シミュレーション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回避：超高級/スコア6.0未満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09160" y="3749040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09160" y="3749040"/>
            <a:ext cx="36576" cy="96012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0" name="Shape 48"/>
          <p:cNvSpPr/>
          <p:nvPr/>
        </p:nvSpPr>
        <p:spPr>
          <a:xfrm>
            <a:off x="4846320" y="3886200"/>
            <a:ext cx="365760" cy="36576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303520" y="38221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チェーン一括提案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303520" y="40507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コンフォート系6ホテルが既にポートフォリオに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チェーン本部への一括受注提案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「全系列にデータ分析+清掃を包括」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経営コンサルティングレポート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領域5：組織・オペレーション強化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KPI運用の確立、自動化の深化、V3ダッシュボード完成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技術基盤の評価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3716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05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自動化パイプライン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10058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良好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13716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2618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スナップショット管理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0" y="12618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良好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563624"/>
            <a:ext cx="137160" cy="137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5179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レポート品質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51790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良好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819656"/>
            <a:ext cx="137160" cy="1371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7739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KPI目標設定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177393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問題あり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075688"/>
            <a:ext cx="137160" cy="1371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0299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V3完成度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02996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未完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331720"/>
            <a:ext cx="137160" cy="1371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2860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データ更新頻度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2286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要検討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0" y="685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提案するKPI目標（2026年9月）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1005840"/>
            <a:ext cx="3840480" cy="329184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92040" y="10058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平均スコア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89320" y="100584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20840" y="1005840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95160" y="1005840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26680" y="100584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1389888"/>
            <a:ext cx="384048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92040" y="138988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清掃課題率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89320" y="138988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720840" y="1389888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995160" y="1389888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26680" y="1389888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-1.2pt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46320" y="1773936"/>
            <a:ext cx="3840480" cy="329184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92040" y="1773936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高評価率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89320" y="17739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78.5%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0840" y="1773936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95160" y="1773936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82.0%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726680" y="1773936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+3.5pt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2157984"/>
            <a:ext cx="3840480" cy="32918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92040" y="215798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低評価率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89320" y="21579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720840" y="2157984"/>
            <a:ext cx="274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95160" y="2157984"/>
            <a:ext cx="731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26680" y="2157984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-1.5pt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6576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4つの強化施策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274320" y="301752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4320" y="3017520"/>
            <a:ext cx="20116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2" name="Shape 50"/>
          <p:cNvSpPr/>
          <p:nvPr/>
        </p:nvSpPr>
        <p:spPr>
          <a:xfrm>
            <a:off x="1051560" y="3108960"/>
            <a:ext cx="411480" cy="41148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53" name="Text 51"/>
          <p:cNvSpPr/>
          <p:nvPr/>
        </p:nvSpPr>
        <p:spPr>
          <a:xfrm>
            <a:off x="105156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32004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月次レビュー会議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ダッシュボードで15分レビュー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閾値下回りアラート＋対応協議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四半期ごとの目標見直し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468880" y="301752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2468880" y="3017520"/>
            <a:ext cx="2011680" cy="36576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58" name="Shape 56"/>
          <p:cNvSpPr/>
          <p:nvPr/>
        </p:nvSpPr>
        <p:spPr>
          <a:xfrm>
            <a:off x="3246120" y="3108960"/>
            <a:ext cx="411480" cy="411480"/>
          </a:xfrm>
          <a:prstGeom prst="ellipse">
            <a:avLst/>
          </a:prstGeom>
          <a:solidFill>
            <a:srgbClr val="00695C"/>
          </a:solidFill>
          <a:ln/>
        </p:spPr>
      </p:sp>
      <p:sp>
        <p:nvSpPr>
          <p:cNvPr id="59" name="Text 57"/>
          <p:cNvSpPr/>
          <p:nvPr/>
        </p:nvSpPr>
        <p:spPr>
          <a:xfrm>
            <a:off x="324612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251460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データ更新自動化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56032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cronで週次/月次自動更新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口コミ自動取得パイプライン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Slack/メール通知アラート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663440" y="301752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663440" y="3017520"/>
            <a:ext cx="201168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4" name="Shape 62"/>
          <p:cNvSpPr/>
          <p:nvPr/>
        </p:nvSpPr>
        <p:spPr>
          <a:xfrm>
            <a:off x="5440680" y="3108960"/>
            <a:ext cx="411480" cy="4114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65" name="Text 63"/>
          <p:cNvSpPr/>
          <p:nvPr/>
        </p:nvSpPr>
        <p:spPr>
          <a:xfrm>
            <a:off x="544068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470916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V3ダッシュボード完成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75488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Dashboard（スタッフ管理）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スキルマッピング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人員配置最適化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858000" y="3017520"/>
            <a:ext cx="20116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858000" y="3017520"/>
            <a:ext cx="2011680" cy="36576"/>
          </a:xfrm>
          <a:prstGeom prst="rect">
            <a:avLst/>
          </a:prstGeom>
          <a:solidFill>
            <a:srgbClr val="C2333A"/>
          </a:solidFill>
          <a:ln/>
        </p:spPr>
      </p:sp>
      <p:sp>
        <p:nvSpPr>
          <p:cNvPr id="70" name="Shape 68"/>
          <p:cNvSpPr/>
          <p:nvPr/>
        </p:nvSpPr>
        <p:spPr>
          <a:xfrm>
            <a:off x="7635240" y="3108960"/>
            <a:ext cx="411480" cy="411480"/>
          </a:xfrm>
          <a:prstGeom prst="ellipse">
            <a:avLst/>
          </a:prstGeom>
          <a:solidFill>
            <a:srgbClr val="C2333A"/>
          </a:solidFill>
          <a:ln/>
        </p:spPr>
      </p:sp>
      <p:sp>
        <p:nvSpPr>
          <p:cNvPr id="71" name="Text 69"/>
          <p:cNvSpPr/>
          <p:nvPr/>
        </p:nvSpPr>
        <p:spPr>
          <a:xfrm>
            <a:off x="763524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6903720" y="3566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2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差分レポート活用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949440" y="38404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前月比の成果可視化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投資効果の証明</a:t>
            </a:r>
            <a:endParaRPr lang="en-US" sz="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月次自動送信で契約継続促進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5" name="Text 73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経営コンサルティングレポート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総合ロードマップ：優先順位マトリクス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インパクト × 実現容易性で施策を分類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137160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施策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インパクト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容易性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優先度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HPにデータ実績掲載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最優先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KPI目標値の修正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最優先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要改善5ホテル集中改善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営業にダッシュボード活用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ベストプラクティス横展開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顧客向けポータル提供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ブログの業界専門化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FC募集ページ充実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SaaS化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長期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731520"/>
            <a:ext cx="8595360" cy="2743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731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施策                                        インパクト        容易性           優先度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経営コンサルティングレポート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実行タイムライン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4フェーズで段階的に実行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36576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1280160"/>
            <a:ext cx="274320" cy="2743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731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9601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即時〜1ヶ月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2618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691640"/>
            <a:ext cx="2011680" cy="3657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830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・HPトップに数値実績掲載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・KPI目標値の設定・反映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・4 URGENTホテルにQCマネージャー配置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・営業資料にダッシュボード追加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37560" y="1280160"/>
            <a:ext cx="274320" cy="274320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731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9601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1〜3ヶ月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12618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468880" y="169164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0" y="1691640"/>
            <a:ext cx="2011680" cy="36576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17830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・HP事例ページ新設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・ブログ戦略転換（業界分析）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・月次レビュー会議導入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・ベストプラクティス文書化・横展開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・FC募集ページ充実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32120" y="1280160"/>
            <a:ext cx="274320" cy="274320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731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663440" y="9601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3〜6ヶ月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94960" y="12618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663440" y="169164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691640"/>
            <a:ext cx="2011680" cy="36576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7830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・顧客向けポータル開発・提供開始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・データ更新の完全自動化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・V3ダッシュボード完成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・要改善ホテルの8.0超え検証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・10周年ブランディング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726680" y="128016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7315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9601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6〜12ヶ月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589520" y="12618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858000" y="1691640"/>
            <a:ext cx="20116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58000" y="1691640"/>
            <a:ext cx="201168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178308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・SaaS型口コミ分析サービスMVP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・ホテルチェーン本部へ包括提案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・ストック型収入モデルの確立</a:t>
            </a:r>
            <a:endParaRPr lang="en-US" sz="8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・新規市場（旅館・民泊）への展開検討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54864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| PRIMECHANGE 経営コンサルティングレポート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800600"/>
            <a:ext cx="457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2333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9B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PRIMECHANGEの最大の武器は、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清掃業界で類を見ない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3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「データ分析基盤」です。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3657600" cy="36576"/>
          </a:xfrm>
          <a:prstGeom prst="rect">
            <a:avLst/>
          </a:prstGeom>
          <a:solidFill>
            <a:srgbClr val="C233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これを内部ツールに留めず、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営業・顧客維持・新規事業の全てに活用する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戦略にシフトすべきです。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株式会社PRIMECHANGE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2026年3月17日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PRIMECHANGE 経営コンサルティングレポート</dc:title>
  <dc:subject>PptxGenJS Presentation</dc:subject>
  <dc:creator>PRIMECHANGE</dc:creator>
  <cp:lastModifiedBy>PRIMECHANGE</cp:lastModifiedBy>
  <cp:revision>1</cp:revision>
  <dcterms:created xsi:type="dcterms:W3CDTF">2026-03-16T22:49:21Z</dcterms:created>
  <dcterms:modified xsi:type="dcterms:W3CDTF">2026-03-16T22:49:21Z</dcterms:modified>
</cp:coreProperties>
</file>