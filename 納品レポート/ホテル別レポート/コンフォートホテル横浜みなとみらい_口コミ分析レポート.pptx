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10pt換算平均</c:v>
                </c:pt>
              </c:strCache>
            </c:strRef>
          </c:tx>
          <c:spPr>
            <a:solidFill>
              <a:srgbClr val="3B7DD8"/>
            </a:solidFill>
            <a:effectLst/>
          </c:spPr>
          <c:invertIfNegative val="0"/>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cat>
            <c:multiLvlStrRef>
              <c:f>Sheet1!$A$2:$A$7</c:f>
              <c:multiLvlStrCache>
                <c:ptCount val="6"/>
                <c:lvl>
                  <c:pt idx="0">
                    <c:v>Google</c:v>
                  </c:pt>
                  <c:pt idx="1">
                    <c:v>楽天トラベル</c:v>
                  </c:pt>
                  <c:pt idx="2">
                    <c:v>じゃらん</c:v>
                  </c:pt>
                  <c:pt idx="3">
                    <c:v>Trip.com</c:v>
                  </c:pt>
                  <c:pt idx="4">
                    <c:v>Booking.com</c:v>
                  </c:pt>
                  <c:pt idx="5">
                    <c:v>Agoda</c:v>
                  </c:pt>
                </c:lvl>
              </c:multiLvlStrCache>
            </c:multiLvlStrRef>
          </c:cat>
          <c:val>
            <c:numRef>
              <c:f>Sheet1!$B$2:$B$7</c:f>
              <c:numCache>
                <c:formatCode>General</c:formatCode>
                <c:ptCount val="6"/>
                <c:pt idx="0">
                  <c:v>9.86</c:v>
                </c:pt>
                <c:pt idx="1">
                  <c:v>9.38</c:v>
                </c:pt>
                <c:pt idx="2">
                  <c:v>9.23</c:v>
                </c:pt>
                <c:pt idx="3">
                  <c:v>9.12</c:v>
                </c:pt>
                <c:pt idx="4">
                  <c:v>8.56</c:v>
                </c:pt>
                <c:pt idx="5">
                  <c:v>8.18</c:v>
                </c:pt>
              </c:numCache>
            </c:numRef>
          </c:val>
        </c:ser>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max val="1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評価分布（10pt換算）</c:v>
                </c:pt>
              </c:strCache>
            </c:strRef>
          </c:tx>
          <c:spPr>
            <a:solidFill>
              <a:schemeClr val="accent1"/>
            </a:solidFill>
            <a:ln w="9525" cap="flat">
              <a:solidFill>
                <a:srgbClr val="F9F9F9"/>
              </a:solidFill>
              <a:prstDash val="solid"/>
              <a:round/>
            </a:ln>
            <a:effectLst/>
          </c:spPr>
          <c:dPt>
            <c:idx val="0"/>
            <c:bubble3D val="0"/>
            <c:spPr>
              <a:solidFill>
                <a:srgbClr val="16A34A"/>
              </a:solidFill>
              <a:effectLst/>
            </c:spPr>
          </c:dPt>
          <c:dPt>
            <c:idx val="1"/>
            <c:bubble3D val="0"/>
            <c:spPr>
              <a:solidFill>
                <a:srgbClr val="D4A843"/>
              </a:solidFill>
              <a:effectLst/>
            </c:spPr>
          </c:dPt>
          <c:dPt>
            <c:idx val="2"/>
            <c:bubble3D val="0"/>
            <c:spPr>
              <a:solidFill>
                <a:srgbClr val="D4A843"/>
              </a:solidFill>
              <a:effectLst/>
            </c:spPr>
          </c:dPt>
          <c:dLbls>
            <c:dLbl>
              <c:idx val="0"/>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高評価(8-10)</c:v>
                </c:pt>
                <c:pt idx="1">
                  <c:v>中評価(5-7)</c:v>
                </c:pt>
                <c:pt idx="2">
                  <c:v>低評価(1-4)</c:v>
                </c:pt>
              </c:strCache>
            </c:strRef>
          </c:cat>
          <c:val>
            <c:numRef>
              <c:f>Sheet1!$B$2:$B$4</c:f>
              <c:numCache>
                <c:ptCount val="3"/>
                <c:pt idx="0">
                  <c:v>108</c:v>
                </c:pt>
                <c:pt idx="1">
                  <c:v>19</c:v>
                </c:pt>
                <c:pt idx="2">
                  <c:v>1</c:v>
                </c:pt>
              </c:numCache>
            </c:numRef>
          </c:val>
        </c:ser>
        <c:firstSliceAng val="0"/>
        <c:holeSize val="50"/>
      </c:doughnutChart>
      <c:spPr>
        <a:noFill/>
        <a:ln>
          <a:noFill/>
        </a:ln>
        <a:effectLst/>
      </c:spPr>
    </c:plotArea>
    <c:legend>
      <c:legendPos val="b"/>
      <c:overlay val="0"/>
      <c:txPr>
        <a:bodyPr/>
        <a:lstStyle/>
        <a:p>
          <a:pPr>
            <a:defRPr sz="900">
              <a:solidFill>
                <a:srgbClr val="64748B"/>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件数</c:v>
                </c:pt>
              </c:strCache>
            </c:strRef>
          </c:tx>
          <c:spPr>
            <a:solidFill>
              <a:srgbClr val="16A34A"/>
            </a:solidFill>
            <a:effectLst/>
          </c:spPr>
          <c:invertIfNegative val="0"/>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dPt>
            <c:idx val="0"/>
            <c:invertIfNegative val="0"/>
            <c:bubble3D val="0"/>
            <c:spPr>
              <a:solidFill>
                <a:srgbClr val="16A34A"/>
              </a:solidFill>
              <a:effectLst/>
            </c:spPr>
          </c:dPt>
          <c:dPt>
            <c:idx val="1"/>
            <c:invertIfNegative val="0"/>
            <c:bubble3D val="0"/>
            <c:spPr>
              <a:solidFill>
                <a:srgbClr val="16A34A"/>
              </a:solidFill>
              <a:effectLst/>
            </c:spPr>
          </c:dPt>
          <c:dPt>
            <c:idx val="2"/>
            <c:invertIfNegative val="0"/>
            <c:bubble3D val="0"/>
            <c:spPr>
              <a:solidFill>
                <a:srgbClr val="16A34A"/>
              </a:solidFill>
              <a:effectLst/>
            </c:spPr>
          </c:dPt>
          <c:dPt>
            <c:idx val="3"/>
            <c:invertIfNegative val="0"/>
            <c:bubble3D val="0"/>
            <c:spPr>
              <a:solidFill>
                <a:srgbClr val="D4A843"/>
              </a:solidFill>
              <a:effectLst/>
            </c:spPr>
          </c:dPt>
          <c:dPt>
            <c:idx val="4"/>
            <c:invertIfNegative val="0"/>
            <c:bubble3D val="0"/>
            <c:spPr>
              <a:solidFill>
                <a:srgbClr val="D4A843"/>
              </a:solidFill>
              <a:effectLst/>
            </c:spPr>
          </c:dPt>
          <c:dPt>
            <c:idx val="5"/>
            <c:invertIfNegative val="0"/>
            <c:bubble3D val="0"/>
            <c:spPr>
              <a:solidFill>
                <a:srgbClr val="D4A843"/>
              </a:solidFill>
              <a:effectLst/>
            </c:spPr>
          </c:dPt>
          <c:dPt>
            <c:idx val="6"/>
            <c:invertIfNegative val="0"/>
            <c:bubble3D val="0"/>
            <c:spPr>
              <a:solidFill>
                <a:srgbClr val="16A34A"/>
              </a:solidFill>
              <a:effectLst/>
            </c:spPr>
          </c:dPt>
          <c:cat>
            <c:multiLvlStrRef>
              <c:f>Sheet1!$A$2:$A$8</c:f>
              <c:multiLvlStrCache>
                <c:ptCount val="7"/>
                <c:lvl>
                  <c:pt idx="0">
                    <c:v>10点</c:v>
                  </c:pt>
                  <c:pt idx="1">
                    <c:v>9点</c:v>
                  </c:pt>
                  <c:pt idx="2">
                    <c:v>8点</c:v>
                  </c:pt>
                  <c:pt idx="3">
                    <c:v>7点</c:v>
                  </c:pt>
                  <c:pt idx="4">
                    <c:v>6点</c:v>
                  </c:pt>
                  <c:pt idx="5">
                    <c:v>5点</c:v>
                  </c:pt>
                  <c:pt idx="6">
                    <c:v>3点</c:v>
                  </c:pt>
                </c:lvl>
              </c:multiLvlStrCache>
            </c:multiLvlStrRef>
          </c:cat>
          <c:val>
            <c:numRef>
              <c:f>Sheet1!$B$2:$B$8</c:f>
              <c:numCache>
                <c:formatCode>General</c:formatCode>
                <c:ptCount val="7"/>
                <c:pt idx="0">
                  <c:v>62</c:v>
                </c:pt>
                <c:pt idx="1">
                  <c:v>21</c:v>
                </c:pt>
                <c:pt idx="2">
                  <c:v>25</c:v>
                </c:pt>
                <c:pt idx="3">
                  <c:v>11</c:v>
                </c:pt>
                <c:pt idx="4">
                  <c:v>7</c:v>
                </c:pt>
                <c:pt idx="5">
                  <c:v>1</c:v>
                </c:pt>
                <c:pt idx="6">
                  <c:v>1</c:v>
                </c:pt>
              </c:numCache>
            </c:numRef>
          </c:val>
        </c:ser>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43556">
              <a:alpha val="60000"/>
            </a:srgbClr>
          </a:solidFill>
          <a:ln/>
        </p:spPr>
      </p:sp>
      <p:sp>
        <p:nvSpPr>
          <p:cNvPr id="3" name="Shape 1"/>
          <p:cNvSpPr/>
          <p:nvPr/>
        </p:nvSpPr>
        <p:spPr>
          <a:xfrm>
            <a:off x="0" y="1828800"/>
            <a:ext cx="73152" cy="1645920"/>
          </a:xfrm>
          <a:prstGeom prst="rect">
            <a:avLst/>
          </a:prstGeom>
          <a:solidFill>
            <a:srgbClr val="D4A843"/>
          </a:solidFill>
          <a:ln/>
        </p:spPr>
      </p:sp>
      <p:sp>
        <p:nvSpPr>
          <p:cNvPr id="4" name="Text 2"/>
          <p:cNvSpPr/>
          <p:nvPr/>
        </p:nvSpPr>
        <p:spPr>
          <a:xfrm>
            <a:off x="731520" y="1371600"/>
            <a:ext cx="7315200" cy="640080"/>
          </a:xfrm>
          <a:prstGeom prst="rect">
            <a:avLst/>
          </a:prstGeom>
          <a:noFill/>
          <a:ln/>
        </p:spPr>
        <p:txBody>
          <a:bodyPr wrap="square" lIns="0" tIns="0" rIns="0" bIns="0" rtlCol="0" anchor="ctr"/>
          <a:lstStyle/>
          <a:p>
            <a:pPr indent="0" marL="0">
              <a:buNone/>
            </a:pPr>
            <a:r>
              <a:rPr lang="en-US" sz="2000" spc="600" kern="0" dirty="0">
                <a:solidFill>
                  <a:srgbClr val="5A9BE6"/>
                </a:solidFill>
                <a:latin typeface="Arial" pitchFamily="34" charset="0"/>
                <a:ea typeface="Arial" pitchFamily="34" charset="-122"/>
                <a:cs typeface="Arial" pitchFamily="34" charset="-120"/>
              </a:rPr>
              <a:t>口コミ分析</a:t>
            </a:r>
            <a:endParaRPr lang="en-US" sz="2000" dirty="0"/>
          </a:p>
        </p:txBody>
      </p:sp>
      <p:sp>
        <p:nvSpPr>
          <p:cNvPr id="5" name="Text 3"/>
          <p:cNvSpPr/>
          <p:nvPr/>
        </p:nvSpPr>
        <p:spPr>
          <a:xfrm>
            <a:off x="731520" y="1920240"/>
            <a:ext cx="7315200" cy="82296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改善レポート</a:t>
            </a:r>
            <a:endParaRPr lang="en-US" sz="4200" dirty="0"/>
          </a:p>
        </p:txBody>
      </p:sp>
      <p:sp>
        <p:nvSpPr>
          <p:cNvPr id="6" name="Shape 4"/>
          <p:cNvSpPr/>
          <p:nvPr/>
        </p:nvSpPr>
        <p:spPr>
          <a:xfrm>
            <a:off x="731520" y="2834640"/>
            <a:ext cx="1828800" cy="0"/>
          </a:xfrm>
          <a:prstGeom prst="line">
            <a:avLst/>
          </a:prstGeom>
          <a:noFill/>
          <a:ln w="25400">
            <a:solidFill>
              <a:srgbClr val="D4A843"/>
            </a:solidFill>
            <a:prstDash val="solid"/>
          </a:ln>
        </p:spPr>
      </p:sp>
      <p:sp>
        <p:nvSpPr>
          <p:cNvPr id="7" name="Text 5"/>
          <p:cNvSpPr/>
          <p:nvPr/>
        </p:nvSpPr>
        <p:spPr>
          <a:xfrm>
            <a:off x="731520" y="3017520"/>
            <a:ext cx="7315200" cy="457200"/>
          </a:xfrm>
          <a:prstGeom prst="rect">
            <a:avLst/>
          </a:prstGeom>
          <a:noFill/>
          <a:ln/>
        </p:spPr>
        <p:txBody>
          <a:bodyPr wrap="square" lIns="0" tIns="0" rIns="0" bIns="0" rtlCol="0" anchor="ctr"/>
          <a:lstStyle/>
          <a:p>
            <a:pPr indent="0" marL="0">
              <a:buNone/>
            </a:pPr>
            <a:r>
              <a:rPr lang="en-US" sz="1600" dirty="0">
                <a:solidFill>
                  <a:srgbClr val="94A3B8"/>
                </a:solidFill>
                <a:latin typeface="Arial" pitchFamily="34" charset="0"/>
                <a:ea typeface="Arial" pitchFamily="34" charset="-122"/>
                <a:cs typeface="Arial" pitchFamily="34" charset="-120"/>
              </a:rPr>
              <a:t>コンフォートホテル横浜みなとみらい</a:t>
            </a:r>
            <a:endParaRPr lang="en-US" sz="1600" dirty="0"/>
          </a:p>
        </p:txBody>
      </p:sp>
      <p:sp>
        <p:nvSpPr>
          <p:cNvPr id="8" name="Text 6"/>
          <p:cNvSpPr/>
          <p:nvPr/>
        </p:nvSpPr>
        <p:spPr>
          <a:xfrm>
            <a:off x="731520" y="3749040"/>
            <a:ext cx="4572000" cy="822960"/>
          </a:xfrm>
          <a:prstGeom prst="rect">
            <a:avLst/>
          </a:prstGeom>
          <a:noFill/>
          <a:ln/>
        </p:spPr>
        <p:txBody>
          <a:bodyPr wrap="square" lIns="0" tIns="0" rIns="0" bIns="0" rtlCol="0" anchor="ctr"/>
          <a:lstStyle/>
          <a:p>
            <a:pPr indent="0" marL="0">
              <a:spcAft>
                <a:spcPts val="400"/>
              </a:spcAft>
              <a:buNone/>
            </a:pPr>
            <a:r>
              <a:rPr lang="en-US" sz="1000" dirty="0">
                <a:solidFill>
                  <a:srgbClr val="94A3B8"/>
                </a:solidFill>
                <a:latin typeface="Arial" pitchFamily="34" charset="0"/>
                <a:ea typeface="Arial" pitchFamily="34" charset="-122"/>
                <a:cs typeface="Arial" pitchFamily="34" charset="-120"/>
              </a:rPr>
              <a:t>分析対象期間：2026年2月〜3月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レビュー総数：128件（6サイト）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作成日：2026年3月28日</a:t>
            </a:r>
            <a:endParaRPr lang="en-US" sz="1000" dirty="0"/>
          </a:p>
        </p:txBody>
      </p:sp>
      <p:sp>
        <p:nvSpPr>
          <p:cNvPr id="9" name="Shape 7"/>
          <p:cNvSpPr/>
          <p:nvPr/>
        </p:nvSpPr>
        <p:spPr>
          <a:xfrm>
            <a:off x="6858000" y="0"/>
            <a:ext cx="2286000" cy="5143500"/>
          </a:xfrm>
          <a:prstGeom prst="rect">
            <a:avLst/>
          </a:prstGeom>
          <a:solidFill>
            <a:srgbClr val="3B7DD8">
              <a:alpha val="15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エグゼクティブサマリー</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Executive Summary</a:t>
            </a:r>
            <a:endParaRPr lang="en-US" sz="1000" dirty="0"/>
          </a:p>
        </p:txBody>
      </p:sp>
      <p:sp>
        <p:nvSpPr>
          <p:cNvPr id="5" name="Shape 3"/>
          <p:cNvSpPr/>
          <p:nvPr/>
        </p:nvSpPr>
        <p:spPr>
          <a:xfrm>
            <a:off x="4572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1874520" cy="45720"/>
          </a:xfrm>
          <a:prstGeom prst="rect">
            <a:avLst/>
          </a:prstGeom>
          <a:solidFill>
            <a:srgbClr val="3B7DD8"/>
          </a:solidFill>
          <a:ln/>
        </p:spPr>
      </p:sp>
      <p:sp>
        <p:nvSpPr>
          <p:cNvPr id="7" name="Text 5"/>
          <p:cNvSpPr/>
          <p:nvPr/>
        </p:nvSpPr>
        <p:spPr>
          <a:xfrm>
            <a:off x="4572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全体平均(10pt換算)</a:t>
            </a:r>
            <a:endParaRPr lang="en-US" sz="1000" dirty="0"/>
          </a:p>
        </p:txBody>
      </p:sp>
      <p:sp>
        <p:nvSpPr>
          <p:cNvPr id="8" name="Text 6"/>
          <p:cNvSpPr/>
          <p:nvPr/>
        </p:nvSpPr>
        <p:spPr>
          <a:xfrm>
            <a:off x="457200" y="1417320"/>
            <a:ext cx="1874520" cy="502920"/>
          </a:xfrm>
          <a:prstGeom prst="rect">
            <a:avLst/>
          </a:prstGeom>
          <a:noFill/>
          <a:ln/>
        </p:spPr>
        <p:txBody>
          <a:bodyPr wrap="square" lIns="0" tIns="0" rIns="0" bIns="0" rtlCol="0" anchor="ctr"/>
          <a:lstStyle/>
          <a:p>
            <a:pPr algn="ctr" indent="0" marL="0">
              <a:buNone/>
            </a:pPr>
            <a:r>
              <a:rPr lang="en-US" sz="3200" b="1" dirty="0">
                <a:solidFill>
                  <a:srgbClr val="3B7DD8"/>
                </a:solidFill>
                <a:latin typeface="Arial" pitchFamily="34" charset="0"/>
                <a:ea typeface="Arial" pitchFamily="34" charset="-122"/>
                <a:cs typeface="Arial" pitchFamily="34" charset="-120"/>
              </a:rPr>
              <a:t>8.88</a:t>
            </a:r>
            <a:endParaRPr lang="en-US" sz="3200" dirty="0"/>
          </a:p>
        </p:txBody>
      </p:sp>
      <p:sp>
        <p:nvSpPr>
          <p:cNvPr id="9" name="Shape 7"/>
          <p:cNvSpPr/>
          <p:nvPr/>
        </p:nvSpPr>
        <p:spPr>
          <a:xfrm>
            <a:off x="25146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2514600" y="1051560"/>
            <a:ext cx="1874520" cy="45720"/>
          </a:xfrm>
          <a:prstGeom prst="rect">
            <a:avLst/>
          </a:prstGeom>
          <a:solidFill>
            <a:srgbClr val="16A34A"/>
          </a:solidFill>
          <a:ln/>
        </p:spPr>
      </p:sp>
      <p:sp>
        <p:nvSpPr>
          <p:cNvPr id="11" name="Text 9"/>
          <p:cNvSpPr/>
          <p:nvPr/>
        </p:nvSpPr>
        <p:spPr>
          <a:xfrm>
            <a:off x="25146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25146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84.4%</a:t>
            </a:r>
            <a:endParaRPr lang="en-US" sz="3200" dirty="0"/>
          </a:p>
        </p:txBody>
      </p:sp>
      <p:sp>
        <p:nvSpPr>
          <p:cNvPr id="13" name="Shape 11"/>
          <p:cNvSpPr/>
          <p:nvPr/>
        </p:nvSpPr>
        <p:spPr>
          <a:xfrm>
            <a:off x="45720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0" y="1051560"/>
            <a:ext cx="1874520" cy="45720"/>
          </a:xfrm>
          <a:prstGeom prst="rect">
            <a:avLst/>
          </a:prstGeom>
          <a:solidFill>
            <a:srgbClr val="16A34A"/>
          </a:solidFill>
          <a:ln/>
        </p:spPr>
      </p:sp>
      <p:sp>
        <p:nvSpPr>
          <p:cNvPr id="15" name="Text 13"/>
          <p:cNvSpPr/>
          <p:nvPr/>
        </p:nvSpPr>
        <p:spPr>
          <a:xfrm>
            <a:off x="45720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0.8%</a:t>
            </a:r>
            <a:endParaRPr lang="en-US" sz="3200" dirty="0"/>
          </a:p>
        </p:txBody>
      </p:sp>
      <p:sp>
        <p:nvSpPr>
          <p:cNvPr id="17" name="Shape 15"/>
          <p:cNvSpPr/>
          <p:nvPr/>
        </p:nvSpPr>
        <p:spPr>
          <a:xfrm>
            <a:off x="6629400" y="1051560"/>
            <a:ext cx="205740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6629400" y="1051560"/>
            <a:ext cx="2057400" cy="45720"/>
          </a:xfrm>
          <a:prstGeom prst="rect">
            <a:avLst/>
          </a:prstGeom>
          <a:solidFill>
            <a:srgbClr val="1A2744"/>
          </a:solidFill>
          <a:ln/>
        </p:spPr>
      </p:sp>
      <p:sp>
        <p:nvSpPr>
          <p:cNvPr id="19" name="Text 17"/>
          <p:cNvSpPr/>
          <p:nvPr/>
        </p:nvSpPr>
        <p:spPr>
          <a:xfrm>
            <a:off x="6629400" y="1188720"/>
            <a:ext cx="205740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6629400" y="1417320"/>
            <a:ext cx="205740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128件</a:t>
            </a:r>
            <a:endParaRPr lang="en-US" sz="3200" dirty="0"/>
          </a:p>
        </p:txBody>
      </p:sp>
      <p:sp>
        <p:nvSpPr>
          <p:cNvPr id="21" name="Shape 19"/>
          <p:cNvSpPr/>
          <p:nvPr/>
        </p:nvSpPr>
        <p:spPr>
          <a:xfrm>
            <a:off x="45720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2" name="Shape 20"/>
          <p:cNvSpPr/>
          <p:nvPr/>
        </p:nvSpPr>
        <p:spPr>
          <a:xfrm>
            <a:off x="457200" y="2286000"/>
            <a:ext cx="3931920" cy="45720"/>
          </a:xfrm>
          <a:prstGeom prst="rect">
            <a:avLst/>
          </a:prstGeom>
          <a:solidFill>
            <a:srgbClr val="16A34A"/>
          </a:solidFill>
          <a:ln/>
        </p:spPr>
      </p:sp>
      <p:sp>
        <p:nvSpPr>
          <p:cNvPr id="23" name="Text 21"/>
          <p:cNvSpPr/>
          <p:nvPr/>
        </p:nvSpPr>
        <p:spPr>
          <a:xfrm>
            <a:off x="640080" y="2377440"/>
            <a:ext cx="2743200" cy="320040"/>
          </a:xfrm>
          <a:prstGeom prst="rect">
            <a:avLst/>
          </a:prstGeom>
          <a:noFill/>
          <a:ln/>
        </p:spPr>
        <p:txBody>
          <a:bodyPr wrap="square" lIns="0" tIns="0" rIns="0" bIns="0" rtlCol="0" anchor="ctr"/>
          <a:lstStyle/>
          <a:p>
            <a:pPr indent="0" marL="0">
              <a:buNone/>
            </a:pPr>
            <a:r>
              <a:rPr lang="en-US" sz="1400" b="1" dirty="0">
                <a:solidFill>
                  <a:srgbClr val="16A34A"/>
                </a:solidFill>
                <a:latin typeface="Arial" pitchFamily="34" charset="0"/>
                <a:ea typeface="Arial" pitchFamily="34" charset="-122"/>
                <a:cs typeface="Arial" pitchFamily="34" charset="-120"/>
              </a:rPr>
              <a:t>Strengths</a:t>
            </a:r>
            <a:endParaRPr lang="en-US" sz="1400" dirty="0"/>
          </a:p>
        </p:txBody>
      </p:sp>
      <p:sp>
        <p:nvSpPr>
          <p:cNvPr id="24" name="Text 22"/>
          <p:cNvSpPr/>
          <p:nvPr/>
        </p:nvSpPr>
        <p:spPr>
          <a:xfrm>
            <a:off x="64008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客室・設備（大浴場・サウナ）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68件言及。新築の洗練設計、大浴場・サウナが特に高評価。</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清潔感・新しさ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50件言及。築年数が浅くおしゃれで綺麗な施設が安心感を提供。</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みなとみらい立地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40件言及。ぴあアリーナMM・横浜武道館・横浜スタジアムへ徒歩圏。</a:t>
            </a:r>
            <a:endParaRPr lang="en-US" sz="1100" dirty="0"/>
          </a:p>
        </p:txBody>
      </p:sp>
      <p:sp>
        <p:nvSpPr>
          <p:cNvPr id="25" name="Shape 23"/>
          <p:cNvSpPr/>
          <p:nvPr/>
        </p:nvSpPr>
        <p:spPr>
          <a:xfrm>
            <a:off x="475488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6" name="Shape 24"/>
          <p:cNvSpPr/>
          <p:nvPr/>
        </p:nvSpPr>
        <p:spPr>
          <a:xfrm>
            <a:off x="4754880" y="2286000"/>
            <a:ext cx="3931920" cy="45720"/>
          </a:xfrm>
          <a:prstGeom prst="rect">
            <a:avLst/>
          </a:prstGeom>
          <a:solidFill>
            <a:srgbClr val="DC2626"/>
          </a:solidFill>
          <a:ln/>
        </p:spPr>
      </p:sp>
      <p:sp>
        <p:nvSpPr>
          <p:cNvPr id="27" name="Text 25"/>
          <p:cNvSpPr/>
          <p:nvPr/>
        </p:nvSpPr>
        <p:spPr>
          <a:xfrm>
            <a:off x="4937760" y="2377440"/>
            <a:ext cx="2743200" cy="320040"/>
          </a:xfrm>
          <a:prstGeom prst="rect">
            <a:avLst/>
          </a:prstGeom>
          <a:noFill/>
          <a:ln/>
        </p:spPr>
        <p:txBody>
          <a:bodyPr wrap="square" lIns="0" tIns="0" rIns="0" bIns="0" rtlCol="0" anchor="ctr"/>
          <a:lstStyle/>
          <a:p>
            <a:pPr indent="0" marL="0">
              <a:buNone/>
            </a:pPr>
            <a:r>
              <a:rPr lang="en-US" sz="1400" b="1" dirty="0">
                <a:solidFill>
                  <a:srgbClr val="DC2626"/>
                </a:solidFill>
                <a:latin typeface="Arial" pitchFamily="34" charset="0"/>
                <a:ea typeface="Arial" pitchFamily="34" charset="-122"/>
                <a:cs typeface="Arial" pitchFamily="34" charset="-120"/>
              </a:rPr>
              <a:t>Weaknesses</a:t>
            </a:r>
            <a:endParaRPr lang="en-US" sz="1400" dirty="0"/>
          </a:p>
        </p:txBody>
      </p:sp>
      <p:sp>
        <p:nvSpPr>
          <p:cNvPr id="28" name="Text 26"/>
          <p:cNvSpPr/>
          <p:nvPr/>
        </p:nvSpPr>
        <p:spPr>
          <a:xfrm>
            <a:off x="493776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Agoda評価の相対的低さ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8.18点で全サイト中最低。海外ゲストの期待値との差が課題。</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客室の狭さ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シングルルームの狭さが一部で期待値を下回るケースあり。</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女性アメニティ不足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化粧水・乳液は持参必要。大浴場にアメニティなし。</a:t>
            </a:r>
            <a:endParaRPr lang="en-US" sz="1100" dirty="0"/>
          </a:p>
        </p:txBody>
      </p:sp>
      <p:sp>
        <p:nvSpPr>
          <p:cNvPr id="29" name="Shape 27"/>
          <p:cNvSpPr/>
          <p:nvPr/>
        </p:nvSpPr>
        <p:spPr>
          <a:xfrm>
            <a:off x="0" y="4800600"/>
            <a:ext cx="9144000" cy="342900"/>
          </a:xfrm>
          <a:prstGeom prst="rect">
            <a:avLst/>
          </a:prstGeom>
          <a:solidFill>
            <a:srgbClr val="1A2744"/>
          </a:solidFill>
          <a:ln/>
        </p:spPr>
      </p:sp>
      <p:sp>
        <p:nvSpPr>
          <p:cNvPr id="30" name="Text 2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31" name="Text 2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サイト別評価分析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Analysis by Platform</a:t>
            </a:r>
            <a:endParaRPr lang="en-US" sz="1000" dirty="0"/>
          </a:p>
        </p:txBody>
      </p:sp>
      <p:graphicFrame>
        <p:nvGraphicFramePr>
          <p:cNvPr id="5" name="Chart 0" descr=""/>
          <p:cNvGraphicFramePr/>
          <p:nvPr/>
        </p:nvGraphicFramePr>
        <p:xfrm>
          <a:off x="457200" y="1005840"/>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760720" y="1005840"/>
            <a:ext cx="3017520" cy="32004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5760720" y="1005840"/>
            <a:ext cx="3017520" cy="45720"/>
          </a:xfrm>
          <a:prstGeom prst="rect">
            <a:avLst/>
          </a:prstGeom>
          <a:solidFill>
            <a:srgbClr val="D4A843"/>
          </a:solidFill>
          <a:ln/>
        </p:spPr>
      </p:sp>
      <p:sp>
        <p:nvSpPr>
          <p:cNvPr id="8" name="Text 5"/>
          <p:cNvSpPr/>
          <p:nvPr/>
        </p:nvSpPr>
        <p:spPr>
          <a:xfrm>
            <a:off x="5943600" y="1097280"/>
            <a:ext cx="1828800" cy="320040"/>
          </a:xfrm>
          <a:prstGeom prst="rect">
            <a:avLst/>
          </a:prstGeom>
          <a:noFill/>
          <a:ln/>
        </p:spPr>
        <p:txBody>
          <a:bodyPr wrap="square" lIns="0" tIns="0" rIns="0" bIns="0" rtlCol="0" anchor="ctr"/>
          <a:lstStyle/>
          <a:p>
            <a:pPr indent="0" marL="0">
              <a:buNone/>
            </a:pPr>
            <a:r>
              <a:rPr lang="en-US" sz="1300" b="1" dirty="0">
                <a:solidFill>
                  <a:srgbClr val="D4A843"/>
                </a:solidFill>
                <a:latin typeface="Arial" pitchFamily="34" charset="0"/>
                <a:ea typeface="Arial" pitchFamily="34" charset="-122"/>
                <a:cs typeface="Arial" pitchFamily="34" charset="-120"/>
              </a:rPr>
              <a:t>Insight</a:t>
            </a:r>
            <a:endParaRPr lang="en-US" sz="1300" dirty="0"/>
          </a:p>
        </p:txBody>
      </p:sp>
      <p:sp>
        <p:nvSpPr>
          <p:cNvPr id="9" name="Text 6"/>
          <p:cNvSpPr/>
          <p:nvPr/>
        </p:nvSpPr>
        <p:spPr>
          <a:xfrm>
            <a:off x="5943600" y="1417320"/>
            <a:ext cx="2651760" cy="2651760"/>
          </a:xfrm>
          <a:prstGeom prst="rect">
            <a:avLst/>
          </a:prstGeom>
          <a:noFill/>
          <a:ln/>
        </p:spPr>
        <p:txBody>
          <a:bodyPr wrap="square" lIns="0" tIns="0" rIns="0" bIns="0" rtlCol="0" anchor="ctr"/>
          <a:lstStyle/>
          <a:p>
            <a:pPr indent="0" marL="0">
              <a:spcAft>
                <a:spcPts val="200"/>
              </a:spcAft>
              <a:buNone/>
            </a:pPr>
            <a:r>
              <a:rPr lang="en-US" sz="1200" b="1" dirty="0">
                <a:solidFill>
                  <a:srgbClr val="334155"/>
                </a:solidFill>
                <a:latin typeface="Arial" pitchFamily="34" charset="0"/>
                <a:ea typeface="Arial" pitchFamily="34" charset="-122"/>
                <a:cs typeface="Arial" pitchFamily="34" charset="-120"/>
              </a:rPr>
              <a:t>サイト別評価インサイト</a:t>
            </a:r>
            <a:endParaRPr lang="en-US" sz="1100" dirty="0"/>
          </a:p>
          <a:p>
            <a:pPr indent="0" marL="0">
              <a:spcAft>
                <a:spcPts val="200"/>
              </a:spcAft>
              <a:buNone/>
            </a:pPr>
            <a:endParaRPr lang="en-US" sz="1100" dirty="0"/>
          </a:p>
          <a:p>
            <a:pPr indent="0" marL="0">
              <a:spcAft>
                <a:spcPts val="200"/>
              </a:spcAft>
              <a:buNone/>
            </a:pPr>
            <a:r>
              <a:rPr lang="en-US" sz="1100" b="1" dirty="0">
                <a:solidFill>
                  <a:srgbClr val="16A34A"/>
                </a:solidFill>
                <a:latin typeface="Arial" pitchFamily="34" charset="0"/>
                <a:ea typeface="Arial" pitchFamily="34" charset="-122"/>
                <a:cs typeface="Arial" pitchFamily="34" charset="-120"/>
              </a:rPr>
              <a:t>全サイトで高水準</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Google(9.86)・楽天(9.38)・じゃらん(9.23)・Trip.com(9.12)の4サイトで優秀水準を達成。</a:t>
            </a:r>
            <a:endParaRPr lang="en-US" sz="1100" dirty="0"/>
          </a:p>
          <a:p>
            <a:pPr indent="0" marL="0">
              <a:spcAft>
                <a:spcPts val="200"/>
              </a:spcAft>
              <a:buNone/>
            </a:pPr>
            <a:endParaRPr lang="en-US" sz="1100" dirty="0"/>
          </a:p>
          <a:p>
            <a:pPr indent="0" marL="0">
              <a:spcAft>
                <a:spcPts val="200"/>
              </a:spcAft>
              <a:buNone/>
            </a:pPr>
            <a:r>
              <a:rPr lang="en-US" sz="1100" b="1" dirty="0">
                <a:solidFill>
                  <a:srgbClr val="D4A843"/>
                </a:solidFill>
                <a:latin typeface="Arial" pitchFamily="34" charset="0"/>
                <a:ea typeface="Arial" pitchFamily="34" charset="-122"/>
                <a:cs typeface="Arial" pitchFamily="34" charset="-120"/>
              </a:rPr>
              <a:t>Agodaの底上げが次の課題</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Agoda(8.18)は良好水準だが全サイト最低。海外ゲスト向け情報最適化で改善余地あり。</a:t>
            </a:r>
            <a:endParaRPr lang="en-US" sz="1100" dirty="0"/>
          </a:p>
          <a:p>
            <a:pPr indent="0" marL="0">
              <a:spcAft>
                <a:spcPts val="200"/>
              </a:spcAft>
              <a:buNone/>
            </a:pPr>
            <a:endParaRPr lang="en-US" sz="1100" dirty="0"/>
          </a:p>
          <a:p>
            <a:pPr indent="0" marL="0">
              <a:spcAft>
                <a:spcPts val="200"/>
              </a:spcAft>
              <a:buNone/>
            </a:pPr>
            <a:r>
              <a:rPr lang="en-US" sz="900" b="1" dirty="0">
                <a:solidFill>
                  <a:srgbClr val="64748B"/>
                </a:solidFill>
                <a:latin typeface="Arial" pitchFamily="34" charset="0"/>
                <a:ea typeface="Arial" pitchFamily="34" charset="-122"/>
                <a:cs typeface="Arial" pitchFamily="34" charset="-120"/>
              </a:rPr>
              <a:t>注：</a:t>
            </a:r>
            <a:pPr indent="0" marL="0">
              <a:spcAft>
                <a:spcPts val="200"/>
              </a:spcAft>
              <a:buNone/>
            </a:pPr>
            <a:r>
              <a:rPr lang="en-US" sz="900" dirty="0">
                <a:solidFill>
                  <a:srgbClr val="64748B"/>
                </a:solidFill>
                <a:latin typeface="Arial" pitchFamily="34" charset="0"/>
                <a:ea typeface="Arial" pitchFamily="34" charset="-122"/>
                <a:cs typeface="Arial" pitchFamily="34" charset="-120"/>
              </a:rPr>
              <a:t>国内サイト(5点満点)は×2で10点換算</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4297680"/>
          <a:ext cx="8229600" cy="91440"/>
        </p:xfrm>
        <a:graphic>
          <a:graphicData uri="http://schemas.openxmlformats.org/drawingml/2006/table">
            <a:tbl>
              <a:tblPr/>
              <a:tblGrid>
                <a:gridCol w="1828800"/>
                <a:gridCol w="914400"/>
                <a:gridCol w="1828800"/>
                <a:gridCol w="914400"/>
                <a:gridCol w="2743200"/>
              </a:tblGrid>
              <a:tr h="22860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サイト名</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ネイティブ平均</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尺度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10pt換算</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Google</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4.93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9.86</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楽天トラベル</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16</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4.69</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9.38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じゃらん</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4.62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9.23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Trip.com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24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9.12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9.12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Booking.com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27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8.56</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8.56</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Agoda</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8.18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8.18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11" name="Shape 7"/>
          <p:cNvSpPr/>
          <p:nvPr/>
        </p:nvSpPr>
        <p:spPr>
          <a:xfrm>
            <a:off x="0" y="4800600"/>
            <a:ext cx="9144000" cy="342900"/>
          </a:xfrm>
          <a:prstGeom prst="rect">
            <a:avLst/>
          </a:prstGeom>
          <a:solidFill>
            <a:srgbClr val="1A2744"/>
          </a:solidFill>
          <a:ln/>
        </p:spPr>
      </p:sp>
      <p:sp>
        <p:nvSpPr>
          <p:cNvPr id="12" name="Text 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3" name="Text 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評価分布分析（10点換算）</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Distribution</a:t>
            </a:r>
            <a:endParaRPr lang="en-US" sz="1000" dirty="0"/>
          </a:p>
        </p:txBody>
      </p:sp>
      <p:graphicFrame>
        <p:nvGraphicFramePr>
          <p:cNvPr id="5" name="Chart 0" descr=""/>
          <p:cNvGraphicFramePr/>
          <p:nvPr/>
        </p:nvGraphicFramePr>
        <p:xfrm>
          <a:off x="274320" y="1097280"/>
          <a:ext cx="365760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114800" y="1097280"/>
          <a:ext cx="4754880" cy="292608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457200" y="4160520"/>
            <a:ext cx="2651760" cy="502920"/>
          </a:xfrm>
          <a:prstGeom prst="rect">
            <a:avLst/>
          </a:prstGeom>
          <a:solidFill>
            <a:srgbClr val="DCFCE7"/>
          </a:solidFill>
          <a:ln/>
        </p:spPr>
      </p:sp>
      <p:sp>
        <p:nvSpPr>
          <p:cNvPr id="8" name="Text 4"/>
          <p:cNvSpPr/>
          <p:nvPr/>
        </p:nvSpPr>
        <p:spPr>
          <a:xfrm>
            <a:off x="457200" y="4160520"/>
            <a:ext cx="1371600" cy="502920"/>
          </a:xfrm>
          <a:prstGeom prst="rect">
            <a:avLst/>
          </a:prstGeom>
          <a:noFill/>
          <a:ln/>
        </p:spPr>
        <p:txBody>
          <a:bodyPr wrap="square" lIns="0" tIns="101600" rIns="0" bIns="0" rtlCol="0" anchor="ctr"/>
          <a:lstStyle/>
          <a:p>
            <a:pPr indent="0" marL="0">
              <a:buNone/>
            </a:pPr>
            <a:r>
              <a:rPr lang="en-US" sz="1000" b="1" dirty="0">
                <a:solidFill>
                  <a:srgbClr val="16A34A"/>
                </a:solidFill>
                <a:latin typeface="Arial" pitchFamily="34" charset="0"/>
                <a:ea typeface="Arial" pitchFamily="34" charset="-122"/>
                <a:cs typeface="Arial" pitchFamily="34" charset="-120"/>
              </a:rPr>
              <a:t>高評価 8-10点</a:t>
            </a:r>
            <a:endParaRPr lang="en-US" sz="1000" dirty="0"/>
          </a:p>
        </p:txBody>
      </p:sp>
      <p:sp>
        <p:nvSpPr>
          <p:cNvPr id="9" name="Text 5"/>
          <p:cNvSpPr/>
          <p:nvPr/>
        </p:nvSpPr>
        <p:spPr>
          <a:xfrm>
            <a:off x="1737360" y="4160520"/>
            <a:ext cx="1371600" cy="502920"/>
          </a:xfrm>
          <a:prstGeom prst="rect">
            <a:avLst/>
          </a:prstGeom>
          <a:noFill/>
          <a:ln/>
        </p:spPr>
        <p:txBody>
          <a:bodyPr wrap="square" lIns="0" tIns="0" rIns="101600" bIns="0" rtlCol="0" anchor="ctr"/>
          <a:lstStyle/>
          <a:p>
            <a:pPr algn="r" indent="0" marL="0">
              <a:buNone/>
            </a:pPr>
            <a:r>
              <a:rPr lang="en-US" sz="1100" b="1" dirty="0">
                <a:solidFill>
                  <a:srgbClr val="16A34A"/>
                </a:solidFill>
                <a:latin typeface="Arial" pitchFamily="34" charset="0"/>
                <a:ea typeface="Arial" pitchFamily="34" charset="-122"/>
                <a:cs typeface="Arial" pitchFamily="34" charset="-120"/>
              </a:rPr>
              <a:t>108件（84.4%）</a:t>
            </a:r>
            <a:endParaRPr lang="en-US" sz="1100" dirty="0"/>
          </a:p>
        </p:txBody>
      </p:sp>
      <p:sp>
        <p:nvSpPr>
          <p:cNvPr id="10" name="Shape 6"/>
          <p:cNvSpPr/>
          <p:nvPr/>
        </p:nvSpPr>
        <p:spPr>
          <a:xfrm>
            <a:off x="3291840" y="4160520"/>
            <a:ext cx="2651760" cy="502920"/>
          </a:xfrm>
          <a:prstGeom prst="rect">
            <a:avLst/>
          </a:prstGeom>
          <a:solidFill>
            <a:srgbClr val="FFF7ED"/>
          </a:solidFill>
          <a:ln/>
        </p:spPr>
      </p:sp>
      <p:sp>
        <p:nvSpPr>
          <p:cNvPr id="11" name="Text 7"/>
          <p:cNvSpPr/>
          <p:nvPr/>
        </p:nvSpPr>
        <p:spPr>
          <a:xfrm>
            <a:off x="3291840" y="4160520"/>
            <a:ext cx="1371600" cy="502920"/>
          </a:xfrm>
          <a:prstGeom prst="rect">
            <a:avLst/>
          </a:prstGeom>
          <a:noFill/>
          <a:ln/>
        </p:spPr>
        <p:txBody>
          <a:bodyPr wrap="square" lIns="0" tIns="101600" rIns="0" bIns="0" rtlCol="0" anchor="ctr"/>
          <a:lstStyle/>
          <a:p>
            <a:pPr indent="0" marL="0">
              <a:buNone/>
            </a:pPr>
            <a:r>
              <a:rPr lang="en-US" sz="1000" b="1" dirty="0">
                <a:solidFill>
                  <a:srgbClr val="D4A843"/>
                </a:solidFill>
                <a:latin typeface="Arial" pitchFamily="34" charset="0"/>
                <a:ea typeface="Arial" pitchFamily="34" charset="-122"/>
                <a:cs typeface="Arial" pitchFamily="34" charset="-120"/>
              </a:rPr>
              <a:t>中評価 5-7点</a:t>
            </a:r>
            <a:endParaRPr lang="en-US" sz="1000" dirty="0"/>
          </a:p>
        </p:txBody>
      </p:sp>
      <p:sp>
        <p:nvSpPr>
          <p:cNvPr id="12" name="Text 8"/>
          <p:cNvSpPr/>
          <p:nvPr/>
        </p:nvSpPr>
        <p:spPr>
          <a:xfrm>
            <a:off x="4572000" y="4160520"/>
            <a:ext cx="1371600" cy="502920"/>
          </a:xfrm>
          <a:prstGeom prst="rect">
            <a:avLst/>
          </a:prstGeom>
          <a:noFill/>
          <a:ln/>
        </p:spPr>
        <p:txBody>
          <a:bodyPr wrap="square" lIns="0" tIns="0" rIns="101600" bIns="0" rtlCol="0" anchor="ctr"/>
          <a:lstStyle/>
          <a:p>
            <a:pPr algn="r" indent="0" marL="0">
              <a:buNone/>
            </a:pPr>
            <a:r>
              <a:rPr lang="en-US" sz="1100" b="1" dirty="0">
                <a:solidFill>
                  <a:srgbClr val="D4A843"/>
                </a:solidFill>
                <a:latin typeface="Arial" pitchFamily="34" charset="0"/>
                <a:ea typeface="Arial" pitchFamily="34" charset="-122"/>
                <a:cs typeface="Arial" pitchFamily="34" charset="-120"/>
              </a:rPr>
              <a:t>19件（14.8%）</a:t>
            </a:r>
            <a:endParaRPr lang="en-US" sz="1100" dirty="0"/>
          </a:p>
        </p:txBody>
      </p:sp>
      <p:sp>
        <p:nvSpPr>
          <p:cNvPr id="13" name="Shape 9"/>
          <p:cNvSpPr/>
          <p:nvPr/>
        </p:nvSpPr>
        <p:spPr>
          <a:xfrm>
            <a:off x="6126480" y="4160520"/>
            <a:ext cx="2651760" cy="502920"/>
          </a:xfrm>
          <a:prstGeom prst="rect">
            <a:avLst/>
          </a:prstGeom>
          <a:solidFill>
            <a:srgbClr val="DCFCE7"/>
          </a:solidFill>
          <a:ln/>
        </p:spPr>
      </p:sp>
      <p:sp>
        <p:nvSpPr>
          <p:cNvPr id="14" name="Text 10"/>
          <p:cNvSpPr/>
          <p:nvPr/>
        </p:nvSpPr>
        <p:spPr>
          <a:xfrm>
            <a:off x="6126480" y="4160520"/>
            <a:ext cx="1371600" cy="502920"/>
          </a:xfrm>
          <a:prstGeom prst="rect">
            <a:avLst/>
          </a:prstGeom>
          <a:noFill/>
          <a:ln/>
        </p:spPr>
        <p:txBody>
          <a:bodyPr wrap="square" lIns="0" tIns="101600" rIns="0" bIns="0" rtlCol="0" anchor="ctr"/>
          <a:lstStyle/>
          <a:p>
            <a:pPr indent="0" marL="0">
              <a:buNone/>
            </a:pPr>
            <a:r>
              <a:rPr lang="en-US" sz="1000" b="1" dirty="0">
                <a:solidFill>
                  <a:srgbClr val="16A34A"/>
                </a:solidFill>
                <a:latin typeface="Arial" pitchFamily="34" charset="0"/>
                <a:ea typeface="Arial" pitchFamily="34" charset="-122"/>
                <a:cs typeface="Arial" pitchFamily="34" charset="-120"/>
              </a:rPr>
              <a:t>低評価 1-4点</a:t>
            </a:r>
            <a:endParaRPr lang="en-US" sz="1000" dirty="0"/>
          </a:p>
        </p:txBody>
      </p:sp>
      <p:sp>
        <p:nvSpPr>
          <p:cNvPr id="15" name="Text 11"/>
          <p:cNvSpPr/>
          <p:nvPr/>
        </p:nvSpPr>
        <p:spPr>
          <a:xfrm>
            <a:off x="7406640" y="4160520"/>
            <a:ext cx="1371600" cy="502920"/>
          </a:xfrm>
          <a:prstGeom prst="rect">
            <a:avLst/>
          </a:prstGeom>
          <a:noFill/>
          <a:ln/>
        </p:spPr>
        <p:txBody>
          <a:bodyPr wrap="square" lIns="0" tIns="0" rIns="101600" bIns="0" rtlCol="0" anchor="ctr"/>
          <a:lstStyle/>
          <a:p>
            <a:pPr algn="r" indent="0" marL="0">
              <a:buNone/>
            </a:pPr>
            <a:r>
              <a:rPr lang="en-US" sz="1100" b="1" dirty="0">
                <a:solidFill>
                  <a:srgbClr val="16A34A"/>
                </a:solidFill>
                <a:latin typeface="Arial" pitchFamily="34" charset="0"/>
                <a:ea typeface="Arial" pitchFamily="34" charset="-122"/>
                <a:cs typeface="Arial" pitchFamily="34" charset="-120"/>
              </a:rPr>
              <a:t>1件（0.8%）</a:t>
            </a:r>
            <a:endParaRPr lang="en-US" sz="1100" dirty="0"/>
          </a:p>
        </p:txBody>
      </p:sp>
      <p:sp>
        <p:nvSpPr>
          <p:cNvPr id="16" name="Shape 12"/>
          <p:cNvSpPr/>
          <p:nvPr/>
        </p:nvSpPr>
        <p:spPr>
          <a:xfrm>
            <a:off x="0" y="4800600"/>
            <a:ext cx="9144000" cy="342900"/>
          </a:xfrm>
          <a:prstGeom prst="rect">
            <a:avLst/>
          </a:prstGeom>
          <a:solidFill>
            <a:srgbClr val="1A2744"/>
          </a:solidFill>
          <a:ln/>
        </p:spPr>
      </p:sp>
      <p:sp>
        <p:nvSpPr>
          <p:cNvPr id="17" name="Text 13"/>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8" name="Text 14"/>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強み分析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Strength Analysis</a:t>
            </a:r>
            <a:endParaRPr lang="en-US" sz="1000" dirty="0"/>
          </a:p>
        </p:txBody>
      </p:sp>
      <p:sp>
        <p:nvSpPr>
          <p:cNvPr id="5" name="Shape 3"/>
          <p:cNvSpPr/>
          <p:nvPr/>
        </p:nvSpPr>
        <p:spPr>
          <a:xfrm>
            <a:off x="45720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54864" cy="1600200"/>
          </a:xfrm>
          <a:prstGeom prst="rect">
            <a:avLst/>
          </a:prstGeom>
          <a:solidFill>
            <a:srgbClr val="16A34A"/>
          </a:solidFill>
          <a:ln/>
        </p:spPr>
      </p:sp>
      <p:sp>
        <p:nvSpPr>
          <p:cNvPr id="7" name="Shape 5"/>
          <p:cNvSpPr/>
          <p:nvPr/>
        </p:nvSpPr>
        <p:spPr>
          <a:xfrm>
            <a:off x="2286000" y="1124712"/>
            <a:ext cx="658368" cy="228600"/>
          </a:xfrm>
          <a:prstGeom prst="rect">
            <a:avLst/>
          </a:prstGeom>
          <a:solidFill>
            <a:srgbClr val="DCFCE7"/>
          </a:solidFill>
          <a:ln/>
        </p:spPr>
      </p:sp>
      <p:sp>
        <p:nvSpPr>
          <p:cNvPr id="8" name="Text 6"/>
          <p:cNvSpPr/>
          <p:nvPr/>
        </p:nvSpPr>
        <p:spPr>
          <a:xfrm>
            <a:off x="228600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68件</a:t>
            </a:r>
            <a:endParaRPr lang="en-US" sz="900" dirty="0"/>
          </a:p>
        </p:txBody>
      </p:sp>
      <p:sp>
        <p:nvSpPr>
          <p:cNvPr id="9" name="Text 7"/>
          <p:cNvSpPr/>
          <p:nvPr/>
        </p:nvSpPr>
        <p:spPr>
          <a:xfrm>
            <a:off x="59436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客室・設備</a:t>
            </a:r>
            <a:endParaRPr lang="en-US" sz="1300" dirty="0"/>
          </a:p>
        </p:txBody>
      </p:sp>
      <p:sp>
        <p:nvSpPr>
          <p:cNvPr id="10" name="Text 8"/>
          <p:cNvSpPr/>
          <p:nvPr/>
        </p:nvSpPr>
        <p:spPr>
          <a:xfrm>
            <a:off x="59436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新築の洗練デザイン・防音性・セキュリティが高評価。大浴場・サウナが最大の差別化要因。</a:t>
            </a:r>
            <a:endParaRPr lang="en-US" sz="900" dirty="0"/>
          </a:p>
        </p:txBody>
      </p:sp>
      <p:sp>
        <p:nvSpPr>
          <p:cNvPr id="11" name="Text 9"/>
          <p:cNvSpPr/>
          <p:nvPr/>
        </p:nvSpPr>
        <p:spPr>
          <a:xfrm>
            <a:off x="59436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「新しくておしゃれで綺麗。防音性・セキュリティが高い」</a:t>
            </a:r>
            <a:endParaRPr lang="en-US" sz="900" dirty="0"/>
          </a:p>
        </p:txBody>
      </p:sp>
      <p:sp>
        <p:nvSpPr>
          <p:cNvPr id="12" name="Shape 10"/>
          <p:cNvSpPr/>
          <p:nvPr/>
        </p:nvSpPr>
        <p:spPr>
          <a:xfrm>
            <a:off x="329184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3" name="Shape 11"/>
          <p:cNvSpPr/>
          <p:nvPr/>
        </p:nvSpPr>
        <p:spPr>
          <a:xfrm>
            <a:off x="3291840" y="1051560"/>
            <a:ext cx="54864" cy="1600200"/>
          </a:xfrm>
          <a:prstGeom prst="rect">
            <a:avLst/>
          </a:prstGeom>
          <a:solidFill>
            <a:srgbClr val="16A34A"/>
          </a:solidFill>
          <a:ln/>
        </p:spPr>
      </p:sp>
      <p:sp>
        <p:nvSpPr>
          <p:cNvPr id="14" name="Shape 12"/>
          <p:cNvSpPr/>
          <p:nvPr/>
        </p:nvSpPr>
        <p:spPr>
          <a:xfrm>
            <a:off x="5120640" y="1124712"/>
            <a:ext cx="658368" cy="228600"/>
          </a:xfrm>
          <a:prstGeom prst="rect">
            <a:avLst/>
          </a:prstGeom>
          <a:solidFill>
            <a:srgbClr val="DCFCE7"/>
          </a:solidFill>
          <a:ln/>
        </p:spPr>
      </p:sp>
      <p:sp>
        <p:nvSpPr>
          <p:cNvPr id="15" name="Text 13"/>
          <p:cNvSpPr/>
          <p:nvPr/>
        </p:nvSpPr>
        <p:spPr>
          <a:xfrm>
            <a:off x="512064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50件</a:t>
            </a:r>
            <a:endParaRPr lang="en-US" sz="900" dirty="0"/>
          </a:p>
        </p:txBody>
      </p:sp>
      <p:sp>
        <p:nvSpPr>
          <p:cNvPr id="16" name="Text 14"/>
          <p:cNvSpPr/>
          <p:nvPr/>
        </p:nvSpPr>
        <p:spPr>
          <a:xfrm>
            <a:off x="342900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清潔感</a:t>
            </a:r>
            <a:endParaRPr lang="en-US" sz="1300" dirty="0"/>
          </a:p>
        </p:txBody>
      </p:sp>
      <p:sp>
        <p:nvSpPr>
          <p:cNvPr id="17" name="Text 15"/>
          <p:cNvSpPr/>
          <p:nvPr/>
        </p:nvSpPr>
        <p:spPr>
          <a:xfrm>
            <a:off x="342900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築浅ならではの清潔感が全サイトで高評価の基盤に。共用部・客室ともに維持。</a:t>
            </a:r>
            <a:endParaRPr lang="en-US" sz="900" dirty="0"/>
          </a:p>
        </p:txBody>
      </p:sp>
      <p:sp>
        <p:nvSpPr>
          <p:cNvPr id="18" name="Text 16"/>
          <p:cNvSpPr/>
          <p:nvPr/>
        </p:nvSpPr>
        <p:spPr>
          <a:xfrm>
            <a:off x="342900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「築年数が浅くおしゃれできれい」</a:t>
            </a:r>
            <a:endParaRPr lang="en-US" sz="900" dirty="0"/>
          </a:p>
        </p:txBody>
      </p:sp>
      <p:sp>
        <p:nvSpPr>
          <p:cNvPr id="19" name="Shape 17"/>
          <p:cNvSpPr/>
          <p:nvPr/>
        </p:nvSpPr>
        <p:spPr>
          <a:xfrm>
            <a:off x="612648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0" name="Shape 18"/>
          <p:cNvSpPr/>
          <p:nvPr/>
        </p:nvSpPr>
        <p:spPr>
          <a:xfrm>
            <a:off x="6126480" y="1051560"/>
            <a:ext cx="54864" cy="1600200"/>
          </a:xfrm>
          <a:prstGeom prst="rect">
            <a:avLst/>
          </a:prstGeom>
          <a:solidFill>
            <a:srgbClr val="16A34A"/>
          </a:solidFill>
          <a:ln/>
        </p:spPr>
      </p:sp>
      <p:sp>
        <p:nvSpPr>
          <p:cNvPr id="21" name="Shape 19"/>
          <p:cNvSpPr/>
          <p:nvPr/>
        </p:nvSpPr>
        <p:spPr>
          <a:xfrm>
            <a:off x="7955280" y="1124712"/>
            <a:ext cx="658368" cy="228600"/>
          </a:xfrm>
          <a:prstGeom prst="rect">
            <a:avLst/>
          </a:prstGeom>
          <a:solidFill>
            <a:srgbClr val="DCFCE7"/>
          </a:solidFill>
          <a:ln/>
        </p:spPr>
      </p:sp>
      <p:sp>
        <p:nvSpPr>
          <p:cNvPr id="22" name="Text 20"/>
          <p:cNvSpPr/>
          <p:nvPr/>
        </p:nvSpPr>
        <p:spPr>
          <a:xfrm>
            <a:off x="795528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40件</a:t>
            </a:r>
            <a:endParaRPr lang="en-US" sz="900" dirty="0"/>
          </a:p>
        </p:txBody>
      </p:sp>
      <p:sp>
        <p:nvSpPr>
          <p:cNvPr id="23" name="Text 21"/>
          <p:cNvSpPr/>
          <p:nvPr/>
        </p:nvSpPr>
        <p:spPr>
          <a:xfrm>
            <a:off x="626364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立地・アクセス</a:t>
            </a:r>
            <a:endParaRPr lang="en-US" sz="1300" dirty="0"/>
          </a:p>
        </p:txBody>
      </p:sp>
      <p:sp>
        <p:nvSpPr>
          <p:cNvPr id="24" name="Text 22"/>
          <p:cNvSpPr/>
          <p:nvPr/>
        </p:nvSpPr>
        <p:spPr>
          <a:xfrm>
            <a:off x="626364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みなとみらいエリアのイベント会場に徒歩圏。静かな立地でありながら利便性も高い。</a:t>
            </a:r>
            <a:endParaRPr lang="en-US" sz="900" dirty="0"/>
          </a:p>
        </p:txBody>
      </p:sp>
      <p:sp>
        <p:nvSpPr>
          <p:cNvPr id="25" name="Text 23"/>
          <p:cNvSpPr/>
          <p:nvPr/>
        </p:nvSpPr>
        <p:spPr>
          <a:xfrm>
            <a:off x="626364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「ぴあアリーナMMまで徒歩圏内。リピート利用したい」</a:t>
            </a:r>
            <a:endParaRPr lang="en-US" sz="900" dirty="0"/>
          </a:p>
        </p:txBody>
      </p:sp>
      <p:sp>
        <p:nvSpPr>
          <p:cNvPr id="26" name="Shape 24"/>
          <p:cNvSpPr/>
          <p:nvPr/>
        </p:nvSpPr>
        <p:spPr>
          <a:xfrm>
            <a:off x="45720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7" name="Shape 25"/>
          <p:cNvSpPr/>
          <p:nvPr/>
        </p:nvSpPr>
        <p:spPr>
          <a:xfrm>
            <a:off x="457200" y="2880360"/>
            <a:ext cx="54864" cy="1600200"/>
          </a:xfrm>
          <a:prstGeom prst="rect">
            <a:avLst/>
          </a:prstGeom>
          <a:solidFill>
            <a:srgbClr val="16A34A"/>
          </a:solidFill>
          <a:ln/>
        </p:spPr>
      </p:sp>
      <p:sp>
        <p:nvSpPr>
          <p:cNvPr id="28" name="Shape 26"/>
          <p:cNvSpPr/>
          <p:nvPr/>
        </p:nvSpPr>
        <p:spPr>
          <a:xfrm>
            <a:off x="2286000" y="2953512"/>
            <a:ext cx="658368" cy="228600"/>
          </a:xfrm>
          <a:prstGeom prst="rect">
            <a:avLst/>
          </a:prstGeom>
          <a:solidFill>
            <a:srgbClr val="DCFCE7"/>
          </a:solidFill>
          <a:ln/>
        </p:spPr>
      </p:sp>
      <p:sp>
        <p:nvSpPr>
          <p:cNvPr id="29" name="Text 27"/>
          <p:cNvSpPr/>
          <p:nvPr/>
        </p:nvSpPr>
        <p:spPr>
          <a:xfrm>
            <a:off x="228600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30件</a:t>
            </a:r>
            <a:endParaRPr lang="en-US" sz="900" dirty="0"/>
          </a:p>
        </p:txBody>
      </p:sp>
      <p:sp>
        <p:nvSpPr>
          <p:cNvPr id="30" name="Text 28"/>
          <p:cNvSpPr/>
          <p:nvPr/>
        </p:nvSpPr>
        <p:spPr>
          <a:xfrm>
            <a:off x="59436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スタッフ対応</a:t>
            </a:r>
            <a:endParaRPr lang="en-US" sz="1300" dirty="0"/>
          </a:p>
        </p:txBody>
      </p:sp>
      <p:sp>
        <p:nvSpPr>
          <p:cNvPr id="31" name="Text 29"/>
          <p:cNvSpPr/>
          <p:nvPr/>
        </p:nvSpPr>
        <p:spPr>
          <a:xfrm>
            <a:off x="59436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フロントスタッフへの親切・迅速な対応評価が継続的。当日対応の柔軟性も高評価。</a:t>
            </a:r>
            <a:endParaRPr lang="en-US" sz="900" dirty="0"/>
          </a:p>
        </p:txBody>
      </p:sp>
      <p:sp>
        <p:nvSpPr>
          <p:cNvPr id="32" name="Text 30"/>
          <p:cNvSpPr/>
          <p:nvPr/>
        </p:nvSpPr>
        <p:spPr>
          <a:xfrm>
            <a:off x="59436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「気持ちのよい接客。最高でした」</a:t>
            </a:r>
            <a:endParaRPr lang="en-US" sz="900" dirty="0"/>
          </a:p>
        </p:txBody>
      </p:sp>
      <p:sp>
        <p:nvSpPr>
          <p:cNvPr id="33" name="Shape 31"/>
          <p:cNvSpPr/>
          <p:nvPr/>
        </p:nvSpPr>
        <p:spPr>
          <a:xfrm>
            <a:off x="329184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4" name="Shape 32"/>
          <p:cNvSpPr/>
          <p:nvPr/>
        </p:nvSpPr>
        <p:spPr>
          <a:xfrm>
            <a:off x="3291840" y="2880360"/>
            <a:ext cx="54864" cy="1600200"/>
          </a:xfrm>
          <a:prstGeom prst="rect">
            <a:avLst/>
          </a:prstGeom>
          <a:solidFill>
            <a:srgbClr val="16A34A"/>
          </a:solidFill>
          <a:ln/>
        </p:spPr>
      </p:sp>
      <p:sp>
        <p:nvSpPr>
          <p:cNvPr id="35" name="Shape 33"/>
          <p:cNvSpPr/>
          <p:nvPr/>
        </p:nvSpPr>
        <p:spPr>
          <a:xfrm>
            <a:off x="5120640" y="2953512"/>
            <a:ext cx="658368" cy="228600"/>
          </a:xfrm>
          <a:prstGeom prst="rect">
            <a:avLst/>
          </a:prstGeom>
          <a:solidFill>
            <a:srgbClr val="DCFCE7"/>
          </a:solidFill>
          <a:ln/>
        </p:spPr>
      </p:sp>
      <p:sp>
        <p:nvSpPr>
          <p:cNvPr id="36" name="Text 34"/>
          <p:cNvSpPr/>
          <p:nvPr/>
        </p:nvSpPr>
        <p:spPr>
          <a:xfrm>
            <a:off x="512064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19件</a:t>
            </a:r>
            <a:endParaRPr lang="en-US" sz="900" dirty="0"/>
          </a:p>
        </p:txBody>
      </p:sp>
      <p:sp>
        <p:nvSpPr>
          <p:cNvPr id="37" name="Text 35"/>
          <p:cNvSpPr/>
          <p:nvPr/>
        </p:nvSpPr>
        <p:spPr>
          <a:xfrm>
            <a:off x="342900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朝食</a:t>
            </a:r>
            <a:endParaRPr lang="en-US" sz="1300" dirty="0"/>
          </a:p>
        </p:txBody>
      </p:sp>
      <p:sp>
        <p:nvSpPr>
          <p:cNvPr id="38" name="Text 36"/>
          <p:cNvSpPr/>
          <p:nvPr/>
        </p:nvSpPr>
        <p:spPr>
          <a:xfrm>
            <a:off x="342900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種類は多くないがヘルシー志向。朝食付きプランでの満足度が高い。</a:t>
            </a:r>
            <a:endParaRPr lang="en-US" sz="900" dirty="0"/>
          </a:p>
        </p:txBody>
      </p:sp>
      <p:sp>
        <p:nvSpPr>
          <p:cNvPr id="39" name="Text 37"/>
          <p:cNvSpPr/>
          <p:nvPr/>
        </p:nvSpPr>
        <p:spPr>
          <a:xfrm>
            <a:off x="342900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「朝食はヘルシーで満足」</a:t>
            </a:r>
            <a:endParaRPr lang="en-US" sz="900" dirty="0"/>
          </a:p>
        </p:txBody>
      </p:sp>
      <p:sp>
        <p:nvSpPr>
          <p:cNvPr id="40" name="Shape 38"/>
          <p:cNvSpPr/>
          <p:nvPr/>
        </p:nvSpPr>
        <p:spPr>
          <a:xfrm>
            <a:off x="612648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41" name="Shape 39"/>
          <p:cNvSpPr/>
          <p:nvPr/>
        </p:nvSpPr>
        <p:spPr>
          <a:xfrm>
            <a:off x="6126480" y="2880360"/>
            <a:ext cx="54864" cy="1600200"/>
          </a:xfrm>
          <a:prstGeom prst="rect">
            <a:avLst/>
          </a:prstGeom>
          <a:solidFill>
            <a:srgbClr val="16A34A"/>
          </a:solidFill>
          <a:ln/>
        </p:spPr>
      </p:sp>
      <p:sp>
        <p:nvSpPr>
          <p:cNvPr id="42" name="Shape 40"/>
          <p:cNvSpPr/>
          <p:nvPr/>
        </p:nvSpPr>
        <p:spPr>
          <a:xfrm>
            <a:off x="7955280" y="2953512"/>
            <a:ext cx="658368" cy="228600"/>
          </a:xfrm>
          <a:prstGeom prst="rect">
            <a:avLst/>
          </a:prstGeom>
          <a:solidFill>
            <a:srgbClr val="DCFCE7"/>
          </a:solidFill>
          <a:ln/>
        </p:spPr>
      </p:sp>
      <p:sp>
        <p:nvSpPr>
          <p:cNvPr id="43" name="Text 41"/>
          <p:cNvSpPr/>
          <p:nvPr/>
        </p:nvSpPr>
        <p:spPr>
          <a:xfrm>
            <a:off x="795528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11件</a:t>
            </a:r>
            <a:endParaRPr lang="en-US" sz="900" dirty="0"/>
          </a:p>
        </p:txBody>
      </p:sp>
      <p:sp>
        <p:nvSpPr>
          <p:cNvPr id="44" name="Text 42"/>
          <p:cNvSpPr/>
          <p:nvPr/>
        </p:nvSpPr>
        <p:spPr>
          <a:xfrm>
            <a:off x="626364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コスパ・リピート</a:t>
            </a:r>
            <a:endParaRPr lang="en-US" sz="1300" dirty="0"/>
          </a:p>
        </p:txBody>
      </p:sp>
      <p:sp>
        <p:nvSpPr>
          <p:cNvPr id="45" name="Text 43"/>
          <p:cNvSpPr/>
          <p:nvPr/>
        </p:nvSpPr>
        <p:spPr>
          <a:xfrm>
            <a:off x="626364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宿泊費高騰の中でコスパ良しとの評価。サウナ付き大浴場が価値を高める。</a:t>
            </a:r>
            <a:endParaRPr lang="en-US" sz="900" dirty="0"/>
          </a:p>
        </p:txBody>
      </p:sp>
      <p:sp>
        <p:nvSpPr>
          <p:cNvPr id="46" name="Text 44"/>
          <p:cNvSpPr/>
          <p:nvPr/>
        </p:nvSpPr>
        <p:spPr>
          <a:xfrm>
            <a:off x="626364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「コスパ良く大満足。特にサウナと水風呂は最高」</a:t>
            </a:r>
            <a:endParaRPr lang="en-US" sz="900" dirty="0"/>
          </a:p>
        </p:txBody>
      </p:sp>
      <p:sp>
        <p:nvSpPr>
          <p:cNvPr id="47" name="Shape 45"/>
          <p:cNvSpPr/>
          <p:nvPr/>
        </p:nvSpPr>
        <p:spPr>
          <a:xfrm>
            <a:off x="0" y="4800600"/>
            <a:ext cx="9144000" cy="342900"/>
          </a:xfrm>
          <a:prstGeom prst="rect">
            <a:avLst/>
          </a:prstGeom>
          <a:solidFill>
            <a:srgbClr val="1A2744"/>
          </a:solidFill>
          <a:ln/>
        </p:spPr>
      </p:sp>
      <p:sp>
        <p:nvSpPr>
          <p:cNvPr id="48" name="Text 46"/>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49" name="Text 47"/>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弱み分析・優先度マトリクス</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Weakness Analysis &amp; Priority Matrix</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
        </p:xfrm>
        <a:graphic>
          <a:graphicData uri="http://schemas.openxmlformats.org/drawingml/2006/table">
            <a:tbl>
              <a:tblPr/>
              <a:tblGrid>
                <a:gridCol w="731520"/>
                <a:gridCol w="1828800"/>
                <a:gridCol w="4572000"/>
                <a:gridCol w="1097280"/>
              </a:tblGrid>
              <a:tr h="27432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優先度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課題カテゴリ</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具体的内容</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Agoda評価の相対的低さ</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全サイト中最低の8.18点。海外ゲストからの設備・バスルームへの期待値差が要因。34件と最多サイト。</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低評価傾向</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客室の狭さ</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シングルルームが期待より狭いとの声。料金との兼ね合いで不満が生じるケースあり。</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3件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WiFiの弱さ</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一部エリアでWiFi電波が弱く、業務・長期滞在者への影響が懸念される。</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2件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女性アメニティ不足</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化粧水・乳液の持参が必要。大浴場にアメニティがなく部屋から持参が必要。</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2件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駐車場チェックイン処理</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駐車場予約時のチェックイン対応に時間がかかるとの報告。効率化が望まれる。</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客室内グラス不備</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一部客室でグラスのコップがないとの報告。備品確認の徹底が必要。</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4389120"/>
            <a:ext cx="8229600" cy="274320"/>
          </a:xfrm>
          <a:prstGeom prst="rect">
            <a:avLst/>
          </a:prstGeom>
          <a:noFill/>
          <a:ln/>
        </p:spPr>
        <p:txBody>
          <a:bodyPr wrap="square" lIns="0" tIns="0" rIns="0" bIns="0" rtlCol="0" anchor="ctr"/>
          <a:lstStyle/>
          <a:p>
            <a:pPr indent="0" marL="0">
              <a:buNone/>
            </a:pPr>
            <a:r>
              <a:rPr lang="en-US" sz="1000" b="1" dirty="0">
                <a:solidFill>
                  <a:srgbClr val="DC2626"/>
                </a:solidFill>
                <a:latin typeface="Arial" pitchFamily="34" charset="0"/>
                <a:ea typeface="Arial" pitchFamily="34" charset="-122"/>
                <a:cs typeface="Arial" pitchFamily="34" charset="-120"/>
              </a:rPr>
              <a:t>S </a:t>
            </a:r>
            <a:pPr indent="0" marL="0">
              <a:buNone/>
            </a:pPr>
            <a:r>
              <a:rPr lang="en-US" sz="900" dirty="0">
                <a:solidFill>
                  <a:srgbClr val="64748B"/>
                </a:solidFill>
                <a:latin typeface="Arial" pitchFamily="34" charset="0"/>
                <a:ea typeface="Arial" pitchFamily="34" charset="-122"/>
                <a:cs typeface="Arial" pitchFamily="34" charset="-120"/>
              </a:rPr>
              <a:t>= 最優先   </a:t>
            </a:r>
            <a:pPr indent="0" marL="0">
              <a:buNone/>
            </a:pPr>
            <a:r>
              <a:rPr lang="en-US" sz="1000" b="1" dirty="0">
                <a:solidFill>
                  <a:srgbClr val="EA580C"/>
                </a:solidFill>
                <a:latin typeface="Arial" pitchFamily="34" charset="0"/>
                <a:ea typeface="Arial" pitchFamily="34" charset="-122"/>
                <a:cs typeface="Arial" pitchFamily="34" charset="-120"/>
              </a:rPr>
              <a:t>A </a:t>
            </a:r>
            <a:pPr indent="0" marL="0">
              <a:buNone/>
            </a:pPr>
            <a:r>
              <a:rPr lang="en-US" sz="900" dirty="0">
                <a:solidFill>
                  <a:srgbClr val="64748B"/>
                </a:solidFill>
                <a:latin typeface="Arial" pitchFamily="34" charset="0"/>
                <a:ea typeface="Arial" pitchFamily="34" charset="-122"/>
                <a:cs typeface="Arial" pitchFamily="34" charset="-120"/>
              </a:rPr>
              <a:t>= 高優先   </a:t>
            </a:r>
            <a:pPr indent="0" marL="0">
              <a:buNone/>
            </a:pPr>
            <a:r>
              <a:rPr lang="en-US" sz="1000" b="1" dirty="0">
                <a:solidFill>
                  <a:srgbClr val="D4A843"/>
                </a:solidFill>
                <a:latin typeface="Arial" pitchFamily="34" charset="0"/>
                <a:ea typeface="Arial" pitchFamily="34" charset="-122"/>
                <a:cs typeface="Arial" pitchFamily="34" charset="-120"/>
              </a:rPr>
              <a:t>B </a:t>
            </a:r>
            <a:pPr indent="0" marL="0">
              <a:buNone/>
            </a:pPr>
            <a:r>
              <a:rPr lang="en-US" sz="900" dirty="0">
                <a:solidFill>
                  <a:srgbClr val="64748B"/>
                </a:solidFill>
                <a:latin typeface="Arial" pitchFamily="34" charset="0"/>
                <a:ea typeface="Arial" pitchFamily="34" charset="-122"/>
                <a:cs typeface="Arial" pitchFamily="34" charset="-120"/>
              </a:rPr>
              <a:t>= 中優先   </a:t>
            </a:r>
            <a:pPr indent="0" marL="0">
              <a:buNone/>
            </a:pPr>
            <a:r>
              <a:rPr lang="en-US" sz="1000" b="1" dirty="0">
                <a:solidFill>
                  <a:srgbClr val="94A3B8"/>
                </a:solidFill>
                <a:latin typeface="Arial" pitchFamily="34" charset="0"/>
                <a:ea typeface="Arial" pitchFamily="34" charset="-122"/>
                <a:cs typeface="Arial" pitchFamily="34" charset="-120"/>
              </a:rPr>
              <a:t>C </a:t>
            </a:r>
            <a:pPr indent="0" marL="0">
              <a:buNone/>
            </a:pPr>
            <a:r>
              <a:rPr lang="en-US" sz="900" dirty="0">
                <a:solidFill>
                  <a:srgbClr val="64748B"/>
                </a:solidFill>
                <a:latin typeface="Arial" pitchFamily="34" charset="0"/>
                <a:ea typeface="Arial" pitchFamily="34" charset="-122"/>
                <a:cs typeface="Arial" pitchFamily="34" charset="-120"/>
              </a:rPr>
              <a:t>= 低優先</a:t>
            </a:r>
            <a:endParaRPr lang="en-US" sz="1000" dirty="0"/>
          </a:p>
        </p:txBody>
      </p:sp>
      <p:sp>
        <p:nvSpPr>
          <p:cNvPr id="7" name="Shape 4"/>
          <p:cNvSpPr/>
          <p:nvPr/>
        </p:nvSpPr>
        <p:spPr>
          <a:xfrm>
            <a:off x="0" y="4800600"/>
            <a:ext cx="9144000" cy="342900"/>
          </a:xfrm>
          <a:prstGeom prst="rect">
            <a:avLst/>
          </a:prstGeom>
          <a:solidFill>
            <a:srgbClr val="1A2744"/>
          </a:solidFill>
          <a:ln/>
        </p:spPr>
      </p:sp>
      <p:sp>
        <p:nvSpPr>
          <p:cNvPr id="8" name="Text 5"/>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9" name="Text 6"/>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1：即座対応</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Immediate Actions (Today ~ 1 Month)</a:t>
            </a:r>
            <a:endParaRPr lang="en-US" sz="1000" dirty="0"/>
          </a:p>
        </p:txBody>
      </p:sp>
      <p:sp>
        <p:nvSpPr>
          <p:cNvPr id="5" name="Text 3"/>
          <p:cNvSpPr/>
          <p:nvPr/>
        </p:nvSpPr>
        <p:spPr>
          <a:xfrm>
            <a:off x="548640" y="868680"/>
            <a:ext cx="7315200" cy="274320"/>
          </a:xfrm>
          <a:prstGeom prst="rect">
            <a:avLst/>
          </a:prstGeom>
          <a:noFill/>
          <a:ln/>
        </p:spPr>
        <p:txBody>
          <a:bodyPr wrap="square" lIns="0" tIns="0" rIns="0" bIns="0" rtlCol="0" anchor="ctr"/>
          <a:lstStyle/>
          <a:p>
            <a:pPr indent="0" marL="0">
              <a:buNone/>
            </a:pPr>
            <a:r>
              <a:rPr lang="en-US" sz="1000" i="1" dirty="0">
                <a:solidFill>
                  <a:srgbClr val="3B7DD8"/>
                </a:solidFill>
                <a:latin typeface="Arial" pitchFamily="34" charset="0"/>
                <a:ea typeface="Arial" pitchFamily="34" charset="-122"/>
                <a:cs typeface="Arial" pitchFamily="34" charset="-120"/>
              </a:rPr>
              <a:t>投資不要・オペレーション改善で対応可能</a:t>
            </a:r>
            <a:endParaRPr lang="en-US" sz="1000" dirty="0"/>
          </a:p>
        </p:txBody>
      </p:sp>
      <p:sp>
        <p:nvSpPr>
          <p:cNvPr id="6" name="Shape 4"/>
          <p:cNvSpPr/>
          <p:nvPr/>
        </p:nvSpPr>
        <p:spPr>
          <a:xfrm>
            <a:off x="45720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5"/>
          <p:cNvSpPr/>
          <p:nvPr/>
        </p:nvSpPr>
        <p:spPr>
          <a:xfrm>
            <a:off x="457200" y="1234440"/>
            <a:ext cx="54864" cy="1600200"/>
          </a:xfrm>
          <a:prstGeom prst="rect">
            <a:avLst/>
          </a:prstGeom>
          <a:solidFill>
            <a:srgbClr val="3B7DD8"/>
          </a:solidFill>
          <a:ln/>
        </p:spPr>
      </p:sp>
      <p:sp>
        <p:nvSpPr>
          <p:cNvPr id="8" name="Text 6"/>
          <p:cNvSpPr/>
          <p:nvPr/>
        </p:nvSpPr>
        <p:spPr>
          <a:xfrm>
            <a:off x="59436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高評価維持の体制強化</a:t>
            </a:r>
            <a:endParaRPr lang="en-US" sz="1200" dirty="0"/>
          </a:p>
        </p:txBody>
      </p:sp>
      <p:sp>
        <p:nvSpPr>
          <p:cNvPr id="9" name="Text 7"/>
          <p:cNvSpPr/>
          <p:nvPr/>
        </p:nvSpPr>
        <p:spPr>
          <a:xfrm>
            <a:off x="59436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全レビューへの丁寧な返信を継続</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大浴場・サウナの清潔維持と品質標準化</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フロント対応品質のモニタリング強化</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ゲスト満足度調査の定期実施</a:t>
            </a:r>
            <a:endParaRPr lang="en-US" sz="900" dirty="0"/>
          </a:p>
        </p:txBody>
      </p:sp>
      <p:sp>
        <p:nvSpPr>
          <p:cNvPr id="10" name="Shape 8"/>
          <p:cNvSpPr/>
          <p:nvPr/>
        </p:nvSpPr>
        <p:spPr>
          <a:xfrm>
            <a:off x="466344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663440" y="1234440"/>
            <a:ext cx="54864" cy="1600200"/>
          </a:xfrm>
          <a:prstGeom prst="rect">
            <a:avLst/>
          </a:prstGeom>
          <a:solidFill>
            <a:srgbClr val="3B7DD8"/>
          </a:solidFill>
          <a:ln/>
        </p:spPr>
      </p:sp>
      <p:sp>
        <p:nvSpPr>
          <p:cNvPr id="12" name="Text 10"/>
          <p:cNvSpPr/>
          <p:nvPr/>
        </p:nvSpPr>
        <p:spPr>
          <a:xfrm>
            <a:off x="480060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女性アメニティの改善</a:t>
            </a:r>
            <a:endParaRPr lang="en-US" sz="1200" dirty="0"/>
          </a:p>
        </p:txBody>
      </p:sp>
      <p:sp>
        <p:nvSpPr>
          <p:cNvPr id="13" name="Text 11"/>
          <p:cNvSpPr/>
          <p:nvPr/>
        </p:nvSpPr>
        <p:spPr>
          <a:xfrm>
            <a:off x="480060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客室への基本スキンケア用品の設置</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大浴場へのアメニティコーナー設置</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女性ゲスト向けウェルカムセット充実</a:t>
            </a:r>
            <a:endParaRPr lang="en-US" sz="900" dirty="0"/>
          </a:p>
        </p:txBody>
      </p:sp>
      <p:sp>
        <p:nvSpPr>
          <p:cNvPr id="14" name="Shape 12"/>
          <p:cNvSpPr/>
          <p:nvPr/>
        </p:nvSpPr>
        <p:spPr>
          <a:xfrm>
            <a:off x="457200" y="301752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57200" y="3017520"/>
            <a:ext cx="54864" cy="1600200"/>
          </a:xfrm>
          <a:prstGeom prst="rect">
            <a:avLst/>
          </a:prstGeom>
          <a:solidFill>
            <a:srgbClr val="3B7DD8"/>
          </a:solidFill>
          <a:ln/>
        </p:spPr>
      </p:sp>
      <p:sp>
        <p:nvSpPr>
          <p:cNvPr id="16" name="Text 14"/>
          <p:cNvSpPr/>
          <p:nvPr/>
        </p:nvSpPr>
        <p:spPr>
          <a:xfrm>
            <a:off x="594360" y="306324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Agoda向け最適化</a:t>
            </a:r>
            <a:endParaRPr lang="en-US" sz="1200" dirty="0"/>
          </a:p>
        </p:txBody>
      </p:sp>
      <p:sp>
        <p:nvSpPr>
          <p:cNvPr id="17" name="Text 15"/>
          <p:cNvSpPr/>
          <p:nvPr/>
        </p:nvSpPr>
        <p:spPr>
          <a:xfrm>
            <a:off x="594360" y="338328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施設情報・写真の英語表記精度向上</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バスルーム・客室サイズの期待値調整</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海外ゲスト向け多言語対応強化</a:t>
            </a:r>
            <a:endParaRPr lang="en-US" sz="900" dirty="0"/>
          </a:p>
        </p:txBody>
      </p:sp>
      <p:sp>
        <p:nvSpPr>
          <p:cNvPr id="18" name="Shape 16"/>
          <p:cNvSpPr/>
          <p:nvPr/>
        </p:nvSpPr>
        <p:spPr>
          <a:xfrm>
            <a:off x="4663440" y="301752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9" name="Shape 17"/>
          <p:cNvSpPr/>
          <p:nvPr/>
        </p:nvSpPr>
        <p:spPr>
          <a:xfrm>
            <a:off x="4663440" y="3017520"/>
            <a:ext cx="54864" cy="1600200"/>
          </a:xfrm>
          <a:prstGeom prst="rect">
            <a:avLst/>
          </a:prstGeom>
          <a:solidFill>
            <a:srgbClr val="3B7DD8"/>
          </a:solidFill>
          <a:ln/>
        </p:spPr>
      </p:sp>
      <p:sp>
        <p:nvSpPr>
          <p:cNvPr id="20" name="Text 18"/>
          <p:cNvSpPr/>
          <p:nvPr/>
        </p:nvSpPr>
        <p:spPr>
          <a:xfrm>
            <a:off x="4800600" y="306324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備品の徹底確認</a:t>
            </a:r>
            <a:endParaRPr lang="en-US" sz="1200" dirty="0"/>
          </a:p>
        </p:txBody>
      </p:sp>
      <p:sp>
        <p:nvSpPr>
          <p:cNvPr id="21" name="Text 19"/>
          <p:cNvSpPr/>
          <p:nvPr/>
        </p:nvSpPr>
        <p:spPr>
          <a:xfrm>
            <a:off x="4800600" y="338328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全客室のグラス・コップ備え付け確認</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備品チェックリストの定期点検実施</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ハウスキーピング品質の標準化</a:t>
            </a:r>
            <a:endParaRPr lang="en-US" sz="900" dirty="0"/>
          </a:p>
        </p:txBody>
      </p:sp>
      <p:sp>
        <p:nvSpPr>
          <p:cNvPr id="22" name="Shape 20"/>
          <p:cNvSpPr/>
          <p:nvPr/>
        </p:nvSpPr>
        <p:spPr>
          <a:xfrm>
            <a:off x="0" y="4800600"/>
            <a:ext cx="9144000" cy="342900"/>
          </a:xfrm>
          <a:prstGeom prst="rect">
            <a:avLst/>
          </a:prstGeom>
          <a:solidFill>
            <a:srgbClr val="1A2744"/>
          </a:solidFill>
          <a:ln/>
        </p:spPr>
      </p:sp>
      <p:sp>
        <p:nvSpPr>
          <p:cNvPr id="23" name="Text 21"/>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4" name="Text 22"/>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2・3</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Short-term &amp; Mid-term Actions</a:t>
            </a:r>
            <a:endParaRPr lang="en-US" sz="1000" dirty="0"/>
          </a:p>
        </p:txBody>
      </p:sp>
      <p:sp>
        <p:nvSpPr>
          <p:cNvPr id="5" name="Shape 3"/>
          <p:cNvSpPr/>
          <p:nvPr/>
        </p:nvSpPr>
        <p:spPr>
          <a:xfrm>
            <a:off x="45720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05840"/>
            <a:ext cx="3977640" cy="365760"/>
          </a:xfrm>
          <a:prstGeom prst="rect">
            <a:avLst/>
          </a:prstGeom>
          <a:solidFill>
            <a:srgbClr val="3B7DD8"/>
          </a:solidFill>
          <a:ln/>
        </p:spPr>
      </p:sp>
      <p:sp>
        <p:nvSpPr>
          <p:cNvPr id="7" name="Text 5"/>
          <p:cNvSpPr/>
          <p:nvPr/>
        </p:nvSpPr>
        <p:spPr>
          <a:xfrm>
            <a:off x="59436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2：短期施策（1〜3ヶ月）</a:t>
            </a:r>
            <a:endParaRPr lang="en-US" sz="1200" dirty="0"/>
          </a:p>
        </p:txBody>
      </p:sp>
      <p:sp>
        <p:nvSpPr>
          <p:cNvPr id="8" name="Text 6"/>
          <p:cNvSpPr/>
          <p:nvPr/>
        </p:nvSpPr>
        <p:spPr>
          <a:xfrm>
            <a:off x="64008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WiFi設備の強化</a:t>
            </a:r>
            <a:endParaRPr lang="en-US" sz="1000" dirty="0"/>
          </a:p>
        </p:txBody>
      </p:sp>
      <p:sp>
        <p:nvSpPr>
          <p:cNvPr id="9" name="Text 7"/>
          <p:cNvSpPr/>
          <p:nvPr/>
        </p:nvSpPr>
        <p:spPr>
          <a:xfrm>
            <a:off x="64008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電波の弱いエリアの特定と中継器増設</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全客室での安定した高速接続環境の確保</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業務利用ゲスト向けの高速回線オプション検討</a:t>
            </a:r>
            <a:endParaRPr lang="en-US" sz="900" dirty="0"/>
          </a:p>
        </p:txBody>
      </p:sp>
      <p:sp>
        <p:nvSpPr>
          <p:cNvPr id="10" name="Text 8"/>
          <p:cNvSpPr/>
          <p:nvPr/>
        </p:nvSpPr>
        <p:spPr>
          <a:xfrm>
            <a:off x="64008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口コミ件数の拡大</a:t>
            </a:r>
            <a:endParaRPr lang="en-US" sz="1000" dirty="0"/>
          </a:p>
        </p:txBody>
      </p:sp>
      <p:sp>
        <p:nvSpPr>
          <p:cNvPr id="11" name="Text 9"/>
          <p:cNvSpPr/>
          <p:nvPr/>
        </p:nvSpPr>
        <p:spPr>
          <a:xfrm>
            <a:off x="640080" y="2761488"/>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チェックアウト時の口コミ依頼カード配布</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SNS投稿促進キャンペーンの実施</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リピーター向け特典プログラムの設計</a:t>
            </a:r>
            <a:endParaRPr lang="en-US" sz="900" dirty="0"/>
          </a:p>
        </p:txBody>
      </p:sp>
      <p:sp>
        <p:nvSpPr>
          <p:cNvPr id="12" name="Text 10"/>
          <p:cNvSpPr/>
          <p:nvPr/>
        </p:nvSpPr>
        <p:spPr>
          <a:xfrm>
            <a:off x="640080" y="3547872"/>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駐車場オペレーション改善</a:t>
            </a:r>
            <a:endParaRPr lang="en-US" sz="1000" dirty="0"/>
          </a:p>
        </p:txBody>
      </p:sp>
      <p:sp>
        <p:nvSpPr>
          <p:cNvPr id="13" name="Text 11"/>
          <p:cNvSpPr/>
          <p:nvPr/>
        </p:nvSpPr>
        <p:spPr>
          <a:xfrm>
            <a:off x="640080" y="3803904"/>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事前チェックイン手続きのデジタル化</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駐車場担当スタッフの増員または分業化</a:t>
            </a:r>
            <a:endParaRPr lang="en-US" sz="900" dirty="0"/>
          </a:p>
        </p:txBody>
      </p:sp>
      <p:sp>
        <p:nvSpPr>
          <p:cNvPr id="14" name="Shape 12"/>
          <p:cNvSpPr/>
          <p:nvPr/>
        </p:nvSpPr>
        <p:spPr>
          <a:xfrm>
            <a:off x="470916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709160" y="1005840"/>
            <a:ext cx="3977640" cy="365760"/>
          </a:xfrm>
          <a:prstGeom prst="rect">
            <a:avLst/>
          </a:prstGeom>
          <a:solidFill>
            <a:srgbClr val="1A2744"/>
          </a:solidFill>
          <a:ln/>
        </p:spPr>
      </p:sp>
      <p:sp>
        <p:nvSpPr>
          <p:cNvPr id="16" name="Text 14"/>
          <p:cNvSpPr/>
          <p:nvPr/>
        </p:nvSpPr>
        <p:spPr>
          <a:xfrm>
            <a:off x="484632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3：中期施策（3〜6ヶ月）</a:t>
            </a:r>
            <a:endParaRPr lang="en-US" sz="1200" dirty="0"/>
          </a:p>
        </p:txBody>
      </p:sp>
      <p:sp>
        <p:nvSpPr>
          <p:cNvPr id="17" name="Text 15"/>
          <p:cNvSpPr/>
          <p:nvPr/>
        </p:nvSpPr>
        <p:spPr>
          <a:xfrm>
            <a:off x="489204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全サイト平均9.0点以上の達成</a:t>
            </a:r>
            <a:endParaRPr lang="en-US" sz="1000" dirty="0"/>
          </a:p>
        </p:txBody>
      </p:sp>
      <p:sp>
        <p:nvSpPr>
          <p:cNvPr id="18" name="Text 16"/>
          <p:cNvSpPr/>
          <p:nvPr/>
        </p:nvSpPr>
        <p:spPr>
          <a:xfrm>
            <a:off x="489204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Agoda向け専用ページの全面リニューアル</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海外ゲスト向けコンシェルジュサービスの充実</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多言語対応スタッフの採用・研修</a:t>
            </a:r>
            <a:endParaRPr lang="en-US" sz="900" dirty="0"/>
          </a:p>
        </p:txBody>
      </p:sp>
      <p:sp>
        <p:nvSpPr>
          <p:cNvPr id="19" name="Text 17"/>
          <p:cNvSpPr/>
          <p:nvPr/>
        </p:nvSpPr>
        <p:spPr>
          <a:xfrm>
            <a:off x="489204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大浴場体験のプレミアム化</a:t>
            </a:r>
            <a:endParaRPr lang="en-US" sz="1000" dirty="0"/>
          </a:p>
        </p:txBody>
      </p:sp>
      <p:sp>
        <p:nvSpPr>
          <p:cNvPr id="20" name="Text 18"/>
          <p:cNvSpPr/>
          <p:nvPr/>
        </p:nvSpPr>
        <p:spPr>
          <a:xfrm>
            <a:off x="4892040" y="2761488"/>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サウナ室のアップグレード（ロウリュサービス等）</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大浴場エリアの休憩スペース充実</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プレミアム入浴プランの販売開始</a:t>
            </a:r>
            <a:endParaRPr lang="en-US" sz="900" dirty="0"/>
          </a:p>
        </p:txBody>
      </p:sp>
      <p:sp>
        <p:nvSpPr>
          <p:cNvPr id="21" name="Text 19"/>
          <p:cNvSpPr/>
          <p:nvPr/>
        </p:nvSpPr>
        <p:spPr>
          <a:xfrm>
            <a:off x="4892040" y="3547872"/>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口コミ総数160件/2ヶ月の達成</a:t>
            </a:r>
            <a:endParaRPr lang="en-US" sz="1000" dirty="0"/>
          </a:p>
        </p:txBody>
      </p:sp>
      <p:sp>
        <p:nvSpPr>
          <p:cNvPr id="22" name="Text 20"/>
          <p:cNvSpPr/>
          <p:nvPr/>
        </p:nvSpPr>
        <p:spPr>
          <a:xfrm>
            <a:off x="4892040" y="3803904"/>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OTA上での積極的なプロモーション</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リピーター率向上施策による口コミ促進</a:t>
            </a:r>
            <a:endParaRPr lang="en-US" sz="900" dirty="0"/>
          </a:p>
        </p:txBody>
      </p:sp>
      <p:sp>
        <p:nvSpPr>
          <p:cNvPr id="23" name="Shape 21"/>
          <p:cNvSpPr/>
          <p:nvPr/>
        </p:nvSpPr>
        <p:spPr>
          <a:xfrm>
            <a:off x="0" y="4800600"/>
            <a:ext cx="9144000" cy="342900"/>
          </a:xfrm>
          <a:prstGeom prst="rect">
            <a:avLst/>
          </a:prstGeom>
          <a:solidFill>
            <a:srgbClr val="1A2744"/>
          </a:solidFill>
          <a:ln/>
        </p:spPr>
      </p:sp>
      <p:sp>
        <p:nvSpPr>
          <p:cNvPr id="24" name="Text 22"/>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5" name="Text 23"/>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KPI目標設定</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
        </p:xfrm>
        <a:graphic>
          <a:graphicData uri="http://schemas.openxmlformats.org/drawingml/2006/table">
            <a:tbl>
              <a:tblPr/>
              <a:tblGrid>
                <a:gridCol w="2560320"/>
                <a:gridCol w="1828800"/>
                <a:gridCol w="2011680"/>
                <a:gridCol w="1828800"/>
              </a:tblGrid>
              <a:tr h="320040">
                <a:tc>
                  <a:txBody>
                    <a:bodyPr/>
                    <a:lstStyle/>
                    <a:p>
                      <a:pPr indent="0" marL="0">
                        <a:buNone/>
                      </a:pPr>
                      <a:r>
                        <a:rPr lang="en-US" sz="1000" b="1" dirty="0">
                          <a:solidFill>
                            <a:srgbClr val="FFFFFF"/>
                          </a:solidFill>
                          <a:latin typeface="Arial" pitchFamily="34" charset="0"/>
                          <a:ea typeface="Arial" pitchFamily="34" charset="-122"/>
                          <a:cs typeface="Arial" pitchFamily="34" charset="-120"/>
                        </a:rPr>
                        <a:t>KPI項目</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現状値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目標値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期限</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全体平均(10pt換算)</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8.88点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9.0点以上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高評価率（8-10点）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84.4%</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88%以上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低評価率（1-4点）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0.8%</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0%維持</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Agoda平均</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8.18/10点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8.5/10点以上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2026年6月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Google平均</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4.93/5点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5.0/5点維持</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口コミ総数</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128件/2ヶ月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160件/2ヶ月以上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2026年6月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口コミ返信率</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未計測</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100%（48h以内）</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2026年4月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bl>
          </a:graphicData>
        </a:graphic>
      </p:graphicFrame>
      <p:sp>
        <p:nvSpPr>
          <p:cNvPr id="6" name="Shape 3"/>
          <p:cNvSpPr/>
          <p:nvPr/>
        </p:nvSpPr>
        <p:spPr>
          <a:xfrm>
            <a:off x="457200" y="3886200"/>
            <a:ext cx="8229600" cy="6400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457200" y="3886200"/>
            <a:ext cx="54864" cy="640080"/>
          </a:xfrm>
          <a:prstGeom prst="rect">
            <a:avLst/>
          </a:prstGeom>
          <a:solidFill>
            <a:srgbClr val="3B7DD8"/>
          </a:solidFill>
          <a:ln/>
        </p:spPr>
      </p:sp>
      <p:sp>
        <p:nvSpPr>
          <p:cNvPr id="8" name="Text 5"/>
          <p:cNvSpPr/>
          <p:nvPr/>
        </p:nvSpPr>
        <p:spPr>
          <a:xfrm>
            <a:off x="640080" y="3886200"/>
            <a:ext cx="7863840" cy="64008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モニタリング方針：</a:t>
            </a:r>
            <a:pPr indent="0" marL="0">
              <a:buNone/>
            </a:pPr>
            <a:r>
              <a:rPr lang="en-US" sz="1000" dirty="0">
                <a:solidFill>
                  <a:srgbClr val="64748B"/>
                </a:solidFill>
                <a:latin typeface="Arial" pitchFamily="34" charset="0"/>
                <a:ea typeface="Arial" pitchFamily="34" charset="-122"/>
                <a:cs typeface="Arial" pitchFamily="34" charset="-120"/>
              </a:rPr>
              <a:t>現状の高評価水準を維持しながら、Agoda評価の底上げを最優先課題として取り組む。月次でサイト別平均をモニタリングし、3ヶ月ごとに改善施策の効果を検証する。</a:t>
            </a:r>
            <a:endParaRPr lang="en-US" sz="1000" dirty="0"/>
          </a:p>
        </p:txBody>
      </p:sp>
      <p:sp>
        <p:nvSpPr>
          <p:cNvPr id="9" name="Shape 6"/>
          <p:cNvSpPr/>
          <p:nvPr/>
        </p:nvSpPr>
        <p:spPr>
          <a:xfrm>
            <a:off x="0" y="4800600"/>
            <a:ext cx="9144000" cy="342900"/>
          </a:xfrm>
          <a:prstGeom prst="rect">
            <a:avLst/>
          </a:prstGeom>
          <a:solidFill>
            <a:srgbClr val="1A2744"/>
          </a:solidFill>
          <a:ln/>
        </p:spPr>
      </p:sp>
      <p:sp>
        <p:nvSpPr>
          <p:cNvPr id="10" name="Text 7"/>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1" name="Text 8"/>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43556">
              <a:alpha val="60000"/>
            </a:srgbClr>
          </a:solidFill>
          <a:ln/>
        </p:spPr>
      </p:sp>
      <p:sp>
        <p:nvSpPr>
          <p:cNvPr id="3" name="Text 1"/>
          <p:cNvSpPr/>
          <p:nvPr/>
        </p:nvSpPr>
        <p:spPr>
          <a:xfrm>
            <a:off x="731520" y="731520"/>
            <a:ext cx="7315200" cy="457200"/>
          </a:xfrm>
          <a:prstGeom prst="rect">
            <a:avLst/>
          </a:prstGeom>
          <a:noFill/>
          <a:ln/>
        </p:spPr>
        <p:txBody>
          <a:bodyPr wrap="square" lIns="0" tIns="0" rIns="0" bIns="0" rtlCol="0" anchor="ctr"/>
          <a:lstStyle/>
          <a:p>
            <a:pPr indent="0" marL="0">
              <a:buNone/>
            </a:pPr>
            <a:r>
              <a:rPr lang="en-US" sz="1400" spc="600" kern="0" dirty="0">
                <a:solidFill>
                  <a:srgbClr val="5A9BE6"/>
                </a:solidFill>
                <a:latin typeface="Arial" pitchFamily="34" charset="0"/>
                <a:ea typeface="Arial" pitchFamily="34" charset="-122"/>
                <a:cs typeface="Arial" pitchFamily="34" charset="-120"/>
              </a:rPr>
              <a:t>総括</a:t>
            </a:r>
            <a:endParaRPr lang="en-US" sz="1400" dirty="0"/>
          </a:p>
        </p:txBody>
      </p:sp>
      <p:sp>
        <p:nvSpPr>
          <p:cNvPr id="4" name="Shape 2"/>
          <p:cNvSpPr/>
          <p:nvPr/>
        </p:nvSpPr>
        <p:spPr>
          <a:xfrm>
            <a:off x="731520" y="1371600"/>
            <a:ext cx="7680960" cy="2560320"/>
          </a:xfrm>
          <a:prstGeom prst="rect">
            <a:avLst/>
          </a:prstGeom>
          <a:solidFill>
            <a:srgbClr val="FFFFFF">
              <a:alpha val="10000"/>
            </a:srgbClr>
          </a:solidFill>
          <a:ln/>
        </p:spPr>
      </p:sp>
      <p:sp>
        <p:nvSpPr>
          <p:cNvPr id="5" name="Text 3"/>
          <p:cNvSpPr/>
          <p:nvPr/>
        </p:nvSpPr>
        <p:spPr>
          <a:xfrm>
            <a:off x="914400" y="1463040"/>
            <a:ext cx="7315200" cy="2286000"/>
          </a:xfrm>
          <a:prstGeom prst="rect">
            <a:avLst/>
          </a:prstGeom>
          <a:noFill/>
          <a:ln/>
        </p:spPr>
        <p:txBody>
          <a:bodyPr wrap="square" lIns="0" tIns="0" rIns="0" bIns="0" rtlCol="0" anchor="ctr"/>
          <a:lstStyle/>
          <a:p>
            <a:pPr indent="0" marL="0">
              <a:spcAft>
                <a:spcPts val="400"/>
              </a:spcAft>
              <a:buNone/>
            </a:pPr>
            <a:r>
              <a:rPr lang="en-US" sz="1200" dirty="0">
                <a:solidFill>
                  <a:srgbClr val="FFFFFF"/>
                </a:solidFill>
                <a:latin typeface="Arial" pitchFamily="34" charset="0"/>
                <a:ea typeface="Arial" pitchFamily="34" charset="-122"/>
                <a:cs typeface="Arial" pitchFamily="34" charset="-120"/>
              </a:rPr>
              <a:t>コンフォートホテル横浜みなとみらいは、全体平均8.88点・高評価率84.4%という卓越した評価を誇り、新築の洗練施設・大浴場サウナ・みなとみらいの立地という三大強みで横浜エリアでの高い競争力を確立しています。</a:t>
            </a:r>
            <a:endParaRPr lang="en-US" sz="1200" dirty="0"/>
          </a:p>
          <a:p>
            <a:pPr indent="0" marL="0">
              <a:spcAft>
                <a:spcPts val="400"/>
              </a:spcAft>
              <a:buNone/>
            </a:pPr>
            <a:endParaRPr lang="en-US" sz="1200" dirty="0"/>
          </a:p>
          <a:p>
            <a:pPr indent="0" marL="0">
              <a:spcAft>
                <a:spcPts val="400"/>
              </a:spcAft>
              <a:buNone/>
            </a:pPr>
            <a:r>
              <a:rPr lang="en-US" sz="1200" dirty="0">
                <a:solidFill>
                  <a:srgbClr val="FFFFFF"/>
                </a:solidFill>
                <a:latin typeface="Arial" pitchFamily="34" charset="0"/>
                <a:ea typeface="Arial" pitchFamily="34" charset="-122"/>
                <a:cs typeface="Arial" pitchFamily="34" charset="-120"/>
              </a:rPr>
              <a:t>課題はAgoda（8.18点）の底上げと軽微な設備改善（WiFi・女性アメニティ・客室備品）のみであり、全体的に非常に良好な状況です。これらの課題は大規模な投資なしに対応可能であり、短期間での改善が見込まれます。</a:t>
            </a:r>
            <a:endParaRPr lang="en-US" sz="1200" dirty="0"/>
          </a:p>
          <a:p>
            <a:pPr indent="0" marL="0">
              <a:spcAft>
                <a:spcPts val="400"/>
              </a:spcAft>
              <a:buNone/>
            </a:pPr>
            <a:endParaRPr lang="en-US" sz="1200" dirty="0"/>
          </a:p>
          <a:p>
            <a:pPr indent="0" marL="0">
              <a:spcAft>
                <a:spcPts val="400"/>
              </a:spcAft>
              <a:buNone/>
            </a:pPr>
            <a:r>
              <a:rPr lang="en-US" sz="1200" dirty="0">
                <a:solidFill>
                  <a:srgbClr val="FFFFFF"/>
                </a:solidFill>
                <a:latin typeface="Arial" pitchFamily="34" charset="0"/>
                <a:ea typeface="Arial" pitchFamily="34" charset="-122"/>
                <a:cs typeface="Arial" pitchFamily="34" charset="-120"/>
              </a:rPr>
              <a:t>特に大浴場・サウナという差別化要因は他の競合ホテルにはない強みであり、女性一人旅やカップル旅行のゲストからの継続的な高評価が期待できます。この強みをSNSや口コミで積極的に発信することで、さらなるブランド認知向上が可能です。</a:t>
            </a:r>
            <a:endParaRPr lang="en-US" sz="1200" dirty="0"/>
          </a:p>
          <a:p>
            <a:pPr indent="0" marL="0">
              <a:spcAft>
                <a:spcPts val="400"/>
              </a:spcAft>
              <a:buNone/>
            </a:pPr>
            <a:endParaRPr lang="en-US" sz="1200" dirty="0"/>
          </a:p>
          <a:p>
            <a:pPr indent="0" marL="0">
              <a:spcAft>
                <a:spcPts val="400"/>
              </a:spcAft>
              <a:buNone/>
            </a:pPr>
            <a:r>
              <a:rPr lang="en-US" sz="1200" b="1" dirty="0">
                <a:solidFill>
                  <a:srgbClr val="D4A843"/>
                </a:solidFill>
                <a:latin typeface="Arial" pitchFamily="34" charset="0"/>
                <a:ea typeface="Arial" pitchFamily="34" charset="-122"/>
                <a:cs typeface="Arial" pitchFamily="34" charset="-120"/>
              </a:rPr>
              <a:t>みなとみらいエリアのナンバーワンホテルとして、全サイト平均9.0点以上の達成を目指し、さらなる高みへ挑戦し続けてください。</a:t>
            </a:r>
            <a:endParaRPr lang="en-US" sz="1200" dirty="0"/>
          </a:p>
        </p:txBody>
      </p:sp>
      <p:sp>
        <p:nvSpPr>
          <p:cNvPr id="6" name="Shape 4"/>
          <p:cNvSpPr/>
          <p:nvPr/>
        </p:nvSpPr>
        <p:spPr>
          <a:xfrm>
            <a:off x="731520" y="4114800"/>
            <a:ext cx="1828800" cy="0"/>
          </a:xfrm>
          <a:prstGeom prst="line">
            <a:avLst/>
          </a:prstGeom>
          <a:noFill/>
          <a:ln w="25400">
            <a:solidFill>
              <a:srgbClr val="D4A843"/>
            </a:solidFill>
            <a:prstDash val="solid"/>
          </a:ln>
        </p:spPr>
      </p:sp>
      <p:sp>
        <p:nvSpPr>
          <p:cNvPr id="7" name="Text 5"/>
          <p:cNvSpPr/>
          <p:nvPr/>
        </p:nvSpPr>
        <p:spPr>
          <a:xfrm>
            <a:off x="731520" y="4206240"/>
            <a:ext cx="7315200" cy="365760"/>
          </a:xfrm>
          <a:prstGeom prst="rect">
            <a:avLst/>
          </a:prstGeom>
          <a:noFill/>
          <a:ln/>
        </p:spPr>
        <p:txBody>
          <a:bodyPr wrap="square" lIns="0" tIns="0" rIns="0" bIns="0" rtlCol="0" anchor="ctr"/>
          <a:lstStyle/>
          <a:p>
            <a:pPr indent="0" marL="0">
              <a:buNone/>
            </a:pPr>
            <a:r>
              <a:rPr lang="en-US" sz="1400" dirty="0">
                <a:solidFill>
                  <a:srgbClr val="94A3B8"/>
                </a:solidFill>
                <a:latin typeface="Arial" pitchFamily="34" charset="0"/>
                <a:ea typeface="Arial" pitchFamily="34" charset="-122"/>
                <a:cs typeface="Arial" pitchFamily="34" charset="-120"/>
              </a:rPr>
              <a:t>ご清聴ありがとうございました</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コンフォートホテル横浜みなとみらい 口コミ分析改善レポート</dc:title>
  <dc:subject>PptxGenJS Presentation</dc:subject>
  <dc:creator>Hotel Consulting</dc:creator>
  <cp:lastModifiedBy>Hotel Consulting</cp:lastModifiedBy>
  <cp:revision>1</cp:revision>
  <dcterms:created xsi:type="dcterms:W3CDTF">2026-03-28T23:27:40Z</dcterms:created>
  <dcterms:modified xsi:type="dcterms:W3CDTF">2026-03-28T23:27:40Z</dcterms:modified>
</cp:coreProperties>
</file>