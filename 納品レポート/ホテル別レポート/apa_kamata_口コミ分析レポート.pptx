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10pt換算平均</c:v>
                </c:pt>
              </c:strCache>
            </c:strRef>
          </c:tx>
          <c:spPr>
            <a:solidFill>
              <a:srgbClr val="3B7DD8"/>
            </a:solidFill>
            <a:effectLst/>
          </c:spPr>
          <c:invertIfNegative val="0"/>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cat>
            <c:multiLvlStrRef>
              <c:f>Sheet1!$A$2:$A$6</c:f>
              <c:multiLvlStrCache>
                <c:ptCount val="5"/>
                <c:lvl>
                  <c:pt idx="0">
                    <c:v>Google</c:v>
                  </c:pt>
                  <c:pt idx="1">
                    <c:v>Booking.com</c:v>
                  </c:pt>
                  <c:pt idx="2">
                    <c:v>じゃらん</c:v>
                  </c:pt>
                  <c:pt idx="3">
                    <c:v>楽天トラベル</c:v>
                  </c:pt>
                  <c:pt idx="4">
                    <c:v>Agoda</c:v>
                  </c:pt>
                </c:lvl>
              </c:multiLvlStrCache>
            </c:multiLvlStrRef>
          </c:cat>
          <c:val>
            <c:numRef>
              <c:f>Sheet1!$B$2:$B$6</c:f>
              <c:numCache>
                <c:formatCode>General</c:formatCode>
                <c:ptCount val="5"/>
                <c:pt idx="0">
                  <c:v>7.88</c:v>
                </c:pt>
                <c:pt idx="1">
                  <c:v>7.58</c:v>
                </c:pt>
                <c:pt idx="2">
                  <c:v>7.5</c:v>
                </c:pt>
                <c:pt idx="3">
                  <c:v>7</c:v>
                </c:pt>
                <c:pt idx="4">
                  <c:v>6.69</c:v>
                </c:pt>
              </c:numCache>
            </c:numRef>
          </c:val>
        </c:ser>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max val="1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評価分布（10pt換算）</c:v>
                </c:pt>
              </c:strCache>
            </c:strRef>
          </c:tx>
          <c:spPr>
            <a:solidFill>
              <a:schemeClr val="accent1"/>
            </a:solidFill>
            <a:ln w="9525" cap="flat">
              <a:solidFill>
                <a:srgbClr val="F9F9F9"/>
              </a:solidFill>
              <a:prstDash val="solid"/>
              <a:round/>
            </a:ln>
            <a:effectLst/>
          </c:spPr>
          <c:dPt>
            <c:idx val="0"/>
            <c:bubble3D val="0"/>
            <c:spPr>
              <a:solidFill>
                <a:srgbClr val="16A34A"/>
              </a:solidFill>
              <a:effectLst/>
            </c:spPr>
          </c:dPt>
          <c:dPt>
            <c:idx val="1"/>
            <c:bubble3D val="0"/>
            <c:spPr>
              <a:solidFill>
                <a:srgbClr val="D4A843"/>
              </a:solidFill>
              <a:effectLst/>
            </c:spPr>
          </c:dPt>
          <c:dPt>
            <c:idx val="2"/>
            <c:bubble3D val="0"/>
            <c:spPr>
              <a:solidFill>
                <a:srgbClr val="DC2626"/>
              </a:solidFill>
              <a:effectLst/>
            </c:spPr>
          </c:dPt>
          <c:dLbls>
            <c:dLbl>
              <c:idx val="0"/>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高評価(8-10)</c:v>
                </c:pt>
                <c:pt idx="1">
                  <c:v>中評価(5-7)</c:v>
                </c:pt>
                <c:pt idx="2">
                  <c:v>低評価(1-4)</c:v>
                </c:pt>
              </c:strCache>
            </c:strRef>
          </c:cat>
          <c:val>
            <c:numRef>
              <c:f>Sheet1!$B$2:$B$4</c:f>
              <c:numCache>
                <c:ptCount val="3"/>
                <c:pt idx="0">
                  <c:v>38</c:v>
                </c:pt>
                <c:pt idx="1">
                  <c:v>16</c:v>
                </c:pt>
                <c:pt idx="2">
                  <c:v>6</c:v>
                </c:pt>
              </c:numCache>
            </c:numRef>
          </c:val>
        </c:ser>
        <c:firstSliceAng val="0"/>
        <c:holeSize val="50"/>
      </c:doughnutChart>
      <c:spPr>
        <a:noFill/>
        <a:ln>
          <a:noFill/>
        </a:ln>
        <a:effectLst/>
      </c:spPr>
    </c:plotArea>
    <c:legend>
      <c:legendPos val="b"/>
      <c:overlay val="0"/>
      <c:txPr>
        <a:bodyPr/>
        <a:lstStyle/>
        <a:p>
          <a:pPr>
            <a:defRPr sz="900">
              <a:solidFill>
                <a:srgbClr val="64748B"/>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件数</c:v>
                </c:pt>
              </c:strCache>
            </c:strRef>
          </c:tx>
          <c:spPr>
            <a:solidFill>
              <a:srgbClr val="16A34A"/>
            </a:solidFill>
            <a:effectLst/>
          </c:spPr>
          <c:invertIfNegative val="0"/>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dPt>
            <c:idx val="0"/>
            <c:invertIfNegative val="0"/>
            <c:bubble3D val="0"/>
            <c:spPr>
              <a:solidFill>
                <a:srgbClr val="16A34A"/>
              </a:solidFill>
              <a:effectLst/>
            </c:spPr>
          </c:dPt>
          <c:dPt>
            <c:idx val="1"/>
            <c:invertIfNegative val="0"/>
            <c:bubble3D val="0"/>
            <c:spPr>
              <a:solidFill>
                <a:srgbClr val="16A34A"/>
              </a:solidFill>
              <a:effectLst/>
            </c:spPr>
          </c:dPt>
          <c:dPt>
            <c:idx val="2"/>
            <c:invertIfNegative val="0"/>
            <c:bubble3D val="0"/>
            <c:spPr>
              <a:solidFill>
                <a:srgbClr val="16A34A"/>
              </a:solidFill>
              <a:effectLst/>
            </c:spPr>
          </c:dPt>
          <c:dPt>
            <c:idx val="3"/>
            <c:invertIfNegative val="0"/>
            <c:bubble3D val="0"/>
            <c:spPr>
              <a:solidFill>
                <a:srgbClr val="D4A843"/>
              </a:solidFill>
              <a:effectLst/>
            </c:spPr>
          </c:dPt>
          <c:dPt>
            <c:idx val="4"/>
            <c:invertIfNegative val="0"/>
            <c:bubble3D val="0"/>
            <c:spPr>
              <a:solidFill>
                <a:srgbClr val="D4A843"/>
              </a:solidFill>
              <a:effectLst/>
            </c:spPr>
          </c:dPt>
          <c:dPt>
            <c:idx val="5"/>
            <c:invertIfNegative val="0"/>
            <c:bubble3D val="0"/>
            <c:spPr>
              <a:solidFill>
                <a:srgbClr val="D4A843"/>
              </a:solidFill>
              <a:effectLst/>
            </c:spPr>
          </c:dPt>
          <c:dPt>
            <c:idx val="6"/>
            <c:invertIfNegative val="0"/>
            <c:bubble3D val="0"/>
            <c:spPr>
              <a:solidFill>
                <a:srgbClr val="DC2626"/>
              </a:solidFill>
              <a:effectLst/>
            </c:spPr>
          </c:dPt>
          <c:dPt>
            <c:idx val="7"/>
            <c:invertIfNegative val="0"/>
            <c:bubble3D val="0"/>
            <c:spPr>
              <a:solidFill>
                <a:srgbClr val="DC2626"/>
              </a:solidFill>
              <a:effectLst/>
            </c:spPr>
          </c:dPt>
          <c:dPt>
            <c:idx val="8"/>
            <c:invertIfNegative val="0"/>
            <c:bubble3D val="0"/>
            <c:spPr>
              <a:solidFill>
                <a:srgbClr val="DC2626"/>
              </a:solidFill>
              <a:effectLst/>
            </c:spPr>
          </c:dPt>
          <c:cat>
            <c:multiLvlStrRef>
              <c:f>Sheet1!$A$2:$A$10</c:f>
              <c:multiLvlStrCache>
                <c:ptCount val="9"/>
                <c:lvl>
                  <c:pt idx="0">
                    <c:v>10点</c:v>
                  </c:pt>
                  <c:pt idx="1">
                    <c:v>9点</c:v>
                  </c:pt>
                  <c:pt idx="2">
                    <c:v>8点</c:v>
                  </c:pt>
                  <c:pt idx="3">
                    <c:v>7点</c:v>
                  </c:pt>
                  <c:pt idx="4">
                    <c:v>6点</c:v>
                  </c:pt>
                  <c:pt idx="5">
                    <c:v>5点</c:v>
                  </c:pt>
                  <c:pt idx="6">
                    <c:v>4点</c:v>
                  </c:pt>
                  <c:pt idx="7">
                    <c:v>3点</c:v>
                  </c:pt>
                  <c:pt idx="8">
                    <c:v>2点</c:v>
                  </c:pt>
                </c:lvl>
              </c:multiLvlStrCache>
            </c:multiLvlStrRef>
          </c:cat>
          <c:val>
            <c:numRef>
              <c:f>Sheet1!$B$2:$B$10</c:f>
              <c:numCache>
                <c:formatCode>General</c:formatCode>
                <c:ptCount val="9"/>
                <c:pt idx="0">
                  <c:v>8</c:v>
                </c:pt>
                <c:pt idx="1">
                  <c:v>4</c:v>
                </c:pt>
                <c:pt idx="2">
                  <c:v>26</c:v>
                </c:pt>
                <c:pt idx="3">
                  <c:v>5</c:v>
                </c:pt>
                <c:pt idx="4">
                  <c:v>8</c:v>
                </c:pt>
                <c:pt idx="5">
                  <c:v>3</c:v>
                </c:pt>
                <c:pt idx="6">
                  <c:v>4</c:v>
                </c:pt>
                <c:pt idx="7">
                  <c:v>1</c:v>
                </c:pt>
                <c:pt idx="8">
                  <c:v>1</c:v>
                </c:pt>
              </c:numCache>
            </c:numRef>
          </c:val>
        </c:ser>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43556">
              <a:alpha val="60000"/>
            </a:srgbClr>
          </a:solidFill>
          <a:ln/>
        </p:spPr>
      </p:sp>
      <p:sp>
        <p:nvSpPr>
          <p:cNvPr id="3" name="Shape 1"/>
          <p:cNvSpPr/>
          <p:nvPr/>
        </p:nvSpPr>
        <p:spPr>
          <a:xfrm>
            <a:off x="0" y="1828800"/>
            <a:ext cx="73152" cy="1645920"/>
          </a:xfrm>
          <a:prstGeom prst="rect">
            <a:avLst/>
          </a:prstGeom>
          <a:solidFill>
            <a:srgbClr val="D4A843"/>
          </a:solidFill>
          <a:ln/>
        </p:spPr>
      </p:sp>
      <p:sp>
        <p:nvSpPr>
          <p:cNvPr id="4" name="Text 2"/>
          <p:cNvSpPr/>
          <p:nvPr/>
        </p:nvSpPr>
        <p:spPr>
          <a:xfrm>
            <a:off x="731520" y="1371600"/>
            <a:ext cx="7315200" cy="640080"/>
          </a:xfrm>
          <a:prstGeom prst="rect">
            <a:avLst/>
          </a:prstGeom>
          <a:noFill/>
          <a:ln/>
        </p:spPr>
        <p:txBody>
          <a:bodyPr wrap="square" lIns="0" tIns="0" rIns="0" bIns="0" rtlCol="0" anchor="ctr"/>
          <a:lstStyle/>
          <a:p>
            <a:pPr indent="0" marL="0">
              <a:buNone/>
            </a:pPr>
            <a:r>
              <a:rPr lang="en-US" sz="2000" spc="600" kern="0" dirty="0">
                <a:solidFill>
                  <a:srgbClr val="5A9BE6"/>
                </a:solidFill>
                <a:latin typeface="Arial" pitchFamily="34" charset="0"/>
                <a:ea typeface="Arial" pitchFamily="34" charset="-122"/>
                <a:cs typeface="Arial" pitchFamily="34" charset="-120"/>
              </a:rPr>
              <a:t>口コミ分析</a:t>
            </a:r>
            <a:endParaRPr lang="en-US" sz="2000" dirty="0"/>
          </a:p>
        </p:txBody>
      </p:sp>
      <p:sp>
        <p:nvSpPr>
          <p:cNvPr id="5" name="Text 3"/>
          <p:cNvSpPr/>
          <p:nvPr/>
        </p:nvSpPr>
        <p:spPr>
          <a:xfrm>
            <a:off x="731520" y="1920240"/>
            <a:ext cx="7315200" cy="82296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改善レポート</a:t>
            </a:r>
            <a:endParaRPr lang="en-US" sz="4200" dirty="0"/>
          </a:p>
        </p:txBody>
      </p:sp>
      <p:sp>
        <p:nvSpPr>
          <p:cNvPr id="6" name="Shape 4"/>
          <p:cNvSpPr/>
          <p:nvPr/>
        </p:nvSpPr>
        <p:spPr>
          <a:xfrm>
            <a:off x="731520" y="2834640"/>
            <a:ext cx="1828800" cy="0"/>
          </a:xfrm>
          <a:prstGeom prst="line">
            <a:avLst/>
          </a:prstGeom>
          <a:noFill/>
          <a:ln w="25400">
            <a:solidFill>
              <a:srgbClr val="D4A843"/>
            </a:solidFill>
            <a:prstDash val="solid"/>
          </a:ln>
        </p:spPr>
      </p:sp>
      <p:sp>
        <p:nvSpPr>
          <p:cNvPr id="7" name="Text 5"/>
          <p:cNvSpPr/>
          <p:nvPr/>
        </p:nvSpPr>
        <p:spPr>
          <a:xfrm>
            <a:off x="731520" y="3017520"/>
            <a:ext cx="7315200" cy="457200"/>
          </a:xfrm>
          <a:prstGeom prst="rect">
            <a:avLst/>
          </a:prstGeom>
          <a:noFill/>
          <a:ln/>
        </p:spPr>
        <p:txBody>
          <a:bodyPr wrap="square" lIns="0" tIns="0" rIns="0" bIns="0" rtlCol="0" anchor="ctr"/>
          <a:lstStyle/>
          <a:p>
            <a:pPr indent="0" marL="0">
              <a:buNone/>
            </a:pPr>
            <a:r>
              <a:rPr lang="en-US" sz="1600" dirty="0">
                <a:solidFill>
                  <a:srgbClr val="94A3B8"/>
                </a:solidFill>
                <a:latin typeface="Arial" pitchFamily="34" charset="0"/>
                <a:ea typeface="Arial" pitchFamily="34" charset="-122"/>
                <a:cs typeface="Arial" pitchFamily="34" charset="-120"/>
              </a:rPr>
              <a:t>アパホテル蒲田駅東</a:t>
            </a:r>
            <a:endParaRPr lang="en-US" sz="1600" dirty="0"/>
          </a:p>
        </p:txBody>
      </p:sp>
      <p:sp>
        <p:nvSpPr>
          <p:cNvPr id="8" name="Text 6"/>
          <p:cNvSpPr/>
          <p:nvPr/>
        </p:nvSpPr>
        <p:spPr>
          <a:xfrm>
            <a:off x="731520" y="3749040"/>
            <a:ext cx="4572000" cy="822960"/>
          </a:xfrm>
          <a:prstGeom prst="rect">
            <a:avLst/>
          </a:prstGeom>
          <a:noFill/>
          <a:ln/>
        </p:spPr>
        <p:txBody>
          <a:bodyPr wrap="square" lIns="0" tIns="0" rIns="0" bIns="0" rtlCol="0" anchor="ctr"/>
          <a:lstStyle/>
          <a:p>
            <a:pPr indent="0" marL="0">
              <a:spcAft>
                <a:spcPts val="400"/>
              </a:spcAft>
              <a:buNone/>
            </a:pPr>
            <a:r>
              <a:rPr lang="en-US" sz="1000" dirty="0">
                <a:solidFill>
                  <a:srgbClr val="94A3B8"/>
                </a:solidFill>
                <a:latin typeface="Arial" pitchFamily="34" charset="0"/>
                <a:ea typeface="Arial" pitchFamily="34" charset="-122"/>
                <a:cs typeface="Arial" pitchFamily="34" charset="-120"/>
              </a:rPr>
              <a:t>分析対象期間：2026年2月〜3月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レビュー総数：60件（5サイト）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作成日：2026年4月5日</a:t>
            </a:r>
            <a:endParaRPr lang="en-US" sz="1000" dirty="0"/>
          </a:p>
        </p:txBody>
      </p:sp>
      <p:sp>
        <p:nvSpPr>
          <p:cNvPr id="9" name="Shape 7"/>
          <p:cNvSpPr/>
          <p:nvPr/>
        </p:nvSpPr>
        <p:spPr>
          <a:xfrm>
            <a:off x="6858000" y="0"/>
            <a:ext cx="2286000" cy="5143500"/>
          </a:xfrm>
          <a:prstGeom prst="rect">
            <a:avLst/>
          </a:prstGeom>
          <a:solidFill>
            <a:srgbClr val="3B7DD8">
              <a:alpha val="15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エグゼクティブサマリー</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Executive Summary</a:t>
            </a:r>
            <a:endParaRPr lang="en-US" sz="1000" dirty="0"/>
          </a:p>
        </p:txBody>
      </p:sp>
      <p:sp>
        <p:nvSpPr>
          <p:cNvPr id="5" name="Shape 3"/>
          <p:cNvSpPr/>
          <p:nvPr/>
        </p:nvSpPr>
        <p:spPr>
          <a:xfrm>
            <a:off x="4572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1874520" cy="45720"/>
          </a:xfrm>
          <a:prstGeom prst="rect">
            <a:avLst/>
          </a:prstGeom>
          <a:solidFill>
            <a:srgbClr val="3B7DD8"/>
          </a:solidFill>
          <a:ln/>
        </p:spPr>
      </p:sp>
      <p:sp>
        <p:nvSpPr>
          <p:cNvPr id="7" name="Text 5"/>
          <p:cNvSpPr/>
          <p:nvPr/>
        </p:nvSpPr>
        <p:spPr>
          <a:xfrm>
            <a:off x="4572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全体平均(10pt換算)</a:t>
            </a:r>
            <a:endParaRPr lang="en-US" sz="1000" dirty="0"/>
          </a:p>
        </p:txBody>
      </p:sp>
      <p:sp>
        <p:nvSpPr>
          <p:cNvPr id="8" name="Text 6"/>
          <p:cNvSpPr/>
          <p:nvPr/>
        </p:nvSpPr>
        <p:spPr>
          <a:xfrm>
            <a:off x="457200" y="1417320"/>
            <a:ext cx="1874520" cy="502920"/>
          </a:xfrm>
          <a:prstGeom prst="rect">
            <a:avLst/>
          </a:prstGeom>
          <a:noFill/>
          <a:ln/>
        </p:spPr>
        <p:txBody>
          <a:bodyPr wrap="square" lIns="0" tIns="0" rIns="0" bIns="0" rtlCol="0" anchor="ctr"/>
          <a:lstStyle/>
          <a:p>
            <a:pPr algn="ctr" indent="0" marL="0">
              <a:buNone/>
            </a:pPr>
            <a:r>
              <a:rPr lang="en-US" sz="3200" b="1" dirty="0">
                <a:solidFill>
                  <a:srgbClr val="3B7DD8"/>
                </a:solidFill>
                <a:latin typeface="Arial" pitchFamily="34" charset="0"/>
                <a:ea typeface="Arial" pitchFamily="34" charset="-122"/>
                <a:cs typeface="Arial" pitchFamily="34" charset="-120"/>
              </a:rPr>
              <a:t>7.38</a:t>
            </a:r>
            <a:endParaRPr lang="en-US" sz="3200" dirty="0"/>
          </a:p>
        </p:txBody>
      </p:sp>
      <p:sp>
        <p:nvSpPr>
          <p:cNvPr id="9" name="Shape 7"/>
          <p:cNvSpPr/>
          <p:nvPr/>
        </p:nvSpPr>
        <p:spPr>
          <a:xfrm>
            <a:off x="25146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2514600" y="1051560"/>
            <a:ext cx="1874520" cy="45720"/>
          </a:xfrm>
          <a:prstGeom prst="rect">
            <a:avLst/>
          </a:prstGeom>
          <a:solidFill>
            <a:srgbClr val="16A34A"/>
          </a:solidFill>
          <a:ln/>
        </p:spPr>
      </p:sp>
      <p:sp>
        <p:nvSpPr>
          <p:cNvPr id="11" name="Text 9"/>
          <p:cNvSpPr/>
          <p:nvPr/>
        </p:nvSpPr>
        <p:spPr>
          <a:xfrm>
            <a:off x="25146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高評価率(8-10点)</a:t>
            </a:r>
            <a:endParaRPr lang="en-US" sz="1000" dirty="0"/>
          </a:p>
        </p:txBody>
      </p:sp>
      <p:sp>
        <p:nvSpPr>
          <p:cNvPr id="12" name="Text 10"/>
          <p:cNvSpPr/>
          <p:nvPr/>
        </p:nvSpPr>
        <p:spPr>
          <a:xfrm>
            <a:off x="2514600" y="1417320"/>
            <a:ext cx="18745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63.3%</a:t>
            </a:r>
            <a:endParaRPr lang="en-US" sz="3200" dirty="0"/>
          </a:p>
        </p:txBody>
      </p:sp>
      <p:sp>
        <p:nvSpPr>
          <p:cNvPr id="13" name="Shape 11"/>
          <p:cNvSpPr/>
          <p:nvPr/>
        </p:nvSpPr>
        <p:spPr>
          <a:xfrm>
            <a:off x="45720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0" y="1051560"/>
            <a:ext cx="1874520" cy="45720"/>
          </a:xfrm>
          <a:prstGeom prst="rect">
            <a:avLst/>
          </a:prstGeom>
          <a:solidFill>
            <a:srgbClr val="DC2626"/>
          </a:solidFill>
          <a:ln/>
        </p:spPr>
      </p:sp>
      <p:sp>
        <p:nvSpPr>
          <p:cNvPr id="15" name="Text 13"/>
          <p:cNvSpPr/>
          <p:nvPr/>
        </p:nvSpPr>
        <p:spPr>
          <a:xfrm>
            <a:off x="45720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低評価率(1-4点)</a:t>
            </a:r>
            <a:endParaRPr lang="en-US" sz="1000" dirty="0"/>
          </a:p>
        </p:txBody>
      </p:sp>
      <p:sp>
        <p:nvSpPr>
          <p:cNvPr id="16" name="Text 14"/>
          <p:cNvSpPr/>
          <p:nvPr/>
        </p:nvSpPr>
        <p:spPr>
          <a:xfrm>
            <a:off x="4572000" y="1417320"/>
            <a:ext cx="1874520" cy="502920"/>
          </a:xfrm>
          <a:prstGeom prst="rect">
            <a:avLst/>
          </a:prstGeom>
          <a:noFill/>
          <a:ln/>
        </p:spPr>
        <p:txBody>
          <a:bodyPr wrap="square" lIns="0" tIns="0" rIns="0" bIns="0" rtlCol="0" anchor="ctr"/>
          <a:lstStyle/>
          <a:p>
            <a:pPr algn="ctr" indent="0" marL="0">
              <a:buNone/>
            </a:pPr>
            <a:r>
              <a:rPr lang="en-US" sz="3200" b="1" dirty="0">
                <a:solidFill>
                  <a:srgbClr val="DC2626"/>
                </a:solidFill>
                <a:latin typeface="Arial" pitchFamily="34" charset="0"/>
                <a:ea typeface="Arial" pitchFamily="34" charset="-122"/>
                <a:cs typeface="Arial" pitchFamily="34" charset="-120"/>
              </a:rPr>
              <a:t>10.0%</a:t>
            </a:r>
            <a:endParaRPr lang="en-US" sz="3200" dirty="0"/>
          </a:p>
        </p:txBody>
      </p:sp>
      <p:sp>
        <p:nvSpPr>
          <p:cNvPr id="17" name="Shape 15"/>
          <p:cNvSpPr/>
          <p:nvPr/>
        </p:nvSpPr>
        <p:spPr>
          <a:xfrm>
            <a:off x="6629400" y="1051560"/>
            <a:ext cx="205740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6629400" y="1051560"/>
            <a:ext cx="2057400" cy="45720"/>
          </a:xfrm>
          <a:prstGeom prst="rect">
            <a:avLst/>
          </a:prstGeom>
          <a:solidFill>
            <a:srgbClr val="1A2744"/>
          </a:solidFill>
          <a:ln/>
        </p:spPr>
      </p:sp>
      <p:sp>
        <p:nvSpPr>
          <p:cNvPr id="19" name="Text 17"/>
          <p:cNvSpPr/>
          <p:nvPr/>
        </p:nvSpPr>
        <p:spPr>
          <a:xfrm>
            <a:off x="6629400" y="1188720"/>
            <a:ext cx="205740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レビュー総数</a:t>
            </a:r>
            <a:endParaRPr lang="en-US" sz="1000" dirty="0"/>
          </a:p>
        </p:txBody>
      </p:sp>
      <p:sp>
        <p:nvSpPr>
          <p:cNvPr id="20" name="Text 18"/>
          <p:cNvSpPr/>
          <p:nvPr/>
        </p:nvSpPr>
        <p:spPr>
          <a:xfrm>
            <a:off x="6629400" y="1417320"/>
            <a:ext cx="2057400" cy="502920"/>
          </a:xfrm>
          <a:prstGeom prst="rect">
            <a:avLst/>
          </a:prstGeom>
          <a:noFill/>
          <a:ln/>
        </p:spPr>
        <p:txBody>
          <a:bodyPr wrap="square" lIns="0" tIns="0" rIns="0" bIns="0" rtlCol="0" anchor="ctr"/>
          <a:lstStyle/>
          <a:p>
            <a:pPr algn="ctr" indent="0" marL="0">
              <a:buNone/>
            </a:pPr>
            <a:r>
              <a:rPr lang="en-US" sz="3200" b="1" dirty="0">
                <a:solidFill>
                  <a:srgbClr val="1A2744"/>
                </a:solidFill>
                <a:latin typeface="Arial" pitchFamily="34" charset="0"/>
                <a:ea typeface="Arial" pitchFamily="34" charset="-122"/>
                <a:cs typeface="Arial" pitchFamily="34" charset="-120"/>
              </a:rPr>
              <a:t>60件</a:t>
            </a:r>
            <a:endParaRPr lang="en-US" sz="3200" dirty="0"/>
          </a:p>
        </p:txBody>
      </p:sp>
      <p:sp>
        <p:nvSpPr>
          <p:cNvPr id="21" name="Shape 19"/>
          <p:cNvSpPr/>
          <p:nvPr/>
        </p:nvSpPr>
        <p:spPr>
          <a:xfrm>
            <a:off x="45720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2" name="Shape 20"/>
          <p:cNvSpPr/>
          <p:nvPr/>
        </p:nvSpPr>
        <p:spPr>
          <a:xfrm>
            <a:off x="457200" y="2286000"/>
            <a:ext cx="3931920" cy="45720"/>
          </a:xfrm>
          <a:prstGeom prst="rect">
            <a:avLst/>
          </a:prstGeom>
          <a:solidFill>
            <a:srgbClr val="16A34A"/>
          </a:solidFill>
          <a:ln/>
        </p:spPr>
      </p:sp>
      <p:sp>
        <p:nvSpPr>
          <p:cNvPr id="23" name="Text 21"/>
          <p:cNvSpPr/>
          <p:nvPr/>
        </p:nvSpPr>
        <p:spPr>
          <a:xfrm>
            <a:off x="640080" y="2377440"/>
            <a:ext cx="2743200" cy="320040"/>
          </a:xfrm>
          <a:prstGeom prst="rect">
            <a:avLst/>
          </a:prstGeom>
          <a:noFill/>
          <a:ln/>
        </p:spPr>
        <p:txBody>
          <a:bodyPr wrap="square" lIns="0" tIns="0" rIns="0" bIns="0" rtlCol="0" anchor="ctr"/>
          <a:lstStyle/>
          <a:p>
            <a:pPr indent="0" marL="0">
              <a:buNone/>
            </a:pPr>
            <a:r>
              <a:rPr lang="en-US" sz="1400" b="1" dirty="0">
                <a:solidFill>
                  <a:srgbClr val="16A34A"/>
                </a:solidFill>
                <a:latin typeface="Arial" pitchFamily="34" charset="0"/>
                <a:ea typeface="Arial" pitchFamily="34" charset="-122"/>
                <a:cs typeface="Arial" pitchFamily="34" charset="-120"/>
              </a:rPr>
              <a:t>Strengths</a:t>
            </a:r>
            <a:endParaRPr lang="en-US" sz="1400" dirty="0"/>
          </a:p>
        </p:txBody>
      </p:sp>
      <p:sp>
        <p:nvSpPr>
          <p:cNvPr id="24" name="Text 22"/>
          <p:cNvSpPr/>
          <p:nvPr/>
        </p:nvSpPr>
        <p:spPr>
          <a:xfrm>
            <a:off x="64008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立地・アクセス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他のアバよりも狭い 駅からは遠いが、その分比較的安い 羽田空港の乗り継ぎに利用するなら十分か 他のアバよりも狭い ...</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清潔さ・清掃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きれい</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スタッフの対応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フロントロビーは非常に狭かったですが、これはどうしようもない点です</a:t>
            </a:r>
            <a:endParaRPr lang="en-US" sz="1100" dirty="0"/>
          </a:p>
        </p:txBody>
      </p:sp>
      <p:sp>
        <p:nvSpPr>
          <p:cNvPr id="25" name="Shape 23"/>
          <p:cNvSpPr/>
          <p:nvPr/>
        </p:nvSpPr>
        <p:spPr>
          <a:xfrm>
            <a:off x="475488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6" name="Shape 24"/>
          <p:cNvSpPr/>
          <p:nvPr/>
        </p:nvSpPr>
        <p:spPr>
          <a:xfrm>
            <a:off x="4754880" y="2286000"/>
            <a:ext cx="3931920" cy="45720"/>
          </a:xfrm>
          <a:prstGeom prst="rect">
            <a:avLst/>
          </a:prstGeom>
          <a:solidFill>
            <a:srgbClr val="DC2626"/>
          </a:solidFill>
          <a:ln/>
        </p:spPr>
      </p:sp>
      <p:sp>
        <p:nvSpPr>
          <p:cNvPr id="27" name="Text 25"/>
          <p:cNvSpPr/>
          <p:nvPr/>
        </p:nvSpPr>
        <p:spPr>
          <a:xfrm>
            <a:off x="4937760" y="2377440"/>
            <a:ext cx="2743200" cy="320040"/>
          </a:xfrm>
          <a:prstGeom prst="rect">
            <a:avLst/>
          </a:prstGeom>
          <a:noFill/>
          <a:ln/>
        </p:spPr>
        <p:txBody>
          <a:bodyPr wrap="square" lIns="0" tIns="0" rIns="0" bIns="0" rtlCol="0" anchor="ctr"/>
          <a:lstStyle/>
          <a:p>
            <a:pPr indent="0" marL="0">
              <a:buNone/>
            </a:pPr>
            <a:r>
              <a:rPr lang="en-US" sz="1400" b="1" dirty="0">
                <a:solidFill>
                  <a:srgbClr val="DC2626"/>
                </a:solidFill>
                <a:latin typeface="Arial" pitchFamily="34" charset="0"/>
                <a:ea typeface="Arial" pitchFamily="34" charset="-122"/>
                <a:cs typeface="Arial" pitchFamily="34" charset="-120"/>
              </a:rPr>
              <a:t>Weaknesses</a:t>
            </a:r>
            <a:endParaRPr lang="en-US" sz="1400" dirty="0"/>
          </a:p>
        </p:txBody>
      </p:sp>
      <p:sp>
        <p:nvSpPr>
          <p:cNvPr id="28" name="Text 26"/>
          <p:cNvSpPr/>
          <p:nvPr/>
        </p:nvSpPr>
        <p:spPr>
          <a:xfrm>
            <a:off x="493776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部屋の狭さ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他のアバよりも狭い 駅からは遠いが、その分比較的安い 羽田空港の乗り継ぎに利用するなら十分か 他のアバよりも狭い ...</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浴室・水回り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The room itself was decent -- small, but standard for APA...</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エアコン・空調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Coming from Keikyu-Kamata there was a shoutengai giving p...</a:t>
            </a:r>
            <a:endParaRPr lang="en-US" sz="1100" dirty="0"/>
          </a:p>
        </p:txBody>
      </p:sp>
      <p:sp>
        <p:nvSpPr>
          <p:cNvPr id="29" name="Shape 27"/>
          <p:cNvSpPr/>
          <p:nvPr/>
        </p:nvSpPr>
        <p:spPr>
          <a:xfrm>
            <a:off x="0" y="4800600"/>
            <a:ext cx="9144000" cy="342900"/>
          </a:xfrm>
          <a:prstGeom prst="rect">
            <a:avLst/>
          </a:prstGeom>
          <a:solidFill>
            <a:srgbClr val="1A2744"/>
          </a:solidFill>
          <a:ln/>
        </p:spPr>
      </p:sp>
      <p:sp>
        <p:nvSpPr>
          <p:cNvPr id="30" name="Text 2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31" name="Text 2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主要KPI</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Key Performance Indicators</a:t>
            </a:r>
            <a:endParaRPr lang="en-US" sz="1000" dirty="0"/>
          </a:p>
        </p:txBody>
      </p:sp>
      <p:sp>
        <p:nvSpPr>
          <p:cNvPr id="5" name="Shape 3"/>
          <p:cNvSpPr/>
          <p:nvPr/>
        </p:nvSpPr>
        <p:spPr>
          <a:xfrm>
            <a:off x="457200" y="1188720"/>
            <a:ext cx="3931920" cy="16459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188720"/>
            <a:ext cx="3931920" cy="45720"/>
          </a:xfrm>
          <a:prstGeom prst="rect">
            <a:avLst/>
          </a:prstGeom>
          <a:solidFill>
            <a:srgbClr val="FF9800"/>
          </a:solidFill>
          <a:ln/>
        </p:spPr>
      </p:sp>
      <p:sp>
        <p:nvSpPr>
          <p:cNvPr id="7" name="Text 5"/>
          <p:cNvSpPr/>
          <p:nvPr/>
        </p:nvSpPr>
        <p:spPr>
          <a:xfrm>
            <a:off x="457200" y="132588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全体平均スコア（10点換算）</a:t>
            </a:r>
            <a:endParaRPr lang="en-US" sz="1000" dirty="0"/>
          </a:p>
        </p:txBody>
      </p:sp>
      <p:sp>
        <p:nvSpPr>
          <p:cNvPr id="8" name="Text 6"/>
          <p:cNvSpPr/>
          <p:nvPr/>
        </p:nvSpPr>
        <p:spPr>
          <a:xfrm>
            <a:off x="457200" y="1554480"/>
            <a:ext cx="3931920" cy="502920"/>
          </a:xfrm>
          <a:prstGeom prst="rect">
            <a:avLst/>
          </a:prstGeom>
          <a:noFill/>
          <a:ln/>
        </p:spPr>
        <p:txBody>
          <a:bodyPr wrap="square" lIns="0" tIns="0" rIns="0" bIns="0" rtlCol="0" anchor="ctr"/>
          <a:lstStyle/>
          <a:p>
            <a:pPr algn="ctr" indent="0" marL="0">
              <a:buNone/>
            </a:pPr>
            <a:r>
              <a:rPr lang="en-US" sz="3200" b="1" dirty="0">
                <a:solidFill>
                  <a:srgbClr val="FF9800"/>
                </a:solidFill>
                <a:latin typeface="Arial" pitchFamily="34" charset="0"/>
                <a:ea typeface="Arial" pitchFamily="34" charset="-122"/>
                <a:cs typeface="Arial" pitchFamily="34" charset="-120"/>
              </a:rPr>
              <a:t>7.38</a:t>
            </a:r>
            <a:endParaRPr lang="en-US" sz="3200" dirty="0"/>
          </a:p>
        </p:txBody>
      </p:sp>
      <p:sp>
        <p:nvSpPr>
          <p:cNvPr id="9" name="Shape 7"/>
          <p:cNvSpPr/>
          <p:nvPr/>
        </p:nvSpPr>
        <p:spPr>
          <a:xfrm>
            <a:off x="4754880" y="1188720"/>
            <a:ext cx="3931920" cy="16459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4754880" y="1188720"/>
            <a:ext cx="3931920" cy="45720"/>
          </a:xfrm>
          <a:prstGeom prst="rect">
            <a:avLst/>
          </a:prstGeom>
          <a:solidFill>
            <a:srgbClr val="D4A843"/>
          </a:solidFill>
          <a:ln/>
        </p:spPr>
      </p:sp>
      <p:sp>
        <p:nvSpPr>
          <p:cNvPr id="11" name="Text 9"/>
          <p:cNvSpPr/>
          <p:nvPr/>
        </p:nvSpPr>
        <p:spPr>
          <a:xfrm>
            <a:off x="4754880" y="132588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高評価率（8-10点）</a:t>
            </a:r>
            <a:endParaRPr lang="en-US" sz="1000" dirty="0"/>
          </a:p>
        </p:txBody>
      </p:sp>
      <p:sp>
        <p:nvSpPr>
          <p:cNvPr id="12" name="Text 10"/>
          <p:cNvSpPr/>
          <p:nvPr/>
        </p:nvSpPr>
        <p:spPr>
          <a:xfrm>
            <a:off x="4754880" y="1554480"/>
            <a:ext cx="3931920" cy="502920"/>
          </a:xfrm>
          <a:prstGeom prst="rect">
            <a:avLst/>
          </a:prstGeom>
          <a:noFill/>
          <a:ln/>
        </p:spPr>
        <p:txBody>
          <a:bodyPr wrap="square" lIns="0" tIns="0" rIns="0" bIns="0" rtlCol="0" anchor="ctr"/>
          <a:lstStyle/>
          <a:p>
            <a:pPr algn="ctr" indent="0" marL="0">
              <a:buNone/>
            </a:pPr>
            <a:r>
              <a:rPr lang="en-US" sz="3200" b="1" dirty="0">
                <a:solidFill>
                  <a:srgbClr val="D4A843"/>
                </a:solidFill>
                <a:latin typeface="Arial" pitchFamily="34" charset="0"/>
                <a:ea typeface="Arial" pitchFamily="34" charset="-122"/>
                <a:cs typeface="Arial" pitchFamily="34" charset="-120"/>
              </a:rPr>
              <a:t>63.3%</a:t>
            </a:r>
            <a:endParaRPr lang="en-US" sz="3200" dirty="0"/>
          </a:p>
        </p:txBody>
      </p:sp>
      <p:sp>
        <p:nvSpPr>
          <p:cNvPr id="13" name="Shape 11"/>
          <p:cNvSpPr/>
          <p:nvPr/>
        </p:nvSpPr>
        <p:spPr>
          <a:xfrm>
            <a:off x="457200" y="3108960"/>
            <a:ext cx="393192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 y="3108960"/>
            <a:ext cx="3931920" cy="45720"/>
          </a:xfrm>
          <a:prstGeom prst="rect">
            <a:avLst/>
          </a:prstGeom>
          <a:solidFill>
            <a:srgbClr val="DC2626"/>
          </a:solidFill>
          <a:ln/>
        </p:spPr>
      </p:sp>
      <p:sp>
        <p:nvSpPr>
          <p:cNvPr id="15" name="Text 13"/>
          <p:cNvSpPr/>
          <p:nvPr/>
        </p:nvSpPr>
        <p:spPr>
          <a:xfrm>
            <a:off x="457200" y="324612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低評価率（1-4点）</a:t>
            </a:r>
            <a:endParaRPr lang="en-US" sz="1000" dirty="0"/>
          </a:p>
        </p:txBody>
      </p:sp>
      <p:sp>
        <p:nvSpPr>
          <p:cNvPr id="16" name="Text 14"/>
          <p:cNvSpPr/>
          <p:nvPr/>
        </p:nvSpPr>
        <p:spPr>
          <a:xfrm>
            <a:off x="457200" y="3474720"/>
            <a:ext cx="3931920" cy="502920"/>
          </a:xfrm>
          <a:prstGeom prst="rect">
            <a:avLst/>
          </a:prstGeom>
          <a:noFill/>
          <a:ln/>
        </p:spPr>
        <p:txBody>
          <a:bodyPr wrap="square" lIns="0" tIns="0" rIns="0" bIns="0" rtlCol="0" anchor="ctr"/>
          <a:lstStyle/>
          <a:p>
            <a:pPr algn="ctr" indent="0" marL="0">
              <a:buNone/>
            </a:pPr>
            <a:r>
              <a:rPr lang="en-US" sz="3200" b="1" dirty="0">
                <a:solidFill>
                  <a:srgbClr val="DC2626"/>
                </a:solidFill>
                <a:latin typeface="Arial" pitchFamily="34" charset="0"/>
                <a:ea typeface="Arial" pitchFamily="34" charset="-122"/>
                <a:cs typeface="Arial" pitchFamily="34" charset="-120"/>
              </a:rPr>
              <a:t>10.0%</a:t>
            </a:r>
            <a:endParaRPr lang="en-US" sz="3200" dirty="0"/>
          </a:p>
        </p:txBody>
      </p:sp>
      <p:sp>
        <p:nvSpPr>
          <p:cNvPr id="17" name="Shape 15"/>
          <p:cNvSpPr/>
          <p:nvPr/>
        </p:nvSpPr>
        <p:spPr>
          <a:xfrm>
            <a:off x="4754880" y="3108960"/>
            <a:ext cx="393192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4754880" y="3108960"/>
            <a:ext cx="3931920" cy="45720"/>
          </a:xfrm>
          <a:prstGeom prst="rect">
            <a:avLst/>
          </a:prstGeom>
          <a:solidFill>
            <a:srgbClr val="1A2744"/>
          </a:solidFill>
          <a:ln/>
        </p:spPr>
      </p:sp>
      <p:sp>
        <p:nvSpPr>
          <p:cNvPr id="19" name="Text 17"/>
          <p:cNvSpPr/>
          <p:nvPr/>
        </p:nvSpPr>
        <p:spPr>
          <a:xfrm>
            <a:off x="4754880" y="324612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レビュー総数</a:t>
            </a:r>
            <a:endParaRPr lang="en-US" sz="1000" dirty="0"/>
          </a:p>
        </p:txBody>
      </p:sp>
      <p:sp>
        <p:nvSpPr>
          <p:cNvPr id="20" name="Text 18"/>
          <p:cNvSpPr/>
          <p:nvPr/>
        </p:nvSpPr>
        <p:spPr>
          <a:xfrm>
            <a:off x="4754880" y="3474720"/>
            <a:ext cx="3931920" cy="502920"/>
          </a:xfrm>
          <a:prstGeom prst="rect">
            <a:avLst/>
          </a:prstGeom>
          <a:noFill/>
          <a:ln/>
        </p:spPr>
        <p:txBody>
          <a:bodyPr wrap="square" lIns="0" tIns="0" rIns="0" bIns="0" rtlCol="0" anchor="ctr"/>
          <a:lstStyle/>
          <a:p>
            <a:pPr algn="ctr" indent="0" marL="0">
              <a:buNone/>
            </a:pPr>
            <a:r>
              <a:rPr lang="en-US" sz="3200" b="1" dirty="0">
                <a:solidFill>
                  <a:srgbClr val="1A2744"/>
                </a:solidFill>
                <a:latin typeface="Arial" pitchFamily="34" charset="0"/>
                <a:ea typeface="Arial" pitchFamily="34" charset="-122"/>
                <a:cs typeface="Arial" pitchFamily="34" charset="-120"/>
              </a:rPr>
              <a:t>60件</a:t>
            </a:r>
            <a:endParaRPr lang="en-US" sz="3200" dirty="0"/>
          </a:p>
        </p:txBody>
      </p:sp>
      <p:sp>
        <p:nvSpPr>
          <p:cNvPr id="21" name="Shape 19"/>
          <p:cNvSpPr/>
          <p:nvPr/>
        </p:nvSpPr>
        <p:spPr>
          <a:xfrm>
            <a:off x="0" y="4800600"/>
            <a:ext cx="9144000" cy="342900"/>
          </a:xfrm>
          <a:prstGeom prst="rect">
            <a:avLst/>
          </a:prstGeom>
          <a:solidFill>
            <a:srgbClr val="1A2744"/>
          </a:solidFill>
          <a:ln/>
        </p:spPr>
      </p:sp>
      <p:sp>
        <p:nvSpPr>
          <p:cNvPr id="22" name="Text 20"/>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3" name="Text 21"/>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サイト別評価分析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Analysis by Platform</a:t>
            </a:r>
            <a:endParaRPr lang="en-US" sz="1000" dirty="0"/>
          </a:p>
        </p:txBody>
      </p:sp>
      <p:graphicFrame>
        <p:nvGraphicFramePr>
          <p:cNvPr id="5" name="Chart 0" descr=""/>
          <p:cNvGraphicFramePr/>
          <p:nvPr/>
        </p:nvGraphicFramePr>
        <p:xfrm>
          <a:off x="457200" y="1005840"/>
          <a:ext cx="5029200" cy="3200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760720" y="1005840"/>
            <a:ext cx="3017520" cy="32004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5760720" y="1005840"/>
            <a:ext cx="3017520" cy="45720"/>
          </a:xfrm>
          <a:prstGeom prst="rect">
            <a:avLst/>
          </a:prstGeom>
          <a:solidFill>
            <a:srgbClr val="D4A843"/>
          </a:solidFill>
          <a:ln/>
        </p:spPr>
      </p:sp>
      <p:sp>
        <p:nvSpPr>
          <p:cNvPr id="8" name="Text 5"/>
          <p:cNvSpPr/>
          <p:nvPr/>
        </p:nvSpPr>
        <p:spPr>
          <a:xfrm>
            <a:off x="5943600" y="1097280"/>
            <a:ext cx="1828800" cy="320040"/>
          </a:xfrm>
          <a:prstGeom prst="rect">
            <a:avLst/>
          </a:prstGeom>
          <a:noFill/>
          <a:ln/>
        </p:spPr>
        <p:txBody>
          <a:bodyPr wrap="square" lIns="0" tIns="0" rIns="0" bIns="0" rtlCol="0" anchor="ctr"/>
          <a:lstStyle/>
          <a:p>
            <a:pPr indent="0" marL="0">
              <a:buNone/>
            </a:pPr>
            <a:r>
              <a:rPr lang="en-US" sz="1300" b="1" dirty="0">
                <a:solidFill>
                  <a:srgbClr val="D4A843"/>
                </a:solidFill>
                <a:latin typeface="Arial" pitchFamily="34" charset="0"/>
                <a:ea typeface="Arial" pitchFamily="34" charset="-122"/>
                <a:cs typeface="Arial" pitchFamily="34" charset="-120"/>
              </a:rPr>
              <a:t>Insight</a:t>
            </a:r>
            <a:endParaRPr lang="en-US" sz="1300" dirty="0"/>
          </a:p>
        </p:txBody>
      </p:sp>
      <p:sp>
        <p:nvSpPr>
          <p:cNvPr id="9" name="Text 6"/>
          <p:cNvSpPr/>
          <p:nvPr/>
        </p:nvSpPr>
        <p:spPr>
          <a:xfrm>
            <a:off x="5943600" y="1417320"/>
            <a:ext cx="2651760" cy="2651760"/>
          </a:xfrm>
          <a:prstGeom prst="rect">
            <a:avLst/>
          </a:prstGeom>
          <a:noFill/>
          <a:ln/>
        </p:spPr>
        <p:txBody>
          <a:bodyPr wrap="square" lIns="0" tIns="0" rIns="0" bIns="0" rtlCol="0" anchor="ctr"/>
          <a:lstStyle/>
          <a:p>
            <a:pPr indent="0" marL="0">
              <a:spcAft>
                <a:spcPts val="200"/>
              </a:spcAft>
              <a:buNone/>
            </a:pPr>
            <a:r>
              <a:rPr lang="en-US" sz="1200" b="1" dirty="0">
                <a:solidFill>
                  <a:srgbClr val="334155"/>
                </a:solidFill>
                <a:latin typeface="Arial" pitchFamily="34" charset="0"/>
                <a:ea typeface="Arial" pitchFamily="34" charset="-122"/>
                <a:cs typeface="Arial" pitchFamily="34" charset="-120"/>
              </a:rPr>
              <a:t>サイト別評価の傾向</a:t>
            </a:r>
            <a:endParaRPr lang="en-US" sz="1100" dirty="0"/>
          </a:p>
          <a:p>
            <a:pPr indent="0" marL="0">
              <a:spcAft>
                <a:spcPts val="200"/>
              </a:spcAft>
              <a:buNone/>
            </a:pPr>
            <a:endParaRPr lang="en-US" sz="1100" dirty="0"/>
          </a:p>
          <a:p>
            <a:pPr indent="0" marL="0">
              <a:spcAft>
                <a:spcPts val="200"/>
              </a:spcAft>
              <a:buNone/>
            </a:pPr>
            <a:r>
              <a:rPr lang="en-US" sz="1100" b="1" dirty="0">
                <a:solidFill>
                  <a:srgbClr val="16A34A"/>
                </a:solidFill>
                <a:latin typeface="Arial" pitchFamily="34" charset="0"/>
                <a:ea typeface="Arial" pitchFamily="34" charset="-122"/>
                <a:cs typeface="Arial" pitchFamily="34" charset="-120"/>
              </a:rPr>
              <a:t>高評価グループ</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Google(7.88)が最高スコア。</a:t>
            </a:r>
            <a:endParaRPr lang="en-US" sz="1100" dirty="0"/>
          </a:p>
          <a:p>
            <a:pPr indent="0" marL="0">
              <a:spcAft>
                <a:spcPts val="200"/>
              </a:spcAft>
              <a:buNone/>
            </a:pPr>
            <a:endParaRPr lang="en-US" sz="1100" dirty="0"/>
          </a:p>
          <a:p>
            <a:pPr indent="0" marL="0">
              <a:spcAft>
                <a:spcPts val="200"/>
              </a:spcAft>
              <a:buNone/>
            </a:pPr>
            <a:r>
              <a:rPr lang="en-US" sz="1100" b="1" dirty="0">
                <a:solidFill>
                  <a:srgbClr val="DC2626"/>
                </a:solidFill>
                <a:latin typeface="Arial" pitchFamily="34" charset="0"/>
                <a:ea typeface="Arial" pitchFamily="34" charset="-122"/>
                <a:cs typeface="Arial" pitchFamily="34" charset="-120"/>
              </a:rPr>
              <a:t>改善対象サイト</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Agoda(6.7)が相対的に低い。口コミ返信の強化が急務</a:t>
            </a:r>
            <a:endParaRPr lang="en-US" sz="1100" dirty="0"/>
          </a:p>
          <a:p>
            <a:pPr indent="0" marL="0">
              <a:spcAft>
                <a:spcPts val="200"/>
              </a:spcAft>
              <a:buNone/>
            </a:pPr>
            <a:endParaRPr lang="en-US" sz="1100" dirty="0"/>
          </a:p>
          <a:p>
            <a:pPr indent="0" marL="0">
              <a:spcAft>
                <a:spcPts val="200"/>
              </a:spcAft>
              <a:buNone/>
            </a:pPr>
            <a:r>
              <a:rPr lang="en-US" sz="900" b="1" dirty="0">
                <a:solidFill>
                  <a:srgbClr val="64748B"/>
                </a:solidFill>
                <a:latin typeface="Arial" pitchFamily="34" charset="0"/>
                <a:ea typeface="Arial" pitchFamily="34" charset="-122"/>
                <a:cs typeface="Arial" pitchFamily="34" charset="-120"/>
              </a:rPr>
              <a:t>注：</a:t>
            </a:r>
            <a:pPr indent="0" marL="0">
              <a:spcAft>
                <a:spcPts val="200"/>
              </a:spcAft>
              <a:buNone/>
            </a:pPr>
            <a:r>
              <a:rPr lang="en-US" sz="900" dirty="0">
                <a:solidFill>
                  <a:srgbClr val="64748B"/>
                </a:solidFill>
                <a:latin typeface="Arial" pitchFamily="34" charset="0"/>
                <a:ea typeface="Arial" pitchFamily="34" charset="-122"/>
                <a:cs typeface="Arial" pitchFamily="34" charset="-120"/>
              </a:rPr>
              <a:t>Google/じゃらん/楽天は5点満点のため×2で10pt換算</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4297680"/>
          <a:ext cx="8229600" cy="91440"/>
        </p:xfrm>
        <a:graphic>
          <a:graphicData uri="http://schemas.openxmlformats.org/drawingml/2006/table">
            <a:tbl>
              <a:tblPr/>
              <a:tblGrid>
                <a:gridCol w="1828800"/>
                <a:gridCol w="914400"/>
                <a:gridCol w="1828800"/>
                <a:gridCol w="914400"/>
                <a:gridCol w="2743200"/>
              </a:tblGrid>
              <a:tr h="22860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サイト名</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ネイティブ平均</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尺度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10pt換算</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Google</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3.94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7.88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Booking.com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19</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7.58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7.58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じゃらん</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3.75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楽天トラベル</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3.5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Agoda</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16</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6.69</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6.69</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bl>
          </a:graphicData>
        </a:graphic>
      </p:graphicFrame>
      <p:sp>
        <p:nvSpPr>
          <p:cNvPr id="11" name="Shape 7"/>
          <p:cNvSpPr/>
          <p:nvPr/>
        </p:nvSpPr>
        <p:spPr>
          <a:xfrm>
            <a:off x="0" y="4800600"/>
            <a:ext cx="9144000" cy="342900"/>
          </a:xfrm>
          <a:prstGeom prst="rect">
            <a:avLst/>
          </a:prstGeom>
          <a:solidFill>
            <a:srgbClr val="1A2744"/>
          </a:solidFill>
          <a:ln/>
        </p:spPr>
      </p:sp>
      <p:sp>
        <p:nvSpPr>
          <p:cNvPr id="12" name="Text 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3" name="Text 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評価分布分析（10点換算）</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Distribution</a:t>
            </a:r>
            <a:endParaRPr lang="en-US" sz="1000" dirty="0"/>
          </a:p>
        </p:txBody>
      </p:sp>
      <p:graphicFrame>
        <p:nvGraphicFramePr>
          <p:cNvPr id="5" name="Chart 0" descr=""/>
          <p:cNvGraphicFramePr/>
          <p:nvPr/>
        </p:nvGraphicFramePr>
        <p:xfrm>
          <a:off x="274320" y="1097280"/>
          <a:ext cx="365760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114800" y="1097280"/>
          <a:ext cx="4754880" cy="292608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457200" y="4160520"/>
            <a:ext cx="2651760" cy="502920"/>
          </a:xfrm>
          <a:prstGeom prst="rect">
            <a:avLst/>
          </a:prstGeom>
          <a:solidFill>
            <a:srgbClr val="DCFCE7"/>
          </a:solidFill>
          <a:ln/>
        </p:spPr>
      </p:sp>
      <p:sp>
        <p:nvSpPr>
          <p:cNvPr id="8" name="Text 4"/>
          <p:cNvSpPr/>
          <p:nvPr/>
        </p:nvSpPr>
        <p:spPr>
          <a:xfrm>
            <a:off x="457200" y="4160520"/>
            <a:ext cx="1371600" cy="502920"/>
          </a:xfrm>
          <a:prstGeom prst="rect">
            <a:avLst/>
          </a:prstGeom>
          <a:noFill/>
          <a:ln/>
        </p:spPr>
        <p:txBody>
          <a:bodyPr wrap="square" lIns="0" tIns="101600" rIns="0" bIns="0" rtlCol="0" anchor="ctr"/>
          <a:lstStyle/>
          <a:p>
            <a:pPr indent="0" marL="0">
              <a:buNone/>
            </a:pPr>
            <a:r>
              <a:rPr lang="en-US" sz="1000" b="1" dirty="0">
                <a:solidFill>
                  <a:srgbClr val="16A34A"/>
                </a:solidFill>
                <a:latin typeface="Arial" pitchFamily="34" charset="0"/>
                <a:ea typeface="Arial" pitchFamily="34" charset="-122"/>
                <a:cs typeface="Arial" pitchFamily="34" charset="-120"/>
              </a:rPr>
              <a:t>高評価 8-10点</a:t>
            </a:r>
            <a:endParaRPr lang="en-US" sz="1000" dirty="0"/>
          </a:p>
        </p:txBody>
      </p:sp>
      <p:sp>
        <p:nvSpPr>
          <p:cNvPr id="9" name="Text 5"/>
          <p:cNvSpPr/>
          <p:nvPr/>
        </p:nvSpPr>
        <p:spPr>
          <a:xfrm>
            <a:off x="1737360" y="4160520"/>
            <a:ext cx="1371600" cy="502920"/>
          </a:xfrm>
          <a:prstGeom prst="rect">
            <a:avLst/>
          </a:prstGeom>
          <a:noFill/>
          <a:ln/>
        </p:spPr>
        <p:txBody>
          <a:bodyPr wrap="square" lIns="0" tIns="0" rIns="101600" bIns="0" rtlCol="0" anchor="ctr"/>
          <a:lstStyle/>
          <a:p>
            <a:pPr algn="r" indent="0" marL="0">
              <a:buNone/>
            </a:pPr>
            <a:r>
              <a:rPr lang="en-US" sz="1100" b="1" dirty="0">
                <a:solidFill>
                  <a:srgbClr val="16A34A"/>
                </a:solidFill>
                <a:latin typeface="Arial" pitchFamily="34" charset="0"/>
                <a:ea typeface="Arial" pitchFamily="34" charset="-122"/>
                <a:cs typeface="Arial" pitchFamily="34" charset="-120"/>
              </a:rPr>
              <a:t>38件（63.3%）</a:t>
            </a:r>
            <a:endParaRPr lang="en-US" sz="1100" dirty="0"/>
          </a:p>
        </p:txBody>
      </p:sp>
      <p:sp>
        <p:nvSpPr>
          <p:cNvPr id="10" name="Shape 6"/>
          <p:cNvSpPr/>
          <p:nvPr/>
        </p:nvSpPr>
        <p:spPr>
          <a:xfrm>
            <a:off x="3291840" y="4160520"/>
            <a:ext cx="2651760" cy="502920"/>
          </a:xfrm>
          <a:prstGeom prst="rect">
            <a:avLst/>
          </a:prstGeom>
          <a:solidFill>
            <a:srgbClr val="FFF7ED"/>
          </a:solidFill>
          <a:ln/>
        </p:spPr>
      </p:sp>
      <p:sp>
        <p:nvSpPr>
          <p:cNvPr id="11" name="Text 7"/>
          <p:cNvSpPr/>
          <p:nvPr/>
        </p:nvSpPr>
        <p:spPr>
          <a:xfrm>
            <a:off x="3291840" y="4160520"/>
            <a:ext cx="1371600" cy="502920"/>
          </a:xfrm>
          <a:prstGeom prst="rect">
            <a:avLst/>
          </a:prstGeom>
          <a:noFill/>
          <a:ln/>
        </p:spPr>
        <p:txBody>
          <a:bodyPr wrap="square" lIns="0" tIns="101600" rIns="0" bIns="0" rtlCol="0" anchor="ctr"/>
          <a:lstStyle/>
          <a:p>
            <a:pPr indent="0" marL="0">
              <a:buNone/>
            </a:pPr>
            <a:r>
              <a:rPr lang="en-US" sz="1000" b="1" dirty="0">
                <a:solidFill>
                  <a:srgbClr val="D4A843"/>
                </a:solidFill>
                <a:latin typeface="Arial" pitchFamily="34" charset="0"/>
                <a:ea typeface="Arial" pitchFamily="34" charset="-122"/>
                <a:cs typeface="Arial" pitchFamily="34" charset="-120"/>
              </a:rPr>
              <a:t>中評価 5-7点</a:t>
            </a:r>
            <a:endParaRPr lang="en-US" sz="1000" dirty="0"/>
          </a:p>
        </p:txBody>
      </p:sp>
      <p:sp>
        <p:nvSpPr>
          <p:cNvPr id="12" name="Text 8"/>
          <p:cNvSpPr/>
          <p:nvPr/>
        </p:nvSpPr>
        <p:spPr>
          <a:xfrm>
            <a:off x="4572000" y="4160520"/>
            <a:ext cx="1371600" cy="502920"/>
          </a:xfrm>
          <a:prstGeom prst="rect">
            <a:avLst/>
          </a:prstGeom>
          <a:noFill/>
          <a:ln/>
        </p:spPr>
        <p:txBody>
          <a:bodyPr wrap="square" lIns="0" tIns="0" rIns="101600" bIns="0" rtlCol="0" anchor="ctr"/>
          <a:lstStyle/>
          <a:p>
            <a:pPr algn="r" indent="0" marL="0">
              <a:buNone/>
            </a:pPr>
            <a:r>
              <a:rPr lang="en-US" sz="1100" b="1" dirty="0">
                <a:solidFill>
                  <a:srgbClr val="D4A843"/>
                </a:solidFill>
                <a:latin typeface="Arial" pitchFamily="34" charset="0"/>
                <a:ea typeface="Arial" pitchFamily="34" charset="-122"/>
                <a:cs typeface="Arial" pitchFamily="34" charset="-120"/>
              </a:rPr>
              <a:t>16件（26.7%）</a:t>
            </a:r>
            <a:endParaRPr lang="en-US" sz="1100" dirty="0"/>
          </a:p>
        </p:txBody>
      </p:sp>
      <p:sp>
        <p:nvSpPr>
          <p:cNvPr id="13" name="Shape 9"/>
          <p:cNvSpPr/>
          <p:nvPr/>
        </p:nvSpPr>
        <p:spPr>
          <a:xfrm>
            <a:off x="6126480" y="4160520"/>
            <a:ext cx="2651760" cy="502920"/>
          </a:xfrm>
          <a:prstGeom prst="rect">
            <a:avLst/>
          </a:prstGeom>
          <a:solidFill>
            <a:srgbClr val="FEE2E2"/>
          </a:solidFill>
          <a:ln/>
        </p:spPr>
      </p:sp>
      <p:sp>
        <p:nvSpPr>
          <p:cNvPr id="14" name="Text 10"/>
          <p:cNvSpPr/>
          <p:nvPr/>
        </p:nvSpPr>
        <p:spPr>
          <a:xfrm>
            <a:off x="6126480" y="4160520"/>
            <a:ext cx="1371600" cy="502920"/>
          </a:xfrm>
          <a:prstGeom prst="rect">
            <a:avLst/>
          </a:prstGeom>
          <a:noFill/>
          <a:ln/>
        </p:spPr>
        <p:txBody>
          <a:bodyPr wrap="square" lIns="0" tIns="101600" rIns="0" bIns="0" rtlCol="0" anchor="ctr"/>
          <a:lstStyle/>
          <a:p>
            <a:pPr indent="0" marL="0">
              <a:buNone/>
            </a:pPr>
            <a:r>
              <a:rPr lang="en-US" sz="1000" b="1" dirty="0">
                <a:solidFill>
                  <a:srgbClr val="DC2626"/>
                </a:solidFill>
                <a:latin typeface="Arial" pitchFamily="34" charset="0"/>
                <a:ea typeface="Arial" pitchFamily="34" charset="-122"/>
                <a:cs typeface="Arial" pitchFamily="34" charset="-120"/>
              </a:rPr>
              <a:t>低評価 1-4点</a:t>
            </a:r>
            <a:endParaRPr lang="en-US" sz="1000" dirty="0"/>
          </a:p>
        </p:txBody>
      </p:sp>
      <p:sp>
        <p:nvSpPr>
          <p:cNvPr id="15" name="Text 11"/>
          <p:cNvSpPr/>
          <p:nvPr/>
        </p:nvSpPr>
        <p:spPr>
          <a:xfrm>
            <a:off x="7406640" y="4160520"/>
            <a:ext cx="1371600" cy="502920"/>
          </a:xfrm>
          <a:prstGeom prst="rect">
            <a:avLst/>
          </a:prstGeom>
          <a:noFill/>
          <a:ln/>
        </p:spPr>
        <p:txBody>
          <a:bodyPr wrap="square" lIns="0" tIns="0" rIns="101600" bIns="0" rtlCol="0" anchor="ctr"/>
          <a:lstStyle/>
          <a:p>
            <a:pPr algn="r" indent="0" marL="0">
              <a:buNone/>
            </a:pPr>
            <a:r>
              <a:rPr lang="en-US" sz="1100" b="1" dirty="0">
                <a:solidFill>
                  <a:srgbClr val="DC2626"/>
                </a:solidFill>
                <a:latin typeface="Arial" pitchFamily="34" charset="0"/>
                <a:ea typeface="Arial" pitchFamily="34" charset="-122"/>
                <a:cs typeface="Arial" pitchFamily="34" charset="-120"/>
              </a:rPr>
              <a:t>6件（10.0%）</a:t>
            </a:r>
            <a:endParaRPr lang="en-US" sz="1100" dirty="0"/>
          </a:p>
        </p:txBody>
      </p:sp>
      <p:sp>
        <p:nvSpPr>
          <p:cNvPr id="16" name="Shape 12"/>
          <p:cNvSpPr/>
          <p:nvPr/>
        </p:nvSpPr>
        <p:spPr>
          <a:xfrm>
            <a:off x="0" y="4800600"/>
            <a:ext cx="9144000" cy="342900"/>
          </a:xfrm>
          <a:prstGeom prst="rect">
            <a:avLst/>
          </a:prstGeom>
          <a:solidFill>
            <a:srgbClr val="1A2744"/>
          </a:solidFill>
          <a:ln/>
        </p:spPr>
      </p:sp>
      <p:sp>
        <p:nvSpPr>
          <p:cNvPr id="17" name="Text 13"/>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8" name="Text 14"/>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強み分析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Strength Analysis</a:t>
            </a:r>
            <a:endParaRPr lang="en-US" sz="1000" dirty="0"/>
          </a:p>
        </p:txBody>
      </p:sp>
      <p:sp>
        <p:nvSpPr>
          <p:cNvPr id="5" name="Shape 3"/>
          <p:cNvSpPr/>
          <p:nvPr/>
        </p:nvSpPr>
        <p:spPr>
          <a:xfrm>
            <a:off x="45720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54864" cy="1600200"/>
          </a:xfrm>
          <a:prstGeom prst="rect">
            <a:avLst/>
          </a:prstGeom>
          <a:solidFill>
            <a:srgbClr val="16A34A"/>
          </a:solidFill>
          <a:ln/>
        </p:spPr>
      </p:sp>
      <p:sp>
        <p:nvSpPr>
          <p:cNvPr id="7" name="Shape 5"/>
          <p:cNvSpPr/>
          <p:nvPr/>
        </p:nvSpPr>
        <p:spPr>
          <a:xfrm>
            <a:off x="2286000" y="1124712"/>
            <a:ext cx="658368" cy="228600"/>
          </a:xfrm>
          <a:prstGeom prst="rect">
            <a:avLst/>
          </a:prstGeom>
          <a:solidFill>
            <a:srgbClr val="DCFCE7"/>
          </a:solidFill>
          <a:ln/>
        </p:spPr>
      </p:sp>
      <p:sp>
        <p:nvSpPr>
          <p:cNvPr id="8" name="Text 6"/>
          <p:cNvSpPr/>
          <p:nvPr/>
        </p:nvSpPr>
        <p:spPr>
          <a:xfrm>
            <a:off x="228600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10件+</a:t>
            </a:r>
            <a:endParaRPr lang="en-US" sz="900" dirty="0"/>
          </a:p>
        </p:txBody>
      </p:sp>
      <p:sp>
        <p:nvSpPr>
          <p:cNvPr id="9" name="Text 7"/>
          <p:cNvSpPr/>
          <p:nvPr/>
        </p:nvSpPr>
        <p:spPr>
          <a:xfrm>
            <a:off x="59436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立地・アクセス</a:t>
            </a:r>
            <a:endParaRPr lang="en-US" sz="1300" dirty="0"/>
          </a:p>
        </p:txBody>
      </p:sp>
      <p:sp>
        <p:nvSpPr>
          <p:cNvPr id="10" name="Text 8"/>
          <p:cNvSpPr/>
          <p:nvPr/>
        </p:nvSpPr>
        <p:spPr>
          <a:xfrm>
            <a:off x="59436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他のアバよりも狭い 駅からは遠いが、その分比較的安い 羽田空港の乗り継ぎに利用するなら十分か 他のアバよりも狭い ...</a:t>
            </a:r>
            <a:endParaRPr lang="en-US" sz="900" dirty="0"/>
          </a:p>
        </p:txBody>
      </p:sp>
      <p:sp>
        <p:nvSpPr>
          <p:cNvPr id="11" name="Text 9"/>
          <p:cNvSpPr/>
          <p:nvPr/>
        </p:nvSpPr>
        <p:spPr>
          <a:xfrm>
            <a:off x="59436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「The location was great, located right halfway between JR ...」</a:t>
            </a:r>
            <a:endParaRPr lang="en-US" sz="900" dirty="0"/>
          </a:p>
        </p:txBody>
      </p:sp>
      <p:sp>
        <p:nvSpPr>
          <p:cNvPr id="12" name="Shape 10"/>
          <p:cNvSpPr/>
          <p:nvPr/>
        </p:nvSpPr>
        <p:spPr>
          <a:xfrm>
            <a:off x="329184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3" name="Shape 11"/>
          <p:cNvSpPr/>
          <p:nvPr/>
        </p:nvSpPr>
        <p:spPr>
          <a:xfrm>
            <a:off x="3291840" y="1051560"/>
            <a:ext cx="54864" cy="1600200"/>
          </a:xfrm>
          <a:prstGeom prst="rect">
            <a:avLst/>
          </a:prstGeom>
          <a:solidFill>
            <a:srgbClr val="16A34A"/>
          </a:solidFill>
          <a:ln/>
        </p:spPr>
      </p:sp>
      <p:sp>
        <p:nvSpPr>
          <p:cNvPr id="14" name="Shape 12"/>
          <p:cNvSpPr/>
          <p:nvPr/>
        </p:nvSpPr>
        <p:spPr>
          <a:xfrm>
            <a:off x="5120640" y="1124712"/>
            <a:ext cx="658368" cy="228600"/>
          </a:xfrm>
          <a:prstGeom prst="rect">
            <a:avLst/>
          </a:prstGeom>
          <a:solidFill>
            <a:srgbClr val="DCFCE7"/>
          </a:solidFill>
          <a:ln/>
        </p:spPr>
      </p:sp>
      <p:sp>
        <p:nvSpPr>
          <p:cNvPr id="15" name="Text 13"/>
          <p:cNvSpPr/>
          <p:nvPr/>
        </p:nvSpPr>
        <p:spPr>
          <a:xfrm>
            <a:off x="512064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10件+</a:t>
            </a:r>
            <a:endParaRPr lang="en-US" sz="900" dirty="0"/>
          </a:p>
        </p:txBody>
      </p:sp>
      <p:sp>
        <p:nvSpPr>
          <p:cNvPr id="16" name="Text 14"/>
          <p:cNvSpPr/>
          <p:nvPr/>
        </p:nvSpPr>
        <p:spPr>
          <a:xfrm>
            <a:off x="342900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清潔さ・清掃</a:t>
            </a:r>
            <a:endParaRPr lang="en-US" sz="1300" dirty="0"/>
          </a:p>
        </p:txBody>
      </p:sp>
      <p:sp>
        <p:nvSpPr>
          <p:cNvPr id="17" name="Text 15"/>
          <p:cNvSpPr/>
          <p:nvPr/>
        </p:nvSpPr>
        <p:spPr>
          <a:xfrm>
            <a:off x="342900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きれい</a:t>
            </a:r>
            <a:endParaRPr lang="en-US" sz="900" dirty="0"/>
          </a:p>
        </p:txBody>
      </p:sp>
      <p:sp>
        <p:nvSpPr>
          <p:cNvPr id="18" name="Text 16"/>
          <p:cNvSpPr/>
          <p:nvPr/>
        </p:nvSpPr>
        <p:spPr>
          <a:xfrm>
            <a:off x="342900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「Clean and ready for rest」</a:t>
            </a:r>
            <a:endParaRPr lang="en-US" sz="900" dirty="0"/>
          </a:p>
        </p:txBody>
      </p:sp>
      <p:sp>
        <p:nvSpPr>
          <p:cNvPr id="19" name="Shape 17"/>
          <p:cNvSpPr/>
          <p:nvPr/>
        </p:nvSpPr>
        <p:spPr>
          <a:xfrm>
            <a:off x="612648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0" name="Shape 18"/>
          <p:cNvSpPr/>
          <p:nvPr/>
        </p:nvSpPr>
        <p:spPr>
          <a:xfrm>
            <a:off x="6126480" y="1051560"/>
            <a:ext cx="54864" cy="1600200"/>
          </a:xfrm>
          <a:prstGeom prst="rect">
            <a:avLst/>
          </a:prstGeom>
          <a:solidFill>
            <a:srgbClr val="16A34A"/>
          </a:solidFill>
          <a:ln/>
        </p:spPr>
      </p:sp>
      <p:sp>
        <p:nvSpPr>
          <p:cNvPr id="21" name="Shape 19"/>
          <p:cNvSpPr/>
          <p:nvPr/>
        </p:nvSpPr>
        <p:spPr>
          <a:xfrm>
            <a:off x="7955280" y="1124712"/>
            <a:ext cx="658368" cy="228600"/>
          </a:xfrm>
          <a:prstGeom prst="rect">
            <a:avLst/>
          </a:prstGeom>
          <a:solidFill>
            <a:srgbClr val="DCFCE7"/>
          </a:solidFill>
          <a:ln/>
        </p:spPr>
      </p:sp>
      <p:sp>
        <p:nvSpPr>
          <p:cNvPr id="22" name="Text 20"/>
          <p:cNvSpPr/>
          <p:nvPr/>
        </p:nvSpPr>
        <p:spPr>
          <a:xfrm>
            <a:off x="795528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10件+</a:t>
            </a:r>
            <a:endParaRPr lang="en-US" sz="900" dirty="0"/>
          </a:p>
        </p:txBody>
      </p:sp>
      <p:sp>
        <p:nvSpPr>
          <p:cNvPr id="23" name="Text 21"/>
          <p:cNvSpPr/>
          <p:nvPr/>
        </p:nvSpPr>
        <p:spPr>
          <a:xfrm>
            <a:off x="626364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スタッフの対応</a:t>
            </a:r>
            <a:endParaRPr lang="en-US" sz="1300" dirty="0"/>
          </a:p>
        </p:txBody>
      </p:sp>
      <p:sp>
        <p:nvSpPr>
          <p:cNvPr id="24" name="Text 22"/>
          <p:cNvSpPr/>
          <p:nvPr/>
        </p:nvSpPr>
        <p:spPr>
          <a:xfrm>
            <a:off x="626364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フロントロビーは非常に狭かったですが、これはどうしようもない点です</a:t>
            </a:r>
            <a:endParaRPr lang="en-US" sz="900" dirty="0"/>
          </a:p>
        </p:txBody>
      </p:sp>
      <p:sp>
        <p:nvSpPr>
          <p:cNvPr id="25" name="Text 23"/>
          <p:cNvSpPr/>
          <p:nvPr/>
        </p:nvSpPr>
        <p:spPr>
          <a:xfrm>
            <a:off x="626364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「フロントの愛想がない」</a:t>
            </a:r>
            <a:endParaRPr lang="en-US" sz="900" dirty="0"/>
          </a:p>
        </p:txBody>
      </p:sp>
      <p:sp>
        <p:nvSpPr>
          <p:cNvPr id="26" name="Shape 24"/>
          <p:cNvSpPr/>
          <p:nvPr/>
        </p:nvSpPr>
        <p:spPr>
          <a:xfrm>
            <a:off x="45720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7" name="Shape 25"/>
          <p:cNvSpPr/>
          <p:nvPr/>
        </p:nvSpPr>
        <p:spPr>
          <a:xfrm>
            <a:off x="457200" y="2880360"/>
            <a:ext cx="54864" cy="1600200"/>
          </a:xfrm>
          <a:prstGeom prst="rect">
            <a:avLst/>
          </a:prstGeom>
          <a:solidFill>
            <a:srgbClr val="16A34A"/>
          </a:solidFill>
          <a:ln/>
        </p:spPr>
      </p:sp>
      <p:sp>
        <p:nvSpPr>
          <p:cNvPr id="28" name="Shape 26"/>
          <p:cNvSpPr/>
          <p:nvPr/>
        </p:nvSpPr>
        <p:spPr>
          <a:xfrm>
            <a:off x="2286000" y="2953512"/>
            <a:ext cx="658368" cy="228600"/>
          </a:xfrm>
          <a:prstGeom prst="rect">
            <a:avLst/>
          </a:prstGeom>
          <a:solidFill>
            <a:srgbClr val="DCFCE7"/>
          </a:solidFill>
          <a:ln/>
        </p:spPr>
      </p:sp>
      <p:sp>
        <p:nvSpPr>
          <p:cNvPr id="29" name="Text 27"/>
          <p:cNvSpPr/>
          <p:nvPr/>
        </p:nvSpPr>
        <p:spPr>
          <a:xfrm>
            <a:off x="228600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8件</a:t>
            </a:r>
            <a:endParaRPr lang="en-US" sz="900" dirty="0"/>
          </a:p>
        </p:txBody>
      </p:sp>
      <p:sp>
        <p:nvSpPr>
          <p:cNvPr id="30" name="Text 28"/>
          <p:cNvSpPr/>
          <p:nvPr/>
        </p:nvSpPr>
        <p:spPr>
          <a:xfrm>
            <a:off x="59436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快適さ・設備</a:t>
            </a:r>
            <a:endParaRPr lang="en-US" sz="1300" dirty="0"/>
          </a:p>
        </p:txBody>
      </p:sp>
      <p:sp>
        <p:nvSpPr>
          <p:cNvPr id="31" name="Text 29"/>
          <p:cNvSpPr/>
          <p:nvPr/>
        </p:nvSpPr>
        <p:spPr>
          <a:xfrm>
            <a:off x="59436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ベッドはまあまあでしたが、枕は薄くてひどかったです</a:t>
            </a:r>
            <a:endParaRPr lang="en-US" sz="900" dirty="0"/>
          </a:p>
        </p:txBody>
      </p:sp>
      <p:sp>
        <p:nvSpPr>
          <p:cNvPr id="32" name="Text 30"/>
          <p:cNvSpPr/>
          <p:nvPr/>
        </p:nvSpPr>
        <p:spPr>
          <a:xfrm>
            <a:off x="59436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「設備は必要なものはすべてそろっていて、必要十分です」</a:t>
            </a:r>
            <a:endParaRPr lang="en-US" sz="900" dirty="0"/>
          </a:p>
        </p:txBody>
      </p:sp>
      <p:sp>
        <p:nvSpPr>
          <p:cNvPr id="33" name="Shape 31"/>
          <p:cNvSpPr/>
          <p:nvPr/>
        </p:nvSpPr>
        <p:spPr>
          <a:xfrm>
            <a:off x="329184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4" name="Shape 32"/>
          <p:cNvSpPr/>
          <p:nvPr/>
        </p:nvSpPr>
        <p:spPr>
          <a:xfrm>
            <a:off x="3291840" y="2880360"/>
            <a:ext cx="54864" cy="1600200"/>
          </a:xfrm>
          <a:prstGeom prst="rect">
            <a:avLst/>
          </a:prstGeom>
          <a:solidFill>
            <a:srgbClr val="16A34A"/>
          </a:solidFill>
          <a:ln/>
        </p:spPr>
      </p:sp>
      <p:sp>
        <p:nvSpPr>
          <p:cNvPr id="35" name="Shape 33"/>
          <p:cNvSpPr/>
          <p:nvPr/>
        </p:nvSpPr>
        <p:spPr>
          <a:xfrm>
            <a:off x="5120640" y="2953512"/>
            <a:ext cx="658368" cy="228600"/>
          </a:xfrm>
          <a:prstGeom prst="rect">
            <a:avLst/>
          </a:prstGeom>
          <a:solidFill>
            <a:srgbClr val="DCFCE7"/>
          </a:solidFill>
          <a:ln/>
        </p:spPr>
      </p:sp>
      <p:sp>
        <p:nvSpPr>
          <p:cNvPr id="36" name="Text 34"/>
          <p:cNvSpPr/>
          <p:nvPr/>
        </p:nvSpPr>
        <p:spPr>
          <a:xfrm>
            <a:off x="512064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2件</a:t>
            </a:r>
            <a:endParaRPr lang="en-US" sz="900" dirty="0"/>
          </a:p>
        </p:txBody>
      </p:sp>
      <p:sp>
        <p:nvSpPr>
          <p:cNvPr id="37" name="Text 35"/>
          <p:cNvSpPr/>
          <p:nvPr/>
        </p:nvSpPr>
        <p:spPr>
          <a:xfrm>
            <a:off x="342900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コストパフォーマンス</a:t>
            </a:r>
            <a:endParaRPr lang="en-US" sz="1300" dirty="0"/>
          </a:p>
        </p:txBody>
      </p:sp>
      <p:sp>
        <p:nvSpPr>
          <p:cNvPr id="38" name="Text 36"/>
          <p:cNvSpPr/>
          <p:nvPr/>
        </p:nvSpPr>
        <p:spPr>
          <a:xfrm>
            <a:off x="342900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他のアバよりも狭い 駅からは遠いが、その分比較的安い 羽田空港の乗り継ぎに利用するなら十分か 他のアバよりも狭い ...</a:t>
            </a:r>
            <a:endParaRPr lang="en-US" sz="900" dirty="0"/>
          </a:p>
        </p:txBody>
      </p:sp>
      <p:sp>
        <p:nvSpPr>
          <p:cNvPr id="39" name="Text 37"/>
          <p:cNvSpPr/>
          <p:nvPr/>
        </p:nvSpPr>
        <p:spPr>
          <a:xfrm>
            <a:off x="342900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「何と言ってもお値段がお手頃なのでねるだけなら充分です チェックアウトスムーズに出来るのも良い」</a:t>
            </a:r>
            <a:endParaRPr lang="en-US" sz="900" dirty="0"/>
          </a:p>
        </p:txBody>
      </p:sp>
      <p:sp>
        <p:nvSpPr>
          <p:cNvPr id="40" name="Shape 38"/>
          <p:cNvSpPr/>
          <p:nvPr/>
        </p:nvSpPr>
        <p:spPr>
          <a:xfrm>
            <a:off x="612648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41" name="Shape 39"/>
          <p:cNvSpPr/>
          <p:nvPr/>
        </p:nvSpPr>
        <p:spPr>
          <a:xfrm>
            <a:off x="6126480" y="2880360"/>
            <a:ext cx="54864" cy="1600200"/>
          </a:xfrm>
          <a:prstGeom prst="rect">
            <a:avLst/>
          </a:prstGeom>
          <a:solidFill>
            <a:srgbClr val="16A34A"/>
          </a:solidFill>
          <a:ln/>
        </p:spPr>
      </p:sp>
      <p:sp>
        <p:nvSpPr>
          <p:cNvPr id="42" name="Shape 40"/>
          <p:cNvSpPr/>
          <p:nvPr/>
        </p:nvSpPr>
        <p:spPr>
          <a:xfrm>
            <a:off x="7955280" y="2953512"/>
            <a:ext cx="658368" cy="228600"/>
          </a:xfrm>
          <a:prstGeom prst="rect">
            <a:avLst/>
          </a:prstGeom>
          <a:solidFill>
            <a:srgbClr val="DCFCE7"/>
          </a:solidFill>
          <a:ln/>
        </p:spPr>
      </p:sp>
      <p:sp>
        <p:nvSpPr>
          <p:cNvPr id="43" name="Text 41"/>
          <p:cNvSpPr/>
          <p:nvPr/>
        </p:nvSpPr>
        <p:spPr>
          <a:xfrm>
            <a:off x="795528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2件</a:t>
            </a:r>
            <a:endParaRPr lang="en-US" sz="900" dirty="0"/>
          </a:p>
        </p:txBody>
      </p:sp>
      <p:sp>
        <p:nvSpPr>
          <p:cNvPr id="44" name="Text 42"/>
          <p:cNvSpPr/>
          <p:nvPr/>
        </p:nvSpPr>
        <p:spPr>
          <a:xfrm>
            <a:off x="626364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朝食</a:t>
            </a:r>
            <a:endParaRPr lang="en-US" sz="1300" dirty="0"/>
          </a:p>
        </p:txBody>
      </p:sp>
      <p:sp>
        <p:nvSpPr>
          <p:cNvPr id="45" name="Text 43"/>
          <p:cNvSpPr/>
          <p:nvPr/>
        </p:nvSpPr>
        <p:spPr>
          <a:xfrm>
            <a:off x="626364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ビュッフェ式の朝食は1日あたり12～16カナダドルも追加料金がかかるので、近くにスーパーやコンビニがあることを考え...</a:t>
            </a:r>
            <a:endParaRPr lang="en-US" sz="900" dirty="0"/>
          </a:p>
        </p:txBody>
      </p:sp>
      <p:sp>
        <p:nvSpPr>
          <p:cNvPr id="46" name="Text 44"/>
          <p:cNvSpPr/>
          <p:nvPr/>
        </p:nvSpPr>
        <p:spPr>
          <a:xfrm>
            <a:off x="626364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「食事の値段も当日に朝食券を買うと1800円になって結構割高なのですが、クオリティとしては個人的にはお値段に見合った...」</a:t>
            </a:r>
            <a:endParaRPr lang="en-US" sz="900" dirty="0"/>
          </a:p>
        </p:txBody>
      </p:sp>
      <p:sp>
        <p:nvSpPr>
          <p:cNvPr id="47" name="Shape 45"/>
          <p:cNvSpPr/>
          <p:nvPr/>
        </p:nvSpPr>
        <p:spPr>
          <a:xfrm>
            <a:off x="0" y="4800600"/>
            <a:ext cx="9144000" cy="342900"/>
          </a:xfrm>
          <a:prstGeom prst="rect">
            <a:avLst/>
          </a:prstGeom>
          <a:solidFill>
            <a:srgbClr val="1A2744"/>
          </a:solidFill>
          <a:ln/>
        </p:spPr>
      </p:sp>
      <p:sp>
        <p:nvSpPr>
          <p:cNvPr id="48" name="Text 46"/>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49" name="Text 47"/>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弱み分析・優先度マトリクス</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Weakness Analysis &amp; Priority Matrix</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
        </p:xfrm>
        <a:graphic>
          <a:graphicData uri="http://schemas.openxmlformats.org/drawingml/2006/table">
            <a:tbl>
              <a:tblPr/>
              <a:tblGrid>
                <a:gridCol w="731520"/>
                <a:gridCol w="1828800"/>
                <a:gridCol w="4572000"/>
                <a:gridCol w="1097280"/>
              </a:tblGrid>
              <a:tr h="27432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優先度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課題カテゴリ</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具体的内容</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algn="ctr" indent="0" marL="0">
                        <a:buNone/>
                      </a:pPr>
                      <a:r>
                        <a:rPr lang="en-US" sz="1200" b="1" dirty="0">
                          <a:solidFill>
                            <a:srgbClr val="DC2626"/>
                          </a:solidFill>
                          <a:latin typeface="Arial" pitchFamily="34" charset="0"/>
                          <a:ea typeface="Arial" pitchFamily="34" charset="-122"/>
                          <a:cs typeface="Arial" pitchFamily="34" charset="-120"/>
                        </a:rPr>
                        <a:t>S</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部屋の狭さ</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他のアバよりも狭い 駅からは遠いが、その分比較的安い 羽田空港の乗り継ぎに利用するなら十分か 他のアバよりも狭い ...</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6件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浴室・水回り</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The room itself was decent -- small, but standard for APA...</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4件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エアコン・空調</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Coming from Keikyu-Kamata there was a shoutengai giving p...</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2件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清掃不備</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そこは汚くて埃っぽく、以前の訪問時の残骸も散乱していた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2件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防音性能</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道路沿いだったけど防音がしっかりされていて外の音は聞こえない</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臭い・匂い</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禁煙の部屋を予約しましたが、かなり強いタバコの匂いがしました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対応・サービスの不満</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歯ブラシでこすれば、パッと見はもっときれいになりそうなので、ちょっと残念なところ</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bl>
          </a:graphicData>
        </a:graphic>
      </p:graphicFrame>
      <p:sp>
        <p:nvSpPr>
          <p:cNvPr id="6" name="Text 3"/>
          <p:cNvSpPr/>
          <p:nvPr/>
        </p:nvSpPr>
        <p:spPr>
          <a:xfrm>
            <a:off x="457200" y="4389120"/>
            <a:ext cx="8229600" cy="274320"/>
          </a:xfrm>
          <a:prstGeom prst="rect">
            <a:avLst/>
          </a:prstGeom>
          <a:noFill/>
          <a:ln/>
        </p:spPr>
        <p:txBody>
          <a:bodyPr wrap="square" lIns="0" tIns="0" rIns="0" bIns="0" rtlCol="0" anchor="ctr"/>
          <a:lstStyle/>
          <a:p>
            <a:pPr indent="0" marL="0">
              <a:buNone/>
            </a:pPr>
            <a:r>
              <a:rPr lang="en-US" sz="1000" b="1" dirty="0">
                <a:solidFill>
                  <a:srgbClr val="DC2626"/>
                </a:solidFill>
                <a:latin typeface="Arial" pitchFamily="34" charset="0"/>
                <a:ea typeface="Arial" pitchFamily="34" charset="-122"/>
                <a:cs typeface="Arial" pitchFamily="34" charset="-120"/>
              </a:rPr>
              <a:t>S </a:t>
            </a:r>
            <a:pPr indent="0" marL="0">
              <a:buNone/>
            </a:pPr>
            <a:r>
              <a:rPr lang="en-US" sz="900" dirty="0">
                <a:solidFill>
                  <a:srgbClr val="64748B"/>
                </a:solidFill>
                <a:latin typeface="Arial" pitchFamily="34" charset="0"/>
                <a:ea typeface="Arial" pitchFamily="34" charset="-122"/>
                <a:cs typeface="Arial" pitchFamily="34" charset="-120"/>
              </a:rPr>
              <a:t>= 最優先   </a:t>
            </a:r>
            <a:pPr indent="0" marL="0">
              <a:buNone/>
            </a:pPr>
            <a:r>
              <a:rPr lang="en-US" sz="1000" b="1" dirty="0">
                <a:solidFill>
                  <a:srgbClr val="EA580C"/>
                </a:solidFill>
                <a:latin typeface="Arial" pitchFamily="34" charset="0"/>
                <a:ea typeface="Arial" pitchFamily="34" charset="-122"/>
                <a:cs typeface="Arial" pitchFamily="34" charset="-120"/>
              </a:rPr>
              <a:t>A </a:t>
            </a:r>
            <a:pPr indent="0" marL="0">
              <a:buNone/>
            </a:pPr>
            <a:r>
              <a:rPr lang="en-US" sz="900" dirty="0">
                <a:solidFill>
                  <a:srgbClr val="64748B"/>
                </a:solidFill>
                <a:latin typeface="Arial" pitchFamily="34" charset="0"/>
                <a:ea typeface="Arial" pitchFamily="34" charset="-122"/>
                <a:cs typeface="Arial" pitchFamily="34" charset="-120"/>
              </a:rPr>
              <a:t>= 高優先   </a:t>
            </a:r>
            <a:pPr indent="0" marL="0">
              <a:buNone/>
            </a:pPr>
            <a:r>
              <a:rPr lang="en-US" sz="1000" b="1" dirty="0">
                <a:solidFill>
                  <a:srgbClr val="D4A843"/>
                </a:solidFill>
                <a:latin typeface="Arial" pitchFamily="34" charset="0"/>
                <a:ea typeface="Arial" pitchFamily="34" charset="-122"/>
                <a:cs typeface="Arial" pitchFamily="34" charset="-120"/>
              </a:rPr>
              <a:t>B </a:t>
            </a:r>
            <a:pPr indent="0" marL="0">
              <a:buNone/>
            </a:pPr>
            <a:r>
              <a:rPr lang="en-US" sz="900" dirty="0">
                <a:solidFill>
                  <a:srgbClr val="64748B"/>
                </a:solidFill>
                <a:latin typeface="Arial" pitchFamily="34" charset="0"/>
                <a:ea typeface="Arial" pitchFamily="34" charset="-122"/>
                <a:cs typeface="Arial" pitchFamily="34" charset="-120"/>
              </a:rPr>
              <a:t>= 中優先   </a:t>
            </a:r>
            <a:pPr indent="0" marL="0">
              <a:buNone/>
            </a:pPr>
            <a:r>
              <a:rPr lang="en-US" sz="1000" b="1" dirty="0">
                <a:solidFill>
                  <a:srgbClr val="94A3B8"/>
                </a:solidFill>
                <a:latin typeface="Arial" pitchFamily="34" charset="0"/>
                <a:ea typeface="Arial" pitchFamily="34" charset="-122"/>
                <a:cs typeface="Arial" pitchFamily="34" charset="-120"/>
              </a:rPr>
              <a:t>C </a:t>
            </a:r>
            <a:pPr indent="0" marL="0">
              <a:buNone/>
            </a:pPr>
            <a:r>
              <a:rPr lang="en-US" sz="900" dirty="0">
                <a:solidFill>
                  <a:srgbClr val="64748B"/>
                </a:solidFill>
                <a:latin typeface="Arial" pitchFamily="34" charset="0"/>
                <a:ea typeface="Arial" pitchFamily="34" charset="-122"/>
                <a:cs typeface="Arial" pitchFamily="34" charset="-120"/>
              </a:rPr>
              <a:t>= 低優先</a:t>
            </a:r>
            <a:endParaRPr lang="en-US" sz="1000" dirty="0"/>
          </a:p>
        </p:txBody>
      </p:sp>
      <p:sp>
        <p:nvSpPr>
          <p:cNvPr id="7" name="Shape 4"/>
          <p:cNvSpPr/>
          <p:nvPr/>
        </p:nvSpPr>
        <p:spPr>
          <a:xfrm>
            <a:off x="0" y="4800600"/>
            <a:ext cx="9144000" cy="342900"/>
          </a:xfrm>
          <a:prstGeom prst="rect">
            <a:avLst/>
          </a:prstGeom>
          <a:solidFill>
            <a:srgbClr val="1A2744"/>
          </a:solidFill>
          <a:ln/>
        </p:spPr>
      </p:sp>
      <p:sp>
        <p:nvSpPr>
          <p:cNvPr id="8" name="Text 5"/>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9" name="Text 6"/>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1：即座対応</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Immediate Actions (Today ~ 1 Month)</a:t>
            </a:r>
            <a:endParaRPr lang="en-US" sz="1000" dirty="0"/>
          </a:p>
        </p:txBody>
      </p:sp>
      <p:sp>
        <p:nvSpPr>
          <p:cNvPr id="5" name="Text 3"/>
          <p:cNvSpPr/>
          <p:nvPr/>
        </p:nvSpPr>
        <p:spPr>
          <a:xfrm>
            <a:off x="548640" y="868680"/>
            <a:ext cx="7315200" cy="274320"/>
          </a:xfrm>
          <a:prstGeom prst="rect">
            <a:avLst/>
          </a:prstGeom>
          <a:noFill/>
          <a:ln/>
        </p:spPr>
        <p:txBody>
          <a:bodyPr wrap="square" lIns="0" tIns="0" rIns="0" bIns="0" rtlCol="0" anchor="ctr"/>
          <a:lstStyle/>
          <a:p>
            <a:pPr indent="0" marL="0">
              <a:buNone/>
            </a:pPr>
            <a:r>
              <a:rPr lang="en-US" sz="1000" i="1" dirty="0">
                <a:solidFill>
                  <a:srgbClr val="3B7DD8"/>
                </a:solidFill>
                <a:latin typeface="Arial" pitchFamily="34" charset="0"/>
                <a:ea typeface="Arial" pitchFamily="34" charset="-122"/>
                <a:cs typeface="Arial" pitchFamily="34" charset="-120"/>
              </a:rPr>
              <a:t>投資不要・オペレーション改善で対応可能</a:t>
            </a:r>
            <a:endParaRPr lang="en-US" sz="1000" dirty="0"/>
          </a:p>
        </p:txBody>
      </p:sp>
      <p:sp>
        <p:nvSpPr>
          <p:cNvPr id="6" name="Shape 4"/>
          <p:cNvSpPr/>
          <p:nvPr/>
        </p:nvSpPr>
        <p:spPr>
          <a:xfrm>
            <a:off x="45720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5"/>
          <p:cNvSpPr/>
          <p:nvPr/>
        </p:nvSpPr>
        <p:spPr>
          <a:xfrm>
            <a:off x="457200" y="1234440"/>
            <a:ext cx="54864" cy="1600200"/>
          </a:xfrm>
          <a:prstGeom prst="rect">
            <a:avLst/>
          </a:prstGeom>
          <a:solidFill>
            <a:srgbClr val="3B7DD8"/>
          </a:solidFill>
          <a:ln/>
        </p:spPr>
      </p:sp>
      <p:sp>
        <p:nvSpPr>
          <p:cNvPr id="8" name="Text 6"/>
          <p:cNvSpPr/>
          <p:nvPr/>
        </p:nvSpPr>
        <p:spPr>
          <a:xfrm>
            <a:off x="59436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客室の消臭対策の強化</a:t>
            </a:r>
            <a:endParaRPr lang="en-US" sz="1200" dirty="0"/>
          </a:p>
        </p:txBody>
      </p:sp>
      <p:sp>
        <p:nvSpPr>
          <p:cNvPr id="9" name="Text 7"/>
          <p:cNvSpPr/>
          <p:nvPr/>
        </p:nvSpPr>
        <p:spPr>
          <a:xfrm>
            <a:off x="59436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チェックアウト後の換気・消臭スプレー処理の徹底</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定期的な脱臭剤の設置と交換フローの確立</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喫煙・臭いに関するクレーム発生時の即座対応マニュアル作成</a:t>
            </a:r>
            <a:endParaRPr lang="en-US" sz="900" dirty="0"/>
          </a:p>
        </p:txBody>
      </p:sp>
      <p:sp>
        <p:nvSpPr>
          <p:cNvPr id="10" name="Shape 8"/>
          <p:cNvSpPr/>
          <p:nvPr/>
        </p:nvSpPr>
        <p:spPr>
          <a:xfrm>
            <a:off x="466344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663440" y="1234440"/>
            <a:ext cx="54864" cy="1600200"/>
          </a:xfrm>
          <a:prstGeom prst="rect">
            <a:avLst/>
          </a:prstGeom>
          <a:solidFill>
            <a:srgbClr val="3B7DD8"/>
          </a:solidFill>
          <a:ln/>
        </p:spPr>
      </p:sp>
      <p:sp>
        <p:nvSpPr>
          <p:cNvPr id="12" name="Text 10"/>
          <p:cNvSpPr/>
          <p:nvPr/>
        </p:nvSpPr>
        <p:spPr>
          <a:xfrm>
            <a:off x="480060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清掃品質の向上</a:t>
            </a:r>
            <a:endParaRPr lang="en-US" sz="1200" dirty="0"/>
          </a:p>
        </p:txBody>
      </p:sp>
      <p:sp>
        <p:nvSpPr>
          <p:cNvPr id="13" name="Text 11"/>
          <p:cNvSpPr/>
          <p:nvPr/>
        </p:nvSpPr>
        <p:spPr>
          <a:xfrm>
            <a:off x="480060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清掃チェックリストの見直しと強化（ベッド下・隅の重点確認）</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清掃後のダブルチェック体制の導入</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清掃スタッフへの再研修実施</a:t>
            </a:r>
            <a:endParaRPr lang="en-US" sz="900" dirty="0"/>
          </a:p>
        </p:txBody>
      </p:sp>
      <p:sp>
        <p:nvSpPr>
          <p:cNvPr id="14" name="Shape 12"/>
          <p:cNvSpPr/>
          <p:nvPr/>
        </p:nvSpPr>
        <p:spPr>
          <a:xfrm>
            <a:off x="457200" y="301752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57200" y="3017520"/>
            <a:ext cx="54864" cy="1600200"/>
          </a:xfrm>
          <a:prstGeom prst="rect">
            <a:avLst/>
          </a:prstGeom>
          <a:solidFill>
            <a:srgbClr val="3B7DD8"/>
          </a:solidFill>
          <a:ln/>
        </p:spPr>
      </p:sp>
      <p:sp>
        <p:nvSpPr>
          <p:cNvPr id="16" name="Text 14"/>
          <p:cNvSpPr/>
          <p:nvPr/>
        </p:nvSpPr>
        <p:spPr>
          <a:xfrm>
            <a:off x="594360" y="306324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エアコン・空調の定期点検強化</a:t>
            </a:r>
            <a:endParaRPr lang="en-US" sz="1200" dirty="0"/>
          </a:p>
        </p:txBody>
      </p:sp>
      <p:sp>
        <p:nvSpPr>
          <p:cNvPr id="17" name="Text 15"/>
          <p:cNvSpPr/>
          <p:nvPr/>
        </p:nvSpPr>
        <p:spPr>
          <a:xfrm>
            <a:off x="594360" y="338328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全室のエアコン設定を季節に応じてデフォルト確認する運用フロー導入</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冷暖房の正常動作を定期チェックリストに追加</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異常報告があった客室の優先メンテナンス実施</a:t>
            </a:r>
            <a:endParaRPr lang="en-US" sz="900" dirty="0"/>
          </a:p>
        </p:txBody>
      </p:sp>
      <p:sp>
        <p:nvSpPr>
          <p:cNvPr id="18" name="Shape 16"/>
          <p:cNvSpPr/>
          <p:nvPr/>
        </p:nvSpPr>
        <p:spPr>
          <a:xfrm>
            <a:off x="4663440" y="301752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9" name="Shape 17"/>
          <p:cNvSpPr/>
          <p:nvPr/>
        </p:nvSpPr>
        <p:spPr>
          <a:xfrm>
            <a:off x="4663440" y="3017520"/>
            <a:ext cx="54864" cy="1600200"/>
          </a:xfrm>
          <a:prstGeom prst="rect">
            <a:avLst/>
          </a:prstGeom>
          <a:solidFill>
            <a:srgbClr val="3B7DD8"/>
          </a:solidFill>
          <a:ln/>
        </p:spPr>
      </p:sp>
      <p:sp>
        <p:nvSpPr>
          <p:cNvPr id="20" name="Text 18"/>
          <p:cNvSpPr/>
          <p:nvPr/>
        </p:nvSpPr>
        <p:spPr>
          <a:xfrm>
            <a:off x="4800600" y="306324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スタッフ対応品質の統一</a:t>
            </a:r>
            <a:endParaRPr lang="en-US" sz="1200" dirty="0"/>
          </a:p>
        </p:txBody>
      </p:sp>
      <p:sp>
        <p:nvSpPr>
          <p:cNvPr id="21" name="Text 19"/>
          <p:cNvSpPr/>
          <p:nvPr/>
        </p:nvSpPr>
        <p:spPr>
          <a:xfrm>
            <a:off x="4800600" y="338328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接客マニュアルの見直しと全スタッフへの周知</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ゲストからのクレーム対応フローの明確化</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定期的なCS研修の実施</a:t>
            </a:r>
            <a:endParaRPr lang="en-US" sz="900" dirty="0"/>
          </a:p>
        </p:txBody>
      </p:sp>
      <p:sp>
        <p:nvSpPr>
          <p:cNvPr id="22" name="Shape 20"/>
          <p:cNvSpPr/>
          <p:nvPr/>
        </p:nvSpPr>
        <p:spPr>
          <a:xfrm>
            <a:off x="0" y="4800600"/>
            <a:ext cx="9144000" cy="342900"/>
          </a:xfrm>
          <a:prstGeom prst="rect">
            <a:avLst/>
          </a:prstGeom>
          <a:solidFill>
            <a:srgbClr val="1A2744"/>
          </a:solidFill>
          <a:ln/>
        </p:spPr>
      </p:sp>
      <p:sp>
        <p:nvSpPr>
          <p:cNvPr id="23" name="Text 21"/>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4" name="Text 22"/>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2・3</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Short-term &amp; Mid-term Actions</a:t>
            </a:r>
            <a:endParaRPr lang="en-US" sz="1000" dirty="0"/>
          </a:p>
        </p:txBody>
      </p:sp>
      <p:sp>
        <p:nvSpPr>
          <p:cNvPr id="5" name="Shape 3"/>
          <p:cNvSpPr/>
          <p:nvPr/>
        </p:nvSpPr>
        <p:spPr>
          <a:xfrm>
            <a:off x="45720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05840"/>
            <a:ext cx="3977640" cy="365760"/>
          </a:xfrm>
          <a:prstGeom prst="rect">
            <a:avLst/>
          </a:prstGeom>
          <a:solidFill>
            <a:srgbClr val="3B7DD8"/>
          </a:solidFill>
          <a:ln/>
        </p:spPr>
      </p:sp>
      <p:sp>
        <p:nvSpPr>
          <p:cNvPr id="7" name="Text 5"/>
          <p:cNvSpPr/>
          <p:nvPr/>
        </p:nvSpPr>
        <p:spPr>
          <a:xfrm>
            <a:off x="59436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2：短期施策（1〜3ヶ月）</a:t>
            </a:r>
            <a:endParaRPr lang="en-US" sz="1200" dirty="0"/>
          </a:p>
        </p:txBody>
      </p:sp>
      <p:sp>
        <p:nvSpPr>
          <p:cNvPr id="8" name="Text 6"/>
          <p:cNvSpPr/>
          <p:nvPr/>
        </p:nvSpPr>
        <p:spPr>
          <a:xfrm>
            <a:off x="64008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浴室の快適性向上</a:t>
            </a:r>
            <a:endParaRPr lang="en-US" sz="1000" dirty="0"/>
          </a:p>
        </p:txBody>
      </p:sp>
      <p:sp>
        <p:nvSpPr>
          <p:cNvPr id="9" name="Text 7"/>
          <p:cNvSpPr/>
          <p:nvPr/>
        </p:nvSpPr>
        <p:spPr>
          <a:xfrm>
            <a:off x="64008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排水口の清掃・修繕を全室で実施し、排水速度を改善</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シャワーヘッドの交換（水圧改善・節水タイプ導入）</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浴室換気・暖房設備の点検と改善</a:t>
            </a:r>
            <a:endParaRPr lang="en-US" sz="900" dirty="0"/>
          </a:p>
        </p:txBody>
      </p:sp>
      <p:sp>
        <p:nvSpPr>
          <p:cNvPr id="10" name="Text 8"/>
          <p:cNvSpPr/>
          <p:nvPr/>
        </p:nvSpPr>
        <p:spPr>
          <a:xfrm>
            <a:off x="64008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防音対策の強化</a:t>
            </a:r>
            <a:endParaRPr lang="en-US" sz="1000" dirty="0"/>
          </a:p>
        </p:txBody>
      </p:sp>
      <p:sp>
        <p:nvSpPr>
          <p:cNvPr id="11" name="Text 9"/>
          <p:cNvSpPr/>
          <p:nvPr/>
        </p:nvSpPr>
        <p:spPr>
          <a:xfrm>
            <a:off x="640080" y="2761488"/>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窓際への防音カーテン導入（外部騒音対策）</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ドア下部への隙間テープ設置（廊下・隣室からの音漏れ軽減）</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騒音の少ない客室への優先案内の仕組み化</a:t>
            </a:r>
            <a:endParaRPr lang="en-US" sz="900" dirty="0"/>
          </a:p>
        </p:txBody>
      </p:sp>
      <p:sp>
        <p:nvSpPr>
          <p:cNvPr id="12" name="Text 10"/>
          <p:cNvSpPr/>
          <p:nvPr/>
        </p:nvSpPr>
        <p:spPr>
          <a:xfrm>
            <a:off x="640080" y="3547872"/>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口コミ返信体制の構築</a:t>
            </a:r>
            <a:endParaRPr lang="en-US" sz="1000" dirty="0"/>
          </a:p>
        </p:txBody>
      </p:sp>
      <p:sp>
        <p:nvSpPr>
          <p:cNvPr id="13" name="Text 11"/>
          <p:cNvSpPr/>
          <p:nvPr/>
        </p:nvSpPr>
        <p:spPr>
          <a:xfrm>
            <a:off x="640080" y="3803904"/>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全サイトの口コミに48時間以内の返信を目標に設定</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特に低評価レビューへのフォローアップ強化</a:t>
            </a:r>
            <a:endParaRPr lang="en-US" sz="900" dirty="0"/>
          </a:p>
        </p:txBody>
      </p:sp>
      <p:sp>
        <p:nvSpPr>
          <p:cNvPr id="14" name="Shape 12"/>
          <p:cNvSpPr/>
          <p:nvPr/>
        </p:nvSpPr>
        <p:spPr>
          <a:xfrm>
            <a:off x="470916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709160" y="1005840"/>
            <a:ext cx="3977640" cy="365760"/>
          </a:xfrm>
          <a:prstGeom prst="rect">
            <a:avLst/>
          </a:prstGeom>
          <a:solidFill>
            <a:srgbClr val="1A2744"/>
          </a:solidFill>
          <a:ln/>
        </p:spPr>
      </p:sp>
      <p:sp>
        <p:nvSpPr>
          <p:cNvPr id="16" name="Text 14"/>
          <p:cNvSpPr/>
          <p:nvPr/>
        </p:nvSpPr>
        <p:spPr>
          <a:xfrm>
            <a:off x="484632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3：中期施策（3〜6ヶ月）</a:t>
            </a:r>
            <a:endParaRPr lang="en-US" sz="1200" dirty="0"/>
          </a:p>
        </p:txBody>
      </p:sp>
      <p:sp>
        <p:nvSpPr>
          <p:cNvPr id="17" name="Text 15"/>
          <p:cNvSpPr/>
          <p:nvPr/>
        </p:nvSpPr>
        <p:spPr>
          <a:xfrm>
            <a:off x="489204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客室設備のアップグレード</a:t>
            </a:r>
            <a:endParaRPr lang="en-US" sz="1000" dirty="0"/>
          </a:p>
        </p:txBody>
      </p:sp>
      <p:sp>
        <p:nvSpPr>
          <p:cNvPr id="18" name="Text 16"/>
          <p:cNvSpPr/>
          <p:nvPr/>
        </p:nvSpPr>
        <p:spPr>
          <a:xfrm>
            <a:off x="489204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内装の定期的なリフレッシュ計画の策定</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照明・電源周りの設備更新</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快適性向上のための設備投資計画の立案</a:t>
            </a:r>
            <a:endParaRPr lang="en-US" sz="900" dirty="0"/>
          </a:p>
        </p:txBody>
      </p:sp>
      <p:sp>
        <p:nvSpPr>
          <p:cNvPr id="19" name="Text 17"/>
          <p:cNvSpPr/>
          <p:nvPr/>
        </p:nvSpPr>
        <p:spPr>
          <a:xfrm>
            <a:off x="489204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浴室の抜本的改修</a:t>
            </a:r>
            <a:endParaRPr lang="en-US" sz="1000" dirty="0"/>
          </a:p>
        </p:txBody>
      </p:sp>
      <p:sp>
        <p:nvSpPr>
          <p:cNvPr id="20" name="Text 18"/>
          <p:cNvSpPr/>
          <p:nvPr/>
        </p:nvSpPr>
        <p:spPr>
          <a:xfrm>
            <a:off x="4892040" y="2761488"/>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配管更新による排水問題の根本解決</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換気設備の強化による浴室内の温度・湿度改善</a:t>
            </a:r>
            <a:endParaRPr lang="en-US" sz="900" dirty="0"/>
          </a:p>
        </p:txBody>
      </p:sp>
      <p:sp>
        <p:nvSpPr>
          <p:cNvPr id="21" name="Text 19"/>
          <p:cNvSpPr/>
          <p:nvPr/>
        </p:nvSpPr>
        <p:spPr>
          <a:xfrm>
            <a:off x="4892040" y="3346704"/>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防音工事</a:t>
            </a:r>
            <a:endParaRPr lang="en-US" sz="1000" dirty="0"/>
          </a:p>
        </p:txBody>
      </p:sp>
      <p:sp>
        <p:nvSpPr>
          <p:cNvPr id="22" name="Text 20"/>
          <p:cNvSpPr/>
          <p:nvPr/>
        </p:nvSpPr>
        <p:spPr>
          <a:xfrm>
            <a:off x="4892040" y="3602736"/>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騒音源側客室の窓を二重サッシに交換</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隣室との壁面に遮音材を追加する改修工事の検討</a:t>
            </a:r>
            <a:endParaRPr lang="en-US" sz="900" dirty="0"/>
          </a:p>
        </p:txBody>
      </p:sp>
      <p:sp>
        <p:nvSpPr>
          <p:cNvPr id="23" name="Shape 21"/>
          <p:cNvSpPr/>
          <p:nvPr/>
        </p:nvSpPr>
        <p:spPr>
          <a:xfrm>
            <a:off x="0" y="4800600"/>
            <a:ext cx="9144000" cy="342900"/>
          </a:xfrm>
          <a:prstGeom prst="rect">
            <a:avLst/>
          </a:prstGeom>
          <a:solidFill>
            <a:srgbClr val="1A2744"/>
          </a:solidFill>
          <a:ln/>
        </p:spPr>
      </p:sp>
      <p:sp>
        <p:nvSpPr>
          <p:cNvPr id="24" name="Text 22"/>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5" name="Text 23"/>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KPI目標設定・まとめ</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Key Performance Indicators &amp; Summary</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
        </p:xfrm>
        <a:graphic>
          <a:graphicData uri="http://schemas.openxmlformats.org/drawingml/2006/table">
            <a:tbl>
              <a:tblPr/>
              <a:tblGrid>
                <a:gridCol w="2560320"/>
                <a:gridCol w="1828800"/>
                <a:gridCol w="2011680"/>
                <a:gridCol w="1828800"/>
              </a:tblGrid>
              <a:tr h="320040">
                <a:tc>
                  <a:txBody>
                    <a:bodyPr/>
                    <a:lstStyle/>
                    <a:p>
                      <a:pPr indent="0" marL="0">
                        <a:buNone/>
                      </a:pPr>
                      <a:r>
                        <a:rPr lang="en-US" sz="1000" b="1" dirty="0">
                          <a:solidFill>
                            <a:srgbClr val="FFFFFF"/>
                          </a:solidFill>
                          <a:latin typeface="Arial" pitchFamily="34" charset="0"/>
                          <a:ea typeface="Arial" pitchFamily="34" charset="-122"/>
                          <a:cs typeface="Arial" pitchFamily="34" charset="-120"/>
                        </a:rPr>
                        <a:t>KPI項目</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現状値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目標値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期限</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全体平均(10pt換算)</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7.38点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7.9点以上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高評価率（8-10点）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63.3%</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73%以上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低評価率（1-4点）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10.0%</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7%以下</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Agoda平均評価</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6.7点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7.7点以上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口コミ返信率</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未計測</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100%（48h以内）</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2026年6月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部屋の狭さクレーム</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約6件/期間</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3件以下</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hape 3"/>
          <p:cNvSpPr/>
          <p:nvPr/>
        </p:nvSpPr>
        <p:spPr>
          <a:xfrm>
            <a:off x="457200" y="3429000"/>
            <a:ext cx="8229600" cy="6400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457200" y="3429000"/>
            <a:ext cx="54864" cy="640080"/>
          </a:xfrm>
          <a:prstGeom prst="rect">
            <a:avLst/>
          </a:prstGeom>
          <a:solidFill>
            <a:srgbClr val="3B7DD8"/>
          </a:solidFill>
          <a:ln/>
        </p:spPr>
      </p:sp>
      <p:sp>
        <p:nvSpPr>
          <p:cNvPr id="8" name="Text 5"/>
          <p:cNvSpPr/>
          <p:nvPr/>
        </p:nvSpPr>
        <p:spPr>
          <a:xfrm>
            <a:off x="640080" y="3429000"/>
            <a:ext cx="7863840" cy="64008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モニタリング方針：</a:t>
            </a:r>
            <a:pPr indent="0" marL="0">
              <a:buNone/>
            </a:pPr>
            <a:r>
              <a:rPr lang="en-US" sz="1000" dirty="0">
                <a:solidFill>
                  <a:srgbClr val="64748B"/>
                </a:solidFill>
                <a:latin typeface="Arial" pitchFamily="34" charset="0"/>
                <a:ea typeface="Arial" pitchFamily="34" charset="-122"/>
                <a:cs typeface="Arial" pitchFamily="34" charset="-120"/>
              </a:rPr>
              <a:t>毎月のサイト別スコア集計と口コミ内容の定性分析を実施。四半期ごとに改善施策の効果を検証し、Phase 2・3の優先順位を見直します。</a:t>
            </a:r>
            <a:endParaRPr lang="en-US" sz="1000" dirty="0"/>
          </a:p>
        </p:txBody>
      </p:sp>
      <p:sp>
        <p:nvSpPr>
          <p:cNvPr id="9" name="Shape 6"/>
          <p:cNvSpPr/>
          <p:nvPr/>
        </p:nvSpPr>
        <p:spPr>
          <a:xfrm>
            <a:off x="0" y="4800600"/>
            <a:ext cx="9144000" cy="342900"/>
          </a:xfrm>
          <a:prstGeom prst="rect">
            <a:avLst/>
          </a:prstGeom>
          <a:solidFill>
            <a:srgbClr val="1A2744"/>
          </a:solidFill>
          <a:ln/>
        </p:spPr>
      </p:sp>
      <p:sp>
        <p:nvSpPr>
          <p:cNvPr id="10" name="Text 7"/>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1" name="Text 8"/>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アパホテル蒲田駅東 口コミ分析改善レポート</dc:title>
  <dc:subject>PptxGenJS Presentation</dc:subject>
  <dc:creator>Hotel Consulting</dc:creator>
  <cp:lastModifiedBy>Hotel Consulting</cp:lastModifiedBy>
  <cp:revision>1</cp:revision>
  <dcterms:created xsi:type="dcterms:W3CDTF">2026-04-04T23:43:29Z</dcterms:created>
  <dcterms:modified xsi:type="dcterms:W3CDTF">2026-04-04T23:43:29Z</dcterms:modified>
</cp:coreProperties>
</file>