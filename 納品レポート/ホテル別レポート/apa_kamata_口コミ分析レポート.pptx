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4114800"/>
            <a:ext cx="9144000" cy="1028700"/>
          </a:xfrm>
          <a:prstGeom prst="rect">
            <a:avLst/>
          </a:prstGeom>
          <a:solidFill>
            <a:srgbClr val="3B7DD8">
              <a:alpha val="40000"/>
            </a:srgbClr>
          </a:solidFill>
          <a:ln/>
        </p:spPr>
      </p:sp>
      <p:sp>
        <p:nvSpPr>
          <p:cNvPr id="4" name="Shape 2"/>
          <p:cNvSpPr/>
          <p:nvPr/>
        </p:nvSpPr>
        <p:spPr>
          <a:xfrm>
            <a:off x="457200" y="1463040"/>
            <a:ext cx="8229600" cy="45720"/>
          </a:xfrm>
          <a:prstGeom prst="rect">
            <a:avLst/>
          </a:prstGeom>
          <a:solidFill>
            <a:srgbClr val="3B7DD8"/>
          </a:solidFill>
          <a:ln/>
        </p:spPr>
      </p:sp>
      <p:sp>
        <p:nvSpPr>
          <p:cNvPr id="5" name="Shape 3"/>
          <p:cNvSpPr/>
          <p:nvPr/>
        </p:nvSpPr>
        <p:spPr>
          <a:xfrm>
            <a:off x="457200" y="3657600"/>
            <a:ext cx="8229600" cy="45720"/>
          </a:xfrm>
          <a:prstGeom prst="rect">
            <a:avLst/>
          </a:prstGeom>
          <a:solidFill>
            <a:srgbClr val="3B7DD8"/>
          </a:solidFill>
          <a:ln/>
        </p:spPr>
      </p:sp>
      <p:sp>
        <p:nvSpPr>
          <p:cNvPr id="6" name="Text 4"/>
          <p:cNvSpPr/>
          <p:nvPr/>
        </p:nvSpPr>
        <p:spPr>
          <a:xfrm>
            <a:off x="457200" y="548640"/>
            <a:ext cx="8229600" cy="731520"/>
          </a:xfrm>
          <a:prstGeom prst="rect">
            <a:avLst/>
          </a:prstGeom>
          <a:noFill/>
          <a:ln/>
        </p:spPr>
        <p:txBody>
          <a:bodyPr wrap="square"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口コミ分析改善レポート</a:t>
            </a:r>
            <a:endParaRPr lang="en-US" sz="3200" dirty="0"/>
          </a:p>
        </p:txBody>
      </p:sp>
      <p:sp>
        <p:nvSpPr>
          <p:cNvPr id="7" name="Text 5"/>
          <p:cNvSpPr/>
          <p:nvPr/>
        </p:nvSpPr>
        <p:spPr>
          <a:xfrm>
            <a:off x="457200" y="1554480"/>
            <a:ext cx="8229600" cy="1371600"/>
          </a:xfrm>
          <a:prstGeom prst="rect">
            <a:avLst/>
          </a:prstGeom>
          <a:noFill/>
          <a:ln/>
        </p:spPr>
        <p:txBody>
          <a:bodyPr wrap="square" rtlCol="0" anchor="ctr"/>
          <a:lstStyle/>
          <a:p>
            <a:pPr algn="ctr" indent="0" marL="0">
              <a:buNone/>
            </a:pPr>
            <a:r>
              <a:rPr lang="en-US" sz="2800" b="1" dirty="0">
                <a:solidFill>
                  <a:srgbClr val="5A9BE6"/>
                </a:solidFill>
                <a:latin typeface="Arial" pitchFamily="34" charset="0"/>
                <a:ea typeface="Arial" pitchFamily="34" charset="-122"/>
                <a:cs typeface="Arial" pitchFamily="34" charset="-120"/>
              </a:rPr>
              <a:t>アパホテル蒲田駅東</a:t>
            </a:r>
            <a:endParaRPr lang="en-US" sz="2800" dirty="0"/>
          </a:p>
        </p:txBody>
      </p:sp>
      <p:sp>
        <p:nvSpPr>
          <p:cNvPr id="8" name="Text 6"/>
          <p:cNvSpPr/>
          <p:nvPr/>
        </p:nvSpPr>
        <p:spPr>
          <a:xfrm>
            <a:off x="457200" y="3749040"/>
            <a:ext cx="8229600" cy="45720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レポート作成日: 2026-03-28  |  分析件数: 59件  |  総合評価: 7.32点 (要改善)</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口コミ分析結果の概要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
        <p:nvSpPr>
          <p:cNvPr id="8" name="Shape 6"/>
          <p:cNvSpPr/>
          <p:nvPr/>
        </p:nvSpPr>
        <p:spPr>
          <a:xfrm>
            <a:off x="27432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1920240" cy="45720"/>
          </a:xfrm>
          <a:prstGeom prst="rect">
            <a:avLst/>
          </a:prstGeom>
          <a:solidFill>
            <a:srgbClr val="3B7DD8"/>
          </a:solidFill>
          <a:ln/>
        </p:spPr>
      </p:sp>
      <p:sp>
        <p:nvSpPr>
          <p:cNvPr id="10" name="Text 8"/>
          <p:cNvSpPr/>
          <p:nvPr/>
        </p:nvSpPr>
        <p:spPr>
          <a:xfrm>
            <a:off x="27432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総レビュー数</a:t>
            </a:r>
            <a:endParaRPr lang="en-US" sz="1000" dirty="0"/>
          </a:p>
        </p:txBody>
      </p:sp>
      <p:sp>
        <p:nvSpPr>
          <p:cNvPr id="11" name="Text 9"/>
          <p:cNvSpPr/>
          <p:nvPr/>
        </p:nvSpPr>
        <p:spPr>
          <a:xfrm>
            <a:off x="274320" y="1371600"/>
            <a:ext cx="1920240" cy="502920"/>
          </a:xfrm>
          <a:prstGeom prst="rect">
            <a:avLst/>
          </a:prstGeom>
          <a:noFill/>
          <a:ln/>
        </p:spPr>
        <p:txBody>
          <a:bodyPr wrap="square"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59件</a:t>
            </a:r>
            <a:endParaRPr lang="en-US" sz="3200" dirty="0"/>
          </a:p>
        </p:txBody>
      </p:sp>
      <p:sp>
        <p:nvSpPr>
          <p:cNvPr id="12" name="Shape 10"/>
          <p:cNvSpPr/>
          <p:nvPr/>
        </p:nvSpPr>
        <p:spPr>
          <a:xfrm>
            <a:off x="242316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2423160" y="1005840"/>
            <a:ext cx="1920240" cy="45720"/>
          </a:xfrm>
          <a:prstGeom prst="rect">
            <a:avLst/>
          </a:prstGeom>
          <a:solidFill>
            <a:srgbClr val="EA580C"/>
          </a:solidFill>
          <a:ln/>
        </p:spPr>
      </p:sp>
      <p:sp>
        <p:nvSpPr>
          <p:cNvPr id="14" name="Text 12"/>
          <p:cNvSpPr/>
          <p:nvPr/>
        </p:nvSpPr>
        <p:spPr>
          <a:xfrm>
            <a:off x="242316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総合平均（10pt）</a:t>
            </a:r>
            <a:endParaRPr lang="en-US" sz="1000" dirty="0"/>
          </a:p>
        </p:txBody>
      </p:sp>
      <p:sp>
        <p:nvSpPr>
          <p:cNvPr id="15" name="Text 13"/>
          <p:cNvSpPr/>
          <p:nvPr/>
        </p:nvSpPr>
        <p:spPr>
          <a:xfrm>
            <a:off x="2423160" y="1371600"/>
            <a:ext cx="1920240" cy="502920"/>
          </a:xfrm>
          <a:prstGeom prst="rect">
            <a:avLst/>
          </a:prstGeom>
          <a:noFill/>
          <a:ln/>
        </p:spPr>
        <p:txBody>
          <a:bodyPr wrap="square" rtlCol="0" anchor="ctr"/>
          <a:lstStyle/>
          <a:p>
            <a:pPr algn="ctr" indent="0" marL="0">
              <a:buNone/>
            </a:pPr>
            <a:r>
              <a:rPr lang="en-US" sz="3200" b="1" dirty="0">
                <a:solidFill>
                  <a:srgbClr val="EA580C"/>
                </a:solidFill>
                <a:latin typeface="Arial" pitchFamily="34" charset="0"/>
                <a:ea typeface="Arial" pitchFamily="34" charset="-122"/>
                <a:cs typeface="Arial" pitchFamily="34" charset="-120"/>
              </a:rPr>
              <a:t>7.32点</a:t>
            </a:r>
            <a:endParaRPr lang="en-US" sz="3200" dirty="0"/>
          </a:p>
        </p:txBody>
      </p:sp>
      <p:sp>
        <p:nvSpPr>
          <p:cNvPr id="16" name="Shape 14"/>
          <p:cNvSpPr/>
          <p:nvPr/>
        </p:nvSpPr>
        <p:spPr>
          <a:xfrm>
            <a:off x="457200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4572000" y="1005840"/>
            <a:ext cx="1920240" cy="45720"/>
          </a:xfrm>
          <a:prstGeom prst="rect">
            <a:avLst/>
          </a:prstGeom>
          <a:solidFill>
            <a:srgbClr val="16A34A"/>
          </a:solidFill>
          <a:ln/>
        </p:spPr>
      </p:sp>
      <p:sp>
        <p:nvSpPr>
          <p:cNvPr id="18" name="Text 16"/>
          <p:cNvSpPr/>
          <p:nvPr/>
        </p:nvSpPr>
        <p:spPr>
          <a:xfrm>
            <a:off x="457200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9" name="Text 17"/>
          <p:cNvSpPr/>
          <p:nvPr/>
        </p:nvSpPr>
        <p:spPr>
          <a:xfrm>
            <a:off x="4572000" y="1371600"/>
            <a:ext cx="1920240" cy="502920"/>
          </a:xfrm>
          <a:prstGeom prst="rect">
            <a:avLst/>
          </a:prstGeom>
          <a:noFill/>
          <a:ln/>
        </p:spPr>
        <p:txBody>
          <a:bodyPr wrap="square"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61%</a:t>
            </a:r>
            <a:endParaRPr lang="en-US" sz="3200" dirty="0"/>
          </a:p>
        </p:txBody>
      </p:sp>
      <p:sp>
        <p:nvSpPr>
          <p:cNvPr id="20" name="Shape 18"/>
          <p:cNvSpPr/>
          <p:nvPr/>
        </p:nvSpPr>
        <p:spPr>
          <a:xfrm>
            <a:off x="672084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1" name="Shape 19"/>
          <p:cNvSpPr/>
          <p:nvPr/>
        </p:nvSpPr>
        <p:spPr>
          <a:xfrm>
            <a:off x="6720840" y="1005840"/>
            <a:ext cx="1920240" cy="45720"/>
          </a:xfrm>
          <a:prstGeom prst="rect">
            <a:avLst/>
          </a:prstGeom>
          <a:solidFill>
            <a:srgbClr val="DC2626"/>
          </a:solidFill>
          <a:ln/>
        </p:spPr>
      </p:sp>
      <p:sp>
        <p:nvSpPr>
          <p:cNvPr id="22" name="Text 20"/>
          <p:cNvSpPr/>
          <p:nvPr/>
        </p:nvSpPr>
        <p:spPr>
          <a:xfrm>
            <a:off x="672084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23" name="Text 21"/>
          <p:cNvSpPr/>
          <p:nvPr/>
        </p:nvSpPr>
        <p:spPr>
          <a:xfrm>
            <a:off x="6720840" y="1371600"/>
            <a:ext cx="1920240" cy="502920"/>
          </a:xfrm>
          <a:prstGeom prst="rect">
            <a:avLst/>
          </a:prstGeom>
          <a:noFill/>
          <a:ln/>
        </p:spPr>
        <p:txBody>
          <a:bodyPr wrap="square"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10.2%</a:t>
            </a:r>
            <a:endParaRPr lang="en-US" sz="3200" dirty="0"/>
          </a:p>
        </p:txBody>
      </p:sp>
      <p:sp>
        <p:nvSpPr>
          <p:cNvPr id="24" name="Shape 22"/>
          <p:cNvSpPr/>
          <p:nvPr/>
        </p:nvSpPr>
        <p:spPr>
          <a:xfrm>
            <a:off x="274320" y="2240280"/>
            <a:ext cx="8595360" cy="1371600"/>
          </a:xfrm>
          <a:prstGeom prst="rect">
            <a:avLst/>
          </a:prstGeom>
          <a:solidFill>
            <a:srgbClr val="E8EFF8"/>
          </a:solidFill>
          <a:ln/>
          <a:effectLst>
            <a:outerShdw sx="100000" sy="100000" kx="0" ky="0" algn="bl" rotWithShape="0" blurRad="50800" dist="25400" dir="8100000">
              <a:srgbClr val="000000">
                <a:alpha val="10000"/>
              </a:srgbClr>
            </a:outerShdw>
          </a:effectLst>
        </p:spPr>
      </p:sp>
      <p:sp>
        <p:nvSpPr>
          <p:cNvPr id="25" name="Text 23"/>
          <p:cNvSpPr/>
          <p:nvPr/>
        </p:nvSpPr>
        <p:spPr>
          <a:xfrm>
            <a:off x="457200" y="2331720"/>
            <a:ext cx="8229600" cy="320040"/>
          </a:xfrm>
          <a:prstGeom prst="rect">
            <a:avLst/>
          </a:prstGeom>
          <a:noFill/>
          <a:ln/>
        </p:spPr>
        <p:txBody>
          <a:bodyPr wrap="square" rtlCol="0" anchor="ctr"/>
          <a:lstStyle/>
          <a:p>
            <a:pPr indent="0" marL="0">
              <a:buNone/>
            </a:pPr>
            <a:r>
              <a:rPr lang="en-US" sz="1200" b="1" dirty="0">
                <a:solidFill>
                  <a:srgbClr val="1A2744"/>
                </a:solidFill>
                <a:latin typeface="Arial" pitchFamily="34" charset="0"/>
                <a:ea typeface="Arial" pitchFamily="34" charset="-122"/>
                <a:cs typeface="Arial" pitchFamily="34" charset="-120"/>
              </a:rPr>
              <a:t>総合評価コメント</a:t>
            </a:r>
            <a:endParaRPr lang="en-US" sz="1200" dirty="0"/>
          </a:p>
        </p:txBody>
      </p:sp>
      <p:sp>
        <p:nvSpPr>
          <p:cNvPr id="26" name="Text 24"/>
          <p:cNvSpPr/>
          <p:nvPr/>
        </p:nvSpPr>
        <p:spPr>
          <a:xfrm>
            <a:off x="457200" y="2697480"/>
            <a:ext cx="8229600" cy="822960"/>
          </a:xfrm>
          <a:prstGeom prst="rect">
            <a:avLst/>
          </a:prstGeom>
          <a:noFill/>
          <a:ln/>
        </p:spPr>
        <p:txBody>
          <a:bodyPr wrap="square" rtlCol="0" anchor="ctr"/>
          <a:lstStyle/>
          <a:p>
            <a:pPr indent="0" marL="0">
              <a:buNone/>
            </a:pPr>
            <a:r>
              <a:rPr lang="en-US" sz="1100" dirty="0">
                <a:solidFill>
                  <a:srgbClr val="334155"/>
                </a:solidFill>
                <a:latin typeface="Arial" pitchFamily="34" charset="0"/>
                <a:ea typeface="Arial" pitchFamily="34" charset="-122"/>
                <a:cs typeface="Arial" pitchFamily="34" charset="-120"/>
              </a:rPr>
              <a:t>アパホテル蒲田駅東は分析対象59件の口コミで、10点換算平均7.32点（要改善）を記録。高評価（8〜10点）が36件（61%）、低評価（1〜4点）が6件（10.2%）。5サイトにわたる評価傾向を分析しました。</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サイト別口コミ評価</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分析サイト数: 5サイト</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1719072"/>
                <a:gridCol w="1719072"/>
                <a:gridCol w="1719072"/>
                <a:gridCol w="1719072"/>
                <a:gridCol w="1719072"/>
              </a:tblGrid>
              <a:tr h="41148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サイト名</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件数</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ネイティブ評価</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10pt換算平均</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評価判定</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Google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18件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3.89/5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7.78点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Booking.com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17件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7.47/10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7.47点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要改善</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Agoda</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16件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6.69/10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6.69点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要改善</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じゃらん</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3.75/5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7.5点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楽天トラベル</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3.5/5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7点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要改善</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スコア分布分析</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10点換算スコアの分布状況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
        <p:nvSpPr>
          <p:cNvPr id="8" name="Shape 6"/>
          <p:cNvSpPr/>
          <p:nvPr/>
        </p:nvSpPr>
        <p:spPr>
          <a:xfrm>
            <a:off x="457200" y="3569818"/>
            <a:ext cx="685800" cy="819302"/>
          </a:xfrm>
          <a:prstGeom prst="rect">
            <a:avLst/>
          </a:prstGeom>
          <a:solidFill>
            <a:srgbClr val="16A34A"/>
          </a:solidFill>
          <a:ln/>
        </p:spPr>
      </p:sp>
      <p:sp>
        <p:nvSpPr>
          <p:cNvPr id="9" name="Text 7"/>
          <p:cNvSpPr/>
          <p:nvPr/>
        </p:nvSpPr>
        <p:spPr>
          <a:xfrm>
            <a:off x="4114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10点</a:t>
            </a:r>
            <a:endParaRPr lang="en-US" sz="900" dirty="0"/>
          </a:p>
        </p:txBody>
      </p:sp>
      <p:sp>
        <p:nvSpPr>
          <p:cNvPr id="10" name="Text 8"/>
          <p:cNvSpPr/>
          <p:nvPr/>
        </p:nvSpPr>
        <p:spPr>
          <a:xfrm>
            <a:off x="365760" y="3341218"/>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13.6%</a:t>
            </a:r>
            <a:endParaRPr lang="en-US" sz="800" dirty="0"/>
          </a:p>
        </p:txBody>
      </p:sp>
      <p:sp>
        <p:nvSpPr>
          <p:cNvPr id="11" name="Text 9"/>
          <p:cNvSpPr/>
          <p:nvPr/>
        </p:nvSpPr>
        <p:spPr>
          <a:xfrm>
            <a:off x="365760" y="3112618"/>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8件</a:t>
            </a:r>
            <a:endParaRPr lang="en-US" sz="800" dirty="0"/>
          </a:p>
        </p:txBody>
      </p:sp>
      <p:sp>
        <p:nvSpPr>
          <p:cNvPr id="12" name="Shape 10"/>
          <p:cNvSpPr/>
          <p:nvPr/>
        </p:nvSpPr>
        <p:spPr>
          <a:xfrm>
            <a:off x="1325880" y="4081882"/>
            <a:ext cx="685800" cy="307238"/>
          </a:xfrm>
          <a:prstGeom prst="rect">
            <a:avLst/>
          </a:prstGeom>
          <a:solidFill>
            <a:srgbClr val="16A34A"/>
          </a:solidFill>
          <a:ln/>
        </p:spPr>
      </p:sp>
      <p:sp>
        <p:nvSpPr>
          <p:cNvPr id="13" name="Text 11"/>
          <p:cNvSpPr/>
          <p:nvPr/>
        </p:nvSpPr>
        <p:spPr>
          <a:xfrm>
            <a:off x="12801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9点</a:t>
            </a:r>
            <a:endParaRPr lang="en-US" sz="900" dirty="0"/>
          </a:p>
        </p:txBody>
      </p:sp>
      <p:sp>
        <p:nvSpPr>
          <p:cNvPr id="14" name="Text 12"/>
          <p:cNvSpPr/>
          <p:nvPr/>
        </p:nvSpPr>
        <p:spPr>
          <a:xfrm>
            <a:off x="1234440" y="3853282"/>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5.1%</a:t>
            </a:r>
            <a:endParaRPr lang="en-US" sz="800" dirty="0"/>
          </a:p>
        </p:txBody>
      </p:sp>
      <p:sp>
        <p:nvSpPr>
          <p:cNvPr id="15" name="Text 13"/>
          <p:cNvSpPr/>
          <p:nvPr/>
        </p:nvSpPr>
        <p:spPr>
          <a:xfrm>
            <a:off x="1234440" y="3624682"/>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3件</a:t>
            </a:r>
            <a:endParaRPr lang="en-US" sz="800" dirty="0"/>
          </a:p>
        </p:txBody>
      </p:sp>
      <p:sp>
        <p:nvSpPr>
          <p:cNvPr id="16" name="Shape 14"/>
          <p:cNvSpPr/>
          <p:nvPr/>
        </p:nvSpPr>
        <p:spPr>
          <a:xfrm>
            <a:off x="2194560" y="1828800"/>
            <a:ext cx="685800" cy="2560320"/>
          </a:xfrm>
          <a:prstGeom prst="rect">
            <a:avLst/>
          </a:prstGeom>
          <a:solidFill>
            <a:srgbClr val="16A34A"/>
          </a:solidFill>
          <a:ln/>
        </p:spPr>
      </p:sp>
      <p:sp>
        <p:nvSpPr>
          <p:cNvPr id="17" name="Text 15"/>
          <p:cNvSpPr/>
          <p:nvPr/>
        </p:nvSpPr>
        <p:spPr>
          <a:xfrm>
            <a:off x="214884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8点</a:t>
            </a:r>
            <a:endParaRPr lang="en-US" sz="900" dirty="0"/>
          </a:p>
        </p:txBody>
      </p:sp>
      <p:sp>
        <p:nvSpPr>
          <p:cNvPr id="18" name="Text 16"/>
          <p:cNvSpPr/>
          <p:nvPr/>
        </p:nvSpPr>
        <p:spPr>
          <a:xfrm>
            <a:off x="2103120" y="16002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42.4%</a:t>
            </a:r>
            <a:endParaRPr lang="en-US" sz="800" dirty="0"/>
          </a:p>
        </p:txBody>
      </p:sp>
      <p:sp>
        <p:nvSpPr>
          <p:cNvPr id="19" name="Text 17"/>
          <p:cNvSpPr/>
          <p:nvPr/>
        </p:nvSpPr>
        <p:spPr>
          <a:xfrm>
            <a:off x="2103120" y="13716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25件</a:t>
            </a:r>
            <a:endParaRPr lang="en-US" sz="800" dirty="0"/>
          </a:p>
        </p:txBody>
      </p:sp>
      <p:sp>
        <p:nvSpPr>
          <p:cNvPr id="20" name="Shape 18"/>
          <p:cNvSpPr/>
          <p:nvPr/>
        </p:nvSpPr>
        <p:spPr>
          <a:xfrm>
            <a:off x="3063240" y="3877056"/>
            <a:ext cx="685800" cy="512064"/>
          </a:xfrm>
          <a:prstGeom prst="rect">
            <a:avLst/>
          </a:prstGeom>
          <a:solidFill>
            <a:srgbClr val="3B7DD8"/>
          </a:solidFill>
          <a:ln/>
        </p:spPr>
      </p:sp>
      <p:sp>
        <p:nvSpPr>
          <p:cNvPr id="21" name="Text 19"/>
          <p:cNvSpPr/>
          <p:nvPr/>
        </p:nvSpPr>
        <p:spPr>
          <a:xfrm>
            <a:off x="301752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7点</a:t>
            </a:r>
            <a:endParaRPr lang="en-US" sz="900" dirty="0"/>
          </a:p>
        </p:txBody>
      </p:sp>
      <p:sp>
        <p:nvSpPr>
          <p:cNvPr id="22" name="Text 20"/>
          <p:cNvSpPr/>
          <p:nvPr/>
        </p:nvSpPr>
        <p:spPr>
          <a:xfrm>
            <a:off x="2971800" y="3648456"/>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8.5%</a:t>
            </a:r>
            <a:endParaRPr lang="en-US" sz="800" dirty="0"/>
          </a:p>
        </p:txBody>
      </p:sp>
      <p:sp>
        <p:nvSpPr>
          <p:cNvPr id="23" name="Text 21"/>
          <p:cNvSpPr/>
          <p:nvPr/>
        </p:nvSpPr>
        <p:spPr>
          <a:xfrm>
            <a:off x="2971800" y="3419856"/>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5件</a:t>
            </a:r>
            <a:endParaRPr lang="en-US" sz="800" dirty="0"/>
          </a:p>
        </p:txBody>
      </p:sp>
      <p:sp>
        <p:nvSpPr>
          <p:cNvPr id="24" name="Shape 22"/>
          <p:cNvSpPr/>
          <p:nvPr/>
        </p:nvSpPr>
        <p:spPr>
          <a:xfrm>
            <a:off x="3931920" y="3467405"/>
            <a:ext cx="685800" cy="921715"/>
          </a:xfrm>
          <a:prstGeom prst="rect">
            <a:avLst/>
          </a:prstGeom>
          <a:solidFill>
            <a:srgbClr val="3B7DD8"/>
          </a:solidFill>
          <a:ln/>
        </p:spPr>
      </p:sp>
      <p:sp>
        <p:nvSpPr>
          <p:cNvPr id="25" name="Text 23"/>
          <p:cNvSpPr/>
          <p:nvPr/>
        </p:nvSpPr>
        <p:spPr>
          <a:xfrm>
            <a:off x="388620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6点</a:t>
            </a:r>
            <a:endParaRPr lang="en-US" sz="900" dirty="0"/>
          </a:p>
        </p:txBody>
      </p:sp>
      <p:sp>
        <p:nvSpPr>
          <p:cNvPr id="26" name="Text 24"/>
          <p:cNvSpPr/>
          <p:nvPr/>
        </p:nvSpPr>
        <p:spPr>
          <a:xfrm>
            <a:off x="3840480" y="3238805"/>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15.3%</a:t>
            </a:r>
            <a:endParaRPr lang="en-US" sz="800" dirty="0"/>
          </a:p>
        </p:txBody>
      </p:sp>
      <p:sp>
        <p:nvSpPr>
          <p:cNvPr id="27" name="Text 25"/>
          <p:cNvSpPr/>
          <p:nvPr/>
        </p:nvSpPr>
        <p:spPr>
          <a:xfrm>
            <a:off x="3840480" y="3010205"/>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9件</a:t>
            </a:r>
            <a:endParaRPr lang="en-US" sz="800" dirty="0"/>
          </a:p>
        </p:txBody>
      </p:sp>
      <p:sp>
        <p:nvSpPr>
          <p:cNvPr id="28" name="Shape 26"/>
          <p:cNvSpPr/>
          <p:nvPr/>
        </p:nvSpPr>
        <p:spPr>
          <a:xfrm>
            <a:off x="4800600" y="4081882"/>
            <a:ext cx="685800" cy="307238"/>
          </a:xfrm>
          <a:prstGeom prst="rect">
            <a:avLst/>
          </a:prstGeom>
          <a:solidFill>
            <a:srgbClr val="3B7DD8"/>
          </a:solidFill>
          <a:ln/>
        </p:spPr>
      </p:sp>
      <p:sp>
        <p:nvSpPr>
          <p:cNvPr id="29" name="Text 27"/>
          <p:cNvSpPr/>
          <p:nvPr/>
        </p:nvSpPr>
        <p:spPr>
          <a:xfrm>
            <a:off x="47548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5点</a:t>
            </a:r>
            <a:endParaRPr lang="en-US" sz="900" dirty="0"/>
          </a:p>
        </p:txBody>
      </p:sp>
      <p:sp>
        <p:nvSpPr>
          <p:cNvPr id="30" name="Text 28"/>
          <p:cNvSpPr/>
          <p:nvPr/>
        </p:nvSpPr>
        <p:spPr>
          <a:xfrm>
            <a:off x="4709160" y="3853282"/>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5.1%</a:t>
            </a:r>
            <a:endParaRPr lang="en-US" sz="800" dirty="0"/>
          </a:p>
        </p:txBody>
      </p:sp>
      <p:sp>
        <p:nvSpPr>
          <p:cNvPr id="31" name="Text 29"/>
          <p:cNvSpPr/>
          <p:nvPr/>
        </p:nvSpPr>
        <p:spPr>
          <a:xfrm>
            <a:off x="4709160" y="3624682"/>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3件</a:t>
            </a:r>
            <a:endParaRPr lang="en-US" sz="800" dirty="0"/>
          </a:p>
        </p:txBody>
      </p:sp>
      <p:sp>
        <p:nvSpPr>
          <p:cNvPr id="32" name="Shape 30"/>
          <p:cNvSpPr/>
          <p:nvPr/>
        </p:nvSpPr>
        <p:spPr>
          <a:xfrm>
            <a:off x="5669280" y="3979469"/>
            <a:ext cx="685800" cy="409651"/>
          </a:xfrm>
          <a:prstGeom prst="rect">
            <a:avLst/>
          </a:prstGeom>
          <a:solidFill>
            <a:srgbClr val="DC2626"/>
          </a:solidFill>
          <a:ln/>
        </p:spPr>
      </p:sp>
      <p:sp>
        <p:nvSpPr>
          <p:cNvPr id="33" name="Text 31"/>
          <p:cNvSpPr/>
          <p:nvPr/>
        </p:nvSpPr>
        <p:spPr>
          <a:xfrm>
            <a:off x="56235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4点</a:t>
            </a:r>
            <a:endParaRPr lang="en-US" sz="900" dirty="0"/>
          </a:p>
        </p:txBody>
      </p:sp>
      <p:sp>
        <p:nvSpPr>
          <p:cNvPr id="34" name="Text 32"/>
          <p:cNvSpPr/>
          <p:nvPr/>
        </p:nvSpPr>
        <p:spPr>
          <a:xfrm>
            <a:off x="5577840" y="3750869"/>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6.8%</a:t>
            </a:r>
            <a:endParaRPr lang="en-US" sz="800" dirty="0"/>
          </a:p>
        </p:txBody>
      </p:sp>
      <p:sp>
        <p:nvSpPr>
          <p:cNvPr id="35" name="Text 33"/>
          <p:cNvSpPr/>
          <p:nvPr/>
        </p:nvSpPr>
        <p:spPr>
          <a:xfrm>
            <a:off x="5577840" y="3522269"/>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4件</a:t>
            </a:r>
            <a:endParaRPr lang="en-US" sz="800" dirty="0"/>
          </a:p>
        </p:txBody>
      </p:sp>
      <p:sp>
        <p:nvSpPr>
          <p:cNvPr id="36" name="Shape 34"/>
          <p:cNvSpPr/>
          <p:nvPr/>
        </p:nvSpPr>
        <p:spPr>
          <a:xfrm>
            <a:off x="6537960" y="4286707"/>
            <a:ext cx="685800" cy="102413"/>
          </a:xfrm>
          <a:prstGeom prst="rect">
            <a:avLst/>
          </a:prstGeom>
          <a:solidFill>
            <a:srgbClr val="DC2626"/>
          </a:solidFill>
          <a:ln/>
        </p:spPr>
      </p:sp>
      <p:sp>
        <p:nvSpPr>
          <p:cNvPr id="37" name="Text 35"/>
          <p:cNvSpPr/>
          <p:nvPr/>
        </p:nvSpPr>
        <p:spPr>
          <a:xfrm>
            <a:off x="649224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3点</a:t>
            </a:r>
            <a:endParaRPr lang="en-US" sz="900" dirty="0"/>
          </a:p>
        </p:txBody>
      </p:sp>
      <p:sp>
        <p:nvSpPr>
          <p:cNvPr id="38" name="Text 36"/>
          <p:cNvSpPr/>
          <p:nvPr/>
        </p:nvSpPr>
        <p:spPr>
          <a:xfrm>
            <a:off x="6446520" y="4058107"/>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1.7%</a:t>
            </a:r>
            <a:endParaRPr lang="en-US" sz="800" dirty="0"/>
          </a:p>
        </p:txBody>
      </p:sp>
      <p:sp>
        <p:nvSpPr>
          <p:cNvPr id="39" name="Text 37"/>
          <p:cNvSpPr/>
          <p:nvPr/>
        </p:nvSpPr>
        <p:spPr>
          <a:xfrm>
            <a:off x="6446520" y="3829507"/>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1件</a:t>
            </a:r>
            <a:endParaRPr lang="en-US" sz="800" dirty="0"/>
          </a:p>
        </p:txBody>
      </p:sp>
      <p:sp>
        <p:nvSpPr>
          <p:cNvPr id="40" name="Shape 38"/>
          <p:cNvSpPr/>
          <p:nvPr/>
        </p:nvSpPr>
        <p:spPr>
          <a:xfrm>
            <a:off x="365760" y="4389120"/>
            <a:ext cx="8412480" cy="0"/>
          </a:xfrm>
          <a:prstGeom prst="line">
            <a:avLst/>
          </a:prstGeom>
          <a:noFill/>
          <a:ln w="12700">
            <a:solidFill>
              <a:srgbClr val="94A3B8"/>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代表的な口コミコメント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高評価・低評価の声</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
        <p:nvSpPr>
          <p:cNvPr id="8" name="Shape 6"/>
          <p:cNvSpPr/>
          <p:nvPr/>
        </p:nvSpPr>
        <p:spPr>
          <a:xfrm>
            <a:off x="274320" y="914400"/>
            <a:ext cx="4114800" cy="320040"/>
          </a:xfrm>
          <a:prstGeom prst="rect">
            <a:avLst/>
          </a:prstGeom>
          <a:solidFill>
            <a:srgbClr val="DCFCE7"/>
          </a:solidFill>
          <a:ln/>
        </p:spPr>
      </p:sp>
      <p:sp>
        <p:nvSpPr>
          <p:cNvPr id="9" name="Text 7"/>
          <p:cNvSpPr/>
          <p:nvPr/>
        </p:nvSpPr>
        <p:spPr>
          <a:xfrm>
            <a:off x="365760" y="914400"/>
            <a:ext cx="3931920" cy="320040"/>
          </a:xfrm>
          <a:prstGeom prst="rect">
            <a:avLst/>
          </a:prstGeom>
          <a:noFill/>
          <a:ln/>
        </p:spPr>
        <p:txBody>
          <a:bodyPr wrap="square" rtlCol="0" anchor="ctr"/>
          <a:lstStyle/>
          <a:p>
            <a:pPr indent="0" marL="0">
              <a:buNone/>
            </a:pPr>
            <a:r>
              <a:rPr lang="en-US" sz="1100" b="1" dirty="0">
                <a:solidFill>
                  <a:srgbClr val="16A34A"/>
                </a:solidFill>
                <a:latin typeface="Arial" pitchFamily="34" charset="0"/>
                <a:ea typeface="Arial" pitchFamily="34" charset="-122"/>
                <a:cs typeface="Arial" pitchFamily="34" charset="-120"/>
              </a:rPr>
              <a:t>高評価コメント（8〜10点）</a:t>
            </a:r>
            <a:endParaRPr lang="en-US" sz="1100" dirty="0"/>
          </a:p>
        </p:txBody>
      </p:sp>
      <p:sp>
        <p:nvSpPr>
          <p:cNvPr id="10" name="Shape 8"/>
          <p:cNvSpPr/>
          <p:nvPr/>
        </p:nvSpPr>
        <p:spPr>
          <a:xfrm>
            <a:off x="27432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Text 9"/>
          <p:cNvSpPr/>
          <p:nvPr/>
        </p:nvSpPr>
        <p:spPr>
          <a:xfrm>
            <a:off x="365760" y="137160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Booking.com / 8点</a:t>
            </a:r>
            <a:endParaRPr lang="en-US" sz="800" dirty="0"/>
          </a:p>
        </p:txBody>
      </p:sp>
      <p:sp>
        <p:nvSpPr>
          <p:cNvPr id="12" name="Text 10"/>
          <p:cNvSpPr/>
          <p:nvPr/>
        </p:nvSpPr>
        <p:spPr>
          <a:xfrm>
            <a:off x="36576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立地は最高で、JR蒲田駅と京急蒲田駅のちょうど中間地点に位置していました。京急蒲田駅からは、途中まで屋根付きの商店街があり、大きな荷物を運ぶのに便利なエスカレーターもありました。部屋自体はまあまあで、狭いながらもAPAホテルとしては標準的で</a:t>
            </a:r>
            <a:endParaRPr lang="en-US" sz="900" dirty="0"/>
          </a:p>
        </p:txBody>
      </p:sp>
      <p:sp>
        <p:nvSpPr>
          <p:cNvPr id="13" name="Shape 11"/>
          <p:cNvSpPr/>
          <p:nvPr/>
        </p:nvSpPr>
        <p:spPr>
          <a:xfrm>
            <a:off x="27432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Text 12"/>
          <p:cNvSpPr/>
          <p:nvPr/>
        </p:nvSpPr>
        <p:spPr>
          <a:xfrm>
            <a:off x="365760" y="219456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Booking.com / 10点</a:t>
            </a:r>
            <a:endParaRPr lang="en-US" sz="800" dirty="0"/>
          </a:p>
        </p:txBody>
      </p:sp>
      <p:sp>
        <p:nvSpPr>
          <p:cNvPr id="15" name="Text 13"/>
          <p:cNvSpPr/>
          <p:nvPr/>
        </p:nvSpPr>
        <p:spPr>
          <a:xfrm>
            <a:off x="36576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クリーン</a:t>
            </a:r>
            <a:endParaRPr lang="en-US" sz="900" dirty="0"/>
          </a:p>
        </p:txBody>
      </p:sp>
      <p:sp>
        <p:nvSpPr>
          <p:cNvPr id="16" name="Shape 14"/>
          <p:cNvSpPr/>
          <p:nvPr/>
        </p:nvSpPr>
        <p:spPr>
          <a:xfrm>
            <a:off x="27432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Text 15"/>
          <p:cNvSpPr/>
          <p:nvPr/>
        </p:nvSpPr>
        <p:spPr>
          <a:xfrm>
            <a:off x="365760" y="301752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Agoda / 9点</a:t>
            </a:r>
            <a:endParaRPr lang="en-US" sz="800" dirty="0"/>
          </a:p>
        </p:txBody>
      </p:sp>
      <p:sp>
        <p:nvSpPr>
          <p:cNvPr id="18" name="Text 16"/>
          <p:cNvSpPr/>
          <p:nvPr/>
        </p:nvSpPr>
        <p:spPr>
          <a:xfrm>
            <a:off x="36576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駅からすぐの場所にあり、電車移動も便利 ホテルには駐車場が3台分有りますが予約はできません。 でもすぐ近所に有るホールの地下駐車場が格安なので車で来られる方にもお勧めです。</a:t>
            </a:r>
            <a:endParaRPr lang="en-US" sz="900" dirty="0"/>
          </a:p>
        </p:txBody>
      </p:sp>
      <p:sp>
        <p:nvSpPr>
          <p:cNvPr id="19" name="Shape 17"/>
          <p:cNvSpPr/>
          <p:nvPr/>
        </p:nvSpPr>
        <p:spPr>
          <a:xfrm>
            <a:off x="4754880" y="914400"/>
            <a:ext cx="4114800" cy="320040"/>
          </a:xfrm>
          <a:prstGeom prst="rect">
            <a:avLst/>
          </a:prstGeom>
          <a:solidFill>
            <a:srgbClr val="FEE2E2"/>
          </a:solidFill>
          <a:ln/>
        </p:spPr>
      </p:sp>
      <p:sp>
        <p:nvSpPr>
          <p:cNvPr id="20" name="Text 18"/>
          <p:cNvSpPr/>
          <p:nvPr/>
        </p:nvSpPr>
        <p:spPr>
          <a:xfrm>
            <a:off x="4846320" y="914400"/>
            <a:ext cx="3931920" cy="320040"/>
          </a:xfrm>
          <a:prstGeom prst="rect">
            <a:avLst/>
          </a:prstGeom>
          <a:noFill/>
          <a:ln/>
        </p:spPr>
        <p:txBody>
          <a:bodyPr wrap="square" rtlCol="0" anchor="ctr"/>
          <a:lstStyle/>
          <a:p>
            <a:pPr indent="0" marL="0">
              <a:buNone/>
            </a:pPr>
            <a:r>
              <a:rPr lang="en-US" sz="1100" b="1" dirty="0">
                <a:solidFill>
                  <a:srgbClr val="DC2626"/>
                </a:solidFill>
                <a:latin typeface="Arial" pitchFamily="34" charset="0"/>
                <a:ea typeface="Arial" pitchFamily="34" charset="-122"/>
                <a:cs typeface="Arial" pitchFamily="34" charset="-120"/>
              </a:rPr>
              <a:t>低評価コメント（1〜4点）</a:t>
            </a:r>
            <a:endParaRPr lang="en-US" sz="1100" dirty="0"/>
          </a:p>
        </p:txBody>
      </p:sp>
      <p:sp>
        <p:nvSpPr>
          <p:cNvPr id="21" name="Shape 19"/>
          <p:cNvSpPr/>
          <p:nvPr/>
        </p:nvSpPr>
        <p:spPr>
          <a:xfrm>
            <a:off x="475488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Text 20"/>
          <p:cNvSpPr/>
          <p:nvPr/>
        </p:nvSpPr>
        <p:spPr>
          <a:xfrm>
            <a:off x="4846320" y="137160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Agoda / 5点</a:t>
            </a:r>
            <a:endParaRPr lang="en-US" sz="800" dirty="0"/>
          </a:p>
        </p:txBody>
      </p:sp>
      <p:sp>
        <p:nvSpPr>
          <p:cNvPr id="23" name="Text 21"/>
          <p:cNvSpPr/>
          <p:nvPr/>
        </p:nvSpPr>
        <p:spPr>
          <a:xfrm>
            <a:off x="484632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a:t>
            </a:r>
            <a:endParaRPr lang="en-US" sz="900" dirty="0"/>
          </a:p>
        </p:txBody>
      </p:sp>
      <p:sp>
        <p:nvSpPr>
          <p:cNvPr id="24" name="Shape 22"/>
          <p:cNvSpPr/>
          <p:nvPr/>
        </p:nvSpPr>
        <p:spPr>
          <a:xfrm>
            <a:off x="475488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Text 23"/>
          <p:cNvSpPr/>
          <p:nvPr/>
        </p:nvSpPr>
        <p:spPr>
          <a:xfrm>
            <a:off x="4846320" y="219456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Booking.com / 5点</a:t>
            </a:r>
            <a:endParaRPr lang="en-US" sz="800" dirty="0"/>
          </a:p>
        </p:txBody>
      </p:sp>
      <p:sp>
        <p:nvSpPr>
          <p:cNvPr id="26" name="Text 24"/>
          <p:cNvSpPr/>
          <p:nvPr/>
        </p:nvSpPr>
        <p:spPr>
          <a:xfrm>
            <a:off x="484632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駅に近い。</a:t>
            </a:r>
            <a:endParaRPr lang="en-US" sz="900" dirty="0"/>
          </a:p>
        </p:txBody>
      </p:sp>
      <p:sp>
        <p:nvSpPr>
          <p:cNvPr id="27" name="Shape 25"/>
          <p:cNvSpPr/>
          <p:nvPr/>
        </p:nvSpPr>
        <p:spPr>
          <a:xfrm>
            <a:off x="475488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8" name="Text 26"/>
          <p:cNvSpPr/>
          <p:nvPr/>
        </p:nvSpPr>
        <p:spPr>
          <a:xfrm>
            <a:off x="4846320" y="301752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Agoda / 3点</a:t>
            </a:r>
            <a:endParaRPr lang="en-US" sz="800" dirty="0"/>
          </a:p>
        </p:txBody>
      </p:sp>
      <p:sp>
        <p:nvSpPr>
          <p:cNvPr id="29" name="Text 27"/>
          <p:cNvSpPr/>
          <p:nvPr/>
        </p:nvSpPr>
        <p:spPr>
          <a:xfrm>
            <a:off x="484632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このホテルには化粧水も乳液もアフターシェーブローションもありません。 急な宿泊だったので、自分のは持って行けなかったのですが、今までのホテルは大概あったので、油断しました。</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改善施策提案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Phase別アクションプラン</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
        <p:nvSpPr>
          <p:cNvPr id="8" name="Shape 6"/>
          <p:cNvSpPr/>
          <p:nvPr/>
        </p:nvSpPr>
        <p:spPr>
          <a:xfrm>
            <a:off x="274320" y="914400"/>
            <a:ext cx="2743200" cy="502920"/>
          </a:xfrm>
          <a:prstGeom prst="rect">
            <a:avLst/>
          </a:prstGeom>
          <a:solidFill>
            <a:srgbClr val="DC2626"/>
          </a:solidFill>
          <a:ln/>
        </p:spPr>
      </p:sp>
      <p:sp>
        <p:nvSpPr>
          <p:cNvPr id="9" name="Text 7"/>
          <p:cNvSpPr/>
          <p:nvPr/>
        </p:nvSpPr>
        <p:spPr>
          <a:xfrm>
            <a:off x="3657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8"/>
          <p:cNvSpPr/>
          <p:nvPr/>
        </p:nvSpPr>
        <p:spPr>
          <a:xfrm>
            <a:off x="3657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即座対応（〜1ヶ月）</a:t>
            </a:r>
            <a:endParaRPr lang="en-US" sz="900" dirty="0"/>
          </a:p>
        </p:txBody>
      </p:sp>
      <p:sp>
        <p:nvSpPr>
          <p:cNvPr id="11" name="Shape 9"/>
          <p:cNvSpPr/>
          <p:nvPr/>
        </p:nvSpPr>
        <p:spPr>
          <a:xfrm>
            <a:off x="2743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2" name="Shape 10"/>
          <p:cNvSpPr/>
          <p:nvPr/>
        </p:nvSpPr>
        <p:spPr>
          <a:xfrm>
            <a:off x="274320" y="1554480"/>
            <a:ext cx="73152" cy="640080"/>
          </a:xfrm>
          <a:prstGeom prst="rect">
            <a:avLst/>
          </a:prstGeom>
          <a:solidFill>
            <a:srgbClr val="DC2626"/>
          </a:solidFill>
          <a:ln/>
        </p:spPr>
      </p:sp>
      <p:sp>
        <p:nvSpPr>
          <p:cNvPr id="13" name="Text 11"/>
          <p:cNvSpPr/>
          <p:nvPr/>
        </p:nvSpPr>
        <p:spPr>
          <a:xfrm>
            <a:off x="4114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口コミ全件返信（48h）</a:t>
            </a:r>
            <a:endParaRPr lang="en-US" sz="1000" dirty="0"/>
          </a:p>
        </p:txBody>
      </p:sp>
      <p:sp>
        <p:nvSpPr>
          <p:cNvPr id="14" name="Shape 12"/>
          <p:cNvSpPr/>
          <p:nvPr/>
        </p:nvSpPr>
        <p:spPr>
          <a:xfrm>
            <a:off x="2743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274320" y="2286000"/>
            <a:ext cx="73152" cy="640080"/>
          </a:xfrm>
          <a:prstGeom prst="rect">
            <a:avLst/>
          </a:prstGeom>
          <a:solidFill>
            <a:srgbClr val="DC2626"/>
          </a:solidFill>
          <a:ln/>
        </p:spPr>
      </p:sp>
      <p:sp>
        <p:nvSpPr>
          <p:cNvPr id="16" name="Text 14"/>
          <p:cNvSpPr/>
          <p:nvPr/>
        </p:nvSpPr>
        <p:spPr>
          <a:xfrm>
            <a:off x="4114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清掃品質チェックリスト強化</a:t>
            </a:r>
            <a:endParaRPr lang="en-US" sz="1000" dirty="0"/>
          </a:p>
        </p:txBody>
      </p:sp>
      <p:sp>
        <p:nvSpPr>
          <p:cNvPr id="17" name="Shape 15"/>
          <p:cNvSpPr/>
          <p:nvPr/>
        </p:nvSpPr>
        <p:spPr>
          <a:xfrm>
            <a:off x="2743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274320" y="3017520"/>
            <a:ext cx="73152" cy="640080"/>
          </a:xfrm>
          <a:prstGeom prst="rect">
            <a:avLst/>
          </a:prstGeom>
          <a:solidFill>
            <a:srgbClr val="DC2626"/>
          </a:solidFill>
          <a:ln/>
        </p:spPr>
      </p:sp>
      <p:sp>
        <p:nvSpPr>
          <p:cNvPr id="19" name="Text 17"/>
          <p:cNvSpPr/>
          <p:nvPr/>
        </p:nvSpPr>
        <p:spPr>
          <a:xfrm>
            <a:off x="4114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課題の朝礼共有</a:t>
            </a:r>
            <a:endParaRPr lang="en-US" sz="1000" dirty="0"/>
          </a:p>
        </p:txBody>
      </p:sp>
      <p:sp>
        <p:nvSpPr>
          <p:cNvPr id="20" name="Shape 18"/>
          <p:cNvSpPr/>
          <p:nvPr/>
        </p:nvSpPr>
        <p:spPr>
          <a:xfrm>
            <a:off x="3246120" y="914400"/>
            <a:ext cx="2743200" cy="502920"/>
          </a:xfrm>
          <a:prstGeom prst="rect">
            <a:avLst/>
          </a:prstGeom>
          <a:solidFill>
            <a:srgbClr val="EA580C"/>
          </a:solidFill>
          <a:ln/>
        </p:spPr>
      </p:sp>
      <p:sp>
        <p:nvSpPr>
          <p:cNvPr id="21" name="Text 19"/>
          <p:cNvSpPr/>
          <p:nvPr/>
        </p:nvSpPr>
        <p:spPr>
          <a:xfrm>
            <a:off x="33375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22" name="Text 20"/>
          <p:cNvSpPr/>
          <p:nvPr/>
        </p:nvSpPr>
        <p:spPr>
          <a:xfrm>
            <a:off x="33375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短期施策（1〜3ヶ月）</a:t>
            </a:r>
            <a:endParaRPr lang="en-US" sz="900" dirty="0"/>
          </a:p>
        </p:txBody>
      </p:sp>
      <p:sp>
        <p:nvSpPr>
          <p:cNvPr id="23" name="Shape 21"/>
          <p:cNvSpPr/>
          <p:nvPr/>
        </p:nvSpPr>
        <p:spPr>
          <a:xfrm>
            <a:off x="32461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4" name="Shape 22"/>
          <p:cNvSpPr/>
          <p:nvPr/>
        </p:nvSpPr>
        <p:spPr>
          <a:xfrm>
            <a:off x="3246120" y="1554480"/>
            <a:ext cx="73152" cy="640080"/>
          </a:xfrm>
          <a:prstGeom prst="rect">
            <a:avLst/>
          </a:prstGeom>
          <a:solidFill>
            <a:srgbClr val="EA580C"/>
          </a:solidFill>
          <a:ln/>
        </p:spPr>
      </p:sp>
      <p:sp>
        <p:nvSpPr>
          <p:cNvPr id="25" name="Text 23"/>
          <p:cNvSpPr/>
          <p:nvPr/>
        </p:nvSpPr>
        <p:spPr>
          <a:xfrm>
            <a:off x="33832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OTA掲載情報最適化</a:t>
            </a:r>
            <a:endParaRPr lang="en-US" sz="1000" dirty="0"/>
          </a:p>
        </p:txBody>
      </p:sp>
      <p:sp>
        <p:nvSpPr>
          <p:cNvPr id="26" name="Shape 24"/>
          <p:cNvSpPr/>
          <p:nvPr/>
        </p:nvSpPr>
        <p:spPr>
          <a:xfrm>
            <a:off x="32461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3246120" y="2286000"/>
            <a:ext cx="73152" cy="640080"/>
          </a:xfrm>
          <a:prstGeom prst="rect">
            <a:avLst/>
          </a:prstGeom>
          <a:solidFill>
            <a:srgbClr val="EA580C"/>
          </a:solidFill>
          <a:ln/>
        </p:spPr>
      </p:sp>
      <p:sp>
        <p:nvSpPr>
          <p:cNvPr id="28" name="Text 26"/>
          <p:cNvSpPr/>
          <p:nvPr/>
        </p:nvSpPr>
        <p:spPr>
          <a:xfrm>
            <a:off x="33832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競合比較・価格戦略見直し</a:t>
            </a:r>
            <a:endParaRPr lang="en-US" sz="1000" dirty="0"/>
          </a:p>
        </p:txBody>
      </p:sp>
      <p:sp>
        <p:nvSpPr>
          <p:cNvPr id="29" name="Shape 27"/>
          <p:cNvSpPr/>
          <p:nvPr/>
        </p:nvSpPr>
        <p:spPr>
          <a:xfrm>
            <a:off x="32461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0" name="Shape 28"/>
          <p:cNvSpPr/>
          <p:nvPr/>
        </p:nvSpPr>
        <p:spPr>
          <a:xfrm>
            <a:off x="3246120" y="3017520"/>
            <a:ext cx="73152" cy="640080"/>
          </a:xfrm>
          <a:prstGeom prst="rect">
            <a:avLst/>
          </a:prstGeom>
          <a:solidFill>
            <a:srgbClr val="EA580C"/>
          </a:solidFill>
          <a:ln/>
        </p:spPr>
      </p:sp>
      <p:sp>
        <p:nvSpPr>
          <p:cNvPr id="31" name="Text 29"/>
          <p:cNvSpPr/>
          <p:nvPr/>
        </p:nvSpPr>
        <p:spPr>
          <a:xfrm>
            <a:off x="33832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アメニティ改善</a:t>
            </a:r>
            <a:endParaRPr lang="en-US" sz="1000" dirty="0"/>
          </a:p>
        </p:txBody>
      </p:sp>
      <p:sp>
        <p:nvSpPr>
          <p:cNvPr id="32" name="Shape 30"/>
          <p:cNvSpPr/>
          <p:nvPr/>
        </p:nvSpPr>
        <p:spPr>
          <a:xfrm>
            <a:off x="6217920" y="914400"/>
            <a:ext cx="2743200" cy="502920"/>
          </a:xfrm>
          <a:prstGeom prst="rect">
            <a:avLst/>
          </a:prstGeom>
          <a:solidFill>
            <a:srgbClr val="3B7DD8"/>
          </a:solidFill>
          <a:ln/>
        </p:spPr>
      </p:sp>
      <p:sp>
        <p:nvSpPr>
          <p:cNvPr id="33" name="Text 31"/>
          <p:cNvSpPr/>
          <p:nvPr/>
        </p:nvSpPr>
        <p:spPr>
          <a:xfrm>
            <a:off x="63093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34" name="Text 32"/>
          <p:cNvSpPr/>
          <p:nvPr/>
        </p:nvSpPr>
        <p:spPr>
          <a:xfrm>
            <a:off x="63093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中期施策（3〜6ヶ月）</a:t>
            </a:r>
            <a:endParaRPr lang="en-US" sz="900" dirty="0"/>
          </a:p>
        </p:txBody>
      </p:sp>
      <p:sp>
        <p:nvSpPr>
          <p:cNvPr id="35" name="Shape 33"/>
          <p:cNvSpPr/>
          <p:nvPr/>
        </p:nvSpPr>
        <p:spPr>
          <a:xfrm>
            <a:off x="62179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6" name="Shape 34"/>
          <p:cNvSpPr/>
          <p:nvPr/>
        </p:nvSpPr>
        <p:spPr>
          <a:xfrm>
            <a:off x="6217920" y="1554480"/>
            <a:ext cx="73152" cy="640080"/>
          </a:xfrm>
          <a:prstGeom prst="rect">
            <a:avLst/>
          </a:prstGeom>
          <a:solidFill>
            <a:srgbClr val="3B7DD8"/>
          </a:solidFill>
          <a:ln/>
        </p:spPr>
      </p:sp>
      <p:sp>
        <p:nvSpPr>
          <p:cNvPr id="37" name="Text 35"/>
          <p:cNvSpPr/>
          <p:nvPr/>
        </p:nvSpPr>
        <p:spPr>
          <a:xfrm>
            <a:off x="63550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施設設備の修繕計画</a:t>
            </a:r>
            <a:endParaRPr lang="en-US" sz="1000" dirty="0"/>
          </a:p>
        </p:txBody>
      </p:sp>
      <p:sp>
        <p:nvSpPr>
          <p:cNvPr id="38" name="Shape 36"/>
          <p:cNvSpPr/>
          <p:nvPr/>
        </p:nvSpPr>
        <p:spPr>
          <a:xfrm>
            <a:off x="62179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9" name="Shape 37"/>
          <p:cNvSpPr/>
          <p:nvPr/>
        </p:nvSpPr>
        <p:spPr>
          <a:xfrm>
            <a:off x="6217920" y="2286000"/>
            <a:ext cx="73152" cy="640080"/>
          </a:xfrm>
          <a:prstGeom prst="rect">
            <a:avLst/>
          </a:prstGeom>
          <a:solidFill>
            <a:srgbClr val="3B7DD8"/>
          </a:solidFill>
          <a:ln/>
        </p:spPr>
      </p:sp>
      <p:sp>
        <p:nvSpPr>
          <p:cNvPr id="40" name="Text 38"/>
          <p:cNvSpPr/>
          <p:nvPr/>
        </p:nvSpPr>
        <p:spPr>
          <a:xfrm>
            <a:off x="63550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多言語対応整備</a:t>
            </a:r>
            <a:endParaRPr lang="en-US" sz="1000" dirty="0"/>
          </a:p>
        </p:txBody>
      </p:sp>
      <p:sp>
        <p:nvSpPr>
          <p:cNvPr id="41" name="Shape 39"/>
          <p:cNvSpPr/>
          <p:nvPr/>
        </p:nvSpPr>
        <p:spPr>
          <a:xfrm>
            <a:off x="62179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2" name="Shape 40"/>
          <p:cNvSpPr/>
          <p:nvPr/>
        </p:nvSpPr>
        <p:spPr>
          <a:xfrm>
            <a:off x="6217920" y="3017520"/>
            <a:ext cx="73152" cy="640080"/>
          </a:xfrm>
          <a:prstGeom prst="rect">
            <a:avLst/>
          </a:prstGeom>
          <a:solidFill>
            <a:srgbClr val="3B7DD8"/>
          </a:solidFill>
          <a:ln/>
        </p:spPr>
      </p:sp>
      <p:sp>
        <p:nvSpPr>
          <p:cNvPr id="43" name="Text 41"/>
          <p:cNvSpPr/>
          <p:nvPr/>
        </p:nvSpPr>
        <p:spPr>
          <a:xfrm>
            <a:off x="63550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デジタル体験向上</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6ヶ月後の目標値</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
        <p:nvSpPr>
          <p:cNvPr id="8" name="Shape 6"/>
          <p:cNvSpPr/>
          <p:nvPr/>
        </p:nvSpPr>
        <p:spPr>
          <a:xfrm>
            <a:off x="27432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2011680" cy="54864"/>
          </a:xfrm>
          <a:prstGeom prst="rect">
            <a:avLst/>
          </a:prstGeom>
          <a:solidFill>
            <a:srgbClr val="3B7DD8"/>
          </a:solidFill>
          <a:ln/>
        </p:spPr>
      </p:sp>
      <p:sp>
        <p:nvSpPr>
          <p:cNvPr id="10" name="Text 8"/>
          <p:cNvSpPr/>
          <p:nvPr/>
        </p:nvSpPr>
        <p:spPr>
          <a:xfrm>
            <a:off x="36576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全体平均（10pt）</a:t>
            </a:r>
            <a:endParaRPr lang="en-US" sz="1100" dirty="0"/>
          </a:p>
        </p:txBody>
      </p:sp>
      <p:sp>
        <p:nvSpPr>
          <p:cNvPr id="11" name="Text 9"/>
          <p:cNvSpPr/>
          <p:nvPr/>
        </p:nvSpPr>
        <p:spPr>
          <a:xfrm>
            <a:off x="36576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12" name="Text 10"/>
          <p:cNvSpPr/>
          <p:nvPr/>
        </p:nvSpPr>
        <p:spPr>
          <a:xfrm>
            <a:off x="36576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7.32点</a:t>
            </a:r>
            <a:endParaRPr lang="en-US" sz="1800" dirty="0"/>
          </a:p>
        </p:txBody>
      </p:sp>
      <p:sp>
        <p:nvSpPr>
          <p:cNvPr id="13" name="Shape 11"/>
          <p:cNvSpPr/>
          <p:nvPr/>
        </p:nvSpPr>
        <p:spPr>
          <a:xfrm>
            <a:off x="548640" y="2697480"/>
            <a:ext cx="1463040" cy="0"/>
          </a:xfrm>
          <a:prstGeom prst="line">
            <a:avLst/>
          </a:prstGeom>
          <a:noFill/>
          <a:ln w="12700">
            <a:solidFill>
              <a:srgbClr val="94A3B8"/>
            </a:solidFill>
            <a:prstDash val="solid"/>
          </a:ln>
        </p:spPr>
      </p:sp>
      <p:sp>
        <p:nvSpPr>
          <p:cNvPr id="14" name="Text 12"/>
          <p:cNvSpPr/>
          <p:nvPr/>
        </p:nvSpPr>
        <p:spPr>
          <a:xfrm>
            <a:off x="36576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15" name="Text 13"/>
          <p:cNvSpPr/>
          <p:nvPr/>
        </p:nvSpPr>
        <p:spPr>
          <a:xfrm>
            <a:off x="365760" y="3017520"/>
            <a:ext cx="1828800" cy="548640"/>
          </a:xfrm>
          <a:prstGeom prst="rect">
            <a:avLst/>
          </a:prstGeom>
          <a:noFill/>
          <a:ln/>
        </p:spPr>
        <p:txBody>
          <a:bodyPr wrap="square" rtlCol="0" anchor="ctr"/>
          <a:lstStyle/>
          <a:p>
            <a:pPr algn="ctr" indent="0" marL="0">
              <a:buNone/>
            </a:pPr>
            <a:r>
              <a:rPr lang="en-US" sz="1600" b="1" dirty="0">
                <a:solidFill>
                  <a:srgbClr val="3B7DD8"/>
                </a:solidFill>
                <a:latin typeface="Arial" pitchFamily="34" charset="0"/>
                <a:ea typeface="Arial" pitchFamily="34" charset="-122"/>
                <a:cs typeface="Arial" pitchFamily="34" charset="-120"/>
              </a:rPr>
              <a:t>7.8点以上</a:t>
            </a:r>
            <a:endParaRPr lang="en-US" sz="1600" dirty="0"/>
          </a:p>
        </p:txBody>
      </p:sp>
      <p:sp>
        <p:nvSpPr>
          <p:cNvPr id="16" name="Shape 14"/>
          <p:cNvSpPr/>
          <p:nvPr/>
        </p:nvSpPr>
        <p:spPr>
          <a:xfrm>
            <a:off x="246888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2468880" y="1005840"/>
            <a:ext cx="2011680" cy="54864"/>
          </a:xfrm>
          <a:prstGeom prst="rect">
            <a:avLst/>
          </a:prstGeom>
          <a:solidFill>
            <a:srgbClr val="16A34A"/>
          </a:solidFill>
          <a:ln/>
        </p:spPr>
      </p:sp>
      <p:sp>
        <p:nvSpPr>
          <p:cNvPr id="18" name="Text 16"/>
          <p:cNvSpPr/>
          <p:nvPr/>
        </p:nvSpPr>
        <p:spPr>
          <a:xfrm>
            <a:off x="256032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高評価率</a:t>
            </a:r>
            <a:endParaRPr lang="en-US" sz="1100" dirty="0"/>
          </a:p>
        </p:txBody>
      </p:sp>
      <p:sp>
        <p:nvSpPr>
          <p:cNvPr id="19" name="Text 17"/>
          <p:cNvSpPr/>
          <p:nvPr/>
        </p:nvSpPr>
        <p:spPr>
          <a:xfrm>
            <a:off x="256032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0" name="Text 18"/>
          <p:cNvSpPr/>
          <p:nvPr/>
        </p:nvSpPr>
        <p:spPr>
          <a:xfrm>
            <a:off x="256032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61%</a:t>
            </a:r>
            <a:endParaRPr lang="en-US" sz="1800" dirty="0"/>
          </a:p>
        </p:txBody>
      </p:sp>
      <p:sp>
        <p:nvSpPr>
          <p:cNvPr id="21" name="Shape 19"/>
          <p:cNvSpPr/>
          <p:nvPr/>
        </p:nvSpPr>
        <p:spPr>
          <a:xfrm>
            <a:off x="2743200" y="2697480"/>
            <a:ext cx="1463040" cy="0"/>
          </a:xfrm>
          <a:prstGeom prst="line">
            <a:avLst/>
          </a:prstGeom>
          <a:noFill/>
          <a:ln w="12700">
            <a:solidFill>
              <a:srgbClr val="94A3B8"/>
            </a:solidFill>
            <a:prstDash val="solid"/>
          </a:ln>
        </p:spPr>
      </p:sp>
      <p:sp>
        <p:nvSpPr>
          <p:cNvPr id="22" name="Text 20"/>
          <p:cNvSpPr/>
          <p:nvPr/>
        </p:nvSpPr>
        <p:spPr>
          <a:xfrm>
            <a:off x="256032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23" name="Text 21"/>
          <p:cNvSpPr/>
          <p:nvPr/>
        </p:nvSpPr>
        <p:spPr>
          <a:xfrm>
            <a:off x="2560320" y="3017520"/>
            <a:ext cx="1828800" cy="548640"/>
          </a:xfrm>
          <a:prstGeom prst="rect">
            <a:avLst/>
          </a:prstGeom>
          <a:noFill/>
          <a:ln/>
        </p:spPr>
        <p:txBody>
          <a:bodyPr wrap="square" rtlCol="0" anchor="ctr"/>
          <a:lstStyle/>
          <a:p>
            <a:pPr algn="ctr" indent="0" marL="0">
              <a:buNone/>
            </a:pPr>
            <a:r>
              <a:rPr lang="en-US" sz="1600" b="1" dirty="0">
                <a:solidFill>
                  <a:srgbClr val="16A34A"/>
                </a:solidFill>
                <a:latin typeface="Arial" pitchFamily="34" charset="0"/>
                <a:ea typeface="Arial" pitchFamily="34" charset="-122"/>
                <a:cs typeface="Arial" pitchFamily="34" charset="-120"/>
              </a:rPr>
              <a:t>66.0%以上</a:t>
            </a:r>
            <a:endParaRPr lang="en-US" sz="1600" dirty="0"/>
          </a:p>
        </p:txBody>
      </p:sp>
      <p:sp>
        <p:nvSpPr>
          <p:cNvPr id="24" name="Shape 22"/>
          <p:cNvSpPr/>
          <p:nvPr/>
        </p:nvSpPr>
        <p:spPr>
          <a:xfrm>
            <a:off x="466344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Shape 23"/>
          <p:cNvSpPr/>
          <p:nvPr/>
        </p:nvSpPr>
        <p:spPr>
          <a:xfrm>
            <a:off x="4663440" y="1005840"/>
            <a:ext cx="2011680" cy="54864"/>
          </a:xfrm>
          <a:prstGeom prst="rect">
            <a:avLst/>
          </a:prstGeom>
          <a:solidFill>
            <a:srgbClr val="DC2626"/>
          </a:solidFill>
          <a:ln/>
        </p:spPr>
      </p:sp>
      <p:sp>
        <p:nvSpPr>
          <p:cNvPr id="26" name="Text 24"/>
          <p:cNvSpPr/>
          <p:nvPr/>
        </p:nvSpPr>
        <p:spPr>
          <a:xfrm>
            <a:off x="475488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低評価率</a:t>
            </a:r>
            <a:endParaRPr lang="en-US" sz="1100" dirty="0"/>
          </a:p>
        </p:txBody>
      </p:sp>
      <p:sp>
        <p:nvSpPr>
          <p:cNvPr id="27" name="Text 25"/>
          <p:cNvSpPr/>
          <p:nvPr/>
        </p:nvSpPr>
        <p:spPr>
          <a:xfrm>
            <a:off x="475488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8" name="Text 26"/>
          <p:cNvSpPr/>
          <p:nvPr/>
        </p:nvSpPr>
        <p:spPr>
          <a:xfrm>
            <a:off x="475488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10.2%</a:t>
            </a:r>
            <a:endParaRPr lang="en-US" sz="1800" dirty="0"/>
          </a:p>
        </p:txBody>
      </p:sp>
      <p:sp>
        <p:nvSpPr>
          <p:cNvPr id="29" name="Shape 27"/>
          <p:cNvSpPr/>
          <p:nvPr/>
        </p:nvSpPr>
        <p:spPr>
          <a:xfrm>
            <a:off x="4937760" y="2697480"/>
            <a:ext cx="1463040" cy="0"/>
          </a:xfrm>
          <a:prstGeom prst="line">
            <a:avLst/>
          </a:prstGeom>
          <a:noFill/>
          <a:ln w="12700">
            <a:solidFill>
              <a:srgbClr val="94A3B8"/>
            </a:solidFill>
            <a:prstDash val="solid"/>
          </a:ln>
        </p:spPr>
      </p:sp>
      <p:sp>
        <p:nvSpPr>
          <p:cNvPr id="30" name="Text 28"/>
          <p:cNvSpPr/>
          <p:nvPr/>
        </p:nvSpPr>
        <p:spPr>
          <a:xfrm>
            <a:off x="475488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1" name="Text 29"/>
          <p:cNvSpPr/>
          <p:nvPr/>
        </p:nvSpPr>
        <p:spPr>
          <a:xfrm>
            <a:off x="4754880" y="3017520"/>
            <a:ext cx="1828800" cy="548640"/>
          </a:xfrm>
          <a:prstGeom prst="rect">
            <a:avLst/>
          </a:prstGeom>
          <a:noFill/>
          <a:ln/>
        </p:spPr>
        <p:txBody>
          <a:bodyPr wrap="square" rtlCol="0" anchor="ctr"/>
          <a:lstStyle/>
          <a:p>
            <a:pPr algn="ctr" indent="0" marL="0">
              <a:buNone/>
            </a:pPr>
            <a:r>
              <a:rPr lang="en-US" sz="1600" b="1" dirty="0">
                <a:solidFill>
                  <a:srgbClr val="DC2626"/>
                </a:solidFill>
                <a:latin typeface="Arial" pitchFamily="34" charset="0"/>
                <a:ea typeface="Arial" pitchFamily="34" charset="-122"/>
                <a:cs typeface="Arial" pitchFamily="34" charset="-120"/>
              </a:rPr>
              <a:t>7.2%以下</a:t>
            </a:r>
            <a:endParaRPr lang="en-US" sz="1600" dirty="0"/>
          </a:p>
        </p:txBody>
      </p:sp>
      <p:sp>
        <p:nvSpPr>
          <p:cNvPr id="32" name="Shape 30"/>
          <p:cNvSpPr/>
          <p:nvPr/>
        </p:nvSpPr>
        <p:spPr>
          <a:xfrm>
            <a:off x="685800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3" name="Shape 31"/>
          <p:cNvSpPr/>
          <p:nvPr/>
        </p:nvSpPr>
        <p:spPr>
          <a:xfrm>
            <a:off x="6858000" y="1005840"/>
            <a:ext cx="2011680" cy="54864"/>
          </a:xfrm>
          <a:prstGeom prst="rect">
            <a:avLst/>
          </a:prstGeom>
          <a:solidFill>
            <a:srgbClr val="EA580C"/>
          </a:solidFill>
          <a:ln/>
        </p:spPr>
      </p:sp>
      <p:sp>
        <p:nvSpPr>
          <p:cNvPr id="34" name="Text 32"/>
          <p:cNvSpPr/>
          <p:nvPr/>
        </p:nvSpPr>
        <p:spPr>
          <a:xfrm>
            <a:off x="694944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口コミ返信率</a:t>
            </a:r>
            <a:endParaRPr lang="en-US" sz="1100" dirty="0"/>
          </a:p>
        </p:txBody>
      </p:sp>
      <p:sp>
        <p:nvSpPr>
          <p:cNvPr id="35" name="Text 33"/>
          <p:cNvSpPr/>
          <p:nvPr/>
        </p:nvSpPr>
        <p:spPr>
          <a:xfrm>
            <a:off x="694944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36" name="Text 34"/>
          <p:cNvSpPr/>
          <p:nvPr/>
        </p:nvSpPr>
        <p:spPr>
          <a:xfrm>
            <a:off x="694944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未計測</a:t>
            </a:r>
            <a:endParaRPr lang="en-US" sz="1800" dirty="0"/>
          </a:p>
        </p:txBody>
      </p:sp>
      <p:sp>
        <p:nvSpPr>
          <p:cNvPr id="37" name="Shape 35"/>
          <p:cNvSpPr/>
          <p:nvPr/>
        </p:nvSpPr>
        <p:spPr>
          <a:xfrm>
            <a:off x="7132320" y="2697480"/>
            <a:ext cx="1463040" cy="0"/>
          </a:xfrm>
          <a:prstGeom prst="line">
            <a:avLst/>
          </a:prstGeom>
          <a:noFill/>
          <a:ln w="12700">
            <a:solidFill>
              <a:srgbClr val="94A3B8"/>
            </a:solidFill>
            <a:prstDash val="solid"/>
          </a:ln>
        </p:spPr>
      </p:sp>
      <p:sp>
        <p:nvSpPr>
          <p:cNvPr id="38" name="Text 36"/>
          <p:cNvSpPr/>
          <p:nvPr/>
        </p:nvSpPr>
        <p:spPr>
          <a:xfrm>
            <a:off x="694944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9" name="Text 37"/>
          <p:cNvSpPr/>
          <p:nvPr/>
        </p:nvSpPr>
        <p:spPr>
          <a:xfrm>
            <a:off x="6949440" y="3017520"/>
            <a:ext cx="1828800" cy="548640"/>
          </a:xfrm>
          <a:prstGeom prst="rect">
            <a:avLst/>
          </a:prstGeom>
          <a:noFill/>
          <a:ln/>
        </p:spPr>
        <p:txBody>
          <a:bodyPr wrap="square" rtlCol="0" anchor="ctr"/>
          <a:lstStyle/>
          <a:p>
            <a:pPr algn="ctr" indent="0" marL="0">
              <a:buNone/>
            </a:pPr>
            <a:r>
              <a:rPr lang="en-US" sz="1600" b="1" dirty="0">
                <a:solidFill>
                  <a:srgbClr val="EA580C"/>
                </a:solidFill>
                <a:latin typeface="Arial" pitchFamily="34" charset="0"/>
                <a:ea typeface="Arial" pitchFamily="34" charset="-122"/>
                <a:cs typeface="Arial" pitchFamily="34" charset="-120"/>
              </a:rPr>
              <a:t>100%（48h以内）</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2744"/>
        </a:solidFill>
      </p:bgPr>
    </p:bg>
    <p:spTree>
      <p:nvGrpSpPr>
        <p:cNvPr id="1" name=""/>
        <p:cNvGrpSpPr/>
        <p:nvPr/>
      </p:nvGrpSpPr>
      <p:grpSpPr>
        <a:xfrm>
          <a:off x="0" y="0"/>
          <a:ext cx="0" cy="0"/>
          <a:chOff x="0" y="0"/>
          <a:chExt cx="0" cy="0"/>
        </a:xfrm>
      </p:grpSpPr>
      <p:sp>
        <p:nvSpPr>
          <p:cNvPr id="2" name="Text 0"/>
          <p:cNvSpPr/>
          <p:nvPr/>
        </p:nvSpPr>
        <p:spPr>
          <a:xfrm>
            <a:off x="457200" y="457200"/>
            <a:ext cx="8229600" cy="64008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総括と今後のアクション</a:t>
            </a:r>
            <a:endParaRPr lang="en-US" sz="2800" dirty="0"/>
          </a:p>
        </p:txBody>
      </p:sp>
      <p:sp>
        <p:nvSpPr>
          <p:cNvPr id="3" name="Shape 1"/>
          <p:cNvSpPr/>
          <p:nvPr/>
        </p:nvSpPr>
        <p:spPr>
          <a:xfrm>
            <a:off x="914400" y="1280160"/>
            <a:ext cx="7315200" cy="2560320"/>
          </a:xfrm>
          <a:prstGeom prst="rect">
            <a:avLst/>
          </a:prstGeom>
          <a:solidFill>
            <a:srgbClr val="243556"/>
          </a:solidFill>
          <a:ln/>
          <a:effectLst>
            <a:outerShdw sx="100000" sy="100000" kx="0" ky="0" algn="bl" rotWithShape="0" blurRad="50800" dist="25400" dir="8100000">
              <a:srgbClr val="000000">
                <a:alpha val="10000"/>
              </a:srgbClr>
            </a:outerShdw>
          </a:effectLst>
        </p:spPr>
      </p:sp>
      <p:sp>
        <p:nvSpPr>
          <p:cNvPr id="4" name="Shape 2"/>
          <p:cNvSpPr/>
          <p:nvPr/>
        </p:nvSpPr>
        <p:spPr>
          <a:xfrm>
            <a:off x="914400" y="1280160"/>
            <a:ext cx="64008" cy="2560320"/>
          </a:xfrm>
          <a:prstGeom prst="rect">
            <a:avLst/>
          </a:prstGeom>
          <a:solidFill>
            <a:srgbClr val="3B7DD8"/>
          </a:solidFill>
          <a:ln/>
        </p:spPr>
      </p:sp>
      <p:sp>
        <p:nvSpPr>
          <p:cNvPr id="5" name="Text 3"/>
          <p:cNvSpPr/>
          <p:nvPr/>
        </p:nvSpPr>
        <p:spPr>
          <a:xfrm>
            <a:off x="1188720" y="1371600"/>
            <a:ext cx="6858000" cy="2377440"/>
          </a:xfrm>
          <a:prstGeom prst="rect">
            <a:avLst/>
          </a:prstGeom>
          <a:noFill/>
          <a:ln/>
        </p:spPr>
        <p:txBody>
          <a:bodyPr wrap="square" rtlCol="0" anchor="t"/>
          <a:lstStyle/>
          <a:p>
            <a:pPr indent="0" marL="0">
              <a:buNone/>
            </a:pPr>
            <a:r>
              <a:rPr lang="en-US" sz="1200" dirty="0">
                <a:solidFill>
                  <a:srgbClr val="FFFFFF"/>
                </a:solidFill>
                <a:latin typeface="Arial" pitchFamily="34" charset="0"/>
                <a:ea typeface="Arial" pitchFamily="34" charset="-122"/>
                <a:cs typeface="Arial" pitchFamily="34" charset="-120"/>
              </a:rPr>
              <a:t>アパホテル蒲田駅東の口コミ分析の結果、10点換算で平均7.32点（要改善）を記録しました。</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分析対象59件のうち、高評価（8〜10点）が61%を占めており、継続的なサービス改善により更なる満足度向上が期待できます。</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本レポートの改善施策を段階的に実施し、定期的な口コミモニタリングを通じて目標達成を目指してください。</a:t>
            </a:r>
            <a:endParaRPr lang="en-US" sz="12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Hotel Consulting</dc:creator>
  <cp:lastModifiedBy>Hotel Consulting</cp:lastModifiedBy>
  <cp:revision>1</cp:revision>
  <dcterms:created xsi:type="dcterms:W3CDTF">2026-03-28T22:02:47Z</dcterms:created>
  <dcterms:modified xsi:type="dcterms:W3CDTF">2026-03-28T22:02:47Z</dcterms:modified>
</cp:coreProperties>
</file>