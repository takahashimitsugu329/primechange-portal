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3474720"/>
            <a:ext cx="9144000" cy="1668780"/>
          </a:xfrm>
          <a:prstGeom prst="rect">
            <a:avLst/>
          </a:prstGeom>
          <a:solidFill>
            <a:srgbClr val="243556"/>
          </a:solidFill>
          <a:ln/>
        </p:spPr>
      </p:sp>
      <p:sp>
        <p:nvSpPr>
          <p:cNvPr id="4" name="Shape 2"/>
          <p:cNvSpPr/>
          <p:nvPr/>
        </p:nvSpPr>
        <p:spPr>
          <a:xfrm>
            <a:off x="457200" y="1371600"/>
            <a:ext cx="73152" cy="164592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5" name="Text 3"/>
          <p:cNvSpPr/>
          <p:nvPr/>
        </p:nvSpPr>
        <p:spPr>
          <a:xfrm>
            <a:off x="685800" y="1325880"/>
            <a:ext cx="7772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口コミ分析改善レポート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685800" y="1965960"/>
            <a:ext cx="7772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アパホテル蒲田駅東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685800" y="2514600"/>
            <a:ext cx="7772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レビュー総数: 58件　全体平均: 7.34/10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457200" y="356616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作成日: 2026年3月28日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400800" y="3566160"/>
            <a:ext cx="2286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5F7F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エグゼクティブサマリー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アパホテル蒲田駅東 | 全58件分析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274320" y="1005840"/>
            <a:ext cx="2011680" cy="10058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274320" y="1005840"/>
            <a:ext cx="2011680" cy="45720"/>
          </a:xfrm>
          <a:prstGeom prst="rect">
            <a:avLst/>
          </a:prstGeom>
          <a:solidFill>
            <a:srgbClr val="EA580C"/>
          </a:solidFill>
          <a:ln/>
        </p:spPr>
      </p:sp>
      <p:sp>
        <p:nvSpPr>
          <p:cNvPr id="11" name="Text 9"/>
          <p:cNvSpPr/>
          <p:nvPr/>
        </p:nvSpPr>
        <p:spPr>
          <a:xfrm>
            <a:off x="274320" y="114300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全体平均スコア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274320" y="13716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7.34/10</a:t>
            </a:r>
            <a:endParaRPr lang="en-US" sz="3200" dirty="0"/>
          </a:p>
        </p:txBody>
      </p:sp>
      <p:sp>
        <p:nvSpPr>
          <p:cNvPr id="13" name="Shape 11"/>
          <p:cNvSpPr/>
          <p:nvPr/>
        </p:nvSpPr>
        <p:spPr>
          <a:xfrm>
            <a:off x="2468880" y="1005840"/>
            <a:ext cx="2011680" cy="10058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2468880" y="1005840"/>
            <a:ext cx="201168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5" name="Text 13"/>
          <p:cNvSpPr/>
          <p:nvPr/>
        </p:nvSpPr>
        <p:spPr>
          <a:xfrm>
            <a:off x="2468880" y="114300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高評価率(8-10点)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2468880" y="13716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62.1%</a:t>
            </a:r>
            <a:endParaRPr lang="en-US" sz="3200" dirty="0"/>
          </a:p>
        </p:txBody>
      </p:sp>
      <p:sp>
        <p:nvSpPr>
          <p:cNvPr id="17" name="Shape 15"/>
          <p:cNvSpPr/>
          <p:nvPr/>
        </p:nvSpPr>
        <p:spPr>
          <a:xfrm>
            <a:off x="4663440" y="1005840"/>
            <a:ext cx="2011680" cy="10058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4663440" y="1005840"/>
            <a:ext cx="2011680" cy="4572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19" name="Text 17"/>
          <p:cNvSpPr/>
          <p:nvPr/>
        </p:nvSpPr>
        <p:spPr>
          <a:xfrm>
            <a:off x="4663440" y="114300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中評価率(6-7点)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663440" y="13716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22.4%</a:t>
            </a:r>
            <a:endParaRPr lang="en-US" sz="3200" dirty="0"/>
          </a:p>
        </p:txBody>
      </p:sp>
      <p:sp>
        <p:nvSpPr>
          <p:cNvPr id="21" name="Shape 19"/>
          <p:cNvSpPr/>
          <p:nvPr/>
        </p:nvSpPr>
        <p:spPr>
          <a:xfrm>
            <a:off x="6858000" y="1005840"/>
            <a:ext cx="2011680" cy="10058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6858000" y="1005840"/>
            <a:ext cx="2011680" cy="4572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23" name="Text 21"/>
          <p:cNvSpPr/>
          <p:nvPr/>
        </p:nvSpPr>
        <p:spPr>
          <a:xfrm>
            <a:off x="6858000" y="114300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低評価率(~5点)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6858000" y="13716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15.5%</a:t>
            </a:r>
            <a:endParaRPr lang="en-US" sz="3200" dirty="0"/>
          </a:p>
        </p:txBody>
      </p:sp>
      <p:sp>
        <p:nvSpPr>
          <p:cNvPr id="25" name="Shape 23"/>
          <p:cNvSpPr/>
          <p:nvPr/>
        </p:nvSpPr>
        <p:spPr>
          <a:xfrm>
            <a:off x="274320" y="2240280"/>
            <a:ext cx="8595360" cy="22860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457200" y="23317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主要発見事項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457200" y="269748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全体平均スコア 7.34/10 — 概ね良好ですが改善の余地があります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457200" y="3099816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高評価(8点以上)が全体の62.1%を占めています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457200" y="3502152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低評価(5点以下)は15.5%で管理可能な水準です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457200" y="3904488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対象サイト: Booking.com / Google / Agoda / じゃらん / 楽天トラベル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5F7F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サイト別評価分析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各予約サイト・口コミサイト別スコア詳細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274320" y="914400"/>
            <a:ext cx="2286000" cy="292608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0" name="Text 8"/>
          <p:cNvSpPr/>
          <p:nvPr/>
        </p:nvSpPr>
        <p:spPr>
          <a:xfrm>
            <a:off x="274320" y="914400"/>
            <a:ext cx="2286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サイト名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2560320" y="914400"/>
            <a:ext cx="1097280" cy="292608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2" name="Text 10"/>
          <p:cNvSpPr/>
          <p:nvPr/>
        </p:nvSpPr>
        <p:spPr>
          <a:xfrm>
            <a:off x="2560320" y="914400"/>
            <a:ext cx="10972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件数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3657600" y="914400"/>
            <a:ext cx="1371600" cy="292608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4" name="Text 12"/>
          <p:cNvSpPr/>
          <p:nvPr/>
        </p:nvSpPr>
        <p:spPr>
          <a:xfrm>
            <a:off x="3657600" y="914400"/>
            <a:ext cx="1371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平均評価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5029200" y="914400"/>
            <a:ext cx="1371600" cy="292608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6" name="Text 14"/>
          <p:cNvSpPr/>
          <p:nvPr/>
        </p:nvSpPr>
        <p:spPr>
          <a:xfrm>
            <a:off x="5029200" y="914400"/>
            <a:ext cx="1371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10点換算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6400800" y="914400"/>
            <a:ext cx="1828800" cy="292608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8" name="Text 16"/>
          <p:cNvSpPr/>
          <p:nvPr/>
        </p:nvSpPr>
        <p:spPr>
          <a:xfrm>
            <a:off x="6400800" y="914400"/>
            <a:ext cx="1828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評価判定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274320" y="1207008"/>
            <a:ext cx="2286000" cy="31089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0" name="Shape 18"/>
          <p:cNvSpPr/>
          <p:nvPr/>
        </p:nvSpPr>
        <p:spPr>
          <a:xfrm>
            <a:off x="2560320" y="1207008"/>
            <a:ext cx="1097280" cy="31089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1" name="Shape 19"/>
          <p:cNvSpPr/>
          <p:nvPr/>
        </p:nvSpPr>
        <p:spPr>
          <a:xfrm>
            <a:off x="3657600" y="1207008"/>
            <a:ext cx="1371600" cy="31089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2" name="Shape 20"/>
          <p:cNvSpPr/>
          <p:nvPr/>
        </p:nvSpPr>
        <p:spPr>
          <a:xfrm>
            <a:off x="5029200" y="1207008"/>
            <a:ext cx="1371600" cy="31089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3" name="Shape 21"/>
          <p:cNvSpPr/>
          <p:nvPr/>
        </p:nvSpPr>
        <p:spPr>
          <a:xfrm>
            <a:off x="6400800" y="1207008"/>
            <a:ext cx="1828800" cy="31089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4" name="Text 22"/>
          <p:cNvSpPr/>
          <p:nvPr/>
        </p:nvSpPr>
        <p:spPr>
          <a:xfrm>
            <a:off x="274320" y="1207008"/>
            <a:ext cx="2286000" cy="310896"/>
          </a:xfrm>
          <a:prstGeom prst="rect">
            <a:avLst/>
          </a:prstGeom>
          <a:noFill/>
          <a:ln/>
        </p:spPr>
        <p:txBody>
          <a:bodyPr wrap="square" lIns="0" tIns="7620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Booking.com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2560320" y="120700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3657600" y="1207008"/>
            <a:ext cx="1371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7.47/10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5029200" y="1207008"/>
            <a:ext cx="1371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7.47/10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6400800" y="1207008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要改善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274320" y="1536192"/>
            <a:ext cx="2286000" cy="310896"/>
          </a:xfrm>
          <a:prstGeom prst="rect">
            <a:avLst/>
          </a:prstGeom>
          <a:solidFill>
            <a:srgbClr val="E8EFF8"/>
          </a:solidFill>
          <a:ln/>
        </p:spPr>
      </p:sp>
      <p:sp>
        <p:nvSpPr>
          <p:cNvPr id="30" name="Shape 28"/>
          <p:cNvSpPr/>
          <p:nvPr/>
        </p:nvSpPr>
        <p:spPr>
          <a:xfrm>
            <a:off x="2560320" y="1536192"/>
            <a:ext cx="1097280" cy="310896"/>
          </a:xfrm>
          <a:prstGeom prst="rect">
            <a:avLst/>
          </a:prstGeom>
          <a:solidFill>
            <a:srgbClr val="E8EFF8"/>
          </a:solidFill>
          <a:ln/>
        </p:spPr>
      </p:sp>
      <p:sp>
        <p:nvSpPr>
          <p:cNvPr id="31" name="Shape 29"/>
          <p:cNvSpPr/>
          <p:nvPr/>
        </p:nvSpPr>
        <p:spPr>
          <a:xfrm>
            <a:off x="3657600" y="1536192"/>
            <a:ext cx="1371600" cy="310896"/>
          </a:xfrm>
          <a:prstGeom prst="rect">
            <a:avLst/>
          </a:prstGeom>
          <a:solidFill>
            <a:srgbClr val="E8EFF8"/>
          </a:solidFill>
          <a:ln/>
        </p:spPr>
      </p:sp>
      <p:sp>
        <p:nvSpPr>
          <p:cNvPr id="32" name="Shape 30"/>
          <p:cNvSpPr/>
          <p:nvPr/>
        </p:nvSpPr>
        <p:spPr>
          <a:xfrm>
            <a:off x="5029200" y="1536192"/>
            <a:ext cx="1371600" cy="310896"/>
          </a:xfrm>
          <a:prstGeom prst="rect">
            <a:avLst/>
          </a:prstGeom>
          <a:solidFill>
            <a:srgbClr val="E8EFF8"/>
          </a:solidFill>
          <a:ln/>
        </p:spPr>
      </p:sp>
      <p:sp>
        <p:nvSpPr>
          <p:cNvPr id="33" name="Shape 31"/>
          <p:cNvSpPr/>
          <p:nvPr/>
        </p:nvSpPr>
        <p:spPr>
          <a:xfrm>
            <a:off x="6400800" y="1536192"/>
            <a:ext cx="1828800" cy="310896"/>
          </a:xfrm>
          <a:prstGeom prst="rect">
            <a:avLst/>
          </a:prstGeom>
          <a:solidFill>
            <a:srgbClr val="E8EFF8"/>
          </a:solidFill>
          <a:ln/>
        </p:spPr>
      </p:sp>
      <p:sp>
        <p:nvSpPr>
          <p:cNvPr id="34" name="Text 32"/>
          <p:cNvSpPr/>
          <p:nvPr/>
        </p:nvSpPr>
        <p:spPr>
          <a:xfrm>
            <a:off x="274320" y="1536192"/>
            <a:ext cx="2286000" cy="310896"/>
          </a:xfrm>
          <a:prstGeom prst="rect">
            <a:avLst/>
          </a:prstGeom>
          <a:noFill/>
          <a:ln/>
        </p:spPr>
        <p:txBody>
          <a:bodyPr wrap="square" lIns="0" tIns="7620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2560320" y="1536192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3657600" y="1536192"/>
            <a:ext cx="1371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3.94/5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5029200" y="1536192"/>
            <a:ext cx="1371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7.88/10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6400800" y="1536192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概ね良好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274320" y="1865376"/>
            <a:ext cx="2286000" cy="31089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0" name="Shape 38"/>
          <p:cNvSpPr/>
          <p:nvPr/>
        </p:nvSpPr>
        <p:spPr>
          <a:xfrm>
            <a:off x="2560320" y="1865376"/>
            <a:ext cx="1097280" cy="31089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1" name="Shape 39"/>
          <p:cNvSpPr/>
          <p:nvPr/>
        </p:nvSpPr>
        <p:spPr>
          <a:xfrm>
            <a:off x="3657600" y="1865376"/>
            <a:ext cx="1371600" cy="31089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2" name="Shape 40"/>
          <p:cNvSpPr/>
          <p:nvPr/>
        </p:nvSpPr>
        <p:spPr>
          <a:xfrm>
            <a:off x="5029200" y="1865376"/>
            <a:ext cx="1371600" cy="31089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3" name="Shape 41"/>
          <p:cNvSpPr/>
          <p:nvPr/>
        </p:nvSpPr>
        <p:spPr>
          <a:xfrm>
            <a:off x="6400800" y="1865376"/>
            <a:ext cx="1828800" cy="31089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4" name="Text 42"/>
          <p:cNvSpPr/>
          <p:nvPr/>
        </p:nvSpPr>
        <p:spPr>
          <a:xfrm>
            <a:off x="274320" y="1865376"/>
            <a:ext cx="2286000" cy="310896"/>
          </a:xfrm>
          <a:prstGeom prst="rect">
            <a:avLst/>
          </a:prstGeom>
          <a:noFill/>
          <a:ln/>
        </p:spPr>
        <p:txBody>
          <a:bodyPr wrap="square" lIns="0" tIns="7620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Agoda</a:t>
            </a:r>
            <a:endParaRPr lang="en-US" sz="900" dirty="0"/>
          </a:p>
        </p:txBody>
      </p:sp>
      <p:sp>
        <p:nvSpPr>
          <p:cNvPr id="45" name="Text 43"/>
          <p:cNvSpPr/>
          <p:nvPr/>
        </p:nvSpPr>
        <p:spPr>
          <a:xfrm>
            <a:off x="2560320" y="1865376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3657600" y="1865376"/>
            <a:ext cx="1371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6.69/10</a:t>
            </a:r>
            <a:endParaRPr lang="en-US" sz="900" dirty="0"/>
          </a:p>
        </p:txBody>
      </p:sp>
      <p:sp>
        <p:nvSpPr>
          <p:cNvPr id="47" name="Text 45"/>
          <p:cNvSpPr/>
          <p:nvPr/>
        </p:nvSpPr>
        <p:spPr>
          <a:xfrm>
            <a:off x="5029200" y="1865376"/>
            <a:ext cx="1371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6.69/10</a:t>
            </a:r>
            <a:endParaRPr lang="en-US" sz="900" dirty="0"/>
          </a:p>
        </p:txBody>
      </p:sp>
      <p:sp>
        <p:nvSpPr>
          <p:cNvPr id="48" name="Text 46"/>
          <p:cNvSpPr/>
          <p:nvPr/>
        </p:nvSpPr>
        <p:spPr>
          <a:xfrm>
            <a:off x="6400800" y="1865376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要改善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274320" y="2194560"/>
            <a:ext cx="2286000" cy="310896"/>
          </a:xfrm>
          <a:prstGeom prst="rect">
            <a:avLst/>
          </a:prstGeom>
          <a:solidFill>
            <a:srgbClr val="E8EFF8"/>
          </a:solidFill>
          <a:ln/>
        </p:spPr>
      </p:sp>
      <p:sp>
        <p:nvSpPr>
          <p:cNvPr id="50" name="Shape 48"/>
          <p:cNvSpPr/>
          <p:nvPr/>
        </p:nvSpPr>
        <p:spPr>
          <a:xfrm>
            <a:off x="2560320" y="2194560"/>
            <a:ext cx="1097280" cy="310896"/>
          </a:xfrm>
          <a:prstGeom prst="rect">
            <a:avLst/>
          </a:prstGeom>
          <a:solidFill>
            <a:srgbClr val="E8EFF8"/>
          </a:solidFill>
          <a:ln/>
        </p:spPr>
      </p:sp>
      <p:sp>
        <p:nvSpPr>
          <p:cNvPr id="51" name="Shape 49"/>
          <p:cNvSpPr/>
          <p:nvPr/>
        </p:nvSpPr>
        <p:spPr>
          <a:xfrm>
            <a:off x="3657600" y="2194560"/>
            <a:ext cx="1371600" cy="310896"/>
          </a:xfrm>
          <a:prstGeom prst="rect">
            <a:avLst/>
          </a:prstGeom>
          <a:solidFill>
            <a:srgbClr val="E8EFF8"/>
          </a:solidFill>
          <a:ln/>
        </p:spPr>
      </p:sp>
      <p:sp>
        <p:nvSpPr>
          <p:cNvPr id="52" name="Shape 50"/>
          <p:cNvSpPr/>
          <p:nvPr/>
        </p:nvSpPr>
        <p:spPr>
          <a:xfrm>
            <a:off x="5029200" y="2194560"/>
            <a:ext cx="1371600" cy="310896"/>
          </a:xfrm>
          <a:prstGeom prst="rect">
            <a:avLst/>
          </a:prstGeom>
          <a:solidFill>
            <a:srgbClr val="E8EFF8"/>
          </a:solidFill>
          <a:ln/>
        </p:spPr>
      </p:sp>
      <p:sp>
        <p:nvSpPr>
          <p:cNvPr id="53" name="Shape 51"/>
          <p:cNvSpPr/>
          <p:nvPr/>
        </p:nvSpPr>
        <p:spPr>
          <a:xfrm>
            <a:off x="6400800" y="2194560"/>
            <a:ext cx="1828800" cy="310896"/>
          </a:xfrm>
          <a:prstGeom prst="rect">
            <a:avLst/>
          </a:prstGeom>
          <a:solidFill>
            <a:srgbClr val="E8EFF8"/>
          </a:solidFill>
          <a:ln/>
        </p:spPr>
      </p:sp>
      <p:sp>
        <p:nvSpPr>
          <p:cNvPr id="54" name="Text 52"/>
          <p:cNvSpPr/>
          <p:nvPr/>
        </p:nvSpPr>
        <p:spPr>
          <a:xfrm>
            <a:off x="274320" y="2194560"/>
            <a:ext cx="2286000" cy="310896"/>
          </a:xfrm>
          <a:prstGeom prst="rect">
            <a:avLst/>
          </a:prstGeom>
          <a:noFill/>
          <a:ln/>
        </p:spPr>
        <p:txBody>
          <a:bodyPr wrap="square" lIns="0" tIns="7620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じゃらん</a:t>
            </a:r>
            <a:endParaRPr lang="en-US" sz="900" dirty="0"/>
          </a:p>
        </p:txBody>
      </p:sp>
      <p:sp>
        <p:nvSpPr>
          <p:cNvPr id="55" name="Text 53"/>
          <p:cNvSpPr/>
          <p:nvPr/>
        </p:nvSpPr>
        <p:spPr>
          <a:xfrm>
            <a:off x="2560320" y="2194560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  <p:sp>
        <p:nvSpPr>
          <p:cNvPr id="56" name="Text 54"/>
          <p:cNvSpPr/>
          <p:nvPr/>
        </p:nvSpPr>
        <p:spPr>
          <a:xfrm>
            <a:off x="3657600" y="2194560"/>
            <a:ext cx="1371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3.75/5</a:t>
            </a:r>
            <a:endParaRPr lang="en-US" sz="900" dirty="0"/>
          </a:p>
        </p:txBody>
      </p:sp>
      <p:sp>
        <p:nvSpPr>
          <p:cNvPr id="57" name="Text 55"/>
          <p:cNvSpPr/>
          <p:nvPr/>
        </p:nvSpPr>
        <p:spPr>
          <a:xfrm>
            <a:off x="5029200" y="2194560"/>
            <a:ext cx="1371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7.5/10</a:t>
            </a:r>
            <a:endParaRPr lang="en-US" sz="900" dirty="0"/>
          </a:p>
        </p:txBody>
      </p:sp>
      <p:sp>
        <p:nvSpPr>
          <p:cNvPr id="58" name="Text 56"/>
          <p:cNvSpPr/>
          <p:nvPr/>
        </p:nvSpPr>
        <p:spPr>
          <a:xfrm>
            <a:off x="6400800" y="2194560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概ね良好</a:t>
            </a:r>
            <a:endParaRPr lang="en-US" sz="900" dirty="0"/>
          </a:p>
        </p:txBody>
      </p:sp>
      <p:sp>
        <p:nvSpPr>
          <p:cNvPr id="59" name="Shape 57"/>
          <p:cNvSpPr/>
          <p:nvPr/>
        </p:nvSpPr>
        <p:spPr>
          <a:xfrm>
            <a:off x="274320" y="2523744"/>
            <a:ext cx="2286000" cy="31089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0" name="Shape 58"/>
          <p:cNvSpPr/>
          <p:nvPr/>
        </p:nvSpPr>
        <p:spPr>
          <a:xfrm>
            <a:off x="2560320" y="2523744"/>
            <a:ext cx="1097280" cy="31089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1" name="Shape 59"/>
          <p:cNvSpPr/>
          <p:nvPr/>
        </p:nvSpPr>
        <p:spPr>
          <a:xfrm>
            <a:off x="3657600" y="2523744"/>
            <a:ext cx="1371600" cy="31089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2" name="Shape 60"/>
          <p:cNvSpPr/>
          <p:nvPr/>
        </p:nvSpPr>
        <p:spPr>
          <a:xfrm>
            <a:off x="5029200" y="2523744"/>
            <a:ext cx="1371600" cy="31089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3" name="Shape 61"/>
          <p:cNvSpPr/>
          <p:nvPr/>
        </p:nvSpPr>
        <p:spPr>
          <a:xfrm>
            <a:off x="6400800" y="2523744"/>
            <a:ext cx="1828800" cy="31089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4" name="Text 62"/>
          <p:cNvSpPr/>
          <p:nvPr/>
        </p:nvSpPr>
        <p:spPr>
          <a:xfrm>
            <a:off x="274320" y="2523744"/>
            <a:ext cx="2286000" cy="310896"/>
          </a:xfrm>
          <a:prstGeom prst="rect">
            <a:avLst/>
          </a:prstGeom>
          <a:noFill/>
          <a:ln/>
        </p:spPr>
        <p:txBody>
          <a:bodyPr wrap="square" lIns="0" tIns="7620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楽天トラベル</a:t>
            </a:r>
            <a:endParaRPr lang="en-US" sz="900" dirty="0"/>
          </a:p>
        </p:txBody>
      </p:sp>
      <p:sp>
        <p:nvSpPr>
          <p:cNvPr id="65" name="Text 63"/>
          <p:cNvSpPr/>
          <p:nvPr/>
        </p:nvSpPr>
        <p:spPr>
          <a:xfrm>
            <a:off x="2560320" y="2523744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  <p:sp>
        <p:nvSpPr>
          <p:cNvPr id="66" name="Text 64"/>
          <p:cNvSpPr/>
          <p:nvPr/>
        </p:nvSpPr>
        <p:spPr>
          <a:xfrm>
            <a:off x="3657600" y="2523744"/>
            <a:ext cx="1371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3.5/5</a:t>
            </a:r>
            <a:endParaRPr lang="en-US" sz="900" dirty="0"/>
          </a:p>
        </p:txBody>
      </p:sp>
      <p:sp>
        <p:nvSpPr>
          <p:cNvPr id="67" name="Text 65"/>
          <p:cNvSpPr/>
          <p:nvPr/>
        </p:nvSpPr>
        <p:spPr>
          <a:xfrm>
            <a:off x="5029200" y="2523744"/>
            <a:ext cx="1371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7/10</a:t>
            </a:r>
            <a:endParaRPr lang="en-US" sz="900" dirty="0"/>
          </a:p>
        </p:txBody>
      </p:sp>
      <p:sp>
        <p:nvSpPr>
          <p:cNvPr id="68" name="Text 66"/>
          <p:cNvSpPr/>
          <p:nvPr/>
        </p:nvSpPr>
        <p:spPr>
          <a:xfrm>
            <a:off x="6400800" y="2523744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要改善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5F7F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評価スコア分布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10点換算スコア別件数・割合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274320" y="1005840"/>
            <a:ext cx="7315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10点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1097280" y="1033272"/>
            <a:ext cx="1755648" cy="23774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1" name="Text 9"/>
          <p:cNvSpPr/>
          <p:nvPr/>
        </p:nvSpPr>
        <p:spPr>
          <a:xfrm>
            <a:off x="2944368" y="1005840"/>
            <a:ext cx="2286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8件 (13.8%)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274320" y="1353312"/>
            <a:ext cx="7315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9点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1097280" y="1380744"/>
            <a:ext cx="658368" cy="23774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4" name="Text 12"/>
          <p:cNvSpPr/>
          <p:nvPr/>
        </p:nvSpPr>
        <p:spPr>
          <a:xfrm>
            <a:off x="1847088" y="1353312"/>
            <a:ext cx="2286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3件 (5.2%)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274320" y="1700784"/>
            <a:ext cx="7315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8点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1097280" y="1728216"/>
            <a:ext cx="5486400" cy="23774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7" name="Text 15"/>
          <p:cNvSpPr/>
          <p:nvPr/>
        </p:nvSpPr>
        <p:spPr>
          <a:xfrm>
            <a:off x="6675120" y="1700784"/>
            <a:ext cx="2286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25件 (43.1%)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274320" y="2048256"/>
            <a:ext cx="7315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7点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1097280" y="2075688"/>
            <a:ext cx="1097280" cy="237744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20" name="Text 18"/>
          <p:cNvSpPr/>
          <p:nvPr/>
        </p:nvSpPr>
        <p:spPr>
          <a:xfrm>
            <a:off x="2286000" y="2048256"/>
            <a:ext cx="2286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5件 (8.6%)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274320" y="2395728"/>
            <a:ext cx="7315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6点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1097280" y="2423160"/>
            <a:ext cx="1755648" cy="237744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23" name="Text 21"/>
          <p:cNvSpPr/>
          <p:nvPr/>
        </p:nvSpPr>
        <p:spPr>
          <a:xfrm>
            <a:off x="2944368" y="2395728"/>
            <a:ext cx="2286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8件 (13.8%)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274320" y="2743200"/>
            <a:ext cx="7315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5点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1097280" y="2770632"/>
            <a:ext cx="658368" cy="237744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26" name="Text 24"/>
          <p:cNvSpPr/>
          <p:nvPr/>
        </p:nvSpPr>
        <p:spPr>
          <a:xfrm>
            <a:off x="1847088" y="2743200"/>
            <a:ext cx="2286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3件 (5.2%)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274320" y="3090672"/>
            <a:ext cx="7315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4点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1097280" y="3118104"/>
            <a:ext cx="877824" cy="237744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29" name="Text 27"/>
          <p:cNvSpPr/>
          <p:nvPr/>
        </p:nvSpPr>
        <p:spPr>
          <a:xfrm>
            <a:off x="2066544" y="3090672"/>
            <a:ext cx="2286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4件 (6.9%)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274320" y="3438144"/>
            <a:ext cx="7315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3点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1097280" y="3465576"/>
            <a:ext cx="219456" cy="237744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32" name="Text 30"/>
          <p:cNvSpPr/>
          <p:nvPr/>
        </p:nvSpPr>
        <p:spPr>
          <a:xfrm>
            <a:off x="1408176" y="3438144"/>
            <a:ext cx="2286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1件 (1.7%)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274320" y="3785616"/>
            <a:ext cx="7315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2点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1097280" y="3813048"/>
            <a:ext cx="219456" cy="237744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35" name="Text 33"/>
          <p:cNvSpPr/>
          <p:nvPr/>
        </p:nvSpPr>
        <p:spPr>
          <a:xfrm>
            <a:off x="1408176" y="3785616"/>
            <a:ext cx="2286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1件 (1.7%)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5F7F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顧客フィードバック分析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主要ポジティブ・ネガティブポイント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274320" y="914400"/>
            <a:ext cx="4023360" cy="3657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274320" y="914400"/>
            <a:ext cx="4023360" cy="32004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1" name="Text 9"/>
          <p:cNvSpPr/>
          <p:nvPr/>
        </p:nvSpPr>
        <p:spPr>
          <a:xfrm>
            <a:off x="274320" y="914400"/>
            <a:ext cx="4023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好評ポイント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365760" y="1325880"/>
            <a:ext cx="38404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立地は最高で、JR蒲田駅と京急蒲田駅のちょうど中間地点に位置していました。京急蒲田駅からは、途中まで屋根付きの商店街があり、大きな荷物を運ぶのに便利なエスカレーターもありました。部屋自体はまあまあで、...</a:t>
            </a:r>
            <a:endParaRPr lang="en-US" sz="850" dirty="0"/>
          </a:p>
        </p:txBody>
      </p:sp>
      <p:sp>
        <p:nvSpPr>
          <p:cNvPr id="13" name="Text 11"/>
          <p:cNvSpPr/>
          <p:nvPr/>
        </p:nvSpPr>
        <p:spPr>
          <a:xfrm>
            <a:off x="365760" y="2057400"/>
            <a:ext cx="38404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駅に近い。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365760" y="2788920"/>
            <a:ext cx="38404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クリーン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365760" y="3520440"/>
            <a:ext cx="38404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駅からすぐの場所にあり、電車移動も便利 ホテルには駐車場が3台分有りますが予約はできません。 でもすぐ近所に有るホールの地下駐車場が格安なので車で来られる方にもお勧めです。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4846320" y="914400"/>
            <a:ext cx="4023360" cy="3657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4846320" y="914400"/>
            <a:ext cx="4023360" cy="32004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18" name="Text 16"/>
          <p:cNvSpPr/>
          <p:nvPr/>
        </p:nvSpPr>
        <p:spPr>
          <a:xfrm>
            <a:off x="4846320" y="914400"/>
            <a:ext cx="4023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改善課題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4937760" y="1325880"/>
            <a:ext cx="38404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他のアバよりも狭い 駅からは遠いが、その分比較的安い 羽田空港の乗り継ぎに利用するなら十分か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4937760" y="2057400"/>
            <a:ext cx="38404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ベッドはまあまあでしたが、枕は薄くてひどかったです。ビュッフェ式の朝食は1日あたり12～16カナダドルも追加料金がかかるので、近くにスーパーやコンビニがあることを考えると割に合わないと思い、利用しませ...</a:t>
            </a:r>
            <a:endParaRPr lang="en-US" sz="850" dirty="0"/>
          </a:p>
        </p:txBody>
      </p:sp>
      <p:sp>
        <p:nvSpPr>
          <p:cNvPr id="21" name="Text 19"/>
          <p:cNvSpPr/>
          <p:nvPr/>
        </p:nvSpPr>
        <p:spPr>
          <a:xfrm>
            <a:off x="4937760" y="2788920"/>
            <a:ext cx="38404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そこは汚くて埃っぽく、以前の訪問時の残骸も散乱していた。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4937760" y="3520440"/>
            <a:ext cx="38404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このホテルには化粧水も乳液もアフターシェーブローションもありません。 急な宿泊だったので、自分のは持って行けなかったのですが、今までのホテルは大概あったので、油断しました。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5F7F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改善アクションプラン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優先度別施策ロードマップ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274320" y="960120"/>
            <a:ext cx="8595360" cy="1188720"/>
          </a:xfrm>
          <a:prstGeom prst="rect">
            <a:avLst/>
          </a:prstGeom>
          <a:solidFill>
            <a:srgbClr val="FEE2E2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274320" y="960120"/>
            <a:ext cx="457200" cy="118872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11" name="Text 9"/>
          <p:cNvSpPr/>
          <p:nvPr/>
        </p:nvSpPr>
        <p:spPr>
          <a:xfrm>
            <a:off x="274320" y="960120"/>
            <a:ext cx="4572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822960" y="1033272"/>
            <a:ext cx="7772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即時対応（~2週間）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868680" y="1344168"/>
            <a:ext cx="75895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低評価の根本原因特定とオペレーション改善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868680" y="1691640"/>
            <a:ext cx="75895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スタッフサービス品質トレーニング強化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274320" y="2286000"/>
            <a:ext cx="8595360" cy="1188720"/>
          </a:xfrm>
          <a:prstGeom prst="rect">
            <a:avLst/>
          </a:prstGeom>
          <a:solidFill>
            <a:srgbClr val="FFF7ED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274320" y="2286000"/>
            <a:ext cx="457200" cy="1188720"/>
          </a:xfrm>
          <a:prstGeom prst="rect">
            <a:avLst/>
          </a:prstGeom>
          <a:solidFill>
            <a:srgbClr val="EA580C"/>
          </a:solidFill>
          <a:ln/>
        </p:spPr>
      </p:sp>
      <p:sp>
        <p:nvSpPr>
          <p:cNvPr id="17" name="Text 15"/>
          <p:cNvSpPr/>
          <p:nvPr/>
        </p:nvSpPr>
        <p:spPr>
          <a:xfrm>
            <a:off x="274320" y="2286000"/>
            <a:ext cx="4572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822960" y="2359152"/>
            <a:ext cx="7772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短期対応（1ヶ月以内）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868680" y="2670048"/>
            <a:ext cx="75895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口コミ返信率向上によるブランド管理強化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868680" y="3017520"/>
            <a:ext cx="75895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多言語対応改善による外国人ゲスト満足度向上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274320" y="3611880"/>
            <a:ext cx="8595360" cy="1188720"/>
          </a:xfrm>
          <a:prstGeom prst="rect">
            <a:avLst/>
          </a:prstGeom>
          <a:solidFill>
            <a:srgbClr val="EFF6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274320" y="3611880"/>
            <a:ext cx="457200" cy="118872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23" name="Text 21"/>
          <p:cNvSpPr/>
          <p:nvPr/>
        </p:nvSpPr>
        <p:spPr>
          <a:xfrm>
            <a:off x="274320" y="3611880"/>
            <a:ext cx="4572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822960" y="3685032"/>
            <a:ext cx="7772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中期対応（3ヶ月以内）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868680" y="3995928"/>
            <a:ext cx="75895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設備・アメニティ定期点検・更新サイクル確立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868680" y="4343400"/>
            <a:ext cx="75895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ゲストフィードバック収集システムの整備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アパホテル蒲田駅東 口コミ分析改善レポート</dc:title>
  <dc:subject>PptxGenJS Presentation</dc:subject>
  <dc:creator>Hotel Consulting</dc:creator>
  <cp:lastModifiedBy>Hotel Consulting</cp:lastModifiedBy>
  <cp:revision>1</cp:revision>
  <dcterms:created xsi:type="dcterms:W3CDTF">2026-03-28T22:44:17Z</dcterms:created>
  <dcterms:modified xsi:type="dcterms:W3CDTF">2026-03-28T22:44:17Z</dcterms:modified>
</cp:coreProperties>
</file>