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charts/chart21.xml" ContentType="application/vnd.openxmlformats-officedocument.drawingml.chart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22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charts/_rels/chart2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1.xlsx"/></Relationships>
</file>

<file path=ppt/charts/_rels/chart2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2.xlsx"/></Relationships>
</file>

<file path=ppt/charts/chart2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10pt換算平均</c:v>
                </c:pt>
              </c:strCache>
            </c:strRef>
          </c:tx>
          <c:spPr>
            <a:solidFill>
              <a:srgbClr val="16A34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EA580C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EA580C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EA580C"/>
              </a:solidFill>
              <a:effectLst/>
            </c:spPr>
          </c:dPt>
          <c:dPt>
            <c:idx val="5"/>
            <c:invertIfNegative val="0"/>
            <c:bubble3D val="0"/>
            <c:spPr>
              <a:solidFill>
                <a:srgbClr val="EA580C"/>
              </a:solidFill>
              <a:effectLst/>
            </c:spPr>
          </c:dPt>
          <c:cat>
            <c:multiLvlStrRef>
              <c:f>Sheet1!$A$2:$A$7</c:f>
              <c:multiLvlStrCache>
                <c:ptCount val="6"/>
                <c:lvl>
                  <c:pt idx="0">
                    <c:v>Trip.com</c:v>
                  </c:pt>
                  <c:pt idx="1">
                    <c:v>Agoda</c:v>
                  </c:pt>
                  <c:pt idx="2">
                    <c:v>Google</c:v>
                  </c:pt>
                  <c:pt idx="3">
                    <c:v>楽天トラベル</c:v>
                  </c:pt>
                  <c:pt idx="4">
                    <c:v>じゃらん</c:v>
                  </c:pt>
                  <c:pt idx="5">
                    <c:v>Booking.com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8.44</c:v>
                </c:pt>
                <c:pt idx="1">
                  <c:v>8</c:v>
                </c:pt>
                <c:pt idx="2">
                  <c:v>7.58</c:v>
                </c:pt>
                <c:pt idx="3">
                  <c:v>7.52</c:v>
                </c:pt>
                <c:pt idx="4">
                  <c:v>7.2</c:v>
                </c:pt>
                <c:pt idx="5">
                  <c:v>7.1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9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"/>
          <c:min val="0"/>
        </c:scaling>
        <c:delete val="0"/>
        <c:axPos val="b"/>
        <c:majorGridlines>
          <c:spPr>
            <a:ln w="12700" cap="flat">
              <a:solidFill>
                <a:srgbClr val="88888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件数</c:v>
                </c:pt>
              </c:strCache>
            </c:strRef>
          </c:tx>
          <c:spPr>
            <a:solidFill>
              <a:srgbClr val="16A34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EA580C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EA580C"/>
              </a:solidFill>
              <a:effectLst/>
            </c:spPr>
          </c:dPt>
          <c:dPt>
            <c:idx val="5"/>
            <c:invertIfNegative val="0"/>
            <c:bubble3D val="0"/>
            <c:spPr>
              <a:solidFill>
                <a:srgbClr val="EA580C"/>
              </a:solidFill>
              <a:effectLst/>
            </c:spPr>
          </c:dPt>
          <c:dPt>
            <c:idx val="6"/>
            <c:invertIfNegative val="0"/>
            <c:bubble3D val="0"/>
            <c:spPr>
              <a:solidFill>
                <a:srgbClr val="DC2626"/>
              </a:solidFill>
              <a:effectLst/>
            </c:spPr>
          </c:dPt>
          <c:dPt>
            <c:idx val="7"/>
            <c:invertIfNegative val="0"/>
            <c:bubble3D val="0"/>
            <c:spPr>
              <a:solidFill>
                <a:srgbClr val="DC2626"/>
              </a:solidFill>
              <a:effectLst/>
            </c:spPr>
          </c:dPt>
          <c:dPt>
            <c:idx val="8"/>
            <c:invertIfNegative val="0"/>
            <c:bubble3D val="0"/>
            <c:spPr>
              <a:solidFill>
                <a:srgbClr val="DC2626"/>
              </a:solidFill>
              <a:effectLst/>
            </c:spPr>
          </c:dPt>
          <c:cat>
            <c:multiLvlStrRef>
              <c:f>Sheet1!$A$2:$A$10</c:f>
              <c:multiLvlStrCache>
                <c:ptCount val="9"/>
                <c:lvl>
                  <c:pt idx="0">
                    <c:v>10点</c:v>
                  </c:pt>
                  <c:pt idx="1">
                    <c:v>9点</c:v>
                  </c:pt>
                  <c:pt idx="2">
                    <c:v>8点</c:v>
                  </c:pt>
                  <c:pt idx="3">
                    <c:v>7点</c:v>
                  </c:pt>
                  <c:pt idx="4">
                    <c:v>6点</c:v>
                  </c:pt>
                  <c:pt idx="5">
                    <c:v>5点</c:v>
                  </c:pt>
                  <c:pt idx="6">
                    <c:v>4点</c:v>
                  </c:pt>
                  <c:pt idx="7">
                    <c:v>3点</c:v>
                  </c:pt>
                  <c:pt idx="8">
                    <c:v>2点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35</c:v>
                </c:pt>
                <c:pt idx="1">
                  <c:v>8</c:v>
                </c:pt>
                <c:pt idx="2">
                  <c:v>54</c:v>
                </c:pt>
                <c:pt idx="3">
                  <c:v>6</c:v>
                </c:pt>
                <c:pt idx="4">
                  <c:v>17</c:v>
                </c:pt>
                <c:pt idx="5">
                  <c:v>5</c:v>
                </c:pt>
                <c:pt idx="6">
                  <c:v>10</c:v>
                </c:pt>
                <c:pt idx="7">
                  <c:v>1</c:v>
                </c:pt>
                <c:pt idx="8">
                  <c:v>7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9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12700" cap="flat">
              <a:solidFill>
                <a:srgbClr val="88888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274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1828800"/>
            <a:ext cx="73152" cy="1645920"/>
          </a:xfrm>
          <a:prstGeom prst="rect">
            <a:avLst/>
          </a:prstGeom>
          <a:solidFill>
            <a:srgbClr val="D4A843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1371600"/>
            <a:ext cx="73152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口コミ分析改善レポート</a:t>
            </a:r>
            <a:endParaRPr lang="en-US" sz="3800" dirty="0"/>
          </a:p>
        </p:txBody>
      </p:sp>
      <p:sp>
        <p:nvSpPr>
          <p:cNvPr id="4" name="Shape 2"/>
          <p:cNvSpPr/>
          <p:nvPr/>
        </p:nvSpPr>
        <p:spPr>
          <a:xfrm>
            <a:off x="731520" y="2606040"/>
            <a:ext cx="1828800" cy="0"/>
          </a:xfrm>
          <a:prstGeom prst="line">
            <a:avLst/>
          </a:prstGeom>
          <a:noFill/>
          <a:ln w="25400">
            <a:solidFill>
              <a:srgbClr val="D4A843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1520" y="274320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コンフォートホテル横浜関内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731520" y="33832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分析対象期間：2024年1月〜2026年3月</a:t>
            </a:r>
            <a:endParaRPr lang="en-US" sz="10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レビュー総数：143件</a:t>
            </a:r>
            <a:endParaRPr lang="en-US" sz="10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作成日：2026年3月29日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8" name="Text 6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9" name="Text 7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エグゼクティブサマリー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コンフォートホテル横浜関内 | 2024年1月〜2026年3月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274320" y="914400"/>
            <a:ext cx="2011680" cy="1280160"/>
          </a:xfrm>
          <a:prstGeom prst="rect">
            <a:avLst/>
          </a:prstGeom>
          <a:solidFill>
            <a:srgbClr val="FFF7ED"/>
          </a:solidFill>
          <a:ln/>
        </p:spPr>
      </p:sp>
      <p:sp>
        <p:nvSpPr>
          <p:cNvPr id="9" name="Shape 7"/>
          <p:cNvSpPr/>
          <p:nvPr/>
        </p:nvSpPr>
        <p:spPr>
          <a:xfrm>
            <a:off x="274320" y="914400"/>
            <a:ext cx="2011680" cy="54864"/>
          </a:xfrm>
          <a:prstGeom prst="rect">
            <a:avLst/>
          </a:prstGeom>
          <a:solidFill>
            <a:srgbClr val="EA580C"/>
          </a:solidFill>
          <a:ln/>
        </p:spPr>
      </p:sp>
      <p:sp>
        <p:nvSpPr>
          <p:cNvPr id="10" name="Text 8"/>
          <p:cNvSpPr/>
          <p:nvPr/>
        </p:nvSpPr>
        <p:spPr>
          <a:xfrm>
            <a:off x="274320" y="1024128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全体平均(10pt換算)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274320" y="1298448"/>
            <a:ext cx="2011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EA58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7.55</a:t>
            </a:r>
            <a:endParaRPr lang="en-US" sz="2800" dirty="0"/>
          </a:p>
        </p:txBody>
      </p:sp>
      <p:sp>
        <p:nvSpPr>
          <p:cNvPr id="12" name="Shape 10"/>
          <p:cNvSpPr/>
          <p:nvPr/>
        </p:nvSpPr>
        <p:spPr>
          <a:xfrm>
            <a:off x="2450592" y="914400"/>
            <a:ext cx="2011680" cy="128016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13" name="Shape 11"/>
          <p:cNvSpPr/>
          <p:nvPr/>
        </p:nvSpPr>
        <p:spPr>
          <a:xfrm>
            <a:off x="2450592" y="914400"/>
            <a:ext cx="2011680" cy="54864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4" name="Text 12"/>
          <p:cNvSpPr/>
          <p:nvPr/>
        </p:nvSpPr>
        <p:spPr>
          <a:xfrm>
            <a:off x="2450592" y="1024128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高評価率(8-10点)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2450592" y="1298448"/>
            <a:ext cx="2011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67.8%</a:t>
            </a:r>
            <a:endParaRPr lang="en-US" sz="2800" dirty="0"/>
          </a:p>
        </p:txBody>
      </p:sp>
      <p:sp>
        <p:nvSpPr>
          <p:cNvPr id="16" name="Shape 14"/>
          <p:cNvSpPr/>
          <p:nvPr/>
        </p:nvSpPr>
        <p:spPr>
          <a:xfrm>
            <a:off x="4626864" y="914400"/>
            <a:ext cx="2011680" cy="1280160"/>
          </a:xfrm>
          <a:prstGeom prst="rect">
            <a:avLst/>
          </a:prstGeom>
          <a:solidFill>
            <a:srgbClr val="FEE2E2"/>
          </a:solidFill>
          <a:ln/>
        </p:spPr>
      </p:sp>
      <p:sp>
        <p:nvSpPr>
          <p:cNvPr id="17" name="Shape 15"/>
          <p:cNvSpPr/>
          <p:nvPr/>
        </p:nvSpPr>
        <p:spPr>
          <a:xfrm>
            <a:off x="4626864" y="914400"/>
            <a:ext cx="2011680" cy="54864"/>
          </a:xfrm>
          <a:prstGeom prst="rect">
            <a:avLst/>
          </a:prstGeom>
          <a:solidFill>
            <a:srgbClr val="DC2626"/>
          </a:solidFill>
          <a:ln/>
        </p:spPr>
      </p:sp>
      <p:sp>
        <p:nvSpPr>
          <p:cNvPr id="18" name="Text 16"/>
          <p:cNvSpPr/>
          <p:nvPr/>
        </p:nvSpPr>
        <p:spPr>
          <a:xfrm>
            <a:off x="4626864" y="1024128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低評価率(1-4点)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4626864" y="1298448"/>
            <a:ext cx="2011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12.6%</a:t>
            </a:r>
            <a:endParaRPr lang="en-US" sz="2800" dirty="0"/>
          </a:p>
        </p:txBody>
      </p:sp>
      <p:sp>
        <p:nvSpPr>
          <p:cNvPr id="20" name="Shape 18"/>
          <p:cNvSpPr/>
          <p:nvPr/>
        </p:nvSpPr>
        <p:spPr>
          <a:xfrm>
            <a:off x="6803136" y="914400"/>
            <a:ext cx="2011680" cy="1280160"/>
          </a:xfrm>
          <a:prstGeom prst="rect">
            <a:avLst/>
          </a:prstGeom>
          <a:solidFill>
            <a:srgbClr val="E8EFF8"/>
          </a:solidFill>
          <a:ln/>
        </p:spPr>
      </p:sp>
      <p:sp>
        <p:nvSpPr>
          <p:cNvPr id="21" name="Shape 19"/>
          <p:cNvSpPr/>
          <p:nvPr/>
        </p:nvSpPr>
        <p:spPr>
          <a:xfrm>
            <a:off x="6803136" y="914400"/>
            <a:ext cx="2011680" cy="54864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22" name="Text 20"/>
          <p:cNvSpPr/>
          <p:nvPr/>
        </p:nvSpPr>
        <p:spPr>
          <a:xfrm>
            <a:off x="6803136" y="1024128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レビュー総数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6803136" y="1298448"/>
            <a:ext cx="2011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143件</a:t>
            </a:r>
            <a:endParaRPr lang="en-US" sz="2800" dirty="0"/>
          </a:p>
        </p:txBody>
      </p:sp>
      <p:sp>
        <p:nvSpPr>
          <p:cNvPr id="24" name="Text 22"/>
          <p:cNvSpPr/>
          <p:nvPr/>
        </p:nvSpPr>
        <p:spPr>
          <a:xfrm>
            <a:off x="274320" y="2377440"/>
            <a:ext cx="8595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高評価・中評価レビューの継続管理により、さらなる評価向上を目指します。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サイト別評価分析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10pt換算平均スコア比較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800" dirty="0"/>
          </a:p>
        </p:txBody>
      </p:sp>
      <p:graphicFrame>
        <p:nvGraphicFramePr>
          <p:cNvPr id="8" name="Chart 0" descr=""/>
          <p:cNvGraphicFramePr/>
          <p:nvPr/>
        </p:nvGraphicFramePr>
        <p:xfrm>
          <a:off x="274320" y="822960"/>
          <a:ext cx="5303520" cy="34747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760720" y="822960"/>
          <a:ext cx="3108960" cy="914400"/>
        </p:xfrm>
        <a:graphic>
          <a:graphicData uri="http://schemas.openxmlformats.org/drawingml/2006/table">
            <a:tbl>
              <a:tblPr/>
              <a:tblGrid>
                <a:gridCol w="1097280"/>
                <a:gridCol w="457200"/>
                <a:gridCol w="731520"/>
                <a:gridCol w="548640"/>
                <a:gridCol w="640080"/>
              </a:tblGrid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サイト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件数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ネイティブ平均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10pt換算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判定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Trip.com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8.44/10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8.44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良好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Agoda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8.00/10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8.00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良好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Google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3.79/5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7.58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概ね良好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楽天トラベル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42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3.76/5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7.52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概ね良好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じゃらん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3.60/5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7.20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概ね良好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Booking.com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29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7.10/10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7.10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概ね良好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評価分布分析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10pt換算スコア別件数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800" dirty="0"/>
          </a:p>
        </p:txBody>
      </p:sp>
      <p:graphicFrame>
        <p:nvGraphicFramePr>
          <p:cNvPr id="8" name="Chart 0" descr=""/>
          <p:cNvGraphicFramePr/>
          <p:nvPr/>
        </p:nvGraphicFramePr>
        <p:xfrm>
          <a:off x="274320" y="822960"/>
          <a:ext cx="5029200" cy="34747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9" name="Shape 6"/>
          <p:cNvSpPr/>
          <p:nvPr/>
        </p:nvSpPr>
        <p:spPr>
          <a:xfrm>
            <a:off x="5486400" y="914400"/>
            <a:ext cx="3291840" cy="82296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10" name="Text 7"/>
          <p:cNvSpPr/>
          <p:nvPr/>
        </p:nvSpPr>
        <p:spPr>
          <a:xfrm>
            <a:off x="5577840" y="960120"/>
            <a:ext cx="3108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高評価（8-10点）</a:t>
            </a:r>
            <a:endParaRPr lang="en-US" sz="1000" dirty="0"/>
          </a:p>
        </p:txBody>
      </p:sp>
      <p:sp>
        <p:nvSpPr>
          <p:cNvPr id="11" name="Text 8"/>
          <p:cNvSpPr/>
          <p:nvPr/>
        </p:nvSpPr>
        <p:spPr>
          <a:xfrm>
            <a:off x="5577840" y="1261872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97件（67.8%）</a:t>
            </a:r>
            <a:endParaRPr lang="en-US" sz="1600" dirty="0"/>
          </a:p>
        </p:txBody>
      </p:sp>
      <p:sp>
        <p:nvSpPr>
          <p:cNvPr id="12" name="Shape 9"/>
          <p:cNvSpPr/>
          <p:nvPr/>
        </p:nvSpPr>
        <p:spPr>
          <a:xfrm>
            <a:off x="5486400" y="1920240"/>
            <a:ext cx="3291840" cy="822960"/>
          </a:xfrm>
          <a:prstGeom prst="rect">
            <a:avLst/>
          </a:prstGeom>
          <a:solidFill>
            <a:srgbClr val="FFF7ED"/>
          </a:solidFill>
          <a:ln/>
        </p:spPr>
      </p:sp>
      <p:sp>
        <p:nvSpPr>
          <p:cNvPr id="13" name="Text 10"/>
          <p:cNvSpPr/>
          <p:nvPr/>
        </p:nvSpPr>
        <p:spPr>
          <a:xfrm>
            <a:off x="5577840" y="1965960"/>
            <a:ext cx="3108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EA58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中評価（5-7点）</a:t>
            </a:r>
            <a:endParaRPr lang="en-US" sz="1000" dirty="0"/>
          </a:p>
        </p:txBody>
      </p:sp>
      <p:sp>
        <p:nvSpPr>
          <p:cNvPr id="14" name="Text 11"/>
          <p:cNvSpPr/>
          <p:nvPr/>
        </p:nvSpPr>
        <p:spPr>
          <a:xfrm>
            <a:off x="5577840" y="2267712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EA58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28件（19.6%）</a:t>
            </a:r>
            <a:endParaRPr lang="en-US" sz="1600" dirty="0"/>
          </a:p>
        </p:txBody>
      </p:sp>
      <p:sp>
        <p:nvSpPr>
          <p:cNvPr id="15" name="Shape 12"/>
          <p:cNvSpPr/>
          <p:nvPr/>
        </p:nvSpPr>
        <p:spPr>
          <a:xfrm>
            <a:off x="5486400" y="2926080"/>
            <a:ext cx="3291840" cy="822960"/>
          </a:xfrm>
          <a:prstGeom prst="rect">
            <a:avLst/>
          </a:prstGeom>
          <a:solidFill>
            <a:srgbClr val="FEE2E2"/>
          </a:solidFill>
          <a:ln/>
        </p:spPr>
      </p:sp>
      <p:sp>
        <p:nvSpPr>
          <p:cNvPr id="16" name="Text 13"/>
          <p:cNvSpPr/>
          <p:nvPr/>
        </p:nvSpPr>
        <p:spPr>
          <a:xfrm>
            <a:off x="5577840" y="2971800"/>
            <a:ext cx="3108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低評価（1-4点）</a:t>
            </a:r>
            <a:endParaRPr lang="en-US" sz="1000" dirty="0"/>
          </a:p>
        </p:txBody>
      </p:sp>
      <p:sp>
        <p:nvSpPr>
          <p:cNvPr id="17" name="Text 14"/>
          <p:cNvSpPr/>
          <p:nvPr/>
        </p:nvSpPr>
        <p:spPr>
          <a:xfrm>
            <a:off x="5577840" y="3273552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18件（12.6%）</a:t>
            </a:r>
            <a:endParaRPr lang="en-US" sz="16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強み分析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コンフォートホテル横浜関内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高評価レビュー（8-10点: 97件）の分析から、主要な強みテーマを抽出しています。立地・アクセス、客室清潔感、スタッフ対応が高評価の中心的テーマです。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弱み分析・優先度マトリクス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コンフォートホテル横浜関内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低評価・中評価レビュー（46件）から改善課題を優先度別に整理しています。S/A/B/Cの4段階で優先度を設定し、計画的な改善を推進します。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改善施策 Phase 1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コンフォートホテル横浜関内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即時対応が必要な課題への対応計画です。口コミで頻出する不満事項を30日以内に解消することを目標とします。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改善施策 Phase 2・3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コンフォートホテル横浜関内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2（1-3ヶ月）では設備・サービス品質の継続改善を、Phase 3（3-6ヶ月）ではブランド戦略・OTA評価の底上げを実施します。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KPI目標設定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コンフォートホテル横浜関内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全体平均 7.55点 → 目標 8.05点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高評価率 67.8% → 目標 72.8%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低評価率 12.6% → 目標 10.6%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総括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コンフォートホテル横浜関内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コンフォートホテル横浜関内は全体平均7.55点（10pt換算）、高評価率67.8%を達成しています。本レポートで示した改善施策を段階的に実施することで、さらなる顧客満足度向上が期待できます。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コンフォートホテル横浜関内 口コミ分析レポート</dc:title>
  <dc:subject>PptxGenJS Presentation</dc:subject>
  <dc:creator>PptxGenJS</dc:creator>
  <cp:lastModifiedBy>PptxGenJS</cp:lastModifiedBy>
  <cp:revision>1</cp:revision>
  <dcterms:created xsi:type="dcterms:W3CDTF">2026-03-30T05:25:33Z</dcterms:created>
  <dcterms:modified xsi:type="dcterms:W3CDTF">2026-03-30T05:25:33Z</dcterms:modified>
</cp:coreProperties>
</file>