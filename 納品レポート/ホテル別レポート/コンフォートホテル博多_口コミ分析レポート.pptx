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10pt換算平均</c:v>
                </c:pt>
              </c:strCache>
            </c:strRef>
          </c:tx>
          <c:spPr>
            <a:solidFill>
              <a:srgbClr val="3B7D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Trip.com</c:v>
                  </c:pt>
                  <c:pt idx="1">
                    <c:v>Booking.com</c:v>
                  </c:pt>
                  <c:pt idx="2">
                    <c:v>Google</c:v>
                  </c:pt>
                  <c:pt idx="3">
                    <c:v>じゃらん</c:v>
                  </c:pt>
                  <c:pt idx="4">
                    <c:v>楽天トラベル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9.04</c:v>
                </c:pt>
                <c:pt idx="1">
                  <c:v>6.97</c:v>
                </c:pt>
                <c:pt idx="2">
                  <c:v>6.97</c:v>
                </c:pt>
                <c:pt idx="3">
                  <c:v>6.89</c:v>
                </c:pt>
                <c:pt idx="4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評価分布（10pt換算）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bubble3D val="0"/>
            <c:spPr>
              <a:solidFill>
                <a:srgbClr val="D4A84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高評価(8-10)</c:v>
                </c:pt>
                <c:pt idx="1">
                  <c:v>中評価(5-7)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89</c:v>
                </c:pt>
                <c:pt idx="1">
                  <c:v>35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件数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10点</c:v>
                  </c:pt>
                  <c:pt idx="1">
                    <c:v>9点</c:v>
                  </c:pt>
                  <c:pt idx="2">
                    <c:v>8点</c:v>
                  </c:pt>
                  <c:pt idx="3">
                    <c:v>7点</c:v>
                  </c:pt>
                  <c:pt idx="4">
                    <c:v>6点</c:v>
                  </c:pt>
                  <c:pt idx="5">
                    <c:v>5点</c:v>
                  </c:pt>
                  <c:pt idx="6">
                    <c:v>4点</c:v>
                  </c:pt>
                  <c:pt idx="7">
                    <c:v>3点</c:v>
                  </c:pt>
                  <c:pt idx="8">
                    <c:v>2点</c:v>
                  </c:pt>
                  <c:pt idx="9">
                    <c:v>1点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13</c:v>
                </c:pt>
                <c:pt idx="2">
                  <c:v>31</c:v>
                </c:pt>
                <c:pt idx="3">
                  <c:v>9</c:v>
                </c:pt>
                <c:pt idx="4">
                  <c:v>22</c:v>
                </c:pt>
                <c:pt idx="5">
                  <c:v>4</c:v>
                </c:pt>
                <c:pt idx="6">
                  <c:v>9</c:v>
                </c:pt>
                <c:pt idx="7">
                  <c:v>3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改善レポート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コンフォートホテル博多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分析対象期間：2025年12月〜2026年3月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レビュー総数：140件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作成日：2026年4月3日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3B7DD8">
              <a:alpha val="1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874520" cy="4572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全体平均(10pt換算)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高評価率(8-10点)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63.6%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1874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51560"/>
            <a:ext cx="18745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188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低評価率(1-4点)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1417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29400" y="1051560"/>
            <a:ext cx="2057400" cy="457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11887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レビュー総数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4173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140件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286000"/>
            <a:ext cx="393192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駅近・交通利便性に関する好評価（101件）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朝食の品質・バリエーションへの高評価（77件）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客室の快適性・設備の充実度への好評（75件）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286000"/>
            <a:ext cx="393192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274320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設備老朽化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7件の指摘あり。改善対応を推奨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騒音問題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5件の指摘あり。改善対応を推奨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3件の指摘あり。改善対応を推奨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Analysis by Platform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005840"/>
            <a:ext cx="30175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60720" y="1005840"/>
            <a:ext cx="301752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0" y="1417320"/>
            <a:ext cx="2651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サイト別評価インサイト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最高評価サイト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Trip.com: 9.04点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全体平均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7.73点（10pt換算）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</a:t>
            </a:r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海外OTAは/10、国内サイトは/5×2換算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97680"/>
          <a:ext cx="8229600" cy="9144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1828800"/>
                <a:gridCol w="914400"/>
                <a:gridCol w="27432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サイト名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ネイティブ平均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10pt換算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じゃらん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楽天トラベル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評価分布分析（10点換算）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Distribution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97280"/>
          <a:ext cx="36576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114800" y="1097280"/>
          <a:ext cx="47548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160520"/>
            <a:ext cx="2651760" cy="50292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 8-10点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73736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89件（63.6%）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91840" y="4160520"/>
            <a:ext cx="2651760" cy="50292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1" name="Text 7"/>
          <p:cNvSpPr/>
          <p:nvPr/>
        </p:nvSpPr>
        <p:spPr>
          <a:xfrm>
            <a:off x="32918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中評価 5-7点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35件（25.0%）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4160520"/>
            <a:ext cx="265176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0"/>
          <p:cNvSpPr/>
          <p:nvPr/>
        </p:nvSpPr>
        <p:spPr>
          <a:xfrm>
            <a:off x="612648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 1-4点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06640" y="4160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10160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16件（11.4%）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強み分析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Analysis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101件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駅近・交通利便性に関する好評価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「立地は最高だが、部屋は古く、朝食は少し残念だった。」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2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朝食の品質・バリエーションへの高評価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「屋は古く、朝食は少し残念だった。」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0515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1247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63640" y="11247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部屋・設備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客室の快適性・設備の充実度への好評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636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「最高だが、部屋は古く、朝食は少し残念だった。」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29" name="Text 27"/>
          <p:cNvSpPr/>
          <p:nvPr/>
        </p:nvSpPr>
        <p:spPr>
          <a:xfrm>
            <a:off x="228600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50件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スタッフ対応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フロントスタッフの丁寧な対応への好評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「朝食のスタッフの方が案内などの対応がてきぱきされており良」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Shape 33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2900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コスパ・リピート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2900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価格対価値の高さとリピート意向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42900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「風呂もこの価格のホテルにしては満足でした。シャワーも温度調節」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26480" y="28803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880360"/>
            <a:ext cx="54864" cy="1600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295351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21件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29535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26364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客室・共用部の清潔さへの高評価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3657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「で、部屋も清潔です。次回もまたここに泊まりたいと思います。」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弱み分析・優先度マトリクス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 Analysis &amp; Priority Matrix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"/>
        </p:xfrm>
        <a:graphic>
          <a:graphicData uri="http://schemas.openxmlformats.org/drawingml/2006/table">
            <a:tbl>
              <a:tblPr/>
              <a:tblGrid>
                <a:gridCol w="731520"/>
                <a:gridCol w="1828800"/>
                <a:gridCol w="457200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課題カテゴリ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具体的内容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件数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設備老朽化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部屋の中、特にユニットバスが古い造りで、洗面所の蛇口が2口式なのが残念ですが、そ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騒音問題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房間隔音效果較差，隔壁房間吵死了。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清潔感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バスルームが古く、清潔感が低い　カビもみられる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朝食品質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朝食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部屋狭小感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狭い部屋で、廊下はまるで牢獄のようだった。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4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水回り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ヒーターの音は無知でした^^;洗面台の冷水絞りで水がずっと流れ落ちたのですがカウ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最優先   </a:t>
            </a:r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高優先   </a:t>
            </a:r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中優先   </a:t>
            </a:r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低優先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1：即座対応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(Today ~ 1 Month)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7D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投資不要・オペレーション改善で対応可能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設備老朽化への即時対応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緊急修繕リストの作成と優先対応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老朽化設備の在庫把握と交換計画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スタッフによる日常点検の徹底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故障時のバックアップ体制整備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3444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(2) 騒音対策の即時対応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60020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防音対策済み部屋の積極的案内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チェックイン時の防音耳栓提供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騒音クレーム対応マニュアルの整備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防音性能の高い部屋への優先アサイン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(3) 清潔感向上の即時対応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客室清掃チェックリストの強化・再徹底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気になる箇所の即時補修対応フロー整備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消臭・換気プロトコルの見直し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清潔感評価の定期モニタリング開始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(4) 朝食品質の即時改善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8328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朝食メニューへのフィードバック収集と改善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食材品質の見直しと産地表示の充実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混雑緩和のための時間帯分散対策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朝食スタッフへのホスピタリティ研修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改善施策 Phase 2・3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&amp; Mid-term Actions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2：短期施策（1〜3ヶ月）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設備更新の計画的実施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中長期設備更新ロードマップの策定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高頻度使用備品の計画的交換サイクル確立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省エネ設備への転換による維持費削減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防音設備の強化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防音カーテン・防音パネルの設置計画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騒音の多い部屋の用途転換検討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建物外部騒音対策の工事計画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設備清潔維持の中期施策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定期的な深掃除スケジュールの策定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カーペット・カーテン等の計画的な交換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清掃品質向上のためのスタッフ研修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39776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3：中期施策（3〜6ヶ月）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「立地・アクセス」の競争優位性強化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71907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立地・アクセスを訴求したブランディング戦略の策定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SNS・口コミサイトでの強み積極的発信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旅行代理店・法人営業への強み訴求資料作成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9204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客室リノベーション計画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761488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客室設備の全面的な見直しと更新計画策定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最新のスマートホテル機能の導入検討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環境に配慮したサステナブル客室改装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デジタル接客・サービス高度化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80390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AIチャットボットによる24時間問合せ対応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モバイルチェックイン/アウトシステムの導入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顧客データ分析によるパーソナライズサービスの実現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KPI項目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現状値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目標値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全体平均(10pt換算)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7.73点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高評価率（8-10点）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低評価率（1-4点）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10.4%以下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口コミ返信率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未計測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100%（48h以内）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2026年7月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Trip.com評価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9.04/10点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Booking.com評価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6.97/10点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7.2/10点以上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2026年10月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886200"/>
            <a:ext cx="54864" cy="640080"/>
          </a:xfrm>
          <a:prstGeom prst="rect">
            <a:avLst/>
          </a:prstGeom>
          <a:solidFill>
            <a:srgbClr val="3B7DD8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モニタリング方針：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月次でOTA評価スコアを確認し、設備老朽化改善の進捗をトラッキングします。四半期ごとに目標値を見直し、継続的な改善サイクルを確立してください。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800600"/>
            <a:ext cx="2743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556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2560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7315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コンフォートホテル博多の2025年12月〜2026年3月口コミ分析（140件）では、総合評価7.73点（10pt換算）、高評価率63.6%という結果が得られました。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「立地・アクセス」が最大の強みとして確認され、本レポートの3フェーズ改善施策の実施により、さらなる評価向上が期待されます。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6ヶ月以内に全体平均8.0点以上、高評価率69%以上を目指し、継続的な改善サイクルを確立することを推奨します。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プライムチェンジは引き続き改善施策の実施をサポートいたします。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ご清聴ありがとうございました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コンフォートホテル博多 口コミ分析改善レポート</dc:title>
  <dc:subject>PptxGenJS Presentation</dc:subject>
  <dc:creator>Hotel Consulting</dc:creator>
  <cp:lastModifiedBy>Hotel Consulting</cp:lastModifiedBy>
  <cp:revision>1</cp:revision>
  <dcterms:created xsi:type="dcterms:W3CDTF">2026-04-04T01:16:17Z</dcterms:created>
  <dcterms:modified xsi:type="dcterms:W3CDTF">2026-04-04T01:16:17Z</dcterms:modified>
</cp:coreProperties>
</file>