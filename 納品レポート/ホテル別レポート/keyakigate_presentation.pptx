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ホテルケヤキゲート東京府中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口コミレビュー分析レポート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対象期間：2026年2月〜3月 | レビュー数：66件 | 作成日：2026年3月7日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全サイト統合平均スコア（10点換算）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8.7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10312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 10点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分析レビュー数: 66件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対象サイト: 6サイト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657600" cy="1828800"/>
          </a:xfrm>
          <a:prstGeom prst="rect">
            <a:avLst>
              <a:gd name="adj" fmla="val 5000"/>
            </a:avLst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部屋（41件）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立地・アクセス（40件）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朝食（37件）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926080"/>
            <a:ext cx="4114800" cy="1828800"/>
          </a:xfrm>
          <a:prstGeom prst="rect">
            <a:avLst>
              <a:gd name="adj" fmla="val 5000"/>
            </a:avLst>
          </a:prstGeom>
          <a:solidFill>
            <a:srgbClr val="FF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設備不満（17件）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清掃不備（7件）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朝食改善（6件）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サイト別評価比較（10点換算）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188720"/>
                <a:gridCol w="1371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サイト名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件数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元スケール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平均(元)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平均(10点換算)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楽天トラベル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21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4.43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8.86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じゃらん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4.38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8.75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Agoda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8.83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8.83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Booking.com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8.70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8.70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Trip.com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10.00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10.00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Google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3.00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6.00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月別推移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2286000" cy="2743200"/>
          </a:xfrm>
          <a:prstGeom prst="rect">
            <a:avLst>
              <a:gd name="adj" fmla="val 4000"/>
            </a:avLst>
          </a:prstGeom>
          <a:solidFill>
            <a:srgbClr val="D6E4F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 10点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2286000" cy="2743200"/>
          </a:xfrm>
          <a:prstGeom prst="rect">
            <a:avLst>
              <a:gd name="adj" fmla="val 4000"/>
            </a:avLst>
          </a:prstGeom>
          <a:solidFill>
            <a:srgbClr val="D6E4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9.1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 10点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↑ 0.43点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好評ポイント TOP5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言及数: 41件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207008"/>
            <a:ext cx="4114800" cy="365760"/>
          </a:xfrm>
          <a:prstGeom prst="rect">
            <a:avLst>
              <a:gd name="adj" fmla="val 12500"/>
            </a:avLst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立地・アクセス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言及数: 40件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1984248"/>
            <a:ext cx="4014439" cy="365760"/>
          </a:xfrm>
          <a:prstGeom prst="rect">
            <a:avLst>
              <a:gd name="adj" fmla="val 12500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679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言及数: 37件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2761488"/>
            <a:ext cx="3713356" cy="365760"/>
          </a:xfrm>
          <a:prstGeom prst="rect">
            <a:avLst>
              <a:gd name="adj" fmla="val 12500"/>
            </a:avLst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7919596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接客・サービス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言及数: 22件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3538728"/>
            <a:ext cx="2207941" cy="365760"/>
          </a:xfrm>
          <a:prstGeom prst="rect">
            <a:avLst>
              <a:gd name="adj" fmla="val 12500"/>
            </a:avLst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14181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清潔感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言及数: 20件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4315968"/>
            <a:ext cx="2007220" cy="365760"/>
          </a:xfrm>
          <a:prstGeom prst="rect">
            <a:avLst>
              <a:gd name="adj" fmla="val 12500"/>
            </a:avLst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6213460" y="4297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改善ポイント分析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設備不満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言及数: 17件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207008"/>
            <a:ext cx="4114800" cy="365760"/>
          </a:xfrm>
          <a:prstGeom prst="rect">
            <a:avLst>
              <a:gd name="adj" fmla="val 12500"/>
            </a:avLst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清掃不備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言及数: 7件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1984248"/>
            <a:ext cx="1694329" cy="365760"/>
          </a:xfrm>
          <a:prstGeom prst="rect">
            <a:avLst>
              <a:gd name="adj" fmla="val 12500"/>
            </a:avLst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5900569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朝食改善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言及数: 6件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2761488"/>
            <a:ext cx="1452282" cy="365760"/>
          </a:xfrm>
          <a:prstGeom prst="rect">
            <a:avLst>
              <a:gd name="adj" fmla="val 12500"/>
            </a:avLst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5658522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駐車場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言及数: 6件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3538728"/>
            <a:ext cx="1452282" cy="365760"/>
          </a:xfrm>
          <a:prstGeom prst="rect">
            <a:avLst>
              <a:gd name="adj" fmla="val 12500"/>
            </a:avLst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5658522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スタッフ対応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言及数: 5件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4315968"/>
            <a:ext cx="1210235" cy="365760"/>
          </a:xfrm>
          <a:prstGeom prst="rect">
            <a:avLst>
              <a:gd name="adj" fmla="val 12500"/>
            </a:avLst>
          </a:prstGeom>
          <a:solidFill>
            <a:srgbClr val="C62828"/>
          </a:solidFill>
          <a:ln/>
        </p:spPr>
      </p:sp>
      <p:sp>
        <p:nvSpPr>
          <p:cNvPr id="33" name="Text 31"/>
          <p:cNvSpPr/>
          <p:nvPr/>
        </p:nvSpPr>
        <p:spPr>
          <a:xfrm>
            <a:off x="5416475" y="4297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02920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97280" y="4983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眺望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728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言及数: 2件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0" y="5093208"/>
            <a:ext cx="484094" cy="365760"/>
          </a:xfrm>
          <a:prstGeom prst="rect">
            <a:avLst>
              <a:gd name="adj" fmla="val 12500"/>
            </a:avLst>
          </a:prstGeom>
          <a:solidFill>
            <a:srgbClr val="C62828"/>
          </a:solidFill>
          <a:ln/>
        </p:spPr>
      </p:sp>
      <p:sp>
        <p:nvSpPr>
          <p:cNvPr id="39" name="Text 37"/>
          <p:cNvSpPr/>
          <p:nvPr/>
        </p:nvSpPr>
        <p:spPr>
          <a:xfrm>
            <a:off x="4690334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7200" y="580644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806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97280" y="5760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部屋着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7280" y="6080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言及数: 2件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114800" y="5870448"/>
            <a:ext cx="484094" cy="365760"/>
          </a:xfrm>
          <a:prstGeom prst="rect">
            <a:avLst>
              <a:gd name="adj" fmla="val 12500"/>
            </a:avLst>
          </a:prstGeom>
          <a:solidFill>
            <a:srgbClr val="C62828"/>
          </a:solidFill>
          <a:ln/>
        </p:spPr>
      </p:sp>
      <p:sp>
        <p:nvSpPr>
          <p:cNvPr id="45" name="Text 43"/>
          <p:cNvSpPr/>
          <p:nvPr/>
        </p:nvSpPr>
        <p:spPr>
          <a:xfrm>
            <a:off x="4690334" y="5852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低評価レビュー抜粋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>
              <a:gd name="adj" fmla="val 5556"/>
            </a:avLst>
          </a:prstGeom>
          <a:solidFill>
            <a:srgbClr val="FFF3E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[Google] 2026-03-07 / 2点(10点換算) / ber Novem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掃除なし、延長と事前に言っても掃除スタッフにまで伝わっていなくて、朝返部屋をノックしてきて、こちらが寝ていても、返事待たずに勝手に入ってくる。しかも失礼しましたなどもない。フロントでアメニティを何個か頼んでも、足りてない。のように、サービス..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822960"/>
          </a:xfrm>
          <a:prstGeom prst="rect">
            <a:avLst>
              <a:gd name="adj" fmla="val 5556"/>
            </a:avLst>
          </a:prstGeom>
          <a:solidFill>
            <a:srgbClr val="FFF3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[楽天トラベル] 2026-02-17 / 2点(10点換算) / てちゃろう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部屋からの眺望が無い場合は、事前に条件として提示すべき事柄であると思う（他の宿ではそうしたところが多い）。入室して、すりガラスの窓を見た時のガッカリ感と言ったらなかった。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822960"/>
          </a:xfrm>
          <a:prstGeom prst="rect">
            <a:avLst>
              <a:gd name="adj" fmla="val 5556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08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[楽天トラベル] 2026-02-09 / 4点(10点換算) / JITTE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お風呂等設備が新しかったので綺麗だったんで良かったですが、ベッドのシーツに毛やゴミが残ってました。5本ほど.... シーツ等毎回替えないのはわかってますが、せめて クリーナー等でゴミがない状態にはして欲しかったです。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改善提言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優先度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施策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具体的アクション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清掃品質の安定化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チェックリスト導入・ダブルチェック体制構築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スタッフ間連携強化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業務引き継ぎシステム改善・デジタルツール活用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空調・乾燥対策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加湿器の全室設置/貸出体制強化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Wi-Fi環境改善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5GHz帯導入・ネットワーク設計見直し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976D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眺望情報の事前開示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予約時のすりガラス部屋告知徹底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976D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朝食メニュー拡充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季節メニュー導入・バリエーション強化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976D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駐車場情報充実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近隣パーキング情報の案内強化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ect">
            <a:avLst>
              <a:gd name="adj" fmla="val 6667"/>
            </a:avLst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総合評価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10点換算平均 8.7点 - 全体的に高い評価。「駅直結の立地」と「朝食の質」が圧倒的な強み。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1371600"/>
          </a:xfrm>
          <a:prstGeom prst="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最優先改善事項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清掃品質の安定化（チェックリスト・ダブルチェック体制）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スタッフ間連携強化（情報共有システム改善）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空調・乾燥対策（加湿器設置）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ホテルケヤキゲート東京府中 口コミ分析レポート</dc:title>
  <dc:subject>PptxGenJS Presentation</dc:subject>
  <dc:creator>Hotel Review Analysis</dc:creator>
  <cp:lastModifiedBy>Hotel Review Analysis</cp:lastModifiedBy>
  <cp:revision>1</cp:revision>
  <dcterms:created xsi:type="dcterms:W3CDTF">2026-03-07T11:46:28Z</dcterms:created>
  <dcterms:modified xsi:type="dcterms:W3CDTF">2026-03-07T11:46:28Z</dcterms:modified>
</cp:coreProperties>
</file>