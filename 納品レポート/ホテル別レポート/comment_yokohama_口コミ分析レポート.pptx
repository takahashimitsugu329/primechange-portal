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474720"/>
            <a:ext cx="9144000" cy="1668780"/>
          </a:xfrm>
          <a:prstGeom prst="rect">
            <a:avLst/>
          </a:prstGeom>
          <a:solidFill>
            <a:srgbClr val="243556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371600"/>
            <a:ext cx="73152" cy="16459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32588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85800" y="196596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" y="25146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レビュー総数: 139件　全体平均: 8.96/10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5661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作成日: 2026年3月28日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0" y="35661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 | 全139件分析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1005840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1005840"/>
            <a:ext cx="201168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4320" y="13716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8.96/10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2468880" y="1005840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468880" y="1005840"/>
            <a:ext cx="201168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246888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468880" y="13716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85.6%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663440" y="1005840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1005840"/>
            <a:ext cx="201168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9" name="Text 17"/>
          <p:cNvSpPr/>
          <p:nvPr/>
        </p:nvSpPr>
        <p:spPr>
          <a:xfrm>
            <a:off x="466344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中評価率(6-7点)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663440" y="13716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12.9%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6858000" y="1005840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858000" y="1005840"/>
            <a:ext cx="2011680" cy="4572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低評価率(~5点)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858000" y="13716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1.4%</a:t>
            </a:r>
            <a:endParaRPr lang="en-US" sz="3200" dirty="0"/>
          </a:p>
        </p:txBody>
      </p:sp>
      <p:sp>
        <p:nvSpPr>
          <p:cNvPr id="25" name="Shape 23"/>
          <p:cNvSpPr/>
          <p:nvPr/>
        </p:nvSpPr>
        <p:spPr>
          <a:xfrm>
            <a:off x="274320" y="2240280"/>
            <a:ext cx="859536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57200" y="23317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主要発見事項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7200" y="2697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全体平均スコア 8.96/10 — 高水準を維持しています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3099816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高評価(8点以上)が全体の85.6%を占めています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7200" y="350215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低評価(5点以下)は1.4%で管理可能な水準です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" y="390448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対象サイト: Agoda / Booking.com / 楽天トラベル / Trip.com / Google / じゃらん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各予約サイト・口コミサイト別スコア詳細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914400"/>
            <a:ext cx="228600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91440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サイト名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560320" y="914400"/>
            <a:ext cx="109728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10"/>
          <p:cNvSpPr/>
          <p:nvPr/>
        </p:nvSpPr>
        <p:spPr>
          <a:xfrm>
            <a:off x="2560320" y="91440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件数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57600" y="914400"/>
            <a:ext cx="137160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0" y="91440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平均評価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029200" y="914400"/>
            <a:ext cx="137160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0" y="91440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10点換算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400800" y="914400"/>
            <a:ext cx="182880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0" y="914400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評価判定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1207008"/>
            <a:ext cx="22860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2560320" y="1207008"/>
            <a:ext cx="109728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3657600" y="1207008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5029200" y="1207008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6400800" y="1207008"/>
            <a:ext cx="18288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274320" y="1207008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560320" y="120700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657600" y="120700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8.23/10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029200" y="120700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8.23/10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00800" y="120700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概ね良好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74320" y="1536192"/>
            <a:ext cx="22860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0" name="Shape 28"/>
          <p:cNvSpPr/>
          <p:nvPr/>
        </p:nvSpPr>
        <p:spPr>
          <a:xfrm>
            <a:off x="2560320" y="1536192"/>
            <a:ext cx="109728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1" name="Shape 29"/>
          <p:cNvSpPr/>
          <p:nvPr/>
        </p:nvSpPr>
        <p:spPr>
          <a:xfrm>
            <a:off x="3657600" y="1536192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2" name="Shape 30"/>
          <p:cNvSpPr/>
          <p:nvPr/>
        </p:nvSpPr>
        <p:spPr>
          <a:xfrm>
            <a:off x="5029200" y="1536192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3" name="Shape 31"/>
          <p:cNvSpPr/>
          <p:nvPr/>
        </p:nvSpPr>
        <p:spPr>
          <a:xfrm>
            <a:off x="6400800" y="1536192"/>
            <a:ext cx="18288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4" name="Text 32"/>
          <p:cNvSpPr/>
          <p:nvPr/>
        </p:nvSpPr>
        <p:spPr>
          <a:xfrm>
            <a:off x="274320" y="1536192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Booking.com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560320" y="153619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657600" y="153619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8.57/10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029200" y="153619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8.57/10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00800" y="153619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優秀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74320" y="1865376"/>
            <a:ext cx="22860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Shape 38"/>
          <p:cNvSpPr/>
          <p:nvPr/>
        </p:nvSpPr>
        <p:spPr>
          <a:xfrm>
            <a:off x="2560320" y="1865376"/>
            <a:ext cx="109728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3657600" y="1865376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Shape 40"/>
          <p:cNvSpPr/>
          <p:nvPr/>
        </p:nvSpPr>
        <p:spPr>
          <a:xfrm>
            <a:off x="5029200" y="1865376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Shape 41"/>
          <p:cNvSpPr/>
          <p:nvPr/>
        </p:nvSpPr>
        <p:spPr>
          <a:xfrm>
            <a:off x="6400800" y="1865376"/>
            <a:ext cx="18288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274320" y="18653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2560320" y="186537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3657600" y="186537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4.79/5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029200" y="186537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9.58/10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400800" y="186537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優秀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274320" y="2194560"/>
            <a:ext cx="22860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0" name="Shape 48"/>
          <p:cNvSpPr/>
          <p:nvPr/>
        </p:nvSpPr>
        <p:spPr>
          <a:xfrm>
            <a:off x="2560320" y="2194560"/>
            <a:ext cx="109728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657600" y="2194560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2" name="Shape 50"/>
          <p:cNvSpPr/>
          <p:nvPr/>
        </p:nvSpPr>
        <p:spPr>
          <a:xfrm>
            <a:off x="5029200" y="2194560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3" name="Shape 51"/>
          <p:cNvSpPr/>
          <p:nvPr/>
        </p:nvSpPr>
        <p:spPr>
          <a:xfrm>
            <a:off x="6400800" y="2194560"/>
            <a:ext cx="18288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4" name="Text 52"/>
          <p:cNvSpPr/>
          <p:nvPr/>
        </p:nvSpPr>
        <p:spPr>
          <a:xfrm>
            <a:off x="274320" y="2194560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2560320" y="219456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3657600" y="21945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9.12/10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5029200" y="21945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9.12/10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6400800" y="219456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優秀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274320" y="2523744"/>
            <a:ext cx="22860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Shape 58"/>
          <p:cNvSpPr/>
          <p:nvPr/>
        </p:nvSpPr>
        <p:spPr>
          <a:xfrm>
            <a:off x="2560320" y="2523744"/>
            <a:ext cx="109728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Shape 59"/>
          <p:cNvSpPr/>
          <p:nvPr/>
        </p:nvSpPr>
        <p:spPr>
          <a:xfrm>
            <a:off x="3657600" y="2523744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2" name="Shape 60"/>
          <p:cNvSpPr/>
          <p:nvPr/>
        </p:nvSpPr>
        <p:spPr>
          <a:xfrm>
            <a:off x="5029200" y="2523744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Shape 61"/>
          <p:cNvSpPr/>
          <p:nvPr/>
        </p:nvSpPr>
        <p:spPr>
          <a:xfrm>
            <a:off x="6400800" y="2523744"/>
            <a:ext cx="18288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4" name="Text 62"/>
          <p:cNvSpPr/>
          <p:nvPr/>
        </p:nvSpPr>
        <p:spPr>
          <a:xfrm>
            <a:off x="274320" y="2523744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2560320" y="2523744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3657600" y="252374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4.93/5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5029200" y="252374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9.87/10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6400800" y="252374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優秀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274320" y="2852928"/>
            <a:ext cx="22860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70" name="Shape 68"/>
          <p:cNvSpPr/>
          <p:nvPr/>
        </p:nvSpPr>
        <p:spPr>
          <a:xfrm>
            <a:off x="2560320" y="2852928"/>
            <a:ext cx="109728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71" name="Shape 69"/>
          <p:cNvSpPr/>
          <p:nvPr/>
        </p:nvSpPr>
        <p:spPr>
          <a:xfrm>
            <a:off x="3657600" y="2852928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72" name="Shape 70"/>
          <p:cNvSpPr/>
          <p:nvPr/>
        </p:nvSpPr>
        <p:spPr>
          <a:xfrm>
            <a:off x="5029200" y="2852928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73" name="Shape 71"/>
          <p:cNvSpPr/>
          <p:nvPr/>
        </p:nvSpPr>
        <p:spPr>
          <a:xfrm>
            <a:off x="6400800" y="2852928"/>
            <a:ext cx="18288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74" name="Text 72"/>
          <p:cNvSpPr/>
          <p:nvPr/>
        </p:nvSpPr>
        <p:spPr>
          <a:xfrm>
            <a:off x="274320" y="2852928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</a:t>
            </a:r>
            <a:endParaRPr lang="en-US" sz="900" dirty="0"/>
          </a:p>
        </p:txBody>
      </p:sp>
      <p:sp>
        <p:nvSpPr>
          <p:cNvPr id="75" name="Text 73"/>
          <p:cNvSpPr/>
          <p:nvPr/>
        </p:nvSpPr>
        <p:spPr>
          <a:xfrm>
            <a:off x="2560320" y="285292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  <p:sp>
        <p:nvSpPr>
          <p:cNvPr id="76" name="Text 74"/>
          <p:cNvSpPr/>
          <p:nvPr/>
        </p:nvSpPr>
        <p:spPr>
          <a:xfrm>
            <a:off x="3657600" y="285292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4.62/5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5029200" y="285292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9.23/10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6400800" y="285292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評価スコア分布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10点換算スコア別件数・割合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74320" y="1005840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10点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97280" y="1033272"/>
            <a:ext cx="5486400" cy="23774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100584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72件 (51.8%)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74320" y="1353312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9点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097280" y="1380744"/>
            <a:ext cx="1676400" cy="23774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865120" y="1353312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22件 (15.8%)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74320" y="1700784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8点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097280" y="1728216"/>
            <a:ext cx="1905000" cy="23774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7" name="Text 15"/>
          <p:cNvSpPr/>
          <p:nvPr/>
        </p:nvSpPr>
        <p:spPr>
          <a:xfrm>
            <a:off x="3093720" y="1700784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25件 (18.0%)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74320" y="2048256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7点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097280" y="2075688"/>
            <a:ext cx="838200" cy="237744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2026920" y="2048256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11件 (7.9%)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74320" y="2395728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6点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097280" y="2423160"/>
            <a:ext cx="533400" cy="237744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3" name="Text 21"/>
          <p:cNvSpPr/>
          <p:nvPr/>
        </p:nvSpPr>
        <p:spPr>
          <a:xfrm>
            <a:off x="1722120" y="2395728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 (5.0%)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74320" y="2743200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5点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097280" y="2770632"/>
            <a:ext cx="76200" cy="23774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6" name="Text 24"/>
          <p:cNvSpPr/>
          <p:nvPr/>
        </p:nvSpPr>
        <p:spPr>
          <a:xfrm>
            <a:off x="1264920" y="274320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 (0.7%)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74320" y="3090672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3点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097280" y="3118104"/>
            <a:ext cx="76200" cy="23774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9" name="Text 27"/>
          <p:cNvSpPr/>
          <p:nvPr/>
        </p:nvSpPr>
        <p:spPr>
          <a:xfrm>
            <a:off x="1264920" y="3090672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 (0.7%)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顧客フィードバック分析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主要ポジティブ・ネガティブポイント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914400"/>
            <a:ext cx="4023360" cy="32004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91440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好評ポイント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132588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立地：最高。正門南口から徒歩5分、ローソンの向かいに位置し、ドン・キホーテのショッピング街まで徒歩12分以内です。  客室：最高。シングルルームは少し狭いですが、内装は素晴らしく、東京の桜シーズンと比...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365760" y="205740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ぴあアリーナMMでのLIVE参加の為利用させて頂きました 立地は会場迄徒歩圏内で関内駅も近いが、喧騒エリアから少し距離があり静かでした ハマスタも徒歩圏内なのでリピート利用したいです 駐車場は車高制限...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65760" y="278892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初めての利用でしたが、何から何まで、全てに大変満足しました。特に、足をのばしてゆっくり出来る大浴場（洗い場は隣との間に仕切り有り）が、サウナ付きで男女別々に有るのが良かったです。部屋はおまかせのプラン...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65760" y="352044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綺麗です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84632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846320" y="914400"/>
            <a:ext cx="4023360" cy="3200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846320" y="91440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改善課題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937760" y="132588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特になし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937760" y="205740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価格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937760" y="278892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受付の対応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937760" y="352044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今のところ思いつきません。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改善アクションプラン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優先度別施策ロードマップ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960120"/>
            <a:ext cx="8595360" cy="1188720"/>
          </a:xfrm>
          <a:prstGeom prst="rect">
            <a:avLst/>
          </a:prstGeom>
          <a:solidFill>
            <a:srgbClr val="FEE2E2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960120"/>
            <a:ext cx="457200" cy="1188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960120"/>
            <a:ext cx="457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22960" y="1033272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即時対応（~2週間）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68680" y="1344168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低評価の根本原因特定とオペレーション改善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68680" y="1691640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スタッフサービス品質トレーニング強化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74320" y="2286000"/>
            <a:ext cx="8595360" cy="1188720"/>
          </a:xfrm>
          <a:prstGeom prst="rect">
            <a:avLst/>
          </a:prstGeom>
          <a:solidFill>
            <a:srgbClr val="FFF7E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" y="2286000"/>
            <a:ext cx="457200" cy="118872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7" name="Text 15"/>
          <p:cNvSpPr/>
          <p:nvPr/>
        </p:nvSpPr>
        <p:spPr>
          <a:xfrm>
            <a:off x="274320" y="2286000"/>
            <a:ext cx="457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22960" y="2359152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短期対応（1ヶ月以内）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68680" y="2670048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口コミ返信率向上によるブランド管理強化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68680" y="3017520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多言語対応改善による外国人ゲスト満足度向上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74320" y="3611880"/>
            <a:ext cx="8595360" cy="1188720"/>
          </a:xfrm>
          <a:prstGeom prst="rect">
            <a:avLst/>
          </a:prstGeom>
          <a:solidFill>
            <a:srgbClr val="EFF6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3611880"/>
            <a:ext cx="457200" cy="1188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3" name="Text 21"/>
          <p:cNvSpPr/>
          <p:nvPr/>
        </p:nvSpPr>
        <p:spPr>
          <a:xfrm>
            <a:off x="274320" y="3611880"/>
            <a:ext cx="457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22960" y="3685032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中期対応（3ヶ月以内）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68680" y="3995928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設備・アメニティ定期点検・更新サイクル確立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68680" y="4343400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ゲストフィードバック収集システムの整備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ホテルコメント横浜関内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2026-03-28T22:44:14Z</dcterms:created>
  <dcterms:modified xsi:type="dcterms:W3CDTF">2026-03-28T22:44:14Z</dcterms:modified>
</cp:coreProperties>
</file>