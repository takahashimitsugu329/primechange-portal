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10pt換算平均</c:v>
                </c:pt>
              </c:strCache>
            </c:strRef>
          </c:tx>
          <c:spPr>
            <a:solidFill>
              <a:srgbClr val="3B7DD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じゃらん</c:v>
                  </c:pt>
                  <c:pt idx="1">
                    <c:v>Google</c:v>
                  </c:pt>
                  <c:pt idx="2">
                    <c:v>楽天トラベル</c:v>
                  </c:pt>
                  <c:pt idx="3">
                    <c:v>Trip.com</c:v>
                  </c:pt>
                  <c:pt idx="4">
                    <c:v>Booking.com</c:v>
                  </c:pt>
                  <c:pt idx="5">
                    <c:v>Agoda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9.6</c:v>
                </c:pt>
                <c:pt idx="1">
                  <c:v>9.5</c:v>
                </c:pt>
                <c:pt idx="2">
                  <c:v>9.38</c:v>
                </c:pt>
                <c:pt idx="3">
                  <c:v>9</c:v>
                </c:pt>
                <c:pt idx="4">
                  <c:v>8.67</c:v>
                </c:pt>
                <c:pt idx="5">
                  <c:v>7.88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"/>
        </c:scaling>
        <c:delete val="0"/>
        <c:axPos val="b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評価分布（10pt換算）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bubble3D val="0"/>
            <c:spPr>
              <a:solidFill>
                <a:srgbClr val="D4A843"/>
              </a:solidFill>
              <a:effectLst/>
            </c:spPr>
          </c:dPt>
          <c:dPt>
            <c:idx val="2"/>
            <c:bubble3D val="0"/>
            <c:spPr>
              <a:solidFill>
                <a:srgbClr val="DC2626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100" b="0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高評価(8-10)</c:v>
                </c:pt>
                <c:pt idx="1">
                  <c:v>中評価(5-7)</c:v>
                </c:pt>
                <c:pt idx="2">
                  <c:v>低評価(1-4)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65</c:v>
                </c:pt>
                <c:pt idx="1">
                  <c:v>9</c:v>
                </c:pt>
                <c:pt idx="2">
                  <c:v>1</c:v>
                </c:pt>
              </c:numCache>
            </c:numRef>
          </c:val>
        </c:ser>
        <c:firstSliceAng val="0"/>
        <c:holeSize val="50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solidFill>
                <a:srgbClr val="64748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件数</c:v>
                </c:pt>
              </c:strCache>
            </c:strRef>
          </c:tx>
          <c:spPr>
            <a:solidFill>
              <a:srgbClr val="16A34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34155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6A34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4A843"/>
              </a:solidFill>
              <a:effectLst/>
            </c:spPr>
          </c:dPt>
          <c:dPt>
            <c:idx val="6"/>
            <c:invertIfNegative val="0"/>
            <c:bubble3D val="0"/>
            <c:spPr>
              <a:solidFill>
                <a:srgbClr val="DC2626"/>
              </a:solidFill>
              <a:effectLst/>
            </c:spPr>
          </c:dPt>
          <c:cat>
            <c:multiLvlStrRef>
              <c:f>Sheet1!$A$2:$A$8</c:f>
              <c:multiLvlStrCache>
                <c:ptCount val="7"/>
                <c:lvl>
                  <c:pt idx="0">
                    <c:v>10点</c:v>
                  </c:pt>
                  <c:pt idx="1">
                    <c:v>9点</c:v>
                  </c:pt>
                  <c:pt idx="2">
                    <c:v>8点</c:v>
                  </c:pt>
                  <c:pt idx="3">
                    <c:v>7点</c:v>
                  </c:pt>
                  <c:pt idx="4">
                    <c:v>6点</c:v>
                  </c:pt>
                  <c:pt idx="5">
                    <c:v>5点</c:v>
                  </c:pt>
                  <c:pt idx="6">
                    <c:v>3点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36</c:v>
                </c:pt>
                <c:pt idx="1">
                  <c:v>12</c:v>
                </c:pt>
                <c:pt idx="2">
                  <c:v>17</c:v>
                </c:pt>
                <c:pt idx="3">
                  <c:v>4</c:v>
                </c:pt>
                <c:pt idx="4">
                  <c:v>2</c:v>
                </c:pt>
                <c:pt idx="5">
                  <c:v>3</c:v>
                </c:pt>
                <c:pt idx="6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334155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334155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chart" Target="/ppt/charts/chart3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243556">
              <a:alpha val="6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0" y="1828800"/>
            <a:ext cx="73152" cy="16459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3716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spc="600" kern="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口コミ分析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731520" y="1920240"/>
            <a:ext cx="73152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改善レポート</a:t>
            </a:r>
            <a:endParaRPr lang="en-US" sz="4200" dirty="0"/>
          </a:p>
        </p:txBody>
      </p:sp>
      <p:sp>
        <p:nvSpPr>
          <p:cNvPr id="6" name="Shape 4"/>
          <p:cNvSpPr/>
          <p:nvPr/>
        </p:nvSpPr>
        <p:spPr>
          <a:xfrm>
            <a:off x="731520" y="2834640"/>
            <a:ext cx="1828800" cy="0"/>
          </a:xfrm>
          <a:prstGeom prst="line">
            <a:avLst/>
          </a:prstGeom>
          <a:noFill/>
          <a:ln w="25400">
            <a:solidFill>
              <a:srgbClr val="D4A84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30175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ホテルコメント横浜関内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74904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分析対象期間：2026年3月〜4月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レビュー総数：75件（6サイト）</a:t>
            </a:r>
            <a:endParaRPr lang="en-US" sz="10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作成日：2026年4月6日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6858000" y="0"/>
            <a:ext cx="2286000" cy="5143500"/>
          </a:xfrm>
          <a:prstGeom prst="rect">
            <a:avLst/>
          </a:prstGeom>
          <a:solidFill>
            <a:srgbClr val="3B7DD8">
              <a:alpha val="15000"/>
            </a:srgbClr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エグゼクティブサマリー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Summary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1874520" cy="4572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全体平均(10pt換算)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25146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5146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25146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高評価率(8-10点)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5146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0" y="1051560"/>
            <a:ext cx="187452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0" y="1051560"/>
            <a:ext cx="18745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0" y="1188720"/>
            <a:ext cx="1874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低評価率(1-4点)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0" y="1417320"/>
            <a:ext cx="1874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6629400" y="1051560"/>
            <a:ext cx="2057400" cy="9601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1051560"/>
            <a:ext cx="205740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6629400" y="1188720"/>
            <a:ext cx="2057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629400" y="1417320"/>
            <a:ext cx="2057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45720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57200" y="228600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Strengths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Google ホテルは綺麗で駅から近い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楽天トラベル 子ども達憧れの2段ベッドに大満足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Google ホテルは綺麗で駅から近い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754880" y="2286000"/>
            <a:ext cx="3931920" cy="2286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754880" y="2286000"/>
            <a:ext cx="3931920" cy="45720"/>
          </a:xfrm>
          <a:prstGeom prst="rect">
            <a:avLst/>
          </a:prstGeom>
          <a:solidFill>
            <a:srgbClr val="DC2626"/>
          </a:solidFill>
          <a:ln/>
        </p:spPr>
      </p:sp>
      <p:sp>
        <p:nvSpPr>
          <p:cNvPr id="27" name="Text 25"/>
          <p:cNvSpPr/>
          <p:nvPr/>
        </p:nvSpPr>
        <p:spPr>
          <a:xfrm>
            <a:off x="4937760" y="237744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Weaknesses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937760" y="2743200"/>
            <a:ext cx="34747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部屋の狭さ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狭い部屋だけど2段ベットでワクワクした 綺麗 特にない 特にない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浴室・水回り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大きな折りたたみ物干しがあったのはいいけど、パウダールームもシャワールームもトイレの壁もオシャレにシンプルすぎて、...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防音性能 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com 清潔、タオルがふわふわ、タオルの用意がたくさんある、布団が寝やすい、ドライヤーがリファ、アメニティに無料ス...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0" name="Text 2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主要KPI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188720"/>
            <a:ext cx="3931920" cy="45720"/>
          </a:xfrm>
          <a:prstGeom prst="rect">
            <a:avLst/>
          </a:prstGeom>
          <a:solidFill>
            <a:srgbClr val="2196F3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全体平均スコア（10点換算）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5720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2196F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8.83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754880" y="1188720"/>
            <a:ext cx="3931920" cy="16459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754880" y="118872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0" y="132588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高評価率（8-10点）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4754880" y="155448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86.7%</a:t>
            </a:r>
            <a:endParaRPr lang="en-US" sz="3200" dirty="0"/>
          </a:p>
        </p:txBody>
      </p:sp>
      <p:sp>
        <p:nvSpPr>
          <p:cNvPr id="13" name="Shape 11"/>
          <p:cNvSpPr/>
          <p:nvPr/>
        </p:nvSpPr>
        <p:spPr>
          <a:xfrm>
            <a:off x="45720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7200" y="3108960"/>
            <a:ext cx="3931920" cy="4572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5" name="Text 13"/>
          <p:cNvSpPr/>
          <p:nvPr/>
        </p:nvSpPr>
        <p:spPr>
          <a:xfrm>
            <a:off x="45720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低評価率（1-4点）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1.3%</a:t>
            </a:r>
            <a:endParaRPr lang="en-US" sz="3200" dirty="0"/>
          </a:p>
        </p:txBody>
      </p:sp>
      <p:sp>
        <p:nvSpPr>
          <p:cNvPr id="17" name="Shape 15"/>
          <p:cNvSpPr/>
          <p:nvPr/>
        </p:nvSpPr>
        <p:spPr>
          <a:xfrm>
            <a:off x="4754880" y="3108960"/>
            <a:ext cx="3931920" cy="13716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4754880" y="3108960"/>
            <a:ext cx="3931920" cy="4572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0" y="32461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レビュー総数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754880" y="3474720"/>
            <a:ext cx="3931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75件</a:t>
            </a:r>
            <a:endParaRPr lang="en-US" sz="3200" dirty="0"/>
          </a:p>
        </p:txBody>
      </p:sp>
      <p:sp>
        <p:nvSpPr>
          <p:cNvPr id="21" name="Shape 19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Analysis by Platform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457200" y="1005840"/>
          <a:ext cx="50292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6" name="Shape 3"/>
          <p:cNvSpPr/>
          <p:nvPr/>
        </p:nvSpPr>
        <p:spPr>
          <a:xfrm>
            <a:off x="5760720" y="1005840"/>
            <a:ext cx="3017520" cy="32004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5760720" y="1005840"/>
            <a:ext cx="3017520" cy="45720"/>
          </a:xfrm>
          <a:prstGeom prst="rect">
            <a:avLst/>
          </a:prstGeom>
          <a:solidFill>
            <a:srgbClr val="D4A843"/>
          </a:solidFill>
          <a:ln/>
        </p:spPr>
      </p:sp>
      <p:sp>
        <p:nvSpPr>
          <p:cNvPr id="8" name="Text 5"/>
          <p:cNvSpPr/>
          <p:nvPr/>
        </p:nvSpPr>
        <p:spPr>
          <a:xfrm>
            <a:off x="5943600" y="10972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Insight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5943600" y="1417320"/>
            <a:ext cx="26517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200" b="1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サイト別評価の傾向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高評価グループ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じゃらん(9.60)が最高スコア。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改善対象サイト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Agoda(7.9)が相対的に低い。口コミ返信の強化が急務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注：</a:t>
            </a:r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Google/じゃらん/楽天は5点満点のため×2で10pt換算</a:t>
            </a:r>
            <a:endParaRPr lang="en-US" sz="11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4297680"/>
          <a:ext cx="8229600" cy="91440"/>
        </p:xfrm>
        <a:graphic>
          <a:graphicData uri="http://schemas.openxmlformats.org/drawingml/2006/table">
            <a:tbl>
              <a:tblPr/>
              <a:tblGrid>
                <a:gridCol w="1828800"/>
                <a:gridCol w="914400"/>
                <a:gridCol w="1828800"/>
                <a:gridCol w="914400"/>
                <a:gridCol w="2743200"/>
              </a:tblGrid>
              <a:tr h="2286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サイト名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ネイティブ平均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尺度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10pt換算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じゃらん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楽天トラベル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4.69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/5 (×2)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Trip.com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Booking.com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8.67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/10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Shape 7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2" name="Text 8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3" name="Text 9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評価分布分析（10点換算）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Rating Distribution</a:t>
            </a:r>
            <a:endParaRPr lang="en-US" sz="1000" dirty="0"/>
          </a:p>
        </p:txBody>
      </p:sp>
      <p:graphicFrame>
        <p:nvGraphicFramePr>
          <p:cNvPr id="5" name="Chart 0" descr=""/>
          <p:cNvGraphicFramePr/>
          <p:nvPr/>
        </p:nvGraphicFramePr>
        <p:xfrm>
          <a:off x="274320" y="1097280"/>
          <a:ext cx="365760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Chart 1" descr=""/>
          <p:cNvGraphicFramePr/>
          <p:nvPr/>
        </p:nvGraphicFramePr>
        <p:xfrm>
          <a:off x="4114800" y="1097280"/>
          <a:ext cx="4754880" cy="29260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Shape 3"/>
          <p:cNvSpPr/>
          <p:nvPr/>
        </p:nvSpPr>
        <p:spPr>
          <a:xfrm>
            <a:off x="45720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4"/>
          <p:cNvSpPr/>
          <p:nvPr/>
        </p:nvSpPr>
        <p:spPr>
          <a:xfrm>
            <a:off x="4572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高評価 8-10点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173736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65件（86.7%）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3291840" y="4160520"/>
            <a:ext cx="2651760" cy="502920"/>
          </a:xfrm>
          <a:prstGeom prst="rect">
            <a:avLst/>
          </a:prstGeom>
          <a:solidFill>
            <a:srgbClr val="FFF7ED"/>
          </a:solidFill>
          <a:ln/>
        </p:spPr>
      </p:sp>
      <p:sp>
        <p:nvSpPr>
          <p:cNvPr id="11" name="Text 7"/>
          <p:cNvSpPr/>
          <p:nvPr/>
        </p:nvSpPr>
        <p:spPr>
          <a:xfrm>
            <a:off x="32918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中評価 5-7点</a:t>
            </a:r>
            <a:endParaRPr lang="en-US" sz="1000" dirty="0"/>
          </a:p>
        </p:txBody>
      </p:sp>
      <p:sp>
        <p:nvSpPr>
          <p:cNvPr id="12" name="Text 8"/>
          <p:cNvSpPr/>
          <p:nvPr/>
        </p:nvSpPr>
        <p:spPr>
          <a:xfrm>
            <a:off x="457200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9件（12.0%）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6126480" y="4160520"/>
            <a:ext cx="2651760" cy="50292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4" name="Text 10"/>
          <p:cNvSpPr/>
          <p:nvPr/>
        </p:nvSpPr>
        <p:spPr>
          <a:xfrm>
            <a:off x="612648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10160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低評価 1-4点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7406640" y="4160520"/>
            <a:ext cx="1371600" cy="502920"/>
          </a:xfrm>
          <a:prstGeom prst="rect">
            <a:avLst/>
          </a:prstGeom>
          <a:noFill/>
          <a:ln/>
        </p:spPr>
        <p:txBody>
          <a:bodyPr wrap="square" lIns="0" tIns="0" rIns="101600" bIns="0" rtlCol="0" anchor="ctr"/>
          <a:lstStyle/>
          <a:p>
            <a:pPr algn="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1件（1.3%）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7" name="Text 13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8" name="Text 14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強み分析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Strength Analysis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7" name="Shape 5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8" name="Text 6"/>
          <p:cNvSpPr/>
          <p:nvPr/>
        </p:nvSpPr>
        <p:spPr>
          <a:xfrm>
            <a:off x="228600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59436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清潔さ・清掃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9436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ホテルは綺麗で駅から近い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「とても綺麗なホテルでした」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329184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9184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14" name="Shape 12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15" name="Text 13"/>
          <p:cNvSpPr/>
          <p:nvPr/>
        </p:nvSpPr>
        <p:spPr>
          <a:xfrm>
            <a:off x="512064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342900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快適さ・設備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342900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楽天トラベル 子ども達憧れの2段ベッドに大満足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42900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「com アメニティーとスープとお茶」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126480" y="10515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126480" y="10515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1" name="Shape 19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2" name="Text 20"/>
          <p:cNvSpPr/>
          <p:nvPr/>
        </p:nvSpPr>
        <p:spPr>
          <a:xfrm>
            <a:off x="7955280" y="11247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20件+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263640" y="11247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立地・アクセス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6263640" y="14173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ホテルは綺麗で駅から近い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6263640" y="18288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「楽天トラベル 駅からのアクセスが良く、朝食も美味しかったです」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28" name="Shape 26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29" name="Text 27"/>
          <p:cNvSpPr/>
          <p:nvPr/>
        </p:nvSpPr>
        <p:spPr>
          <a:xfrm>
            <a:off x="228600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9436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スタッフの対応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9436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ホテルスタッフは皆さん素晴らしいです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59436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「（フロントのスタッフは枕に足跡がついているのを見ても気にせず、そのまま元の場所に戻していた😂）」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329184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29184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35" name="Shape 33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36" name="Text 34"/>
          <p:cNvSpPr/>
          <p:nvPr/>
        </p:nvSpPr>
        <p:spPr>
          <a:xfrm>
            <a:off x="512064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10件+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342900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</a:t>
            </a:r>
            <a:endParaRPr lang="en-US" sz="1300" dirty="0"/>
          </a:p>
        </p:txBody>
      </p:sp>
      <p:sp>
        <p:nvSpPr>
          <p:cNvPr id="38" name="Text 36"/>
          <p:cNvSpPr/>
          <p:nvPr/>
        </p:nvSpPr>
        <p:spPr>
          <a:xfrm>
            <a:off x="342900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朝食ブッフェは和洋完璧で全て美味しい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342900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「朝食も色んな美味しいものがバイキング形式で選べて最高でした」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6126480" y="2880360"/>
            <a:ext cx="265176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41" name="Shape 39"/>
          <p:cNvSpPr/>
          <p:nvPr/>
        </p:nvSpPr>
        <p:spPr>
          <a:xfrm>
            <a:off x="6126480" y="2880360"/>
            <a:ext cx="54864" cy="1600200"/>
          </a:xfrm>
          <a:prstGeom prst="rect">
            <a:avLst/>
          </a:prstGeom>
          <a:solidFill>
            <a:srgbClr val="16A34A"/>
          </a:solidFill>
          <a:ln/>
        </p:spPr>
      </p:sp>
      <p:sp>
        <p:nvSpPr>
          <p:cNvPr id="42" name="Shape 40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solidFill>
            <a:srgbClr val="DCFCE7"/>
          </a:solidFill>
          <a:ln/>
        </p:spPr>
      </p:sp>
      <p:sp>
        <p:nvSpPr>
          <p:cNvPr id="43" name="Text 41"/>
          <p:cNvSpPr/>
          <p:nvPr/>
        </p:nvSpPr>
        <p:spPr>
          <a:xfrm>
            <a:off x="7955280" y="2953512"/>
            <a:ext cx="65836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6A34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7件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6263640" y="295351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コストパフォーマンス</a:t>
            </a:r>
            <a:endParaRPr lang="en-US" sz="1300" dirty="0"/>
          </a:p>
        </p:txBody>
      </p:sp>
      <p:sp>
        <p:nvSpPr>
          <p:cNvPr id="45" name="Text 43"/>
          <p:cNvSpPr/>
          <p:nvPr/>
        </p:nvSpPr>
        <p:spPr>
          <a:xfrm>
            <a:off x="6263640" y="3246120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リーズナブルな時期もあってか、価格帯も大満足です</a:t>
            </a:r>
            <a:endParaRPr lang="en-US" sz="900" dirty="0"/>
          </a:p>
        </p:txBody>
      </p:sp>
      <p:sp>
        <p:nvSpPr>
          <p:cNvPr id="46" name="Text 44"/>
          <p:cNvSpPr/>
          <p:nvPr/>
        </p:nvSpPr>
        <p:spPr>
          <a:xfrm>
            <a:off x="6263640" y="3657600"/>
            <a:ext cx="2377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「シングルルームは少し狭いですが、内装は素晴らしく、東京の桜シーズンと比べると料金もリーズナブルです」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48" name="Text 46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弱み分析・優先度マトリクス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Weakness Analysis &amp; Priority Matrix</a:t>
            </a:r>
            <a:endParaRPr lang="en-US" sz="1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51560"/>
          <a:ext cx="8229600" cy="91440"/>
        </p:xfrm>
        <a:graphic>
          <a:graphicData uri="http://schemas.openxmlformats.org/drawingml/2006/table">
            <a:tbl>
              <a:tblPr/>
              <a:tblGrid>
                <a:gridCol w="731520"/>
                <a:gridCol w="1828800"/>
                <a:gridCol w="4572000"/>
                <a:gridCol w="10972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優先度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課題カテゴリ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具体的内容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C2626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狭い部屋だけど2段ベットでワクワクした 綺麗 特にない 特にない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浴室・水回り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大きな折りたたみ物干しがあったのはいいけど、パウダールームもシャワールームもトイレの壁もオシャレにシンプルすぎて、...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EA580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防音性能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清潔、タオルがふわふわ、タオルの用意がたくさんある、布団が寝やすい、ドライヤーがリファ、アメニティに無料ス...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エアコン・空調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夜部屋が寒かったので、暖房を入れようとしたら、個人では設定できなかったこと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D4A84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対応・サービスの不満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大浴場のシャワーが少なく、空くのを待たないといけないのが残念でした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設備の老朽化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Google 築年数が浅くおしゃれできれいです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臭い・匂い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 部屋がタバコ臭かったのですが、こちらのミスで喫煙室を予約してしまっていたようでした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朝食の改善要望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朝食に関しては、ボリューム・品数・美味しさ満点です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94A3B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窓・採光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景色は向かい側がオフィスビルだから カーテンは開けられない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1件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最優先   </a:t>
            </a:r>
            <a:pPr indent="0" marL="0">
              <a:buNone/>
            </a:pPr>
            <a:r>
              <a:rPr lang="en-US" sz="1000" b="1" dirty="0">
                <a:solidFill>
                  <a:srgbClr val="EA580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高優先   </a:t>
            </a:r>
            <a:pPr indent="0" marL="0">
              <a:buNone/>
            </a:pPr>
            <a:r>
              <a:rPr lang="en-US" sz="1000" b="1" dirty="0">
                <a:solidFill>
                  <a:srgbClr val="D4A8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中優先   </a:t>
            </a:r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 </a:t>
            </a:r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= 低優先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8" name="Text 5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1：即座対応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Immediate Actions (Today ~ 1 Month)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B7D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投資不要・オペレーション改善で対応可能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45720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45720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6"/>
          <p:cNvSpPr/>
          <p:nvPr/>
        </p:nvSpPr>
        <p:spPr>
          <a:xfrm>
            <a:off x="59436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客室の消臭対策の強化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9436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チェックアウト後の換気・消臭スプレー処理の徹底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定期的な脱臭剤の設置と交換フローの確立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喫煙・臭いに関するクレーム発生時の即座対応マニュアル作成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23444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63440" y="123444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2" name="Text 10"/>
          <p:cNvSpPr/>
          <p:nvPr/>
        </p:nvSpPr>
        <p:spPr>
          <a:xfrm>
            <a:off x="4800600" y="128016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清掃品質の向上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800600" y="160020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清掃チェックリストの見直しと強化（ベッド下・隅の重点確認）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清掃後のダブルチェック体制の導入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清掃スタッフへの再研修実施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5720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16" name="Text 14"/>
          <p:cNvSpPr/>
          <p:nvPr/>
        </p:nvSpPr>
        <p:spPr>
          <a:xfrm>
            <a:off x="59436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朝食サービスの改善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436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メニューの定期的な見直しとバリエーション追加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補充頻度の向上と品切れ防止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宿泊客数に応じた朝食準備量の最適化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663440" y="3017520"/>
            <a:ext cx="3977640" cy="16002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63440" y="3017520"/>
            <a:ext cx="54864" cy="160020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20" name="Text 18"/>
          <p:cNvSpPr/>
          <p:nvPr/>
        </p:nvSpPr>
        <p:spPr>
          <a:xfrm>
            <a:off x="4800600" y="306324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エアコン・空調の定期点検強化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383280"/>
            <a:ext cx="3657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全室のエアコン設定を季節に応じてデフォルト確認する運用フロー導入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冷暖房の正常動作を定期チェックリストに追加</a:t>
            </a:r>
            <a:endParaRPr lang="en-US" sz="9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00" dirty="0">
                <a:solidFill>
                  <a:srgbClr val="33415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異常報告があった客室の優先メンテナンス実施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3" name="Text 21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4" name="Text 22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改善施策 Phase 2・3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Short-term &amp; Mid-term Actions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457200" y="1005840"/>
            <a:ext cx="3977640" cy="36576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2：短期施策（1〜3ヶ月）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浴室の快適性向上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排水口の清掃・修繕を全室で実施し、排水速度を改善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シャワーヘッドの交換（水圧改善・節水タイプ導入）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浴室換気・暖房設備の点検と改善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4008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防音対策の強化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40080" y="2761488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窓際への防音カーテン導入（外部騒音対策）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ドア下部への隙間テープ設置（廊下・隣室からの音漏れ軽減）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騒音の少ない客室への優先案内の仕組み化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窓・採光環境の改善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40080" y="3803904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遮光カーテンとレースカーテンの品質見直し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窓の開閉可否に関する事前案内の徹底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採光の良い客室の優先割り当てルール整備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709160" y="1005840"/>
            <a:ext cx="3977640" cy="347472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709160" y="1005840"/>
            <a:ext cx="3977640" cy="36576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100584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3：中期施策（3〜6ヶ月）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92040" y="146304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客室リニューアル計画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4892040" y="1719072"/>
            <a:ext cx="347472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壁紙・カーペットの張替えによる「古さ」印象の払拭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照明のLED化・調光機能の追加で客室の雰囲気向上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USB充電ポート付きコンセントの設置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892040" y="2505456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浴室の抜本的改修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92040" y="2761488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配管更新による排水問題の根本解決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換気設備の強化による浴室内の温度・湿度改善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892040" y="3346704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防音工事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892040" y="3602736"/>
            <a:ext cx="347472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騒音源側客室の窓を二重サッシに交換</a:t>
            </a:r>
            <a:endParaRPr lang="en-US" sz="900" dirty="0"/>
          </a:p>
          <a:p>
            <a:pPr marL="342900" indent="-3429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隣室との壁面に遮音材を追加する改修工事の検討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24" name="Text 22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7F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73152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KPI目標設定・まとめ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548640" y="4572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9BE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Performance Indicators &amp; Summary</a:t>
            </a:r>
            <a:endParaRPr lang="en-US" sz="10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097280"/>
          <a:ext cx="8229600" cy="91440"/>
        </p:xfrm>
        <a:graphic>
          <a:graphicData uri="http://schemas.openxmlformats.org/drawingml/2006/table">
            <a:tbl>
              <a:tblPr/>
              <a:tblGrid>
                <a:gridCol w="2560320"/>
                <a:gridCol w="1828800"/>
                <a:gridCol w="2011680"/>
                <a:gridCol w="182880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KPI項目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現状値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目標値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期限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744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全体平均(10pt換算)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8.83点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9.1点以上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高評価率（8-10点）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86.7%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92%以上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低評価率（1-4点）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0%維持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Agoda平均評価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7.9点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8.9点以上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口コミ返信率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未計測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100%（48h以内）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2026年6月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EFF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33415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部屋の狭さクレーム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約9件/期間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16A34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4件以下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2026年9月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457200" y="3429000"/>
            <a:ext cx="8229600" cy="6400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7" name="Shape 4"/>
          <p:cNvSpPr/>
          <p:nvPr/>
        </p:nvSpPr>
        <p:spPr>
          <a:xfrm>
            <a:off x="457200" y="3429000"/>
            <a:ext cx="54864" cy="640080"/>
          </a:xfrm>
          <a:prstGeom prst="rect">
            <a:avLst/>
          </a:prstGeom>
          <a:solidFill>
            <a:srgbClr val="3B7DD8"/>
          </a:solidFill>
          <a:ln/>
        </p:spPr>
      </p:sp>
      <p:sp>
        <p:nvSpPr>
          <p:cNvPr id="8" name="Text 5"/>
          <p:cNvSpPr/>
          <p:nvPr/>
        </p:nvSpPr>
        <p:spPr>
          <a:xfrm>
            <a:off x="640080" y="3429000"/>
            <a:ext cx="7863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274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モニタリング方針：</a:t>
            </a:r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毎月のサイト別スコア集計と口コミ内容の定性分析を実施。四半期ごとに改善施策の効果を検証し、Phase 2・3の優先順位を見直します。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0" y="4800600"/>
            <a:ext cx="9144000" cy="342900"/>
          </a:xfrm>
          <a:prstGeom prst="rect">
            <a:avLst/>
          </a:prstGeom>
          <a:solidFill>
            <a:srgbClr val="1A2744"/>
          </a:solidFill>
          <a:ln/>
        </p:spPr>
      </p:sp>
      <p:sp>
        <p:nvSpPr>
          <p:cNvPr id="10" name="Text 7"/>
          <p:cNvSpPr/>
          <p:nvPr/>
        </p:nvSpPr>
        <p:spPr>
          <a:xfrm>
            <a:off x="457200" y="4800600"/>
            <a:ext cx="2743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11" name="Text 8"/>
          <p:cNvSpPr/>
          <p:nvPr/>
        </p:nvSpPr>
        <p:spPr>
          <a:xfrm>
            <a:off x="8229600" y="4800600"/>
            <a:ext cx="457200" cy="3429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ホテルコメント横浜関内 口コミ分析改善レポート</dc:title>
  <dc:subject>PptxGenJS Presentation</dc:subject>
  <dc:creator>Hotel Consulting</dc:creator>
  <cp:lastModifiedBy>Hotel Consulting</cp:lastModifiedBy>
  <cp:revision>1</cp:revision>
  <dcterms:created xsi:type="dcterms:W3CDTF">2026-04-06T04:03:19Z</dcterms:created>
  <dcterms:modified xsi:type="dcterms:W3CDTF">2026-04-06T04:03:19Z</dcterms:modified>
</cp:coreProperties>
</file>