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10pt換算平均</c:v>
                </c:pt>
              </c:strCache>
            </c:strRef>
          </c:tx>
          <c:spPr>
            <a:solidFill>
              <a:srgbClr val="3B7DD8"/>
            </a:solidFill>
            <a:effectLst/>
          </c:spPr>
          <c:invertIfNegative val="0"/>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cat>
            <c:multiLvlStrRef>
              <c:f>Sheet1!$A$2:$A$7</c:f>
              <c:multiLvlStrCache>
                <c:ptCount val="6"/>
                <c:lvl>
                  <c:pt idx="0">
                    <c:v>Trip.com</c:v>
                  </c:pt>
                  <c:pt idx="1">
                    <c:v>楽天トラベル</c:v>
                  </c:pt>
                  <c:pt idx="2">
                    <c:v>じゃらん</c:v>
                  </c:pt>
                  <c:pt idx="3">
                    <c:v>Google</c:v>
                  </c:pt>
                  <c:pt idx="4">
                    <c:v>Agoda</c:v>
                  </c:pt>
                  <c:pt idx="5">
                    <c:v>Booking.com</c:v>
                  </c:pt>
                </c:lvl>
              </c:multiLvlStrCache>
            </c:multiLvlStrRef>
          </c:cat>
          <c:val>
            <c:numRef>
              <c:f>Sheet1!$B$2:$B$7</c:f>
              <c:numCache>
                <c:formatCode>General</c:formatCode>
                <c:ptCount val="6"/>
                <c:pt idx="0">
                  <c:v>9.41</c:v>
                </c:pt>
                <c:pt idx="1">
                  <c:v>8.6</c:v>
                </c:pt>
                <c:pt idx="2">
                  <c:v>8.32</c:v>
                </c:pt>
                <c:pt idx="3">
                  <c:v>8.15</c:v>
                </c:pt>
                <c:pt idx="4">
                  <c:v>8.11</c:v>
                </c:pt>
                <c:pt idx="5">
                  <c:v>8.11</c:v>
                </c:pt>
              </c:numCache>
            </c:numRef>
          </c:val>
        </c:ser>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max val="10"/>
        </c:scaling>
        <c:delete val="0"/>
        <c:axPos val="b"/>
        <c:majorGridlines>
          <c:spPr>
            <a:ln w="6350" cap="flat">
              <a:solidFill>
                <a:srgbClr val="E2E8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評価分布（10pt換算）</c:v>
                </c:pt>
              </c:strCache>
            </c:strRef>
          </c:tx>
          <c:spPr>
            <a:solidFill>
              <a:schemeClr val="accent1"/>
            </a:solidFill>
            <a:ln w="9525" cap="flat">
              <a:solidFill>
                <a:srgbClr val="F9F9F9"/>
              </a:solidFill>
              <a:prstDash val="solid"/>
              <a:round/>
            </a:ln>
            <a:effectLst/>
          </c:spPr>
          <c:dPt>
            <c:idx val="0"/>
            <c:bubble3D val="0"/>
            <c:spPr>
              <a:solidFill>
                <a:srgbClr val="16A34A"/>
              </a:solidFill>
              <a:effectLst/>
            </c:spPr>
          </c:dPt>
          <c:dPt>
            <c:idx val="1"/>
            <c:bubble3D val="0"/>
            <c:spPr>
              <a:solidFill>
                <a:srgbClr val="D4A843"/>
              </a:solidFill>
              <a:effectLst/>
            </c:spPr>
          </c:dPt>
          <c:dPt>
            <c:idx val="2"/>
            <c:bubble3D val="0"/>
            <c:spPr>
              <a:solidFill>
                <a:srgbClr val="DC2626"/>
              </a:solidFill>
              <a:effectLst/>
            </c:spPr>
          </c:dPt>
          <c:dLbls>
            <c:dLbl>
              <c:idx val="0"/>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1"/>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2"/>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numFmt formatCode="0%"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高評価(8-10)</c:v>
                </c:pt>
                <c:pt idx="1">
                  <c:v>中評価(5-7)</c:v>
                </c:pt>
                <c:pt idx="2">
                  <c:v>低評価(1-4)</c:v>
                </c:pt>
              </c:strCache>
            </c:strRef>
          </c:cat>
          <c:val>
            <c:numRef>
              <c:f>Sheet1!$B$2:$B$4</c:f>
              <c:numCache>
                <c:ptCount val="3"/>
                <c:pt idx="0">
                  <c:v>235</c:v>
                </c:pt>
                <c:pt idx="1">
                  <c:v>65</c:v>
                </c:pt>
                <c:pt idx="2">
                  <c:v>9</c:v>
                </c:pt>
              </c:numCache>
            </c:numRef>
          </c:val>
        </c:ser>
        <c:firstSliceAng val="0"/>
        <c:holeSize val="50"/>
      </c:doughnutChart>
      <c:spPr>
        <a:noFill/>
        <a:ln>
          <a:noFill/>
        </a:ln>
        <a:effectLst/>
      </c:spPr>
    </c:plotArea>
    <c:legend>
      <c:legendPos val="b"/>
      <c:overlay val="0"/>
      <c:txPr>
        <a:bodyPr/>
        <a:lstStyle/>
        <a:p>
          <a:pPr>
            <a:defRPr sz="900">
              <a:solidFill>
                <a:srgbClr val="64748B"/>
              </a:solidFill>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件数</c:v>
                </c:pt>
              </c:strCache>
            </c:strRef>
          </c:tx>
          <c:spPr>
            <a:solidFill>
              <a:srgbClr val="16A34A"/>
            </a:solidFill>
            <a:effectLst/>
          </c:spPr>
          <c:invertIfNegative val="0"/>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dPt>
            <c:idx val="0"/>
            <c:invertIfNegative val="0"/>
            <c:bubble3D val="0"/>
            <c:spPr>
              <a:solidFill>
                <a:srgbClr val="16A34A"/>
              </a:solidFill>
              <a:effectLst/>
            </c:spPr>
          </c:dPt>
          <c:dPt>
            <c:idx val="1"/>
            <c:invertIfNegative val="0"/>
            <c:bubble3D val="0"/>
            <c:spPr>
              <a:solidFill>
                <a:srgbClr val="16A34A"/>
              </a:solidFill>
              <a:effectLst/>
            </c:spPr>
          </c:dPt>
          <c:dPt>
            <c:idx val="2"/>
            <c:invertIfNegative val="0"/>
            <c:bubble3D val="0"/>
            <c:spPr>
              <a:solidFill>
                <a:srgbClr val="16A34A"/>
              </a:solidFill>
              <a:effectLst/>
            </c:spPr>
          </c:dPt>
          <c:dPt>
            <c:idx val="3"/>
            <c:invertIfNegative val="0"/>
            <c:bubble3D val="0"/>
            <c:spPr>
              <a:solidFill>
                <a:srgbClr val="D4A843"/>
              </a:solidFill>
              <a:effectLst/>
            </c:spPr>
          </c:dPt>
          <c:dPt>
            <c:idx val="4"/>
            <c:invertIfNegative val="0"/>
            <c:bubble3D val="0"/>
            <c:spPr>
              <a:solidFill>
                <a:srgbClr val="D4A843"/>
              </a:solidFill>
              <a:effectLst/>
            </c:spPr>
          </c:dPt>
          <c:dPt>
            <c:idx val="5"/>
            <c:invertIfNegative val="0"/>
            <c:bubble3D val="0"/>
            <c:spPr>
              <a:solidFill>
                <a:srgbClr val="D4A843"/>
              </a:solidFill>
              <a:effectLst/>
            </c:spPr>
          </c:dPt>
          <c:dPt>
            <c:idx val="6"/>
            <c:invertIfNegative val="0"/>
            <c:bubble3D val="0"/>
            <c:spPr>
              <a:solidFill>
                <a:srgbClr val="DC2626"/>
              </a:solidFill>
              <a:effectLst/>
            </c:spPr>
          </c:dPt>
          <c:dPt>
            <c:idx val="7"/>
            <c:invertIfNegative val="0"/>
            <c:bubble3D val="0"/>
            <c:spPr>
              <a:solidFill>
                <a:srgbClr val="DC2626"/>
              </a:solidFill>
              <a:effectLst/>
            </c:spPr>
          </c:dPt>
          <c:dPt>
            <c:idx val="8"/>
            <c:invertIfNegative val="0"/>
            <c:bubble3D val="0"/>
            <c:spPr>
              <a:solidFill>
                <a:srgbClr val="DC2626"/>
              </a:solidFill>
              <a:effectLst/>
            </c:spPr>
          </c:dPt>
          <c:cat>
            <c:multiLvlStrRef>
              <c:f>Sheet1!$A$2:$A$10</c:f>
              <c:multiLvlStrCache>
                <c:ptCount val="9"/>
                <c:lvl>
                  <c:pt idx="0">
                    <c:v>10点</c:v>
                  </c:pt>
                  <c:pt idx="1">
                    <c:v>9点</c:v>
                  </c:pt>
                  <c:pt idx="2">
                    <c:v>8点</c:v>
                  </c:pt>
                  <c:pt idx="3">
                    <c:v>7点</c:v>
                  </c:pt>
                  <c:pt idx="4">
                    <c:v>6点</c:v>
                  </c:pt>
                  <c:pt idx="5">
                    <c:v>5点</c:v>
                  </c:pt>
                  <c:pt idx="6">
                    <c:v>4点</c:v>
                  </c:pt>
                  <c:pt idx="7">
                    <c:v>3点</c:v>
                  </c:pt>
                  <c:pt idx="8">
                    <c:v>2点</c:v>
                  </c:pt>
                </c:lvl>
              </c:multiLvlStrCache>
            </c:multiLvlStrRef>
          </c:cat>
          <c:val>
            <c:numRef>
              <c:f>Sheet1!$B$2:$B$10</c:f>
              <c:numCache>
                <c:formatCode>General</c:formatCode>
                <c:ptCount val="9"/>
                <c:pt idx="0">
                  <c:v>104</c:v>
                </c:pt>
                <c:pt idx="1">
                  <c:v>39</c:v>
                </c:pt>
                <c:pt idx="2">
                  <c:v>92</c:v>
                </c:pt>
                <c:pt idx="3">
                  <c:v>29</c:v>
                </c:pt>
                <c:pt idx="4">
                  <c:v>28</c:v>
                </c:pt>
                <c:pt idx="5">
                  <c:v>8</c:v>
                </c:pt>
                <c:pt idx="6">
                  <c:v>2</c:v>
                </c:pt>
                <c:pt idx="7">
                  <c:v>2</c:v>
                </c:pt>
                <c:pt idx="8">
                  <c:v>5</c:v>
                </c:pt>
              </c:numCache>
            </c:numRef>
          </c:val>
        </c:ser>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2744"/>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243556">
              <a:alpha val="60000"/>
            </a:srgbClr>
          </a:solidFill>
          <a:ln/>
        </p:spPr>
      </p:sp>
      <p:sp>
        <p:nvSpPr>
          <p:cNvPr id="3" name="Shape 1"/>
          <p:cNvSpPr/>
          <p:nvPr/>
        </p:nvSpPr>
        <p:spPr>
          <a:xfrm>
            <a:off x="0" y="1828800"/>
            <a:ext cx="73152" cy="1645920"/>
          </a:xfrm>
          <a:prstGeom prst="rect">
            <a:avLst/>
          </a:prstGeom>
          <a:solidFill>
            <a:srgbClr val="D4A843"/>
          </a:solidFill>
          <a:ln/>
        </p:spPr>
      </p:sp>
      <p:sp>
        <p:nvSpPr>
          <p:cNvPr id="4" name="Text 2"/>
          <p:cNvSpPr/>
          <p:nvPr/>
        </p:nvSpPr>
        <p:spPr>
          <a:xfrm>
            <a:off x="731520" y="1371600"/>
            <a:ext cx="7315200" cy="640080"/>
          </a:xfrm>
          <a:prstGeom prst="rect">
            <a:avLst/>
          </a:prstGeom>
          <a:noFill/>
          <a:ln/>
        </p:spPr>
        <p:txBody>
          <a:bodyPr wrap="square" lIns="0" tIns="0" rIns="0" bIns="0" rtlCol="0" anchor="ctr"/>
          <a:lstStyle/>
          <a:p>
            <a:pPr indent="0" marL="0">
              <a:buNone/>
            </a:pPr>
            <a:r>
              <a:rPr lang="en-US" sz="2000" spc="600" kern="0" dirty="0">
                <a:solidFill>
                  <a:srgbClr val="5A9BE6"/>
                </a:solidFill>
                <a:latin typeface="Arial" pitchFamily="34" charset="0"/>
                <a:ea typeface="Arial" pitchFamily="34" charset="-122"/>
                <a:cs typeface="Arial" pitchFamily="34" charset="-120"/>
              </a:rPr>
              <a:t>口コミ分析</a:t>
            </a:r>
            <a:endParaRPr lang="en-US" sz="2000" dirty="0"/>
          </a:p>
        </p:txBody>
      </p:sp>
      <p:sp>
        <p:nvSpPr>
          <p:cNvPr id="5" name="Text 3"/>
          <p:cNvSpPr/>
          <p:nvPr/>
        </p:nvSpPr>
        <p:spPr>
          <a:xfrm>
            <a:off x="731520" y="1920240"/>
            <a:ext cx="7315200" cy="822960"/>
          </a:xfrm>
          <a:prstGeom prst="rect">
            <a:avLst/>
          </a:prstGeom>
          <a:noFill/>
          <a:ln/>
        </p:spPr>
        <p:txBody>
          <a:bodyPr wrap="square" lIns="0" tIns="0" rIns="0" bIns="0" rtlCol="0" anchor="ctr"/>
          <a:lstStyle/>
          <a:p>
            <a:pPr indent="0" marL="0">
              <a:buNone/>
            </a:pPr>
            <a:r>
              <a:rPr lang="en-US" sz="4200" b="1" dirty="0">
                <a:solidFill>
                  <a:srgbClr val="FFFFFF"/>
                </a:solidFill>
                <a:latin typeface="Arial" pitchFamily="34" charset="0"/>
                <a:ea typeface="Arial" pitchFamily="34" charset="-122"/>
                <a:cs typeface="Arial" pitchFamily="34" charset="-120"/>
              </a:rPr>
              <a:t>改善レポート</a:t>
            </a:r>
            <a:endParaRPr lang="en-US" sz="4200" dirty="0"/>
          </a:p>
        </p:txBody>
      </p:sp>
      <p:sp>
        <p:nvSpPr>
          <p:cNvPr id="6" name="Shape 4"/>
          <p:cNvSpPr/>
          <p:nvPr/>
        </p:nvSpPr>
        <p:spPr>
          <a:xfrm>
            <a:off x="731520" y="2834640"/>
            <a:ext cx="1828800" cy="0"/>
          </a:xfrm>
          <a:prstGeom prst="line">
            <a:avLst/>
          </a:prstGeom>
          <a:noFill/>
          <a:ln w="25400">
            <a:solidFill>
              <a:srgbClr val="D4A843"/>
            </a:solidFill>
            <a:prstDash val="solid"/>
          </a:ln>
        </p:spPr>
      </p:sp>
      <p:sp>
        <p:nvSpPr>
          <p:cNvPr id="7" name="Text 5"/>
          <p:cNvSpPr/>
          <p:nvPr/>
        </p:nvSpPr>
        <p:spPr>
          <a:xfrm>
            <a:off x="731520" y="3017520"/>
            <a:ext cx="7315200" cy="457200"/>
          </a:xfrm>
          <a:prstGeom prst="rect">
            <a:avLst/>
          </a:prstGeom>
          <a:noFill/>
          <a:ln/>
        </p:spPr>
        <p:txBody>
          <a:bodyPr wrap="square" lIns="0" tIns="0" rIns="0" bIns="0" rtlCol="0" anchor="ctr"/>
          <a:lstStyle/>
          <a:p>
            <a:pPr indent="0" marL="0">
              <a:buNone/>
            </a:pPr>
            <a:r>
              <a:rPr lang="en-US" sz="1600" dirty="0">
                <a:solidFill>
                  <a:srgbClr val="94A3B8"/>
                </a:solidFill>
                <a:latin typeface="Arial" pitchFamily="34" charset="0"/>
                <a:ea typeface="Arial" pitchFamily="34" charset="-122"/>
                <a:cs typeface="Arial" pitchFamily="34" charset="-120"/>
              </a:rPr>
              <a:t>変なホテル東京羽田</a:t>
            </a:r>
            <a:endParaRPr lang="en-US" sz="1600" dirty="0"/>
          </a:p>
        </p:txBody>
      </p:sp>
      <p:sp>
        <p:nvSpPr>
          <p:cNvPr id="8" name="Text 6"/>
          <p:cNvSpPr/>
          <p:nvPr/>
        </p:nvSpPr>
        <p:spPr>
          <a:xfrm>
            <a:off x="731520" y="3749040"/>
            <a:ext cx="4572000" cy="822960"/>
          </a:xfrm>
          <a:prstGeom prst="rect">
            <a:avLst/>
          </a:prstGeom>
          <a:noFill/>
          <a:ln/>
        </p:spPr>
        <p:txBody>
          <a:bodyPr wrap="square" lIns="0" tIns="0" rIns="0" bIns="0" rtlCol="0" anchor="ctr"/>
          <a:lstStyle/>
          <a:p>
            <a:pPr indent="0" marL="0">
              <a:spcAft>
                <a:spcPts val="400"/>
              </a:spcAft>
              <a:buNone/>
            </a:pPr>
            <a:r>
              <a:rPr lang="en-US" sz="1000" dirty="0">
                <a:solidFill>
                  <a:srgbClr val="94A3B8"/>
                </a:solidFill>
                <a:latin typeface="Arial" pitchFamily="34" charset="0"/>
                <a:ea typeface="Arial" pitchFamily="34" charset="-122"/>
                <a:cs typeface="Arial" pitchFamily="34" charset="-120"/>
              </a:rPr>
              <a:t>分析対象期間：2026年2月〜3月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レビュー総数：309件（6サイト）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作成日：2026年3月23日</a:t>
            </a:r>
            <a:endParaRPr lang="en-US" sz="1000" dirty="0"/>
          </a:p>
        </p:txBody>
      </p:sp>
      <p:sp>
        <p:nvSpPr>
          <p:cNvPr id="9" name="Shape 7"/>
          <p:cNvSpPr/>
          <p:nvPr/>
        </p:nvSpPr>
        <p:spPr>
          <a:xfrm>
            <a:off x="6858000" y="0"/>
            <a:ext cx="2286000" cy="5143500"/>
          </a:xfrm>
          <a:prstGeom prst="rect">
            <a:avLst/>
          </a:prstGeom>
          <a:solidFill>
            <a:srgbClr val="3B7DD8">
              <a:alpha val="15000"/>
            </a:srgbClr>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エグゼクティブサマリー</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Executive Summary</a:t>
            </a:r>
            <a:endParaRPr lang="en-US" sz="1000" dirty="0"/>
          </a:p>
        </p:txBody>
      </p:sp>
      <p:sp>
        <p:nvSpPr>
          <p:cNvPr id="5" name="Shape 3"/>
          <p:cNvSpPr/>
          <p:nvPr/>
        </p:nvSpPr>
        <p:spPr>
          <a:xfrm>
            <a:off x="4572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1874520" cy="45720"/>
          </a:xfrm>
          <a:prstGeom prst="rect">
            <a:avLst/>
          </a:prstGeom>
          <a:solidFill>
            <a:srgbClr val="3B7DD8"/>
          </a:solidFill>
          <a:ln/>
        </p:spPr>
      </p:sp>
      <p:sp>
        <p:nvSpPr>
          <p:cNvPr id="7" name="Text 5"/>
          <p:cNvSpPr/>
          <p:nvPr/>
        </p:nvSpPr>
        <p:spPr>
          <a:xfrm>
            <a:off x="4572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全体平均(10pt換算)</a:t>
            </a:r>
            <a:endParaRPr lang="en-US" sz="1000" dirty="0"/>
          </a:p>
        </p:txBody>
      </p:sp>
      <p:sp>
        <p:nvSpPr>
          <p:cNvPr id="8" name="Text 6"/>
          <p:cNvSpPr/>
          <p:nvPr/>
        </p:nvSpPr>
        <p:spPr>
          <a:xfrm>
            <a:off x="457200" y="1417320"/>
            <a:ext cx="1874520" cy="502920"/>
          </a:xfrm>
          <a:prstGeom prst="rect">
            <a:avLst/>
          </a:prstGeom>
          <a:noFill/>
          <a:ln/>
        </p:spPr>
        <p:txBody>
          <a:bodyPr wrap="square" lIns="0" tIns="0" rIns="0" bIns="0" rtlCol="0" anchor="ctr"/>
          <a:lstStyle/>
          <a:p>
            <a:pPr algn="ctr" indent="0" marL="0">
              <a:buNone/>
            </a:pPr>
            <a:r>
              <a:rPr lang="en-US" sz="3200" b="1" dirty="0">
                <a:solidFill>
                  <a:srgbClr val="3B7DD8"/>
                </a:solidFill>
                <a:latin typeface="Arial" pitchFamily="34" charset="0"/>
                <a:ea typeface="Arial" pitchFamily="34" charset="-122"/>
                <a:cs typeface="Arial" pitchFamily="34" charset="-120"/>
              </a:rPr>
              <a:t>8.29</a:t>
            </a:r>
            <a:endParaRPr lang="en-US" sz="3200" dirty="0"/>
          </a:p>
        </p:txBody>
      </p:sp>
      <p:sp>
        <p:nvSpPr>
          <p:cNvPr id="9" name="Shape 7"/>
          <p:cNvSpPr/>
          <p:nvPr/>
        </p:nvSpPr>
        <p:spPr>
          <a:xfrm>
            <a:off x="25146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2514600" y="1051560"/>
            <a:ext cx="1874520" cy="45720"/>
          </a:xfrm>
          <a:prstGeom prst="rect">
            <a:avLst/>
          </a:prstGeom>
          <a:solidFill>
            <a:srgbClr val="16A34A"/>
          </a:solidFill>
          <a:ln/>
        </p:spPr>
      </p:sp>
      <p:sp>
        <p:nvSpPr>
          <p:cNvPr id="11" name="Text 9"/>
          <p:cNvSpPr/>
          <p:nvPr/>
        </p:nvSpPr>
        <p:spPr>
          <a:xfrm>
            <a:off x="25146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25146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76.1%</a:t>
            </a:r>
            <a:endParaRPr lang="en-US" sz="3200" dirty="0"/>
          </a:p>
        </p:txBody>
      </p:sp>
      <p:sp>
        <p:nvSpPr>
          <p:cNvPr id="13" name="Shape 11"/>
          <p:cNvSpPr/>
          <p:nvPr/>
        </p:nvSpPr>
        <p:spPr>
          <a:xfrm>
            <a:off x="45720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0" y="1051560"/>
            <a:ext cx="1874520" cy="45720"/>
          </a:xfrm>
          <a:prstGeom prst="rect">
            <a:avLst/>
          </a:prstGeom>
          <a:solidFill>
            <a:srgbClr val="16A34A"/>
          </a:solidFill>
          <a:ln/>
        </p:spPr>
      </p:sp>
      <p:sp>
        <p:nvSpPr>
          <p:cNvPr id="15" name="Text 13"/>
          <p:cNvSpPr/>
          <p:nvPr/>
        </p:nvSpPr>
        <p:spPr>
          <a:xfrm>
            <a:off x="45720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2.9%</a:t>
            </a:r>
            <a:endParaRPr lang="en-US" sz="3200" dirty="0"/>
          </a:p>
        </p:txBody>
      </p:sp>
      <p:sp>
        <p:nvSpPr>
          <p:cNvPr id="17" name="Shape 15"/>
          <p:cNvSpPr/>
          <p:nvPr/>
        </p:nvSpPr>
        <p:spPr>
          <a:xfrm>
            <a:off x="6629400" y="1051560"/>
            <a:ext cx="205740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6629400" y="1051560"/>
            <a:ext cx="2057400" cy="45720"/>
          </a:xfrm>
          <a:prstGeom prst="rect">
            <a:avLst/>
          </a:prstGeom>
          <a:solidFill>
            <a:srgbClr val="1A2744"/>
          </a:solidFill>
          <a:ln/>
        </p:spPr>
      </p:sp>
      <p:sp>
        <p:nvSpPr>
          <p:cNvPr id="19" name="Text 17"/>
          <p:cNvSpPr/>
          <p:nvPr/>
        </p:nvSpPr>
        <p:spPr>
          <a:xfrm>
            <a:off x="6629400" y="1188720"/>
            <a:ext cx="205740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6629400" y="1417320"/>
            <a:ext cx="205740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309件</a:t>
            </a:r>
            <a:endParaRPr lang="en-US" sz="3200" dirty="0"/>
          </a:p>
        </p:txBody>
      </p:sp>
      <p:sp>
        <p:nvSpPr>
          <p:cNvPr id="21" name="Shape 19"/>
          <p:cNvSpPr/>
          <p:nvPr/>
        </p:nvSpPr>
        <p:spPr>
          <a:xfrm>
            <a:off x="45720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2" name="Shape 20"/>
          <p:cNvSpPr/>
          <p:nvPr/>
        </p:nvSpPr>
        <p:spPr>
          <a:xfrm>
            <a:off x="457200" y="2286000"/>
            <a:ext cx="3931920" cy="45720"/>
          </a:xfrm>
          <a:prstGeom prst="rect">
            <a:avLst/>
          </a:prstGeom>
          <a:solidFill>
            <a:srgbClr val="16A34A"/>
          </a:solidFill>
          <a:ln/>
        </p:spPr>
      </p:sp>
      <p:sp>
        <p:nvSpPr>
          <p:cNvPr id="23" name="Text 21"/>
          <p:cNvSpPr/>
          <p:nvPr/>
        </p:nvSpPr>
        <p:spPr>
          <a:xfrm>
            <a:off x="640080" y="2377440"/>
            <a:ext cx="2743200" cy="320040"/>
          </a:xfrm>
          <a:prstGeom prst="rect">
            <a:avLst/>
          </a:prstGeom>
          <a:noFill/>
          <a:ln/>
        </p:spPr>
        <p:txBody>
          <a:bodyPr wrap="square" lIns="0" tIns="0" rIns="0" bIns="0" rtlCol="0" anchor="ctr"/>
          <a:lstStyle/>
          <a:p>
            <a:pPr indent="0" marL="0">
              <a:buNone/>
            </a:pPr>
            <a:r>
              <a:rPr lang="en-US" sz="1400" b="1" dirty="0">
                <a:solidFill>
                  <a:srgbClr val="16A34A"/>
                </a:solidFill>
                <a:latin typeface="Arial" pitchFamily="34" charset="0"/>
                <a:ea typeface="Arial" pitchFamily="34" charset="-122"/>
                <a:cs typeface="Arial" pitchFamily="34" charset="-120"/>
              </a:rPr>
              <a:t>Strengths</a:t>
            </a:r>
            <a:endParaRPr lang="en-US" sz="1400" dirty="0"/>
          </a:p>
        </p:txBody>
      </p:sp>
      <p:sp>
        <p:nvSpPr>
          <p:cNvPr id="24" name="Text 22"/>
          <p:cNvSpPr/>
          <p:nvPr/>
        </p:nvSpPr>
        <p:spPr>
          <a:xfrm>
            <a:off x="64008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立地・アクセス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羽田空港から近くて便利です 羽田空港から近くて便利です</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スタッフの対応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On se demande à qui s'adresser en cas de problème ホテルのフロン...</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清潔さ・清掃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部屋自体は概ね清潔で（トイレと床に髪の毛が少し落ちていましたが）、快適で、料金に見合った価値があります</a:t>
            </a:r>
            <a:endParaRPr lang="en-US" sz="1100" dirty="0"/>
          </a:p>
        </p:txBody>
      </p:sp>
      <p:sp>
        <p:nvSpPr>
          <p:cNvPr id="25" name="Shape 23"/>
          <p:cNvSpPr/>
          <p:nvPr/>
        </p:nvSpPr>
        <p:spPr>
          <a:xfrm>
            <a:off x="475488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6" name="Shape 24"/>
          <p:cNvSpPr/>
          <p:nvPr/>
        </p:nvSpPr>
        <p:spPr>
          <a:xfrm>
            <a:off x="4754880" y="2286000"/>
            <a:ext cx="3931920" cy="45720"/>
          </a:xfrm>
          <a:prstGeom prst="rect">
            <a:avLst/>
          </a:prstGeom>
          <a:solidFill>
            <a:srgbClr val="DC2626"/>
          </a:solidFill>
          <a:ln/>
        </p:spPr>
      </p:sp>
      <p:sp>
        <p:nvSpPr>
          <p:cNvPr id="27" name="Text 25"/>
          <p:cNvSpPr/>
          <p:nvPr/>
        </p:nvSpPr>
        <p:spPr>
          <a:xfrm>
            <a:off x="4937760" y="2377440"/>
            <a:ext cx="2743200" cy="320040"/>
          </a:xfrm>
          <a:prstGeom prst="rect">
            <a:avLst/>
          </a:prstGeom>
          <a:noFill/>
          <a:ln/>
        </p:spPr>
        <p:txBody>
          <a:bodyPr wrap="square" lIns="0" tIns="0" rIns="0" bIns="0" rtlCol="0" anchor="ctr"/>
          <a:lstStyle/>
          <a:p>
            <a:pPr indent="0" marL="0">
              <a:buNone/>
            </a:pPr>
            <a:r>
              <a:rPr lang="en-US" sz="1400" b="1" dirty="0">
                <a:solidFill>
                  <a:srgbClr val="DC2626"/>
                </a:solidFill>
                <a:latin typeface="Arial" pitchFamily="34" charset="0"/>
                <a:ea typeface="Arial" pitchFamily="34" charset="-122"/>
                <a:cs typeface="Arial" pitchFamily="34" charset="-120"/>
              </a:rPr>
              <a:t>Weaknesses</a:t>
            </a:r>
            <a:endParaRPr lang="en-US" sz="1400" dirty="0"/>
          </a:p>
        </p:txBody>
      </p:sp>
      <p:sp>
        <p:nvSpPr>
          <p:cNvPr id="28" name="Text 26"/>
          <p:cNvSpPr/>
          <p:nvPr/>
        </p:nvSpPr>
        <p:spPr>
          <a:xfrm>
            <a:off x="493776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浴室・水回り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部屋自体は概ね清潔で（トイレと床に髪の毛が少し落ちていましたが）、快適で、料金に見合った価値があります</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エアコン・空調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La proximité de l'aéroport  Le décors Accueil de l'hôtel ...</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部屋の狭さ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Understandably small like any other hotel in Tokyo</a:t>
            </a:r>
            <a:endParaRPr lang="en-US" sz="1100" dirty="0"/>
          </a:p>
        </p:txBody>
      </p:sp>
      <p:sp>
        <p:nvSpPr>
          <p:cNvPr id="29" name="Shape 27"/>
          <p:cNvSpPr/>
          <p:nvPr/>
        </p:nvSpPr>
        <p:spPr>
          <a:xfrm>
            <a:off x="0" y="4800600"/>
            <a:ext cx="9144000" cy="342900"/>
          </a:xfrm>
          <a:prstGeom prst="rect">
            <a:avLst/>
          </a:prstGeom>
          <a:solidFill>
            <a:srgbClr val="1A2744"/>
          </a:solidFill>
          <a:ln/>
        </p:spPr>
      </p:sp>
      <p:sp>
        <p:nvSpPr>
          <p:cNvPr id="30" name="Text 2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31" name="Text 2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2</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主要KPI</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a:t>
            </a:r>
            <a:endParaRPr lang="en-US" sz="1000" dirty="0"/>
          </a:p>
        </p:txBody>
      </p:sp>
      <p:sp>
        <p:nvSpPr>
          <p:cNvPr id="5" name="Shape 3"/>
          <p:cNvSpPr/>
          <p:nvPr/>
        </p:nvSpPr>
        <p:spPr>
          <a:xfrm>
            <a:off x="45720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188720"/>
            <a:ext cx="3931920" cy="45720"/>
          </a:xfrm>
          <a:prstGeom prst="rect">
            <a:avLst/>
          </a:prstGeom>
          <a:solidFill>
            <a:srgbClr val="2196F3"/>
          </a:solidFill>
          <a:ln/>
        </p:spPr>
      </p:sp>
      <p:sp>
        <p:nvSpPr>
          <p:cNvPr id="7" name="Text 5"/>
          <p:cNvSpPr/>
          <p:nvPr/>
        </p:nvSpPr>
        <p:spPr>
          <a:xfrm>
            <a:off x="45720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全体平均スコア（10点換算）</a:t>
            </a:r>
            <a:endParaRPr lang="en-US" sz="1000" dirty="0"/>
          </a:p>
        </p:txBody>
      </p:sp>
      <p:sp>
        <p:nvSpPr>
          <p:cNvPr id="8" name="Text 6"/>
          <p:cNvSpPr/>
          <p:nvPr/>
        </p:nvSpPr>
        <p:spPr>
          <a:xfrm>
            <a:off x="457200" y="1554480"/>
            <a:ext cx="3931920" cy="502920"/>
          </a:xfrm>
          <a:prstGeom prst="rect">
            <a:avLst/>
          </a:prstGeom>
          <a:noFill/>
          <a:ln/>
        </p:spPr>
        <p:txBody>
          <a:bodyPr wrap="square" lIns="0" tIns="0" rIns="0" bIns="0" rtlCol="0" anchor="ctr"/>
          <a:lstStyle/>
          <a:p>
            <a:pPr algn="ctr" indent="0" marL="0">
              <a:buNone/>
            </a:pPr>
            <a:r>
              <a:rPr lang="en-US" sz="3200" b="1" dirty="0">
                <a:solidFill>
                  <a:srgbClr val="2196F3"/>
                </a:solidFill>
                <a:latin typeface="Arial" pitchFamily="34" charset="0"/>
                <a:ea typeface="Arial" pitchFamily="34" charset="-122"/>
                <a:cs typeface="Arial" pitchFamily="34" charset="-120"/>
              </a:rPr>
              <a:t>8.29</a:t>
            </a:r>
            <a:endParaRPr lang="en-US" sz="3200" dirty="0"/>
          </a:p>
        </p:txBody>
      </p:sp>
      <p:sp>
        <p:nvSpPr>
          <p:cNvPr id="9" name="Shape 7"/>
          <p:cNvSpPr/>
          <p:nvPr/>
        </p:nvSpPr>
        <p:spPr>
          <a:xfrm>
            <a:off x="475488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4754880" y="1188720"/>
            <a:ext cx="3931920" cy="45720"/>
          </a:xfrm>
          <a:prstGeom prst="rect">
            <a:avLst/>
          </a:prstGeom>
          <a:solidFill>
            <a:srgbClr val="D4A843"/>
          </a:solidFill>
          <a:ln/>
        </p:spPr>
      </p:sp>
      <p:sp>
        <p:nvSpPr>
          <p:cNvPr id="11" name="Text 9"/>
          <p:cNvSpPr/>
          <p:nvPr/>
        </p:nvSpPr>
        <p:spPr>
          <a:xfrm>
            <a:off x="475488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4754880" y="1554480"/>
            <a:ext cx="3931920" cy="502920"/>
          </a:xfrm>
          <a:prstGeom prst="rect">
            <a:avLst/>
          </a:prstGeom>
          <a:noFill/>
          <a:ln/>
        </p:spPr>
        <p:txBody>
          <a:bodyPr wrap="square" lIns="0" tIns="0" rIns="0" bIns="0" rtlCol="0" anchor="ctr"/>
          <a:lstStyle/>
          <a:p>
            <a:pPr algn="ctr" indent="0" marL="0">
              <a:buNone/>
            </a:pPr>
            <a:r>
              <a:rPr lang="en-US" sz="3200" b="1" dirty="0">
                <a:solidFill>
                  <a:srgbClr val="D4A843"/>
                </a:solidFill>
                <a:latin typeface="Arial" pitchFamily="34" charset="0"/>
                <a:ea typeface="Arial" pitchFamily="34" charset="-122"/>
                <a:cs typeface="Arial" pitchFamily="34" charset="-120"/>
              </a:rPr>
              <a:t>76.1%</a:t>
            </a:r>
            <a:endParaRPr lang="en-US" sz="3200" dirty="0"/>
          </a:p>
        </p:txBody>
      </p:sp>
      <p:sp>
        <p:nvSpPr>
          <p:cNvPr id="13" name="Shape 11"/>
          <p:cNvSpPr/>
          <p:nvPr/>
        </p:nvSpPr>
        <p:spPr>
          <a:xfrm>
            <a:off x="45720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 y="3108960"/>
            <a:ext cx="3931920" cy="45720"/>
          </a:xfrm>
          <a:prstGeom prst="rect">
            <a:avLst/>
          </a:prstGeom>
          <a:solidFill>
            <a:srgbClr val="16A34A"/>
          </a:solidFill>
          <a:ln/>
        </p:spPr>
      </p:sp>
      <p:sp>
        <p:nvSpPr>
          <p:cNvPr id="15" name="Text 13"/>
          <p:cNvSpPr/>
          <p:nvPr/>
        </p:nvSpPr>
        <p:spPr>
          <a:xfrm>
            <a:off x="45720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 y="3474720"/>
            <a:ext cx="39319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2.9%</a:t>
            </a:r>
            <a:endParaRPr lang="en-US" sz="3200" dirty="0"/>
          </a:p>
        </p:txBody>
      </p:sp>
      <p:sp>
        <p:nvSpPr>
          <p:cNvPr id="17" name="Shape 15"/>
          <p:cNvSpPr/>
          <p:nvPr/>
        </p:nvSpPr>
        <p:spPr>
          <a:xfrm>
            <a:off x="475488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4754880" y="3108960"/>
            <a:ext cx="3931920" cy="45720"/>
          </a:xfrm>
          <a:prstGeom prst="rect">
            <a:avLst/>
          </a:prstGeom>
          <a:solidFill>
            <a:srgbClr val="1A2744"/>
          </a:solidFill>
          <a:ln/>
        </p:spPr>
      </p:sp>
      <p:sp>
        <p:nvSpPr>
          <p:cNvPr id="19" name="Text 17"/>
          <p:cNvSpPr/>
          <p:nvPr/>
        </p:nvSpPr>
        <p:spPr>
          <a:xfrm>
            <a:off x="475488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4754880" y="3474720"/>
            <a:ext cx="393192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309件</a:t>
            </a:r>
            <a:endParaRPr lang="en-US" sz="3200" dirty="0"/>
          </a:p>
        </p:txBody>
      </p:sp>
      <p:sp>
        <p:nvSpPr>
          <p:cNvPr id="21" name="Shape 19"/>
          <p:cNvSpPr/>
          <p:nvPr/>
        </p:nvSpPr>
        <p:spPr>
          <a:xfrm>
            <a:off x="0" y="4800600"/>
            <a:ext cx="9144000" cy="342900"/>
          </a:xfrm>
          <a:prstGeom prst="rect">
            <a:avLst/>
          </a:prstGeom>
          <a:solidFill>
            <a:srgbClr val="1A2744"/>
          </a:solidFill>
          <a:ln/>
        </p:spPr>
      </p:sp>
      <p:sp>
        <p:nvSpPr>
          <p:cNvPr id="22" name="Text 20"/>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3" name="Text 21"/>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3</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サイト別評価分析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Analysis by Platform</a:t>
            </a:r>
            <a:endParaRPr lang="en-US" sz="1000" dirty="0"/>
          </a:p>
        </p:txBody>
      </p:sp>
      <p:graphicFrame>
        <p:nvGraphicFramePr>
          <p:cNvPr id="5" name="Chart 0" descr=""/>
          <p:cNvGraphicFramePr/>
          <p:nvPr/>
        </p:nvGraphicFramePr>
        <p:xfrm>
          <a:off x="457200" y="1005840"/>
          <a:ext cx="5029200" cy="320040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5760720" y="1005840"/>
            <a:ext cx="3017520" cy="32004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5760720" y="1005840"/>
            <a:ext cx="3017520" cy="45720"/>
          </a:xfrm>
          <a:prstGeom prst="rect">
            <a:avLst/>
          </a:prstGeom>
          <a:solidFill>
            <a:srgbClr val="D4A843"/>
          </a:solidFill>
          <a:ln/>
        </p:spPr>
      </p:sp>
      <p:sp>
        <p:nvSpPr>
          <p:cNvPr id="8" name="Text 5"/>
          <p:cNvSpPr/>
          <p:nvPr/>
        </p:nvSpPr>
        <p:spPr>
          <a:xfrm>
            <a:off x="5943600" y="1097280"/>
            <a:ext cx="1828800" cy="320040"/>
          </a:xfrm>
          <a:prstGeom prst="rect">
            <a:avLst/>
          </a:prstGeom>
          <a:noFill/>
          <a:ln/>
        </p:spPr>
        <p:txBody>
          <a:bodyPr wrap="square" lIns="0" tIns="0" rIns="0" bIns="0" rtlCol="0" anchor="ctr"/>
          <a:lstStyle/>
          <a:p>
            <a:pPr indent="0" marL="0">
              <a:buNone/>
            </a:pPr>
            <a:r>
              <a:rPr lang="en-US" sz="1300" b="1" dirty="0">
                <a:solidFill>
                  <a:srgbClr val="D4A843"/>
                </a:solidFill>
                <a:latin typeface="Arial" pitchFamily="34" charset="0"/>
                <a:ea typeface="Arial" pitchFamily="34" charset="-122"/>
                <a:cs typeface="Arial" pitchFamily="34" charset="-120"/>
              </a:rPr>
              <a:t>Insight</a:t>
            </a:r>
            <a:endParaRPr lang="en-US" sz="1300" dirty="0"/>
          </a:p>
        </p:txBody>
      </p:sp>
      <p:sp>
        <p:nvSpPr>
          <p:cNvPr id="9" name="Text 6"/>
          <p:cNvSpPr/>
          <p:nvPr/>
        </p:nvSpPr>
        <p:spPr>
          <a:xfrm>
            <a:off x="5943600" y="1417320"/>
            <a:ext cx="2651760" cy="2651760"/>
          </a:xfrm>
          <a:prstGeom prst="rect">
            <a:avLst/>
          </a:prstGeom>
          <a:noFill/>
          <a:ln/>
        </p:spPr>
        <p:txBody>
          <a:bodyPr wrap="square" lIns="0" tIns="0" rIns="0" bIns="0" rtlCol="0" anchor="ctr"/>
          <a:lstStyle/>
          <a:p>
            <a:pPr indent="0" marL="0">
              <a:spcAft>
                <a:spcPts val="200"/>
              </a:spcAft>
              <a:buNone/>
            </a:pPr>
            <a:r>
              <a:rPr lang="en-US" sz="1200" b="1" dirty="0">
                <a:solidFill>
                  <a:srgbClr val="334155"/>
                </a:solidFill>
                <a:latin typeface="Arial" pitchFamily="34" charset="0"/>
                <a:ea typeface="Arial" pitchFamily="34" charset="-122"/>
                <a:cs typeface="Arial" pitchFamily="34" charset="-120"/>
              </a:rPr>
              <a:t>サイト別評価の傾向</a:t>
            </a:r>
            <a:endParaRPr lang="en-US" sz="1100" dirty="0"/>
          </a:p>
          <a:p>
            <a:pPr indent="0" marL="0">
              <a:spcAft>
                <a:spcPts val="200"/>
              </a:spcAft>
              <a:buNone/>
            </a:pPr>
            <a:endParaRPr lang="en-US" sz="1100" dirty="0"/>
          </a:p>
          <a:p>
            <a:pPr indent="0" marL="0">
              <a:spcAft>
                <a:spcPts val="200"/>
              </a:spcAft>
              <a:buNone/>
            </a:pPr>
            <a:r>
              <a:rPr lang="en-US" sz="1100" b="1" dirty="0">
                <a:solidFill>
                  <a:srgbClr val="16A34A"/>
                </a:solidFill>
                <a:latin typeface="Arial" pitchFamily="34" charset="0"/>
                <a:ea typeface="Arial" pitchFamily="34" charset="-122"/>
                <a:cs typeface="Arial" pitchFamily="34" charset="-120"/>
              </a:rPr>
              <a:t>高評価グループ</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Trip.com(9.41)が最高スコア。</a:t>
            </a:r>
            <a:endParaRPr lang="en-US" sz="1100" dirty="0"/>
          </a:p>
          <a:p>
            <a:pPr indent="0" marL="0">
              <a:spcAft>
                <a:spcPts val="200"/>
              </a:spcAft>
              <a:buNone/>
            </a:pPr>
            <a:endParaRPr lang="en-US" sz="1100" dirty="0"/>
          </a:p>
          <a:p>
            <a:pPr indent="0" marL="0">
              <a:spcAft>
                <a:spcPts val="200"/>
              </a:spcAft>
              <a:buNone/>
            </a:pPr>
            <a:r>
              <a:rPr lang="en-US" sz="900" b="1" dirty="0">
                <a:solidFill>
                  <a:srgbClr val="64748B"/>
                </a:solidFill>
                <a:latin typeface="Arial" pitchFamily="34" charset="0"/>
                <a:ea typeface="Arial" pitchFamily="34" charset="-122"/>
                <a:cs typeface="Arial" pitchFamily="34" charset="-120"/>
              </a:rPr>
              <a:t>注：</a:t>
            </a:r>
            <a:pPr indent="0" marL="0">
              <a:spcAft>
                <a:spcPts val="200"/>
              </a:spcAft>
              <a:buNone/>
            </a:pPr>
            <a:r>
              <a:rPr lang="en-US" sz="900" dirty="0">
                <a:solidFill>
                  <a:srgbClr val="64748B"/>
                </a:solidFill>
                <a:latin typeface="Arial" pitchFamily="34" charset="0"/>
                <a:ea typeface="Arial" pitchFamily="34" charset="-122"/>
                <a:cs typeface="Arial" pitchFamily="34" charset="-120"/>
              </a:rPr>
              <a:t>Google/じゃらん/楽天は5点満点のため×2で10pt換算</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4297680"/>
          <a:ext cx="8229600" cy="91440"/>
        </p:xfrm>
        <a:graphic>
          <a:graphicData uri="http://schemas.openxmlformats.org/drawingml/2006/table">
            <a:tbl>
              <a:tblPr/>
              <a:tblGrid>
                <a:gridCol w="1828800"/>
                <a:gridCol w="914400"/>
                <a:gridCol w="1828800"/>
                <a:gridCol w="914400"/>
                <a:gridCol w="2743200"/>
              </a:tblGrid>
              <a:tr h="22860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サイト名</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ネイティブ平均</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尺度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10pt換算</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Trip.com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22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9.41</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9.41</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楽天トラベル</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じゃらん</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25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4.16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8.32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Google</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4.07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8.15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Agoda</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8.11</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8.11</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Booking.com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132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8.11</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8.11</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11" name="Shape 7"/>
          <p:cNvSpPr/>
          <p:nvPr/>
        </p:nvSpPr>
        <p:spPr>
          <a:xfrm>
            <a:off x="0" y="4800600"/>
            <a:ext cx="9144000" cy="342900"/>
          </a:xfrm>
          <a:prstGeom prst="rect">
            <a:avLst/>
          </a:prstGeom>
          <a:solidFill>
            <a:srgbClr val="1A2744"/>
          </a:solidFill>
          <a:ln/>
        </p:spPr>
      </p:sp>
      <p:sp>
        <p:nvSpPr>
          <p:cNvPr id="12" name="Text 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3" name="Text 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4</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評価分布分析（10点換算）</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Distribution</a:t>
            </a:r>
            <a:endParaRPr lang="en-US" sz="1000" dirty="0"/>
          </a:p>
        </p:txBody>
      </p:sp>
      <p:graphicFrame>
        <p:nvGraphicFramePr>
          <p:cNvPr id="5" name="Chart 0" descr=""/>
          <p:cNvGraphicFramePr/>
          <p:nvPr/>
        </p:nvGraphicFramePr>
        <p:xfrm>
          <a:off x="274320" y="1097280"/>
          <a:ext cx="3657600" cy="292608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Chart 1" descr=""/>
          <p:cNvGraphicFramePr/>
          <p:nvPr/>
        </p:nvGraphicFramePr>
        <p:xfrm>
          <a:off x="4114800" y="1097280"/>
          <a:ext cx="4754880" cy="2926080"/>
        </p:xfrm>
        <a:graphic xmlns:a="http://schemas.openxmlformats.org/drawingml/2006/main">
          <a:graphicData uri="http://schemas.openxmlformats.org/drawingml/2006/chart">
            <c:chart xmlns:c="http://schemas.openxmlformats.org/drawingml/2006/chart" r:id="rId2"/>
          </a:graphicData>
        </a:graphic>
      </p:graphicFrame>
      <p:sp>
        <p:nvSpPr>
          <p:cNvPr id="7" name="Shape 3"/>
          <p:cNvSpPr/>
          <p:nvPr/>
        </p:nvSpPr>
        <p:spPr>
          <a:xfrm>
            <a:off x="457200" y="4160520"/>
            <a:ext cx="2651760" cy="502920"/>
          </a:xfrm>
          <a:prstGeom prst="rect">
            <a:avLst/>
          </a:prstGeom>
          <a:solidFill>
            <a:srgbClr val="DCFCE7"/>
          </a:solidFill>
          <a:ln/>
        </p:spPr>
      </p:sp>
      <p:sp>
        <p:nvSpPr>
          <p:cNvPr id="8" name="Text 4"/>
          <p:cNvSpPr/>
          <p:nvPr/>
        </p:nvSpPr>
        <p:spPr>
          <a:xfrm>
            <a:off x="45720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高評価 8-10点</a:t>
            </a:r>
            <a:endParaRPr lang="en-US" sz="1000" dirty="0"/>
          </a:p>
        </p:txBody>
      </p:sp>
      <p:sp>
        <p:nvSpPr>
          <p:cNvPr id="9" name="Text 5"/>
          <p:cNvSpPr/>
          <p:nvPr/>
        </p:nvSpPr>
        <p:spPr>
          <a:xfrm>
            <a:off x="173736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235件（76.1%）</a:t>
            </a:r>
            <a:endParaRPr lang="en-US" sz="1100" dirty="0"/>
          </a:p>
        </p:txBody>
      </p:sp>
      <p:sp>
        <p:nvSpPr>
          <p:cNvPr id="10" name="Shape 6"/>
          <p:cNvSpPr/>
          <p:nvPr/>
        </p:nvSpPr>
        <p:spPr>
          <a:xfrm>
            <a:off x="3291840" y="4160520"/>
            <a:ext cx="2651760" cy="502920"/>
          </a:xfrm>
          <a:prstGeom prst="rect">
            <a:avLst/>
          </a:prstGeom>
          <a:solidFill>
            <a:srgbClr val="FFF7ED"/>
          </a:solidFill>
          <a:ln/>
        </p:spPr>
      </p:sp>
      <p:sp>
        <p:nvSpPr>
          <p:cNvPr id="11" name="Text 7"/>
          <p:cNvSpPr/>
          <p:nvPr/>
        </p:nvSpPr>
        <p:spPr>
          <a:xfrm>
            <a:off x="3291840" y="4160520"/>
            <a:ext cx="1371600" cy="502920"/>
          </a:xfrm>
          <a:prstGeom prst="rect">
            <a:avLst/>
          </a:prstGeom>
          <a:noFill/>
          <a:ln/>
        </p:spPr>
        <p:txBody>
          <a:bodyPr wrap="square" lIns="0" tIns="101600" rIns="0" bIns="0" rtlCol="0" anchor="ctr"/>
          <a:lstStyle/>
          <a:p>
            <a:pPr indent="0" marL="0">
              <a:buNone/>
            </a:pPr>
            <a:r>
              <a:rPr lang="en-US" sz="1000" b="1" dirty="0">
                <a:solidFill>
                  <a:srgbClr val="D4A843"/>
                </a:solidFill>
                <a:latin typeface="Arial" pitchFamily="34" charset="0"/>
                <a:ea typeface="Arial" pitchFamily="34" charset="-122"/>
                <a:cs typeface="Arial" pitchFamily="34" charset="-120"/>
              </a:rPr>
              <a:t>中評価 5-7点</a:t>
            </a:r>
            <a:endParaRPr lang="en-US" sz="1000" dirty="0"/>
          </a:p>
        </p:txBody>
      </p:sp>
      <p:sp>
        <p:nvSpPr>
          <p:cNvPr id="12" name="Text 8"/>
          <p:cNvSpPr/>
          <p:nvPr/>
        </p:nvSpPr>
        <p:spPr>
          <a:xfrm>
            <a:off x="4572000" y="4160520"/>
            <a:ext cx="1371600" cy="502920"/>
          </a:xfrm>
          <a:prstGeom prst="rect">
            <a:avLst/>
          </a:prstGeom>
          <a:noFill/>
          <a:ln/>
        </p:spPr>
        <p:txBody>
          <a:bodyPr wrap="square" lIns="0" tIns="0" rIns="101600" bIns="0" rtlCol="0" anchor="ctr"/>
          <a:lstStyle/>
          <a:p>
            <a:pPr algn="r" indent="0" marL="0">
              <a:buNone/>
            </a:pPr>
            <a:r>
              <a:rPr lang="en-US" sz="1100" b="1" dirty="0">
                <a:solidFill>
                  <a:srgbClr val="D4A843"/>
                </a:solidFill>
                <a:latin typeface="Arial" pitchFamily="34" charset="0"/>
                <a:ea typeface="Arial" pitchFamily="34" charset="-122"/>
                <a:cs typeface="Arial" pitchFamily="34" charset="-120"/>
              </a:rPr>
              <a:t>65件（21.0%）</a:t>
            </a:r>
            <a:endParaRPr lang="en-US" sz="1100" dirty="0"/>
          </a:p>
        </p:txBody>
      </p:sp>
      <p:sp>
        <p:nvSpPr>
          <p:cNvPr id="13" name="Shape 9"/>
          <p:cNvSpPr/>
          <p:nvPr/>
        </p:nvSpPr>
        <p:spPr>
          <a:xfrm>
            <a:off x="6126480" y="4160520"/>
            <a:ext cx="2651760" cy="502920"/>
          </a:xfrm>
          <a:prstGeom prst="rect">
            <a:avLst/>
          </a:prstGeom>
          <a:solidFill>
            <a:srgbClr val="DCFCE7"/>
          </a:solidFill>
          <a:ln/>
        </p:spPr>
      </p:sp>
      <p:sp>
        <p:nvSpPr>
          <p:cNvPr id="14" name="Text 10"/>
          <p:cNvSpPr/>
          <p:nvPr/>
        </p:nvSpPr>
        <p:spPr>
          <a:xfrm>
            <a:off x="612648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低評価 1-4点</a:t>
            </a:r>
            <a:endParaRPr lang="en-US" sz="1000" dirty="0"/>
          </a:p>
        </p:txBody>
      </p:sp>
      <p:sp>
        <p:nvSpPr>
          <p:cNvPr id="15" name="Text 11"/>
          <p:cNvSpPr/>
          <p:nvPr/>
        </p:nvSpPr>
        <p:spPr>
          <a:xfrm>
            <a:off x="740664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9件（2.9%）</a:t>
            </a:r>
            <a:endParaRPr lang="en-US" sz="1100" dirty="0"/>
          </a:p>
        </p:txBody>
      </p:sp>
      <p:sp>
        <p:nvSpPr>
          <p:cNvPr id="16" name="Shape 12"/>
          <p:cNvSpPr/>
          <p:nvPr/>
        </p:nvSpPr>
        <p:spPr>
          <a:xfrm>
            <a:off x="0" y="4800600"/>
            <a:ext cx="9144000" cy="342900"/>
          </a:xfrm>
          <a:prstGeom prst="rect">
            <a:avLst/>
          </a:prstGeom>
          <a:solidFill>
            <a:srgbClr val="1A2744"/>
          </a:solidFill>
          <a:ln/>
        </p:spPr>
      </p:sp>
      <p:sp>
        <p:nvSpPr>
          <p:cNvPr id="17" name="Text 13"/>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8" name="Text 14"/>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強み分析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Strength Analysis</a:t>
            </a:r>
            <a:endParaRPr lang="en-US" sz="1000" dirty="0"/>
          </a:p>
        </p:txBody>
      </p:sp>
      <p:sp>
        <p:nvSpPr>
          <p:cNvPr id="5" name="Shape 3"/>
          <p:cNvSpPr/>
          <p:nvPr/>
        </p:nvSpPr>
        <p:spPr>
          <a:xfrm>
            <a:off x="45720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54864" cy="1600200"/>
          </a:xfrm>
          <a:prstGeom prst="rect">
            <a:avLst/>
          </a:prstGeom>
          <a:solidFill>
            <a:srgbClr val="16A34A"/>
          </a:solidFill>
          <a:ln/>
        </p:spPr>
      </p:sp>
      <p:sp>
        <p:nvSpPr>
          <p:cNvPr id="7" name="Shape 5"/>
          <p:cNvSpPr/>
          <p:nvPr/>
        </p:nvSpPr>
        <p:spPr>
          <a:xfrm>
            <a:off x="2286000" y="1124712"/>
            <a:ext cx="658368" cy="228600"/>
          </a:xfrm>
          <a:prstGeom prst="rect">
            <a:avLst/>
          </a:prstGeom>
          <a:solidFill>
            <a:srgbClr val="DCFCE7"/>
          </a:solidFill>
          <a:ln/>
        </p:spPr>
      </p:sp>
      <p:sp>
        <p:nvSpPr>
          <p:cNvPr id="8" name="Text 6"/>
          <p:cNvSpPr/>
          <p:nvPr/>
        </p:nvSpPr>
        <p:spPr>
          <a:xfrm>
            <a:off x="228600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50件+</a:t>
            </a:r>
            <a:endParaRPr lang="en-US" sz="900" dirty="0"/>
          </a:p>
        </p:txBody>
      </p:sp>
      <p:sp>
        <p:nvSpPr>
          <p:cNvPr id="9" name="Text 7"/>
          <p:cNvSpPr/>
          <p:nvPr/>
        </p:nvSpPr>
        <p:spPr>
          <a:xfrm>
            <a:off x="59436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立地・アクセス</a:t>
            </a:r>
            <a:endParaRPr lang="en-US" sz="1300" dirty="0"/>
          </a:p>
        </p:txBody>
      </p:sp>
      <p:sp>
        <p:nvSpPr>
          <p:cNvPr id="10" name="Text 8"/>
          <p:cNvSpPr/>
          <p:nvPr/>
        </p:nvSpPr>
        <p:spPr>
          <a:xfrm>
            <a:off x="59436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羽田空港から近くて便利です 羽田空港から近くて便利です</a:t>
            </a:r>
            <a:endParaRPr lang="en-US" sz="900" dirty="0"/>
          </a:p>
        </p:txBody>
      </p:sp>
      <p:sp>
        <p:nvSpPr>
          <p:cNvPr id="11" name="Text 9"/>
          <p:cNvSpPr/>
          <p:nvPr/>
        </p:nvSpPr>
        <p:spPr>
          <a:xfrm>
            <a:off x="59436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「朝のシャトルバスは10分前に行ったらもぅいっぱいでしたが、駅へもすぐなので電車で行けば問題なくすぐ着きます」</a:t>
            </a:r>
            <a:endParaRPr lang="en-US" sz="900" dirty="0"/>
          </a:p>
        </p:txBody>
      </p:sp>
      <p:sp>
        <p:nvSpPr>
          <p:cNvPr id="12" name="Shape 10"/>
          <p:cNvSpPr/>
          <p:nvPr/>
        </p:nvSpPr>
        <p:spPr>
          <a:xfrm>
            <a:off x="329184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3" name="Shape 11"/>
          <p:cNvSpPr/>
          <p:nvPr/>
        </p:nvSpPr>
        <p:spPr>
          <a:xfrm>
            <a:off x="3291840" y="1051560"/>
            <a:ext cx="54864" cy="1600200"/>
          </a:xfrm>
          <a:prstGeom prst="rect">
            <a:avLst/>
          </a:prstGeom>
          <a:solidFill>
            <a:srgbClr val="16A34A"/>
          </a:solidFill>
          <a:ln/>
        </p:spPr>
      </p:sp>
      <p:sp>
        <p:nvSpPr>
          <p:cNvPr id="14" name="Shape 12"/>
          <p:cNvSpPr/>
          <p:nvPr/>
        </p:nvSpPr>
        <p:spPr>
          <a:xfrm>
            <a:off x="5120640" y="1124712"/>
            <a:ext cx="658368" cy="228600"/>
          </a:xfrm>
          <a:prstGeom prst="rect">
            <a:avLst/>
          </a:prstGeom>
          <a:solidFill>
            <a:srgbClr val="DCFCE7"/>
          </a:solidFill>
          <a:ln/>
        </p:spPr>
      </p:sp>
      <p:sp>
        <p:nvSpPr>
          <p:cNvPr id="15" name="Text 13"/>
          <p:cNvSpPr/>
          <p:nvPr/>
        </p:nvSpPr>
        <p:spPr>
          <a:xfrm>
            <a:off x="512064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50件+</a:t>
            </a:r>
            <a:endParaRPr lang="en-US" sz="900" dirty="0"/>
          </a:p>
        </p:txBody>
      </p:sp>
      <p:sp>
        <p:nvSpPr>
          <p:cNvPr id="16" name="Text 14"/>
          <p:cNvSpPr/>
          <p:nvPr/>
        </p:nvSpPr>
        <p:spPr>
          <a:xfrm>
            <a:off x="342900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スタッフの対応</a:t>
            </a:r>
            <a:endParaRPr lang="en-US" sz="1300" dirty="0"/>
          </a:p>
        </p:txBody>
      </p:sp>
      <p:sp>
        <p:nvSpPr>
          <p:cNvPr id="17" name="Text 15"/>
          <p:cNvSpPr/>
          <p:nvPr/>
        </p:nvSpPr>
        <p:spPr>
          <a:xfrm>
            <a:off x="342900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On se demande à qui s'adresser en cas de problème ホテルのフロン...</a:t>
            </a:r>
            <a:endParaRPr lang="en-US" sz="900" dirty="0"/>
          </a:p>
        </p:txBody>
      </p:sp>
      <p:sp>
        <p:nvSpPr>
          <p:cNvPr id="18" name="Text 16"/>
          <p:cNvSpPr/>
          <p:nvPr/>
        </p:nvSpPr>
        <p:spPr>
          <a:xfrm>
            <a:off x="342900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「もちろん、スタッフも常駐しており（案内表示にも記載されています）、必要な時にいつでも対応してくれます」</a:t>
            </a:r>
            <a:endParaRPr lang="en-US" sz="900" dirty="0"/>
          </a:p>
        </p:txBody>
      </p:sp>
      <p:sp>
        <p:nvSpPr>
          <p:cNvPr id="19" name="Shape 17"/>
          <p:cNvSpPr/>
          <p:nvPr/>
        </p:nvSpPr>
        <p:spPr>
          <a:xfrm>
            <a:off x="612648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0" name="Shape 18"/>
          <p:cNvSpPr/>
          <p:nvPr/>
        </p:nvSpPr>
        <p:spPr>
          <a:xfrm>
            <a:off x="6126480" y="1051560"/>
            <a:ext cx="54864" cy="1600200"/>
          </a:xfrm>
          <a:prstGeom prst="rect">
            <a:avLst/>
          </a:prstGeom>
          <a:solidFill>
            <a:srgbClr val="16A34A"/>
          </a:solidFill>
          <a:ln/>
        </p:spPr>
      </p:sp>
      <p:sp>
        <p:nvSpPr>
          <p:cNvPr id="21" name="Shape 19"/>
          <p:cNvSpPr/>
          <p:nvPr/>
        </p:nvSpPr>
        <p:spPr>
          <a:xfrm>
            <a:off x="7955280" y="1124712"/>
            <a:ext cx="658368" cy="228600"/>
          </a:xfrm>
          <a:prstGeom prst="rect">
            <a:avLst/>
          </a:prstGeom>
          <a:solidFill>
            <a:srgbClr val="DCFCE7"/>
          </a:solidFill>
          <a:ln/>
        </p:spPr>
      </p:sp>
      <p:sp>
        <p:nvSpPr>
          <p:cNvPr id="22" name="Text 20"/>
          <p:cNvSpPr/>
          <p:nvPr/>
        </p:nvSpPr>
        <p:spPr>
          <a:xfrm>
            <a:off x="795528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50件+</a:t>
            </a:r>
            <a:endParaRPr lang="en-US" sz="900" dirty="0"/>
          </a:p>
        </p:txBody>
      </p:sp>
      <p:sp>
        <p:nvSpPr>
          <p:cNvPr id="23" name="Text 21"/>
          <p:cNvSpPr/>
          <p:nvPr/>
        </p:nvSpPr>
        <p:spPr>
          <a:xfrm>
            <a:off x="626364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清潔さ・清掃</a:t>
            </a:r>
            <a:endParaRPr lang="en-US" sz="1300" dirty="0"/>
          </a:p>
        </p:txBody>
      </p:sp>
      <p:sp>
        <p:nvSpPr>
          <p:cNvPr id="24" name="Text 22"/>
          <p:cNvSpPr/>
          <p:nvPr/>
        </p:nvSpPr>
        <p:spPr>
          <a:xfrm>
            <a:off x="626364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部屋自体は概ね清潔で（トイレと床に髪の毛が少し落ちていましたが）、快適で、料金に見合った価値があります</a:t>
            </a:r>
            <a:endParaRPr lang="en-US" sz="900" dirty="0"/>
          </a:p>
        </p:txBody>
      </p:sp>
      <p:sp>
        <p:nvSpPr>
          <p:cNvPr id="25" name="Text 23"/>
          <p:cNvSpPr/>
          <p:nvPr/>
        </p:nvSpPr>
        <p:spPr>
          <a:xfrm>
            <a:off x="626364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「The room was decently sized for Japan standards, very clean」</a:t>
            </a:r>
            <a:endParaRPr lang="en-US" sz="900" dirty="0"/>
          </a:p>
        </p:txBody>
      </p:sp>
      <p:sp>
        <p:nvSpPr>
          <p:cNvPr id="26" name="Shape 24"/>
          <p:cNvSpPr/>
          <p:nvPr/>
        </p:nvSpPr>
        <p:spPr>
          <a:xfrm>
            <a:off x="45720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7" name="Shape 25"/>
          <p:cNvSpPr/>
          <p:nvPr/>
        </p:nvSpPr>
        <p:spPr>
          <a:xfrm>
            <a:off x="457200" y="2880360"/>
            <a:ext cx="54864" cy="1600200"/>
          </a:xfrm>
          <a:prstGeom prst="rect">
            <a:avLst/>
          </a:prstGeom>
          <a:solidFill>
            <a:srgbClr val="16A34A"/>
          </a:solidFill>
          <a:ln/>
        </p:spPr>
      </p:sp>
      <p:sp>
        <p:nvSpPr>
          <p:cNvPr id="28" name="Shape 26"/>
          <p:cNvSpPr/>
          <p:nvPr/>
        </p:nvSpPr>
        <p:spPr>
          <a:xfrm>
            <a:off x="2286000" y="2953512"/>
            <a:ext cx="658368" cy="228600"/>
          </a:xfrm>
          <a:prstGeom prst="rect">
            <a:avLst/>
          </a:prstGeom>
          <a:solidFill>
            <a:srgbClr val="DCFCE7"/>
          </a:solidFill>
          <a:ln/>
        </p:spPr>
      </p:sp>
      <p:sp>
        <p:nvSpPr>
          <p:cNvPr id="29" name="Text 27"/>
          <p:cNvSpPr/>
          <p:nvPr/>
        </p:nvSpPr>
        <p:spPr>
          <a:xfrm>
            <a:off x="228600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30" name="Text 28"/>
          <p:cNvSpPr/>
          <p:nvPr/>
        </p:nvSpPr>
        <p:spPr>
          <a:xfrm>
            <a:off x="59436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快適さ・設備</a:t>
            </a:r>
            <a:endParaRPr lang="en-US" sz="1300" dirty="0"/>
          </a:p>
        </p:txBody>
      </p:sp>
      <p:sp>
        <p:nvSpPr>
          <p:cNvPr id="31" name="Text 29"/>
          <p:cNvSpPr/>
          <p:nvPr/>
        </p:nvSpPr>
        <p:spPr>
          <a:xfrm>
            <a:off x="59436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部屋自体は概ね清潔で（トイレと床に髪の毛が少し落ちていましたが）、快適で、料金に見合った価値があります</a:t>
            </a:r>
            <a:endParaRPr lang="en-US" sz="900" dirty="0"/>
          </a:p>
        </p:txBody>
      </p:sp>
      <p:sp>
        <p:nvSpPr>
          <p:cNvPr id="32" name="Text 30"/>
          <p:cNvSpPr/>
          <p:nvPr/>
        </p:nvSpPr>
        <p:spPr>
          <a:xfrm>
            <a:off x="59436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「ベッドが別々でツインだったから 朝空港迄の送迎バスに乗れて助かった バッグの荷物が重すぎるので コロコロじゃなかっ...」</a:t>
            </a:r>
            <a:endParaRPr lang="en-US" sz="900" dirty="0"/>
          </a:p>
        </p:txBody>
      </p:sp>
      <p:sp>
        <p:nvSpPr>
          <p:cNvPr id="33" name="Shape 31"/>
          <p:cNvSpPr/>
          <p:nvPr/>
        </p:nvSpPr>
        <p:spPr>
          <a:xfrm>
            <a:off x="329184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4" name="Shape 32"/>
          <p:cNvSpPr/>
          <p:nvPr/>
        </p:nvSpPr>
        <p:spPr>
          <a:xfrm>
            <a:off x="3291840" y="2880360"/>
            <a:ext cx="54864" cy="1600200"/>
          </a:xfrm>
          <a:prstGeom prst="rect">
            <a:avLst/>
          </a:prstGeom>
          <a:solidFill>
            <a:srgbClr val="16A34A"/>
          </a:solidFill>
          <a:ln/>
        </p:spPr>
      </p:sp>
      <p:sp>
        <p:nvSpPr>
          <p:cNvPr id="35" name="Shape 33"/>
          <p:cNvSpPr/>
          <p:nvPr/>
        </p:nvSpPr>
        <p:spPr>
          <a:xfrm>
            <a:off x="5120640" y="2953512"/>
            <a:ext cx="658368" cy="228600"/>
          </a:xfrm>
          <a:prstGeom prst="rect">
            <a:avLst/>
          </a:prstGeom>
          <a:solidFill>
            <a:srgbClr val="DCFCE7"/>
          </a:solidFill>
          <a:ln/>
        </p:spPr>
      </p:sp>
      <p:sp>
        <p:nvSpPr>
          <p:cNvPr id="36" name="Text 34"/>
          <p:cNvSpPr/>
          <p:nvPr/>
        </p:nvSpPr>
        <p:spPr>
          <a:xfrm>
            <a:off x="512064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37" name="Text 35"/>
          <p:cNvSpPr/>
          <p:nvPr/>
        </p:nvSpPr>
        <p:spPr>
          <a:xfrm>
            <a:off x="342900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コンビニ・周辺施設</a:t>
            </a:r>
            <a:endParaRPr lang="en-US" sz="1300" dirty="0"/>
          </a:p>
        </p:txBody>
      </p:sp>
      <p:sp>
        <p:nvSpPr>
          <p:cNvPr id="38" name="Text 36"/>
          <p:cNvSpPr/>
          <p:nvPr/>
        </p:nvSpPr>
        <p:spPr>
          <a:xfrm>
            <a:off x="342900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近くの洋食レストランがとっても美味しかったので是非オススメします</a:t>
            </a:r>
            <a:endParaRPr lang="en-US" sz="900" dirty="0"/>
          </a:p>
        </p:txBody>
      </p:sp>
      <p:sp>
        <p:nvSpPr>
          <p:cNvPr id="39" name="Text 37"/>
          <p:cNvSpPr/>
          <p:nvPr/>
        </p:nvSpPr>
        <p:spPr>
          <a:xfrm>
            <a:off x="342900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「初めて宿泊させていただきました 話に聞いてた通り恐竜がお出迎えしてくれるフロントにはやっぱりビックリさせられました...」</a:t>
            </a:r>
            <a:endParaRPr lang="en-US" sz="900" dirty="0"/>
          </a:p>
        </p:txBody>
      </p:sp>
      <p:sp>
        <p:nvSpPr>
          <p:cNvPr id="40" name="Shape 38"/>
          <p:cNvSpPr/>
          <p:nvPr/>
        </p:nvSpPr>
        <p:spPr>
          <a:xfrm>
            <a:off x="612648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41" name="Shape 39"/>
          <p:cNvSpPr/>
          <p:nvPr/>
        </p:nvSpPr>
        <p:spPr>
          <a:xfrm>
            <a:off x="6126480" y="2880360"/>
            <a:ext cx="54864" cy="1600200"/>
          </a:xfrm>
          <a:prstGeom prst="rect">
            <a:avLst/>
          </a:prstGeom>
          <a:solidFill>
            <a:srgbClr val="16A34A"/>
          </a:solidFill>
          <a:ln/>
        </p:spPr>
      </p:sp>
      <p:sp>
        <p:nvSpPr>
          <p:cNvPr id="42" name="Shape 40"/>
          <p:cNvSpPr/>
          <p:nvPr/>
        </p:nvSpPr>
        <p:spPr>
          <a:xfrm>
            <a:off x="7955280" y="2953512"/>
            <a:ext cx="658368" cy="228600"/>
          </a:xfrm>
          <a:prstGeom prst="rect">
            <a:avLst/>
          </a:prstGeom>
          <a:solidFill>
            <a:srgbClr val="DCFCE7"/>
          </a:solidFill>
          <a:ln/>
        </p:spPr>
      </p:sp>
      <p:sp>
        <p:nvSpPr>
          <p:cNvPr id="43" name="Text 41"/>
          <p:cNvSpPr/>
          <p:nvPr/>
        </p:nvSpPr>
        <p:spPr>
          <a:xfrm>
            <a:off x="795528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44" name="Text 42"/>
          <p:cNvSpPr/>
          <p:nvPr/>
        </p:nvSpPr>
        <p:spPr>
          <a:xfrm>
            <a:off x="626364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朝食</a:t>
            </a:r>
            <a:endParaRPr lang="en-US" sz="1300" dirty="0"/>
          </a:p>
        </p:txBody>
      </p:sp>
      <p:sp>
        <p:nvSpPr>
          <p:cNvPr id="45" name="Text 43"/>
          <p:cNvSpPr/>
          <p:nvPr/>
        </p:nvSpPr>
        <p:spPr>
          <a:xfrm>
            <a:off x="626364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近くの洋食レストランがとっても美味しかったので是非オススメします</a:t>
            </a:r>
            <a:endParaRPr lang="en-US" sz="900" dirty="0"/>
          </a:p>
        </p:txBody>
      </p:sp>
      <p:sp>
        <p:nvSpPr>
          <p:cNvPr id="46" name="Text 44"/>
          <p:cNvSpPr/>
          <p:nvPr/>
        </p:nvSpPr>
        <p:spPr>
          <a:xfrm>
            <a:off x="626364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「朝食も美味しくまた利用したいです」</a:t>
            </a:r>
            <a:endParaRPr lang="en-US" sz="900" dirty="0"/>
          </a:p>
        </p:txBody>
      </p:sp>
      <p:sp>
        <p:nvSpPr>
          <p:cNvPr id="47" name="Shape 45"/>
          <p:cNvSpPr/>
          <p:nvPr/>
        </p:nvSpPr>
        <p:spPr>
          <a:xfrm>
            <a:off x="0" y="4800600"/>
            <a:ext cx="9144000" cy="342900"/>
          </a:xfrm>
          <a:prstGeom prst="rect">
            <a:avLst/>
          </a:prstGeom>
          <a:solidFill>
            <a:srgbClr val="1A2744"/>
          </a:solidFill>
          <a:ln/>
        </p:spPr>
      </p:sp>
      <p:sp>
        <p:nvSpPr>
          <p:cNvPr id="48" name="Text 46"/>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49" name="Text 47"/>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6</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弱み分析・優先度マトリクス</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Weakness Analysis &amp; Priority Matrix</a:t>
            </a:r>
            <a:endParaRPr lang="en-US" sz="1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
        </p:xfrm>
        <a:graphic>
          <a:graphicData uri="http://schemas.openxmlformats.org/drawingml/2006/table">
            <a:tbl>
              <a:tblPr/>
              <a:tblGrid>
                <a:gridCol w="731520"/>
                <a:gridCol w="1828800"/>
                <a:gridCol w="4572000"/>
                <a:gridCol w="1097280"/>
              </a:tblGrid>
              <a:tr h="27432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優先度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課題カテゴリ</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具体的内容</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algn="ctr" indent="0" marL="0">
                        <a:buNone/>
                      </a:pPr>
                      <a:r>
                        <a:rPr lang="en-US" sz="1200" b="1" dirty="0">
                          <a:solidFill>
                            <a:srgbClr val="DC2626"/>
                          </a:solidFill>
                          <a:latin typeface="Arial" pitchFamily="34" charset="0"/>
                          <a:ea typeface="Arial" pitchFamily="34" charset="-122"/>
                          <a:cs typeface="Arial" pitchFamily="34" charset="-120"/>
                        </a:rPr>
                        <a:t>S</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浴室・水回り</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部屋自体は概ね清潔で（トイレと床に髪の毛が少し落ちていましたが）、快適で、料金に見合った価値があります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89件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エアコン・空調</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La proximité de l'aéroport  Le décors Accueil de l'hôtel ...</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31件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部屋の狭さ</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Understandably small like any other hotel in Tokyo</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防音性能</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早朝出発の人などの音が気になるのと、お風呂の排水口の臭いが気になる〜後は快適に過ごせた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対応・サービスの不満</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初めて宿泊させていただきました 話に聞いてた通り恐竜がお出迎えしてくれるフロントにはやっぱりビックリさせられました...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臭い・匂い</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早朝出発の人などの音が気になるのと、お風呂の排水口の臭いが気になる〜後は快適に過ごせた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窓・採光</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初めて宿泊させていただきました 話に聞いてた通り恐竜がお出迎えしてくれるフロントにはやっぱりビックリさせられました...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設備の老朽化</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I was forced to put my global roaming on my phone and get...</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清掃不備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・ベッドのシーツには前の利用者が汚したものか…シミが付いていて気になりましたがチェックインが22時過ぎと遅く疲れて...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bl>
          </a:graphicData>
        </a:graphic>
      </p:graphicFrame>
      <p:sp>
        <p:nvSpPr>
          <p:cNvPr id="6" name="Text 3"/>
          <p:cNvSpPr/>
          <p:nvPr/>
        </p:nvSpPr>
        <p:spPr>
          <a:xfrm>
            <a:off x="457200" y="4389120"/>
            <a:ext cx="8229600" cy="274320"/>
          </a:xfrm>
          <a:prstGeom prst="rect">
            <a:avLst/>
          </a:prstGeom>
          <a:noFill/>
          <a:ln/>
        </p:spPr>
        <p:txBody>
          <a:bodyPr wrap="square" lIns="0" tIns="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S </a:t>
            </a:r>
            <a:pPr indent="0" marL="0">
              <a:buNone/>
            </a:pPr>
            <a:r>
              <a:rPr lang="en-US" sz="900" dirty="0">
                <a:solidFill>
                  <a:srgbClr val="64748B"/>
                </a:solidFill>
                <a:latin typeface="Arial" pitchFamily="34" charset="0"/>
                <a:ea typeface="Arial" pitchFamily="34" charset="-122"/>
                <a:cs typeface="Arial" pitchFamily="34" charset="-120"/>
              </a:rPr>
              <a:t>= 最優先   </a:t>
            </a:r>
            <a:pPr indent="0" marL="0">
              <a:buNone/>
            </a:pPr>
            <a:r>
              <a:rPr lang="en-US" sz="1000" b="1" dirty="0">
                <a:solidFill>
                  <a:srgbClr val="EA580C"/>
                </a:solidFill>
                <a:latin typeface="Arial" pitchFamily="34" charset="0"/>
                <a:ea typeface="Arial" pitchFamily="34" charset="-122"/>
                <a:cs typeface="Arial" pitchFamily="34" charset="-120"/>
              </a:rPr>
              <a:t>A </a:t>
            </a:r>
            <a:pPr indent="0" marL="0">
              <a:buNone/>
            </a:pPr>
            <a:r>
              <a:rPr lang="en-US" sz="900" dirty="0">
                <a:solidFill>
                  <a:srgbClr val="64748B"/>
                </a:solidFill>
                <a:latin typeface="Arial" pitchFamily="34" charset="0"/>
                <a:ea typeface="Arial" pitchFamily="34" charset="-122"/>
                <a:cs typeface="Arial" pitchFamily="34" charset="-120"/>
              </a:rPr>
              <a:t>= 高優先   </a:t>
            </a:r>
            <a:pPr indent="0" marL="0">
              <a:buNone/>
            </a:pPr>
            <a:r>
              <a:rPr lang="en-US" sz="1000" b="1" dirty="0">
                <a:solidFill>
                  <a:srgbClr val="D4A843"/>
                </a:solidFill>
                <a:latin typeface="Arial" pitchFamily="34" charset="0"/>
                <a:ea typeface="Arial" pitchFamily="34" charset="-122"/>
                <a:cs typeface="Arial" pitchFamily="34" charset="-120"/>
              </a:rPr>
              <a:t>B </a:t>
            </a:r>
            <a:pPr indent="0" marL="0">
              <a:buNone/>
            </a:pPr>
            <a:r>
              <a:rPr lang="en-US" sz="900" dirty="0">
                <a:solidFill>
                  <a:srgbClr val="64748B"/>
                </a:solidFill>
                <a:latin typeface="Arial" pitchFamily="34" charset="0"/>
                <a:ea typeface="Arial" pitchFamily="34" charset="-122"/>
                <a:cs typeface="Arial" pitchFamily="34" charset="-120"/>
              </a:rPr>
              <a:t>= 中優先   </a:t>
            </a:r>
            <a:pPr indent="0" marL="0">
              <a:buNone/>
            </a:pPr>
            <a:r>
              <a:rPr lang="en-US" sz="1000" b="1" dirty="0">
                <a:solidFill>
                  <a:srgbClr val="94A3B8"/>
                </a:solidFill>
                <a:latin typeface="Arial" pitchFamily="34" charset="0"/>
                <a:ea typeface="Arial" pitchFamily="34" charset="-122"/>
                <a:cs typeface="Arial" pitchFamily="34" charset="-120"/>
              </a:rPr>
              <a:t>C </a:t>
            </a:r>
            <a:pPr indent="0" marL="0">
              <a:buNone/>
            </a:pPr>
            <a:r>
              <a:rPr lang="en-US" sz="900" dirty="0">
                <a:solidFill>
                  <a:srgbClr val="64748B"/>
                </a:solidFill>
                <a:latin typeface="Arial" pitchFamily="34" charset="0"/>
                <a:ea typeface="Arial" pitchFamily="34" charset="-122"/>
                <a:cs typeface="Arial" pitchFamily="34" charset="-120"/>
              </a:rPr>
              <a:t>= 低優先</a:t>
            </a:r>
            <a:endParaRPr lang="en-US" sz="1000" dirty="0"/>
          </a:p>
        </p:txBody>
      </p:sp>
      <p:sp>
        <p:nvSpPr>
          <p:cNvPr id="7" name="Shape 4"/>
          <p:cNvSpPr/>
          <p:nvPr/>
        </p:nvSpPr>
        <p:spPr>
          <a:xfrm>
            <a:off x="0" y="4800600"/>
            <a:ext cx="9144000" cy="342900"/>
          </a:xfrm>
          <a:prstGeom prst="rect">
            <a:avLst/>
          </a:prstGeom>
          <a:solidFill>
            <a:srgbClr val="1A2744"/>
          </a:solidFill>
          <a:ln/>
        </p:spPr>
      </p:sp>
      <p:sp>
        <p:nvSpPr>
          <p:cNvPr id="8" name="Text 5"/>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9" name="Text 6"/>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7</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1：即座対応</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Immediate Actions (Today ~ 1 Month)</a:t>
            </a:r>
            <a:endParaRPr lang="en-US" sz="1000" dirty="0"/>
          </a:p>
        </p:txBody>
      </p:sp>
      <p:sp>
        <p:nvSpPr>
          <p:cNvPr id="5" name="Text 3"/>
          <p:cNvSpPr/>
          <p:nvPr/>
        </p:nvSpPr>
        <p:spPr>
          <a:xfrm>
            <a:off x="548640" y="868680"/>
            <a:ext cx="7315200" cy="274320"/>
          </a:xfrm>
          <a:prstGeom prst="rect">
            <a:avLst/>
          </a:prstGeom>
          <a:noFill/>
          <a:ln/>
        </p:spPr>
        <p:txBody>
          <a:bodyPr wrap="square" lIns="0" tIns="0" rIns="0" bIns="0" rtlCol="0" anchor="ctr"/>
          <a:lstStyle/>
          <a:p>
            <a:pPr indent="0" marL="0">
              <a:buNone/>
            </a:pPr>
            <a:r>
              <a:rPr lang="en-US" sz="1000" i="1" dirty="0">
                <a:solidFill>
                  <a:srgbClr val="3B7DD8"/>
                </a:solidFill>
                <a:latin typeface="Arial" pitchFamily="34" charset="0"/>
                <a:ea typeface="Arial" pitchFamily="34" charset="-122"/>
                <a:cs typeface="Arial" pitchFamily="34" charset="-120"/>
              </a:rPr>
              <a:t>投資不要・オペレーション改善で対応可能</a:t>
            </a:r>
            <a:endParaRPr lang="en-US" sz="1000" dirty="0"/>
          </a:p>
        </p:txBody>
      </p:sp>
      <p:sp>
        <p:nvSpPr>
          <p:cNvPr id="6" name="Shape 4"/>
          <p:cNvSpPr/>
          <p:nvPr/>
        </p:nvSpPr>
        <p:spPr>
          <a:xfrm>
            <a:off x="45720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5"/>
          <p:cNvSpPr/>
          <p:nvPr/>
        </p:nvSpPr>
        <p:spPr>
          <a:xfrm>
            <a:off x="457200" y="1234440"/>
            <a:ext cx="54864" cy="1600200"/>
          </a:xfrm>
          <a:prstGeom prst="rect">
            <a:avLst/>
          </a:prstGeom>
          <a:solidFill>
            <a:srgbClr val="3B7DD8"/>
          </a:solidFill>
          <a:ln/>
        </p:spPr>
      </p:sp>
      <p:sp>
        <p:nvSpPr>
          <p:cNvPr id="8" name="Text 6"/>
          <p:cNvSpPr/>
          <p:nvPr/>
        </p:nvSpPr>
        <p:spPr>
          <a:xfrm>
            <a:off x="59436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客室の消臭対策の強化</a:t>
            </a:r>
            <a:endParaRPr lang="en-US" sz="1200" dirty="0"/>
          </a:p>
        </p:txBody>
      </p:sp>
      <p:sp>
        <p:nvSpPr>
          <p:cNvPr id="9" name="Text 7"/>
          <p:cNvSpPr/>
          <p:nvPr/>
        </p:nvSpPr>
        <p:spPr>
          <a:xfrm>
            <a:off x="59436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チェックアウト後の換気・消臭スプレー処理の徹底</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定期的な脱臭剤の設置と交換フローの確立</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喫煙・臭いに関するクレーム発生時の即座対応マニュアル作成</a:t>
            </a:r>
            <a:endParaRPr lang="en-US" sz="900" dirty="0"/>
          </a:p>
        </p:txBody>
      </p:sp>
      <p:sp>
        <p:nvSpPr>
          <p:cNvPr id="10" name="Shape 8"/>
          <p:cNvSpPr/>
          <p:nvPr/>
        </p:nvSpPr>
        <p:spPr>
          <a:xfrm>
            <a:off x="466344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1" name="Shape 9"/>
          <p:cNvSpPr/>
          <p:nvPr/>
        </p:nvSpPr>
        <p:spPr>
          <a:xfrm>
            <a:off x="4663440" y="1234440"/>
            <a:ext cx="54864" cy="1600200"/>
          </a:xfrm>
          <a:prstGeom prst="rect">
            <a:avLst/>
          </a:prstGeom>
          <a:solidFill>
            <a:srgbClr val="3B7DD8"/>
          </a:solidFill>
          <a:ln/>
        </p:spPr>
      </p:sp>
      <p:sp>
        <p:nvSpPr>
          <p:cNvPr id="12" name="Text 10"/>
          <p:cNvSpPr/>
          <p:nvPr/>
        </p:nvSpPr>
        <p:spPr>
          <a:xfrm>
            <a:off x="480060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清掃品質の向上</a:t>
            </a:r>
            <a:endParaRPr lang="en-US" sz="1200" dirty="0"/>
          </a:p>
        </p:txBody>
      </p:sp>
      <p:sp>
        <p:nvSpPr>
          <p:cNvPr id="13" name="Text 11"/>
          <p:cNvSpPr/>
          <p:nvPr/>
        </p:nvSpPr>
        <p:spPr>
          <a:xfrm>
            <a:off x="480060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清掃チェックリストの見直しと強化（ベッド下・隅の重点確認）</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清掃後のダブルチェック体制の導入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清掃スタッフへの再研修実施</a:t>
            </a:r>
            <a:endParaRPr lang="en-US" sz="900" dirty="0"/>
          </a:p>
        </p:txBody>
      </p:sp>
      <p:sp>
        <p:nvSpPr>
          <p:cNvPr id="14" name="Shape 12"/>
          <p:cNvSpPr/>
          <p:nvPr/>
        </p:nvSpPr>
        <p:spPr>
          <a:xfrm>
            <a:off x="45720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57200" y="3017520"/>
            <a:ext cx="54864" cy="1600200"/>
          </a:xfrm>
          <a:prstGeom prst="rect">
            <a:avLst/>
          </a:prstGeom>
          <a:solidFill>
            <a:srgbClr val="3B7DD8"/>
          </a:solidFill>
          <a:ln/>
        </p:spPr>
      </p:sp>
      <p:sp>
        <p:nvSpPr>
          <p:cNvPr id="16" name="Text 14"/>
          <p:cNvSpPr/>
          <p:nvPr/>
        </p:nvSpPr>
        <p:spPr>
          <a:xfrm>
            <a:off x="59436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エアコン・空調の定期点検強化</a:t>
            </a:r>
            <a:endParaRPr lang="en-US" sz="1200" dirty="0"/>
          </a:p>
        </p:txBody>
      </p:sp>
      <p:sp>
        <p:nvSpPr>
          <p:cNvPr id="17" name="Text 15"/>
          <p:cNvSpPr/>
          <p:nvPr/>
        </p:nvSpPr>
        <p:spPr>
          <a:xfrm>
            <a:off x="59436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全室のエアコン設定を季節に応じてデフォルト確認する運用フロー導入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冷暖房の正常動作を定期チェックリストに追加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異常報告があった客室の優先メンテナンス実施</a:t>
            </a:r>
            <a:endParaRPr lang="en-US" sz="900" dirty="0"/>
          </a:p>
        </p:txBody>
      </p:sp>
      <p:sp>
        <p:nvSpPr>
          <p:cNvPr id="18" name="Shape 16"/>
          <p:cNvSpPr/>
          <p:nvPr/>
        </p:nvSpPr>
        <p:spPr>
          <a:xfrm>
            <a:off x="466344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9" name="Shape 17"/>
          <p:cNvSpPr/>
          <p:nvPr/>
        </p:nvSpPr>
        <p:spPr>
          <a:xfrm>
            <a:off x="4663440" y="3017520"/>
            <a:ext cx="54864" cy="1600200"/>
          </a:xfrm>
          <a:prstGeom prst="rect">
            <a:avLst/>
          </a:prstGeom>
          <a:solidFill>
            <a:srgbClr val="3B7DD8"/>
          </a:solidFill>
          <a:ln/>
        </p:spPr>
      </p:sp>
      <p:sp>
        <p:nvSpPr>
          <p:cNvPr id="20" name="Text 18"/>
          <p:cNvSpPr/>
          <p:nvPr/>
        </p:nvSpPr>
        <p:spPr>
          <a:xfrm>
            <a:off x="480060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スタッフ対応品質の統一</a:t>
            </a:r>
            <a:endParaRPr lang="en-US" sz="1200" dirty="0"/>
          </a:p>
        </p:txBody>
      </p:sp>
      <p:sp>
        <p:nvSpPr>
          <p:cNvPr id="21" name="Text 19"/>
          <p:cNvSpPr/>
          <p:nvPr/>
        </p:nvSpPr>
        <p:spPr>
          <a:xfrm>
            <a:off x="480060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接客マニュアルの見直しと全スタッフへの周知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ゲストからのクレーム対応フローの明確化</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定期的なCS研修の実施</a:t>
            </a:r>
            <a:endParaRPr lang="en-US" sz="900" dirty="0"/>
          </a:p>
        </p:txBody>
      </p:sp>
      <p:sp>
        <p:nvSpPr>
          <p:cNvPr id="22" name="Shape 20"/>
          <p:cNvSpPr/>
          <p:nvPr/>
        </p:nvSpPr>
        <p:spPr>
          <a:xfrm>
            <a:off x="0" y="4800600"/>
            <a:ext cx="9144000" cy="342900"/>
          </a:xfrm>
          <a:prstGeom prst="rect">
            <a:avLst/>
          </a:prstGeom>
          <a:solidFill>
            <a:srgbClr val="1A2744"/>
          </a:solidFill>
          <a:ln/>
        </p:spPr>
      </p:sp>
      <p:sp>
        <p:nvSpPr>
          <p:cNvPr id="23" name="Text 21"/>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4" name="Text 22"/>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8</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2・3</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Short-term &amp; Mid-term Actions</a:t>
            </a:r>
            <a:endParaRPr lang="en-US" sz="1000" dirty="0"/>
          </a:p>
        </p:txBody>
      </p:sp>
      <p:sp>
        <p:nvSpPr>
          <p:cNvPr id="5" name="Shape 3"/>
          <p:cNvSpPr/>
          <p:nvPr/>
        </p:nvSpPr>
        <p:spPr>
          <a:xfrm>
            <a:off x="45720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05840"/>
            <a:ext cx="3977640" cy="365760"/>
          </a:xfrm>
          <a:prstGeom prst="rect">
            <a:avLst/>
          </a:prstGeom>
          <a:solidFill>
            <a:srgbClr val="3B7DD8"/>
          </a:solidFill>
          <a:ln/>
        </p:spPr>
      </p:sp>
      <p:sp>
        <p:nvSpPr>
          <p:cNvPr id="7" name="Text 5"/>
          <p:cNvSpPr/>
          <p:nvPr/>
        </p:nvSpPr>
        <p:spPr>
          <a:xfrm>
            <a:off x="59436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2：短期施策（1〜3ヶ月）</a:t>
            </a:r>
            <a:endParaRPr lang="en-US" sz="1200" dirty="0"/>
          </a:p>
        </p:txBody>
      </p:sp>
      <p:sp>
        <p:nvSpPr>
          <p:cNvPr id="8" name="Text 6"/>
          <p:cNvSpPr/>
          <p:nvPr/>
        </p:nvSpPr>
        <p:spPr>
          <a:xfrm>
            <a:off x="64008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浴室の快適性向上</a:t>
            </a:r>
            <a:endParaRPr lang="en-US" sz="1000" dirty="0"/>
          </a:p>
        </p:txBody>
      </p:sp>
      <p:sp>
        <p:nvSpPr>
          <p:cNvPr id="9" name="Text 7"/>
          <p:cNvSpPr/>
          <p:nvPr/>
        </p:nvSpPr>
        <p:spPr>
          <a:xfrm>
            <a:off x="64008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排水口の清掃・修繕を全室で実施し、排水速度を改善</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シャワーヘッドの交換（水圧改善・節水タイプ導入）</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浴室換気・暖房設備の点検と改善</a:t>
            </a:r>
            <a:endParaRPr lang="en-US" sz="900" dirty="0"/>
          </a:p>
        </p:txBody>
      </p:sp>
      <p:sp>
        <p:nvSpPr>
          <p:cNvPr id="10" name="Text 8"/>
          <p:cNvSpPr/>
          <p:nvPr/>
        </p:nvSpPr>
        <p:spPr>
          <a:xfrm>
            <a:off x="64008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防音対策の強化</a:t>
            </a:r>
            <a:endParaRPr lang="en-US" sz="1000" dirty="0"/>
          </a:p>
        </p:txBody>
      </p:sp>
      <p:sp>
        <p:nvSpPr>
          <p:cNvPr id="11" name="Text 9"/>
          <p:cNvSpPr/>
          <p:nvPr/>
        </p:nvSpPr>
        <p:spPr>
          <a:xfrm>
            <a:off x="640080" y="2761488"/>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窓際への防音カーテン導入（外部騒音対策）</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ドア下部への隙間テープ設置（廊下・隣室からの音漏れ軽減）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騒音の少ない客室への優先案内の仕組み化</a:t>
            </a:r>
            <a:endParaRPr lang="en-US" sz="900" dirty="0"/>
          </a:p>
        </p:txBody>
      </p:sp>
      <p:sp>
        <p:nvSpPr>
          <p:cNvPr id="12" name="Text 10"/>
          <p:cNvSpPr/>
          <p:nvPr/>
        </p:nvSpPr>
        <p:spPr>
          <a:xfrm>
            <a:off x="640080" y="3547872"/>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窓・採光環境の改善</a:t>
            </a:r>
            <a:endParaRPr lang="en-US" sz="1000" dirty="0"/>
          </a:p>
        </p:txBody>
      </p:sp>
      <p:sp>
        <p:nvSpPr>
          <p:cNvPr id="13" name="Text 11"/>
          <p:cNvSpPr/>
          <p:nvPr/>
        </p:nvSpPr>
        <p:spPr>
          <a:xfrm>
            <a:off x="640080" y="3803904"/>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遮光カーテンとレースカーテンの品質見直し</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窓の開閉可否に関する事前案内の徹底</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採光の良い客室の優先割り当てルール整備</a:t>
            </a:r>
            <a:endParaRPr lang="en-US" sz="900" dirty="0"/>
          </a:p>
        </p:txBody>
      </p:sp>
      <p:sp>
        <p:nvSpPr>
          <p:cNvPr id="14" name="Shape 12"/>
          <p:cNvSpPr/>
          <p:nvPr/>
        </p:nvSpPr>
        <p:spPr>
          <a:xfrm>
            <a:off x="470916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709160" y="1005840"/>
            <a:ext cx="3977640" cy="365760"/>
          </a:xfrm>
          <a:prstGeom prst="rect">
            <a:avLst/>
          </a:prstGeom>
          <a:solidFill>
            <a:srgbClr val="1A2744"/>
          </a:solidFill>
          <a:ln/>
        </p:spPr>
      </p:sp>
      <p:sp>
        <p:nvSpPr>
          <p:cNvPr id="16" name="Text 14"/>
          <p:cNvSpPr/>
          <p:nvPr/>
        </p:nvSpPr>
        <p:spPr>
          <a:xfrm>
            <a:off x="484632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3：中期施策（3〜6ヶ月）</a:t>
            </a:r>
            <a:endParaRPr lang="en-US" sz="1200" dirty="0"/>
          </a:p>
        </p:txBody>
      </p:sp>
      <p:sp>
        <p:nvSpPr>
          <p:cNvPr id="17" name="Text 15"/>
          <p:cNvSpPr/>
          <p:nvPr/>
        </p:nvSpPr>
        <p:spPr>
          <a:xfrm>
            <a:off x="489204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客室リニューアル計画</a:t>
            </a:r>
            <a:endParaRPr lang="en-US" sz="1000" dirty="0"/>
          </a:p>
        </p:txBody>
      </p:sp>
      <p:sp>
        <p:nvSpPr>
          <p:cNvPr id="18" name="Text 16"/>
          <p:cNvSpPr/>
          <p:nvPr/>
        </p:nvSpPr>
        <p:spPr>
          <a:xfrm>
            <a:off x="489204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壁紙・カーペットの張替えによる「古さ」印象の払拭</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照明のLED化・調光機能の追加で客室の雰囲気向上</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USB充電ポート付きコンセントの設置</a:t>
            </a:r>
            <a:endParaRPr lang="en-US" sz="900" dirty="0"/>
          </a:p>
        </p:txBody>
      </p:sp>
      <p:sp>
        <p:nvSpPr>
          <p:cNvPr id="19" name="Text 17"/>
          <p:cNvSpPr/>
          <p:nvPr/>
        </p:nvSpPr>
        <p:spPr>
          <a:xfrm>
            <a:off x="489204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浴室の抜本的改修</a:t>
            </a:r>
            <a:endParaRPr lang="en-US" sz="1000" dirty="0"/>
          </a:p>
        </p:txBody>
      </p:sp>
      <p:sp>
        <p:nvSpPr>
          <p:cNvPr id="20" name="Text 18"/>
          <p:cNvSpPr/>
          <p:nvPr/>
        </p:nvSpPr>
        <p:spPr>
          <a:xfrm>
            <a:off x="4892040" y="2761488"/>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配管更新による排水問題の根本解決</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換気設備の強化による浴室内の温度・湿度改善</a:t>
            </a:r>
            <a:endParaRPr lang="en-US" sz="900" dirty="0"/>
          </a:p>
        </p:txBody>
      </p:sp>
      <p:sp>
        <p:nvSpPr>
          <p:cNvPr id="21" name="Text 19"/>
          <p:cNvSpPr/>
          <p:nvPr/>
        </p:nvSpPr>
        <p:spPr>
          <a:xfrm>
            <a:off x="4892040" y="3346704"/>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防音工事</a:t>
            </a:r>
            <a:endParaRPr lang="en-US" sz="1000" dirty="0"/>
          </a:p>
        </p:txBody>
      </p:sp>
      <p:sp>
        <p:nvSpPr>
          <p:cNvPr id="22" name="Text 20"/>
          <p:cNvSpPr/>
          <p:nvPr/>
        </p:nvSpPr>
        <p:spPr>
          <a:xfrm>
            <a:off x="4892040" y="3602736"/>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騒音源側客室の窓を二重サッシに交換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隣室との壁面に遮音材を追加する改修工事の検討</a:t>
            </a:r>
            <a:endParaRPr lang="en-US" sz="900" dirty="0"/>
          </a:p>
        </p:txBody>
      </p:sp>
      <p:sp>
        <p:nvSpPr>
          <p:cNvPr id="23" name="Shape 21"/>
          <p:cNvSpPr/>
          <p:nvPr/>
        </p:nvSpPr>
        <p:spPr>
          <a:xfrm>
            <a:off x="0" y="4800600"/>
            <a:ext cx="9144000" cy="342900"/>
          </a:xfrm>
          <a:prstGeom prst="rect">
            <a:avLst/>
          </a:prstGeom>
          <a:solidFill>
            <a:srgbClr val="1A2744"/>
          </a:solidFill>
          <a:ln/>
        </p:spPr>
      </p:sp>
      <p:sp>
        <p:nvSpPr>
          <p:cNvPr id="24" name="Text 22"/>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5" name="Text 23"/>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9</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KPI目標設定・まとめ</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 &amp; Summary</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
        </p:xfrm>
        <a:graphic>
          <a:graphicData uri="http://schemas.openxmlformats.org/drawingml/2006/table">
            <a:tbl>
              <a:tblPr/>
              <a:tblGrid>
                <a:gridCol w="2560320"/>
                <a:gridCol w="1828800"/>
                <a:gridCol w="2011680"/>
                <a:gridCol w="1828800"/>
              </a:tblGrid>
              <a:tr h="320040">
                <a:tc>
                  <a:txBody>
                    <a:bodyPr/>
                    <a:lstStyle/>
                    <a:p>
                      <a:pPr indent="0" marL="0">
                        <a:buNone/>
                      </a:pPr>
                      <a:r>
                        <a:rPr lang="en-US" sz="1000" b="1" dirty="0">
                          <a:solidFill>
                            <a:srgbClr val="FFFFFF"/>
                          </a:solidFill>
                          <a:latin typeface="Arial" pitchFamily="34" charset="0"/>
                          <a:ea typeface="Arial" pitchFamily="34" charset="-122"/>
                          <a:cs typeface="Arial" pitchFamily="34" charset="-120"/>
                        </a:rPr>
                        <a:t>KPI項目</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現状値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目標値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期限</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全体平均(10pt換算)</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8.29点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8.6点以上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高評価率（8-10点）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76.1%</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81%以上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低評価率（1-4点）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2.9%</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0%以下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口コミ返信率</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未計測</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100%（48h以内）</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2026年6月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浴室・水回りクレーム</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約89件/期間</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44件以下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bl>
          </a:graphicData>
        </a:graphic>
      </p:graphicFrame>
      <p:sp>
        <p:nvSpPr>
          <p:cNvPr id="6" name="Shape 3"/>
          <p:cNvSpPr/>
          <p:nvPr/>
        </p:nvSpPr>
        <p:spPr>
          <a:xfrm>
            <a:off x="457200" y="3108960"/>
            <a:ext cx="82296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457200" y="3108960"/>
            <a:ext cx="54864" cy="640080"/>
          </a:xfrm>
          <a:prstGeom prst="rect">
            <a:avLst/>
          </a:prstGeom>
          <a:solidFill>
            <a:srgbClr val="3B7DD8"/>
          </a:solidFill>
          <a:ln/>
        </p:spPr>
      </p:sp>
      <p:sp>
        <p:nvSpPr>
          <p:cNvPr id="8" name="Text 5"/>
          <p:cNvSpPr/>
          <p:nvPr/>
        </p:nvSpPr>
        <p:spPr>
          <a:xfrm>
            <a:off x="640080" y="3108960"/>
            <a:ext cx="7863840" cy="64008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モニタリング方針：</a:t>
            </a:r>
            <a:pPr indent="0" marL="0">
              <a:buNone/>
            </a:pPr>
            <a:r>
              <a:rPr lang="en-US" sz="1000" dirty="0">
                <a:solidFill>
                  <a:srgbClr val="64748B"/>
                </a:solidFill>
                <a:latin typeface="Arial" pitchFamily="34" charset="0"/>
                <a:ea typeface="Arial" pitchFamily="34" charset="-122"/>
                <a:cs typeface="Arial" pitchFamily="34" charset="-120"/>
              </a:rPr>
              <a:t>毎月のサイト別スコア集計と口コミ内容の定性分析を実施。四半期ごとに改善施策の効果を検証し、Phase 2・3の優先順位を見直します。</a:t>
            </a:r>
            <a:endParaRPr lang="en-US" sz="1000" dirty="0"/>
          </a:p>
        </p:txBody>
      </p:sp>
      <p:sp>
        <p:nvSpPr>
          <p:cNvPr id="9" name="Shape 6"/>
          <p:cNvSpPr/>
          <p:nvPr/>
        </p:nvSpPr>
        <p:spPr>
          <a:xfrm>
            <a:off x="0" y="4800600"/>
            <a:ext cx="9144000" cy="342900"/>
          </a:xfrm>
          <a:prstGeom prst="rect">
            <a:avLst/>
          </a:prstGeom>
          <a:solidFill>
            <a:srgbClr val="1A2744"/>
          </a:solidFill>
          <a:ln/>
        </p:spPr>
      </p:sp>
      <p:sp>
        <p:nvSpPr>
          <p:cNvPr id="10" name="Text 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1" name="Text 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10</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変なホテル東京羽田 口コミ分析改善レポート</dc:title>
  <dc:subject>PptxGenJS Presentation</dc:subject>
  <dc:creator>Hotel Consulting</dc:creator>
  <cp:lastModifiedBy>Hotel Consulting</cp:lastModifiedBy>
  <cp:revision>1</cp:revision>
  <dcterms:created xsi:type="dcterms:W3CDTF">2026-03-23T00:05:51Z</dcterms:created>
  <dcterms:modified xsi:type="dcterms:W3CDTF">2026-03-23T00:05:51Z</dcterms:modified>
</cp:coreProperties>
</file>