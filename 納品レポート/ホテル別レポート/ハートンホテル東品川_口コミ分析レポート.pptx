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10pt換算平均</c:v>
                </c:pt>
              </c:strCache>
            </c:strRef>
          </c:tx>
          <c:spPr>
            <a:solidFill>
              <a:srgbClr val="3B7D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Trip.com</c:v>
                  </c:pt>
                  <c:pt idx="1">
                    <c:v>じゃらん</c:v>
                  </c:pt>
                  <c:pt idx="2">
                    <c:v>Booking.com</c:v>
                  </c:pt>
                  <c:pt idx="3">
                    <c:v>Agoda</c:v>
                  </c:pt>
                  <c:pt idx="4">
                    <c:v>楽天トラベル</c:v>
                  </c:pt>
                  <c:pt idx="5">
                    <c:v>Google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9.3</c:v>
                </c:pt>
                <c:pt idx="1">
                  <c:v>8.71</c:v>
                </c:pt>
                <c:pt idx="2">
                  <c:v>8.44</c:v>
                </c:pt>
                <c:pt idx="3">
                  <c:v>8.4</c:v>
                </c:pt>
                <c:pt idx="4">
                  <c:v>8.29</c:v>
                </c:pt>
                <c:pt idx="5">
                  <c:v>6.86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評価分布（10pt換算）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bubble3D val="0"/>
            <c:spPr>
              <a:solidFill>
                <a:srgbClr val="D4A843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高評価(8-10)</c:v>
                </c:pt>
                <c:pt idx="1">
                  <c:v>中評価(5-7)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55</c:v>
                </c:pt>
                <c:pt idx="1">
                  <c:v>12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件数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10点</c:v>
                  </c:pt>
                  <c:pt idx="1">
                    <c:v>9点</c:v>
                  </c:pt>
                  <c:pt idx="2">
                    <c:v>8点</c:v>
                  </c:pt>
                  <c:pt idx="3">
                    <c:v>7点</c:v>
                  </c:pt>
                  <c:pt idx="4">
                    <c:v>6点</c:v>
                  </c:pt>
                  <c:pt idx="5">
                    <c:v>2点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</c:v>
                </c:pt>
                <c:pt idx="1">
                  <c:v>10</c:v>
                </c:pt>
                <c:pt idx="2">
                  <c:v>22</c:v>
                </c:pt>
                <c:pt idx="3">
                  <c:v>3</c:v>
                </c:pt>
                <c:pt idx="4">
                  <c:v>9</c:v>
                </c:pt>
                <c:pt idx="5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355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73152" cy="1645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600" kern="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口コミ分析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改善レポート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1828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ハートンホテル東品川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分析対象期間：2025年12月〜2026年4月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レビュー総数：68件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作成日：2026年4月12日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3B7DD8">
              <a:alpha val="1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エグゼクティブサマリー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1874520" cy="4572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全体平均(10pt換算)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8.43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25146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051560"/>
            <a:ext cx="18745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高評価率(8-10点)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146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80.9%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5720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051560"/>
            <a:ext cx="18745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低評価率(1-4点)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6629400" y="1051560"/>
            <a:ext cx="20574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29400" y="1051560"/>
            <a:ext cx="2057400" cy="457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11887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29400" y="14173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68件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45720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286000"/>
            <a:ext cx="39319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2743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駅近・交通利便性に関する好評価（58件）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部屋・設備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客室の快適性・設備の充実度への好評（37件）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清潔感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客室・共用部の清潔さへの高評価（25件）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286000"/>
            <a:ext cx="393192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2743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朝食品質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4件の指摘あり。改善対応を推奨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駐車場・立地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4件の指摘あり。改善対応を推奨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口コミ返信率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継続的な品質管理・予防的対応を推奨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Analysis by Platform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0584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005840"/>
            <a:ext cx="30175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1005840"/>
            <a:ext cx="301752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0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0" y="14173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サイト別評価インサイト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最高評価サイト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Trip.com: 9.30点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8.43点（10pt換算）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注：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海外OTAは/10、国内サイトは/5×2換算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97680"/>
          <a:ext cx="8229600" cy="9144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1828800"/>
                <a:gridCol w="914400"/>
                <a:gridCol w="274320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サイト名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ネイティブ平均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尺度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10pt換算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9.30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9.30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じゃらん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8.71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Booking.com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8.44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8.44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Agoda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楽天トラベル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8.29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6.86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評価分布分析（10点換算）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Distribution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97280"/>
          <a:ext cx="3657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114800" y="1097280"/>
          <a:ext cx="47548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4160520"/>
            <a:ext cx="2651760" cy="5029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4"/>
          <p:cNvSpPr/>
          <p:nvPr/>
        </p:nvSpPr>
        <p:spPr>
          <a:xfrm>
            <a:off x="45720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 8-10点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73736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55件（80.9%）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91840" y="4160520"/>
            <a:ext cx="2651760" cy="50292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1" name="Text 7"/>
          <p:cNvSpPr/>
          <p:nvPr/>
        </p:nvSpPr>
        <p:spPr>
          <a:xfrm>
            <a:off x="32918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中評価 5-7点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12件（17.6%）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26480" y="4160520"/>
            <a:ext cx="265176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4" name="Text 10"/>
          <p:cNvSpPr/>
          <p:nvPr/>
        </p:nvSpPr>
        <p:spPr>
          <a:xfrm>
            <a:off x="612648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 1-4点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4066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1件（1.5%）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7" name="Text 13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強み分析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 Analysis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58件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駅近・交通利便性に関する好評価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「美味しく　駅が近い    対応が　気持ちよく　親切」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37件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部屋・設備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客室の快適性・設備の充実度への好評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「部屋は快適で、東京のホテルとしては平均よりも広い。」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Shape 19"/>
          <p:cNvSpPr/>
          <p:nvPr/>
        </p:nvSpPr>
        <p:spPr>
          <a:xfrm>
            <a:off x="795528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25件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6364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清潔感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6364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客室・共用部の清潔さへの高評価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6364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「とても清潔感がありました 最寄り駅からすぐで、目の前にシ」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Shape 26"/>
          <p:cNvSpPr/>
          <p:nvPr/>
        </p:nvSpPr>
        <p:spPr>
          <a:xfrm>
            <a:off x="228600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9" name="Text 27"/>
          <p:cNvSpPr/>
          <p:nvPr/>
        </p:nvSpPr>
        <p:spPr>
          <a:xfrm>
            <a:off x="228600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22件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スタッフ対応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フロントスタッフの丁寧な対応への好評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「い    対応が　気持ちよく　親切」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9184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5" name="Shape 33"/>
          <p:cNvSpPr/>
          <p:nvPr/>
        </p:nvSpPr>
        <p:spPr>
          <a:xfrm>
            <a:off x="512064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6" name="Text 34"/>
          <p:cNvSpPr/>
          <p:nvPr/>
        </p:nvSpPr>
        <p:spPr>
          <a:xfrm>
            <a:off x="512064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21件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42900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コスパ・リピート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42900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価格対価値の高さとリピート意向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42900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「ゾナブルでコスパは高いです。出張で寝るだけと考えるとかなりお」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2648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2648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Shape 40"/>
          <p:cNvSpPr/>
          <p:nvPr/>
        </p:nvSpPr>
        <p:spPr>
          <a:xfrm>
            <a:off x="795528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3" name="Text 41"/>
          <p:cNvSpPr/>
          <p:nvPr/>
        </p:nvSpPr>
        <p:spPr>
          <a:xfrm>
            <a:off x="795528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8件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6364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26364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朝食の品質・バリエーションへの高評価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6364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「朝食が美味しく　駅が近い    対応が　気持ちよく」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弱み分析・優先度マトリクス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 Analysis &amp; Priority Matrix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"/>
        </p:xfrm>
        <a:graphic>
          <a:graphicData uri="http://schemas.openxmlformats.org/drawingml/2006/table">
            <a:tbl>
              <a:tblPr/>
              <a:tblGrid>
                <a:gridCol w="731520"/>
                <a:gridCol w="1828800"/>
                <a:gridCol w="457200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優先度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課題カテゴリ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具体的内容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朝食品質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駐車場有だったが、大きく高さの有る車は入らない  朝ごはん、トースターが付いてた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駐車場・立地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駐車場有だったが、大きく高さの有る車は入らない  朝ごはん、トースターが付いてた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口コミ返信率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口コミへの返信対応を強化する余地あり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サービス改善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継続的なサービス品質向上が必要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設備メンテナンス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定期的なメンテナンス体制の整備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最優先   </a:t>
            </a:r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高優先   </a:t>
            </a:r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中優先   </a:t>
            </a:r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低優先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1：即座対応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Actions (Today ~ 1 Month)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投資不要・オペレーション改善で対応可能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 朝食品質の即時改善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朝食メニューへのフィードバック収集と改善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食材品質の見直しと産地表示の充実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混雑緩和のための時間帯分散対策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朝食スタッフへのホスピタリティ研修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3444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 口コミ返信率100%の実現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全OTAサイトの口コミへの返信ルール策定（48時間以内）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ネガティブ口コミへの丁寧な対応テンプレート作成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フロントマネージャーによる週次口コミモニタリング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2・3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 &amp; Mid-term Actions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3977640" cy="36576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2：短期施策（1〜3ヶ月）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朝食体験の抜本的改善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7190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メニュー拡充と季節限定品の導入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朝食会場レイアウト改善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地産地消食材の導入による差別化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OTA評価スコア向上施策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761488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高評価レビュー投稿の依頼タイミング最適化（チェックアウト時）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満足度の高い宿泊者へのフォローアップメール送信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じゃらん・楽天の評価向上に向けた特典プログラム検討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100584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005840"/>
            <a:ext cx="3977640" cy="3657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3：中期施策（3〜6ヶ月）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「立地・アクセス」の競争優位性強化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92040" y="17190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立地・アクセスを訴求したブランディング戦略の策定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SNS・口コミサイトでの強み積極的発信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旅行代理店・法人営業への強み訴求資料作成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9204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客室リノベーション計画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2761488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客室設備の全面的な見直しと更新計画策定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最新のスマートホテル機能の導入検討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環境に配慮したサステナブル客室改装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デジタル接客・サービス高度化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380390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AIチャットボットによる24時間問合せ対応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モバイルチェックイン/アウトシステムの導入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顧客データ分析によるパーソナライズサービスの実現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KPI目標設定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2011680"/>
                <a:gridCol w="1828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KPI項目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現状値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目標値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期限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全体平均(10pt換算)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8.43点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8.7点以上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高評価率（8-10点）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80.9%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86%以上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低評価率（1-4点）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0.5%以下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口コミ返信率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未計測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100%（48h以内）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2026年7月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Trip.com評価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9.30/10点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9.5/10点以上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じゃらん評価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4.36/5点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4.6/5点以上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8862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3886200"/>
            <a:ext cx="54864" cy="64008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886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モニタリング方針：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月次でOTA評価スコアを確認し、朝食品質改善の進捗をトラッキングします。四半期ごとに目標値を見直し、継続的な改善サイクルを確立してください。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3556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総括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256032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ハートンホテル東品川の2025年12月〜2026年4月口コミ分析（68件）では、総合評価8.43点（10pt換算）、高評価率80.9%という結果が得られました。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「立地・アクセス」が最大の強みとして確認され、本レポートの3フェーズ改善施策の実施により、さらなる評価向上が期待されます。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6ヶ月以内に全体平均8.7点以上、高評価率86%以上を目指し、継続的な改善サイクルを確立することを推奨します。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プライムチェンジは引き続き改善施策の実施をサポートいたします。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4114800"/>
            <a:ext cx="1828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ご清聴ありがとうございました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ハートンホテル東品川 口コミ分析改善レポート</dc:title>
  <dc:subject>PptxGenJS Presentation</dc:subject>
  <dc:creator>Hotel Consulting</dc:creator>
  <cp:lastModifiedBy>Hotel Consulting</cp:lastModifiedBy>
  <cp:revision>1</cp:revision>
  <dcterms:created xsi:type="dcterms:W3CDTF">2026-04-12T23:43:31Z</dcterms:created>
  <dcterms:modified xsi:type="dcterms:W3CDTF">2026-04-12T23:43:31Z</dcterms:modified>
</cp:coreProperties>
</file>