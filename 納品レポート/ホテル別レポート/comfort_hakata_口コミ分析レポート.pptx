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Sheet1!$A$2:$A$6</c:f>
              <c:multiLvlStrCache>
                <c:ptCount val="5"/>
                <c:lvl>
                  <c:pt idx="0">
                    <c:v>Trip.com</c:v>
                  </c:pt>
                  <c:pt idx="1">
                    <c:v>Google</c:v>
                  </c:pt>
                  <c:pt idx="2">
                    <c:v>Booking.com</c:v>
                  </c:pt>
                  <c:pt idx="3">
                    <c:v>じゃらん</c:v>
                  </c:pt>
                  <c:pt idx="4">
                    <c:v>楽天トラベル</c:v>
                  </c:pt>
                </c:lvl>
              </c:multiLvlStrCache>
            </c:multiLvlStrRef>
          </c:cat>
          <c:val>
            <c:numRef>
              <c:f>Sheet1!$B$2:$B$6</c:f>
              <c:numCache>
                <c:formatCode>General</c:formatCode>
                <c:ptCount val="5"/>
                <c:pt idx="0">
                  <c:v>9.02</c:v>
                </c:pt>
                <c:pt idx="1">
                  <c:v>7.31</c:v>
                </c:pt>
                <c:pt idx="2">
                  <c:v>7.08</c:v>
                </c:pt>
                <c:pt idx="3">
                  <c:v>7</c:v>
                </c:pt>
                <c:pt idx="4">
                  <c:v>6.57</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94</c:v>
                </c:pt>
                <c:pt idx="1">
                  <c:v>30</c:v>
                </c:pt>
                <c:pt idx="2">
                  <c:v>15</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dPt>
            <c:idx val="9"/>
            <c:invertIfNegative val="0"/>
            <c:bubble3D val="0"/>
            <c:spPr>
              <a:solidFill>
                <a:srgbClr val="DC2626"/>
              </a:solidFill>
              <a:effectLst/>
            </c:spPr>
          </c:dPt>
          <c:cat>
            <c:multiLvlStrRef>
              <c:f>Sheet1!$A$2:$A$11</c:f>
              <c:multiLvlStrCache>
                <c:ptCount val="10"/>
                <c:lvl>
                  <c:pt idx="0">
                    <c:v>10点</c:v>
                  </c:pt>
                  <c:pt idx="1">
                    <c:v>9点</c:v>
                  </c:pt>
                  <c:pt idx="2">
                    <c:v>8点</c:v>
                  </c:pt>
                  <c:pt idx="3">
                    <c:v>7点</c:v>
                  </c:pt>
                  <c:pt idx="4">
                    <c:v>6点</c:v>
                  </c:pt>
                  <c:pt idx="5">
                    <c:v>5点</c:v>
                  </c:pt>
                  <c:pt idx="6">
                    <c:v>4点</c:v>
                  </c:pt>
                  <c:pt idx="7">
                    <c:v>3点</c:v>
                  </c:pt>
                  <c:pt idx="8">
                    <c:v>2点</c:v>
                  </c:pt>
                  <c:pt idx="9">
                    <c:v>1点</c:v>
                  </c:pt>
                </c:lvl>
              </c:multiLvlStrCache>
            </c:multiLvlStrRef>
          </c:cat>
          <c:val>
            <c:numRef>
              <c:f>Sheet1!$B$2:$B$11</c:f>
              <c:numCache>
                <c:formatCode>General</c:formatCode>
                <c:ptCount val="10"/>
                <c:pt idx="0">
                  <c:v>42</c:v>
                </c:pt>
                <c:pt idx="1">
                  <c:v>15</c:v>
                </c:pt>
                <c:pt idx="2">
                  <c:v>37</c:v>
                </c:pt>
                <c:pt idx="3">
                  <c:v>8</c:v>
                </c:pt>
                <c:pt idx="4">
                  <c:v>21</c:v>
                </c:pt>
                <c:pt idx="5">
                  <c:v>1</c:v>
                </c:pt>
                <c:pt idx="6">
                  <c:v>9</c:v>
                </c:pt>
                <c:pt idx="7">
                  <c:v>3</c:v>
                </c:pt>
                <c:pt idx="8">
                  <c:v>2</c:v>
                </c:pt>
                <c:pt idx="9">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コンフォートホテル博多</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レビュー総数：139件（5サイト）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作成日：2026年3月26日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7.83</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67.6%</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10.8%</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139件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バス、地下鉄、電車のアクセシビリティに優れ、場所は本当に良いです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特に無料の朝食のおかげで、朝から移動するのに最適です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スタッフ：親切で対応が良い</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名古屋のホテルより古いですが、手入れが行き届いていて、清潔です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バス、地下鉄、電車のアクセシビリティに優れ、場所は本当に良いです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(6:30am - 9:30am)  Convenience:  Self-service laundry (14...</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7.83</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67.6%</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10.8%</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139件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Trip.com(9.02)が最高スコア。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楽天トラベル(6.6)が相対的に低い。口コミ返信の強化が急務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9.02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9.02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3.66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7.31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7.08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7.08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94件（67.6%）</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30件（21.6%）</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15件（10.8%）</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バス、地下鉄、電車のアクセシビリティに優れ、場所は本当に良いです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「立地：福岡空港から30分、博多駅、地下鉄、バスターミナルからすぐ、セブンイレブンとスターバックスの隣という最高の拠点」</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特に無料の朝食のおかげで、朝から移動するのに最適です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「ボリュームたっぷりのおいしい朝食が含まれています」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スタッフ：親切で対応が良い</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「何よりもスタッフの方が本当にとてもフレンドリーで宿泊している間、気持ちがとても良かったです」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評価は低いですが、名古屋にあるこのチェーンのホテルでの快適な滞在と同じような体験ができました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「設備は古いが清潔であった」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名古屋のホテルより古いですが、手入れが行き届いていて、清潔です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「清潔さは十分にきれいだと思います」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立地：福岡空港から30分、博多駅、地下鉄、バスターミナルからすぐ、セブンイレブンとスターバックスの隣という最高の拠点</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「地點吸引，係正博多站對面，購物同食野都方便 立地は魅力的で、正広駅の真向かいに位置しているため、買い物や食事に便利です」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名古屋のホテルより古いですが、手入れが行き届いていて、清潔です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バス、地下鉄、電車のアクセシビリティに優れ、場所は本当に良いです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(6:30am - 9:30am)  Convenience:  Self-service laundry (14...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그래서 청결부분에서 좀안좋았던거같아요 서비스는좋앗습니다 日本は狭いですが、キャリアを広げると座る場所がなく、...</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客室品質: 11階 1128号室 清潔な客室で、防音性が高く、シャワーとビデの両方に信頼できるヒーターが付いています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그래서 청결부분에서 좀안좋았던거같아요 서비스는좋앗습니다 日本は狭いですが、キャリアを広げると座る場所がなく、...</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朝食無料提供でルームコンディション大丈夫だったし、道路の辺りで夜に車音など若干の騒音があったのですが窓からは博多駅...</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風呂、トイレが少し汚く、生乾きの匂いがするのが残念 又、手元のライトが壊れててつかなかった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朝食はほぼ毎日同じです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7.83点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67.6%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78%以上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10.8%</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楽天トラベル平均評価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6.6点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7.6点以上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設備の老朽化クレーム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約22件/期間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11件以下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コンフォートホテル博多 口コミ分析改善レポート</dc:title>
  <dc:subject>PptxGenJS Presentation</dc:subject>
  <dc:creator>Hotel Consulting</dc:creator>
  <cp:lastModifiedBy>Hotel Consulting</cp:lastModifiedBy>
  <cp:revision>1</cp:revision>
  <dcterms:created xsi:type="dcterms:W3CDTF">2026-03-25T22:27:26Z</dcterms:created>
  <dcterms:modified xsi:type="dcterms:W3CDTF">2026-03-25T22:27:26Z</dcterms:modified>
</cp:coreProperties>
</file>