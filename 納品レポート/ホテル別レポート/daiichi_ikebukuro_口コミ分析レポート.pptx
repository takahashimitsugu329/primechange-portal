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charts/chart1.xml" ContentType="application/vnd.openxmlformats-officedocument.drawingml.chart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charts/chart2.xml" ContentType="application/vnd.openxmlformats-officedocument.drawingml.chart+xml"/>
  <Override PartName="/ppt/charts/chart3.xml" ContentType="application/vnd.openxmlformats-officedocument.drawingml.chart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</p:sldIdLst>
  <p:notesMasterIdLst>
    <p:notesMasterId r:id="rId12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notesMaster" Target="notesMasters/notesMaster1.xml"/><Relationship Id="rId13" Type="http://schemas.openxmlformats.org/officeDocument/2006/relationships/presProps" Target="presProps.xml"/><Relationship Id="rId14" Type="http://schemas.openxmlformats.org/officeDocument/2006/relationships/viewProps" Target="viewProps.xml"/><Relationship Id="rId15" Type="http://schemas.openxmlformats.org/officeDocument/2006/relationships/theme" Target="theme/theme1.xml"/><Relationship Id="rId16" Type="http://schemas.openxmlformats.org/officeDocument/2006/relationships/tableStyles" Target="tableStyles.xml"/></Relationships>
</file>

<file path=ppt/charts/_rels/chart1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1.xlsx"/></Relationships>
</file>

<file path=ppt/charts/_rels/chart2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2.xlsx"/></Relationships>
</file>

<file path=ppt/charts/_rels/chart3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3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bar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10pt換算平均</c:v>
                </c:pt>
              </c:strCache>
            </c:strRef>
          </c:tx>
          <c:spPr>
            <a:solidFill>
              <a:srgbClr val="3B7DD8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334155"/>
                    </a:solidFill>
                    <a:latin typeface="Arial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Sheet1!$A$2:$A$6</c:f>
              <c:multiLvlStrCache>
                <c:ptCount val="5"/>
                <c:lvl>
                  <c:pt idx="0">
                    <c:v>楽天トラベル</c:v>
                  </c:pt>
                  <c:pt idx="1">
                    <c:v>Trip.com</c:v>
                  </c:pt>
                  <c:pt idx="2">
                    <c:v>Google</c:v>
                  </c:pt>
                  <c:pt idx="3">
                    <c:v>Booking.com</c:v>
                  </c:pt>
                  <c:pt idx="4">
                    <c:v>Agoda</c:v>
                  </c:pt>
                </c:lvl>
              </c:multiLvlStrCache>
            </c:multiLvlStrRef>
          </c:cat>
          <c:val>
            <c:numRef>
              <c:f>Sheet1!$B$2:$B$6</c:f>
              <c:numCache>
                <c:formatCode>General</c:formatCode>
                <c:ptCount val="5"/>
                <c:pt idx="0">
                  <c:v>10</c:v>
                </c:pt>
                <c:pt idx="1">
                  <c:v>9.72</c:v>
                </c:pt>
                <c:pt idx="2">
                  <c:v>9.38</c:v>
                </c:pt>
                <c:pt idx="3">
                  <c:v>9.21</c:v>
                </c:pt>
                <c:pt idx="4">
                  <c:v>4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b="0" i="0" strike="noStrike" sz="1200" u="none">
                  <a:solidFill>
                    <a:srgbClr val="334155"/>
                  </a:solidFill>
                  <a:latin typeface="Arial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15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l"/>
        <c:numFmt formatCode="General" sourceLinked="1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000" b="0" i="0" u="none" strike="noStrike">
                <a:solidFill>
                  <a:srgbClr val="334155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10"/>
        </c:scaling>
        <c:delete val="0"/>
        <c:axPos val="b"/>
        <c:majorGridlines>
          <c:spPr>
            <a:ln w="6350" cap="flat">
              <a:solidFill>
                <a:srgbClr val="E2E8F0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900" b="0" i="0" u="none" strike="noStrike">
                <a:solidFill>
                  <a:srgbClr val="64748B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</c:chart>
  <c:spPr>
    <a:solidFill>
      <a:srgbClr val="FFFFFF"/>
    </a:solidFill>
    <a:ln>
      <a:noFill/>
    </a:ln>
    <a:effectLst/>
  </c:spPr>
  <c:externalData r:id="rId1">
    <c:autoUpdate val="0"/>
  </c:externalData>
</c:chartSpace>
</file>

<file path=ppt/charts/chart2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doughnutChart>
        <c:varyColors val="1"/>
        <c:ser>
          <c:idx val="0"/>
          <c:order val="0"/>
          <c:tx>
            <c:strRef>
              <c:f>Sheet1!$B$1</c:f>
              <c:strCache>
                <c:ptCount val="1"/>
                <c:pt idx="0">
                  <c:v>評価分布（10pt換算）</c:v>
                </c:pt>
              </c:strCache>
            </c:strRef>
          </c:tx>
          <c:spPr>
            <a:solidFill>
              <a:schemeClr val="accent1"/>
            </a:solidFill>
            <a:ln w="9525" cap="flat">
              <a:solidFill>
                <a:srgbClr val="F9F9F9"/>
              </a:solidFill>
              <a:prstDash val="solid"/>
              <a:round/>
            </a:ln>
            <a:effectLst/>
          </c:spPr>
          <c:dPt>
            <c:idx val="0"/>
            <c:bubble3D val="0"/>
            <c:spPr>
              <a:solidFill>
                <a:srgbClr val="16A34A"/>
              </a:solidFill>
              <a:effectLst/>
            </c:spPr>
          </c:dPt>
          <c:dPt>
            <c:idx val="1"/>
            <c:bubble3D val="0"/>
            <c:spPr>
              <a:solidFill>
                <a:srgbClr val="D4A843"/>
              </a:solidFill>
              <a:effectLst/>
            </c:spPr>
          </c:dPt>
          <c:dPt>
            <c:idx val="2"/>
            <c:bubble3D val="0"/>
            <c:spPr>
              <a:solidFill>
                <a:srgbClr val="DC2626"/>
              </a:solidFill>
              <a:effectLst/>
            </c:spPr>
          </c:dPt>
          <c:dLbls>
            <c:dLbl>
              <c:idx val="0"/>
              <c:numFmt formatCode="0%" sourceLinked="0"/>
              <c:spPr/>
              <c:txPr>
                <a:bodyPr/>
                <a:lstStyle/>
                <a:p>
                  <a:pPr>
                    <a:defRPr sz="1100" b="0" i="0" u="none" strike="noStrike">
                      <a:solidFill>
                        <a:srgbClr val="FFFFFF"/>
                      </a:solidFill>
                      <a:latin typeface="Arial"/>
                    </a:defRPr>
                  </a:pPr>
                </a:p>
              </c:txPr>
              <c:showLegendKey val="0"/>
              <c:showVal val="0"/>
              <c:showCatName val="0"/>
              <c:showSerName val="0"/>
              <c:showPercent val="1"/>
              <c:showBubbleSize val="0"/>
            </c:dLbl>
            <c:dLbl>
              <c:idx val="1"/>
              <c:numFmt formatCode="0%" sourceLinked="0"/>
              <c:spPr/>
              <c:txPr>
                <a:bodyPr/>
                <a:lstStyle/>
                <a:p>
                  <a:pPr>
                    <a:defRPr sz="1100" b="0" i="0" u="none" strike="noStrike">
                      <a:solidFill>
                        <a:srgbClr val="FFFFFF"/>
                      </a:solidFill>
                      <a:latin typeface="Arial"/>
                    </a:defRPr>
                  </a:pPr>
                </a:p>
              </c:txPr>
              <c:showLegendKey val="0"/>
              <c:showVal val="0"/>
              <c:showCatName val="0"/>
              <c:showSerName val="0"/>
              <c:showPercent val="1"/>
              <c:showBubbleSize val="0"/>
            </c:dLbl>
            <c:dLbl>
              <c:idx val="2"/>
              <c:numFmt formatCode="0%" sourceLinked="0"/>
              <c:spPr/>
              <c:txPr>
                <a:bodyPr/>
                <a:lstStyle/>
                <a:p>
                  <a:pPr>
                    <a:defRPr sz="1100" b="0" i="0" u="none" strike="noStrike">
                      <a:solidFill>
                        <a:srgbClr val="FFFFFF"/>
                      </a:solidFill>
                      <a:latin typeface="Arial"/>
                    </a:defRPr>
                  </a:pPr>
                </a:p>
              </c:txPr>
              <c:showLegendKey val="0"/>
              <c:showVal val="0"/>
              <c:showCatName val="0"/>
              <c:showSerName val="0"/>
              <c:showPercent val="1"/>
              <c:showBubbleSize val="0"/>
            </c:dLbl>
            <c:numFmt formatCode="0%" sourceLinked="0"/>
            <c:txPr>
              <a:bodyPr/>
              <a:lstStyle/>
              <a:p>
                <a:pPr>
                  <a:defRPr sz="1800" b="0" i="0" u="none" strike="noStrik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1"/>
            <c:showSerName val="0"/>
            <c:showPercent val="1"/>
            <c:showBubbleSize val="0"/>
            <c:showLeaderLines val="0"/>
          </c:dLbls>
          <c:cat>
            <c:strRef>
              <c:f>Sheet1!$A$2:$A$4</c:f>
              <c:strCache>
                <c:ptCount val="3"/>
                <c:pt idx="0">
                  <c:v>高評価(8-10)</c:v>
                </c:pt>
                <c:pt idx="1">
                  <c:v>中評価(5-7)</c:v>
                </c:pt>
                <c:pt idx="2">
                  <c:v>低評価(1-4)</c:v>
                </c:pt>
              </c:strCache>
            </c:strRef>
          </c:cat>
          <c:val>
            <c:numRef>
              <c:f>Sheet1!$B$2:$B$4</c:f>
              <c:numCache>
                <c:ptCount val="3"/>
                <c:pt idx="0">
                  <c:v>74</c:v>
                </c:pt>
                <c:pt idx="1">
                  <c:v>3</c:v>
                </c:pt>
                <c:pt idx="2">
                  <c:v>2</c:v>
                </c:pt>
              </c:numCache>
            </c:numRef>
          </c:val>
        </c:ser>
        <c:firstSliceAng val="0"/>
        <c:holeSize val="50"/>
      </c:doughnutChart>
      <c:spPr>
        <a:noFill/>
        <a:ln>
          <a:noFill/>
        </a:ln>
        <a:effectLst/>
      </c:spPr>
    </c:plotArea>
    <c:legend>
      <c:legendPos val="b"/>
      <c:overlay val="0"/>
      <c:txPr>
        <a:bodyPr/>
        <a:lstStyle/>
        <a:p>
          <a:pPr>
            <a:defRPr sz="900">
              <a:solidFill>
                <a:srgbClr val="64748B"/>
              </a:solidFill>
            </a:defRPr>
          </a:pPr>
          <a:endParaRPr lang="en-US"/>
        </a:p>
      </c:txPr>
    </c:legend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3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件数</c:v>
                </c:pt>
              </c:strCache>
            </c:strRef>
          </c:tx>
          <c:spPr>
            <a:solidFill>
              <a:srgbClr val="16A34A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900" u="none">
                    <a:solidFill>
                      <a:srgbClr val="334155"/>
                    </a:solidFill>
                    <a:latin typeface="Arial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dPt>
            <c:idx val="0"/>
            <c:invertIfNegative val="0"/>
            <c:bubble3D val="0"/>
            <c:spPr>
              <a:solidFill>
                <a:srgbClr val="16A34A"/>
              </a:solidFill>
              <a:effectLst/>
            </c:spPr>
          </c:dPt>
          <c:dPt>
            <c:idx val="1"/>
            <c:invertIfNegative val="0"/>
            <c:bubble3D val="0"/>
            <c:spPr>
              <a:solidFill>
                <a:srgbClr val="16A34A"/>
              </a:solidFill>
              <a:effectLst/>
            </c:spPr>
          </c:dPt>
          <c:dPt>
            <c:idx val="2"/>
            <c:invertIfNegative val="0"/>
            <c:bubble3D val="0"/>
            <c:spPr>
              <a:solidFill>
                <a:srgbClr val="16A34A"/>
              </a:solidFill>
              <a:effectLst/>
            </c:spPr>
          </c:dPt>
          <c:dPt>
            <c:idx val="3"/>
            <c:invertIfNegative val="0"/>
            <c:bubble3D val="0"/>
            <c:spPr>
              <a:solidFill>
                <a:srgbClr val="D4A843"/>
              </a:solidFill>
              <a:effectLst/>
            </c:spPr>
          </c:dPt>
          <c:dPt>
            <c:idx val="4"/>
            <c:invertIfNegative val="0"/>
            <c:bubble3D val="0"/>
            <c:spPr>
              <a:solidFill>
                <a:srgbClr val="D4A843"/>
              </a:solidFill>
              <a:effectLst/>
            </c:spPr>
          </c:dPt>
          <c:dPt>
            <c:idx val="5"/>
            <c:invertIfNegative val="0"/>
            <c:bubble3D val="0"/>
            <c:spPr>
              <a:solidFill>
                <a:srgbClr val="DC2626"/>
              </a:solidFill>
              <a:effectLst/>
            </c:spPr>
          </c:dPt>
          <c:cat>
            <c:multiLvlStrRef>
              <c:f>Sheet1!$A$2:$A$7</c:f>
              <c:multiLvlStrCache>
                <c:ptCount val="6"/>
                <c:lvl>
                  <c:pt idx="0">
                    <c:v>10点</c:v>
                  </c:pt>
                  <c:pt idx="1">
                    <c:v>9点</c:v>
                  </c:pt>
                  <c:pt idx="2">
                    <c:v>8点</c:v>
                  </c:pt>
                  <c:pt idx="3">
                    <c:v>7点</c:v>
                  </c:pt>
                  <c:pt idx="4">
                    <c:v>6点</c:v>
                  </c:pt>
                  <c:pt idx="5">
                    <c:v>4点</c:v>
                  </c:pt>
                </c:lvl>
              </c:multiLvlStrCache>
            </c:multiLvlStrRef>
          </c:cat>
          <c:val>
            <c:numRef>
              <c:f>Sheet1!$B$2:$B$7</c:f>
              <c:numCache>
                <c:formatCode>General</c:formatCode>
                <c:ptCount val="6"/>
                <c:pt idx="0">
                  <c:v>59</c:v>
                </c:pt>
                <c:pt idx="1">
                  <c:v>12</c:v>
                </c:pt>
                <c:pt idx="2">
                  <c:v>3</c:v>
                </c:pt>
                <c:pt idx="3">
                  <c:v>2</c:v>
                </c:pt>
                <c:pt idx="4">
                  <c:v>1</c:v>
                </c:pt>
                <c:pt idx="5">
                  <c:v>2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b="0" i="0" strike="noStrike" sz="900" u="none">
                  <a:solidFill>
                    <a:srgbClr val="334155"/>
                  </a:solidFill>
                  <a:latin typeface="Arial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15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900" b="0" i="0" u="none" strike="noStrike">
                <a:solidFill>
                  <a:srgbClr val="334155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</c:scaling>
        <c:delete val="0"/>
        <c:axPos val="l"/>
        <c:majorGridlines>
          <c:spPr>
            <a:ln w="6350" cap="flat">
              <a:solidFill>
                <a:srgbClr val="E2E8F0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800" b="0" i="0" u="none" strike="noStrike">
                <a:solidFill>
                  <a:srgbClr val="64748B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</c:chart>
  <c:spPr>
    <a:solidFill>
      <a:srgbClr val="FFFFFF"/>
    </a:solidFill>
    <a:ln>
      <a:noFill/>
    </a:ln>
    <a:effectLst/>
  </c:spPr>
  <c:externalData r:id="rId1">
    <c:autoUpdate val="0"/>
  </c:externalData>
</c:chartSpace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1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2.xml"/><Relationship Id="rId2" Type="http://schemas.openxmlformats.org/officeDocument/2006/relationships/chart" Target="/ppt/charts/chart3.xml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A274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243556">
              <a:alpha val="60000"/>
            </a:srgbClr>
          </a:solidFill>
          <a:ln/>
        </p:spPr>
      </p:sp>
      <p:sp>
        <p:nvSpPr>
          <p:cNvPr id="3" name="Shape 1"/>
          <p:cNvSpPr/>
          <p:nvPr/>
        </p:nvSpPr>
        <p:spPr>
          <a:xfrm>
            <a:off x="0" y="1828800"/>
            <a:ext cx="73152" cy="1645920"/>
          </a:xfrm>
          <a:prstGeom prst="rect">
            <a:avLst/>
          </a:prstGeom>
          <a:solidFill>
            <a:srgbClr val="D4A843"/>
          </a:solidFill>
          <a:ln/>
        </p:spPr>
      </p:sp>
      <p:sp>
        <p:nvSpPr>
          <p:cNvPr id="4" name="Text 2"/>
          <p:cNvSpPr/>
          <p:nvPr/>
        </p:nvSpPr>
        <p:spPr>
          <a:xfrm>
            <a:off x="731520" y="1371600"/>
            <a:ext cx="73152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spc="600" kern="0" dirty="0">
                <a:solidFill>
                  <a:srgbClr val="5A9BE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口コミ分析</a:t>
            </a:r>
            <a:endParaRPr lang="en-US" sz="2000" dirty="0"/>
          </a:p>
        </p:txBody>
      </p:sp>
      <p:sp>
        <p:nvSpPr>
          <p:cNvPr id="5" name="Text 3"/>
          <p:cNvSpPr/>
          <p:nvPr/>
        </p:nvSpPr>
        <p:spPr>
          <a:xfrm>
            <a:off x="731520" y="1920240"/>
            <a:ext cx="73152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改善レポート</a:t>
            </a:r>
            <a:endParaRPr lang="en-US" sz="4200" dirty="0"/>
          </a:p>
        </p:txBody>
      </p:sp>
      <p:sp>
        <p:nvSpPr>
          <p:cNvPr id="6" name="Shape 4"/>
          <p:cNvSpPr/>
          <p:nvPr/>
        </p:nvSpPr>
        <p:spPr>
          <a:xfrm>
            <a:off x="731520" y="2834640"/>
            <a:ext cx="1828800" cy="0"/>
          </a:xfrm>
          <a:prstGeom prst="line">
            <a:avLst/>
          </a:prstGeom>
          <a:noFill/>
          <a:ln w="25400">
            <a:solidFill>
              <a:srgbClr val="D4A843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31520" y="3017520"/>
            <a:ext cx="7315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第一イン池袋</a:t>
            </a:r>
            <a:endParaRPr lang="en-US" sz="1600" dirty="0"/>
          </a:p>
        </p:txBody>
      </p:sp>
      <p:sp>
        <p:nvSpPr>
          <p:cNvPr id="8" name="Text 6"/>
          <p:cNvSpPr/>
          <p:nvPr/>
        </p:nvSpPr>
        <p:spPr>
          <a:xfrm>
            <a:off x="731520" y="3749040"/>
            <a:ext cx="45720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spcAft>
                <a:spcPts val="400"/>
              </a:spcAft>
              <a:buNone/>
            </a:pPr>
            <a:r>
              <a:rPr lang="en-US" sz="10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分析対象期間：2026年3月〜4月</a:t>
            </a:r>
            <a:endParaRPr lang="en-US" sz="100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0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レビュー総数：79件（5サイト）</a:t>
            </a:r>
            <a:endParaRPr lang="en-US" sz="100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0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作成日：2026年4月5日</a:t>
            </a:r>
            <a:endParaRPr lang="en-US" sz="1000" dirty="0"/>
          </a:p>
        </p:txBody>
      </p:sp>
      <p:sp>
        <p:nvSpPr>
          <p:cNvPr id="9" name="Shape 7"/>
          <p:cNvSpPr/>
          <p:nvPr/>
        </p:nvSpPr>
        <p:spPr>
          <a:xfrm>
            <a:off x="6858000" y="0"/>
            <a:ext cx="2286000" cy="5143500"/>
          </a:xfrm>
          <a:prstGeom prst="rect">
            <a:avLst/>
          </a:prstGeom>
          <a:solidFill>
            <a:srgbClr val="3B7DD8">
              <a:alpha val="15000"/>
            </a:srgbClr>
          </a:solidFill>
          <a:ln/>
        </p:spPr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5F7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77724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3" name="Text 1"/>
          <p:cNvSpPr/>
          <p:nvPr/>
        </p:nvSpPr>
        <p:spPr>
          <a:xfrm>
            <a:off x="548640" y="73152"/>
            <a:ext cx="7315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エグゼクティブサマリー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548640" y="45720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9BE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Executive Summary</a:t>
            </a:r>
            <a:endParaRPr lang="en-US" sz="1000" dirty="0"/>
          </a:p>
        </p:txBody>
      </p:sp>
      <p:sp>
        <p:nvSpPr>
          <p:cNvPr id="5" name="Shape 3"/>
          <p:cNvSpPr/>
          <p:nvPr/>
        </p:nvSpPr>
        <p:spPr>
          <a:xfrm>
            <a:off x="457200" y="1051560"/>
            <a:ext cx="1874520" cy="96012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50800" dist="25400" dir="8100000">
              <a:srgbClr val="000000">
                <a:alpha val="10000"/>
              </a:srgbClr>
            </a:outerShdw>
          </a:effectLst>
        </p:spPr>
      </p:sp>
      <p:sp>
        <p:nvSpPr>
          <p:cNvPr id="6" name="Shape 4"/>
          <p:cNvSpPr/>
          <p:nvPr/>
        </p:nvSpPr>
        <p:spPr>
          <a:xfrm>
            <a:off x="457200" y="1051560"/>
            <a:ext cx="1874520" cy="45720"/>
          </a:xfrm>
          <a:prstGeom prst="rect">
            <a:avLst/>
          </a:prstGeom>
          <a:solidFill>
            <a:srgbClr val="3B7DD8"/>
          </a:solidFill>
          <a:ln/>
        </p:spPr>
      </p:sp>
      <p:sp>
        <p:nvSpPr>
          <p:cNvPr id="7" name="Text 5"/>
          <p:cNvSpPr/>
          <p:nvPr/>
        </p:nvSpPr>
        <p:spPr>
          <a:xfrm>
            <a:off x="457200" y="1188720"/>
            <a:ext cx="1874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全体平均(10pt換算)</a:t>
            </a:r>
            <a:endParaRPr lang="en-US" sz="1000" dirty="0"/>
          </a:p>
        </p:txBody>
      </p:sp>
      <p:sp>
        <p:nvSpPr>
          <p:cNvPr id="8" name="Text 6"/>
          <p:cNvSpPr/>
          <p:nvPr/>
        </p:nvSpPr>
        <p:spPr>
          <a:xfrm>
            <a:off x="457200" y="1417320"/>
            <a:ext cx="18745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200" b="1" dirty="0">
                <a:solidFill>
                  <a:srgbClr val="3B7DD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9.49</a:t>
            </a:r>
            <a:endParaRPr lang="en-US" sz="3200" dirty="0"/>
          </a:p>
        </p:txBody>
      </p:sp>
      <p:sp>
        <p:nvSpPr>
          <p:cNvPr id="9" name="Shape 7"/>
          <p:cNvSpPr/>
          <p:nvPr/>
        </p:nvSpPr>
        <p:spPr>
          <a:xfrm>
            <a:off x="2514600" y="1051560"/>
            <a:ext cx="1874520" cy="96012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50800" dist="25400" dir="8100000">
              <a:srgbClr val="000000">
                <a:alpha val="10000"/>
              </a:srgbClr>
            </a:outerShdw>
          </a:effectLst>
        </p:spPr>
      </p:sp>
      <p:sp>
        <p:nvSpPr>
          <p:cNvPr id="10" name="Shape 8"/>
          <p:cNvSpPr/>
          <p:nvPr/>
        </p:nvSpPr>
        <p:spPr>
          <a:xfrm>
            <a:off x="2514600" y="1051560"/>
            <a:ext cx="1874520" cy="45720"/>
          </a:xfrm>
          <a:prstGeom prst="rect">
            <a:avLst/>
          </a:prstGeom>
          <a:solidFill>
            <a:srgbClr val="16A34A"/>
          </a:solidFill>
          <a:ln/>
        </p:spPr>
      </p:sp>
      <p:sp>
        <p:nvSpPr>
          <p:cNvPr id="11" name="Text 9"/>
          <p:cNvSpPr/>
          <p:nvPr/>
        </p:nvSpPr>
        <p:spPr>
          <a:xfrm>
            <a:off x="2514600" y="1188720"/>
            <a:ext cx="1874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高評価率(8-10点)</a:t>
            </a:r>
            <a:endParaRPr lang="en-US" sz="1000" dirty="0"/>
          </a:p>
        </p:txBody>
      </p:sp>
      <p:sp>
        <p:nvSpPr>
          <p:cNvPr id="12" name="Text 10"/>
          <p:cNvSpPr/>
          <p:nvPr/>
        </p:nvSpPr>
        <p:spPr>
          <a:xfrm>
            <a:off x="2514600" y="1417320"/>
            <a:ext cx="18745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200" b="1" dirty="0">
                <a:solidFill>
                  <a:srgbClr val="16A34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93.7%</a:t>
            </a:r>
            <a:endParaRPr lang="en-US" sz="3200" dirty="0"/>
          </a:p>
        </p:txBody>
      </p:sp>
      <p:sp>
        <p:nvSpPr>
          <p:cNvPr id="13" name="Shape 11"/>
          <p:cNvSpPr/>
          <p:nvPr/>
        </p:nvSpPr>
        <p:spPr>
          <a:xfrm>
            <a:off x="4572000" y="1051560"/>
            <a:ext cx="1874520" cy="96012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50800" dist="25400" dir="8100000">
              <a:srgbClr val="000000">
                <a:alpha val="10000"/>
              </a:srgbClr>
            </a:outerShdw>
          </a:effectLst>
        </p:spPr>
      </p:sp>
      <p:sp>
        <p:nvSpPr>
          <p:cNvPr id="14" name="Shape 12"/>
          <p:cNvSpPr/>
          <p:nvPr/>
        </p:nvSpPr>
        <p:spPr>
          <a:xfrm>
            <a:off x="4572000" y="1051560"/>
            <a:ext cx="1874520" cy="45720"/>
          </a:xfrm>
          <a:prstGeom prst="rect">
            <a:avLst/>
          </a:prstGeom>
          <a:solidFill>
            <a:srgbClr val="16A34A"/>
          </a:solidFill>
          <a:ln/>
        </p:spPr>
      </p:sp>
      <p:sp>
        <p:nvSpPr>
          <p:cNvPr id="15" name="Text 13"/>
          <p:cNvSpPr/>
          <p:nvPr/>
        </p:nvSpPr>
        <p:spPr>
          <a:xfrm>
            <a:off x="4572000" y="1188720"/>
            <a:ext cx="1874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低評価率(1-4点)</a:t>
            </a:r>
            <a:endParaRPr lang="en-US" sz="1000" dirty="0"/>
          </a:p>
        </p:txBody>
      </p:sp>
      <p:sp>
        <p:nvSpPr>
          <p:cNvPr id="16" name="Text 14"/>
          <p:cNvSpPr/>
          <p:nvPr/>
        </p:nvSpPr>
        <p:spPr>
          <a:xfrm>
            <a:off x="4572000" y="1417320"/>
            <a:ext cx="18745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200" b="1" dirty="0">
                <a:solidFill>
                  <a:srgbClr val="16A34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2.5%</a:t>
            </a:r>
            <a:endParaRPr lang="en-US" sz="3200" dirty="0"/>
          </a:p>
        </p:txBody>
      </p:sp>
      <p:sp>
        <p:nvSpPr>
          <p:cNvPr id="17" name="Shape 15"/>
          <p:cNvSpPr/>
          <p:nvPr/>
        </p:nvSpPr>
        <p:spPr>
          <a:xfrm>
            <a:off x="6629400" y="1051560"/>
            <a:ext cx="2057400" cy="96012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50800" dist="25400" dir="8100000">
              <a:srgbClr val="000000">
                <a:alpha val="10000"/>
              </a:srgbClr>
            </a:outerShdw>
          </a:effectLst>
        </p:spPr>
      </p:sp>
      <p:sp>
        <p:nvSpPr>
          <p:cNvPr id="18" name="Shape 16"/>
          <p:cNvSpPr/>
          <p:nvPr/>
        </p:nvSpPr>
        <p:spPr>
          <a:xfrm>
            <a:off x="6629400" y="1051560"/>
            <a:ext cx="2057400" cy="4572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19" name="Text 17"/>
          <p:cNvSpPr/>
          <p:nvPr/>
        </p:nvSpPr>
        <p:spPr>
          <a:xfrm>
            <a:off x="6629400" y="1188720"/>
            <a:ext cx="2057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レビュー総数</a:t>
            </a:r>
            <a:endParaRPr lang="en-US" sz="1000" dirty="0"/>
          </a:p>
        </p:txBody>
      </p:sp>
      <p:sp>
        <p:nvSpPr>
          <p:cNvPr id="20" name="Text 18"/>
          <p:cNvSpPr/>
          <p:nvPr/>
        </p:nvSpPr>
        <p:spPr>
          <a:xfrm>
            <a:off x="6629400" y="1417320"/>
            <a:ext cx="20574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200" b="1" dirty="0">
                <a:solidFill>
                  <a:srgbClr val="1A27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79件</a:t>
            </a:r>
            <a:endParaRPr lang="en-US" sz="3200" dirty="0"/>
          </a:p>
        </p:txBody>
      </p:sp>
      <p:sp>
        <p:nvSpPr>
          <p:cNvPr id="21" name="Shape 19"/>
          <p:cNvSpPr/>
          <p:nvPr/>
        </p:nvSpPr>
        <p:spPr>
          <a:xfrm>
            <a:off x="457200" y="2286000"/>
            <a:ext cx="3931920" cy="228600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50800" dist="25400" dir="8100000">
              <a:srgbClr val="000000">
                <a:alpha val="10000"/>
              </a:srgbClr>
            </a:outerShdw>
          </a:effectLst>
        </p:spPr>
      </p:sp>
      <p:sp>
        <p:nvSpPr>
          <p:cNvPr id="22" name="Shape 20"/>
          <p:cNvSpPr/>
          <p:nvPr/>
        </p:nvSpPr>
        <p:spPr>
          <a:xfrm>
            <a:off x="457200" y="2286000"/>
            <a:ext cx="3931920" cy="45720"/>
          </a:xfrm>
          <a:prstGeom prst="rect">
            <a:avLst/>
          </a:prstGeom>
          <a:solidFill>
            <a:srgbClr val="16A34A"/>
          </a:solidFill>
          <a:ln/>
        </p:spPr>
      </p:sp>
      <p:sp>
        <p:nvSpPr>
          <p:cNvPr id="23" name="Text 21"/>
          <p:cNvSpPr/>
          <p:nvPr/>
        </p:nvSpPr>
        <p:spPr>
          <a:xfrm>
            <a:off x="640080" y="2377440"/>
            <a:ext cx="2743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6A34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Strengths</a:t>
            </a:r>
            <a:endParaRPr lang="en-US" sz="1400" dirty="0"/>
          </a:p>
        </p:txBody>
      </p:sp>
      <p:sp>
        <p:nvSpPr>
          <p:cNvPr id="24" name="Text 22"/>
          <p:cNvSpPr/>
          <p:nvPr/>
        </p:nvSpPr>
        <p:spPr>
          <a:xfrm>
            <a:off x="640080" y="2743200"/>
            <a:ext cx="3474720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spcAft>
                <a:spcPts val="200"/>
              </a:spcAft>
              <a:buNone/>
            </a:pPr>
            <a:r>
              <a:rPr lang="en-US" sz="1100" b="1" dirty="0">
                <a:solidFill>
                  <a:srgbClr val="3341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立地・アクセス </a:t>
            </a:r>
            <a:endParaRPr lang="en-US" sz="11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立地は非常に便利で、電車や地下鉄の駅にも近いです</a:t>
            </a:r>
            <a:endParaRPr lang="en-US" sz="11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1100" b="1" dirty="0">
                <a:solidFill>
                  <a:srgbClr val="3341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スタッフの対応 </a:t>
            </a:r>
            <a:endParaRPr lang="en-US" sz="11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セルフチェックインはスムーズで、スタッフはとても丁寧です</a:t>
            </a:r>
            <a:endParaRPr lang="en-US" sz="11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1100" b="1" dirty="0">
                <a:solidFill>
                  <a:srgbClr val="3341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コンビニ・周辺施設 </a:t>
            </a:r>
            <a:endParaRPr lang="en-US" sz="11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周辺は活気があり、コンビニエンスストアも1階にあるなど、生活に必要な施設も充実しています</a:t>
            </a:r>
            <a:endParaRPr lang="en-US" sz="1100" dirty="0"/>
          </a:p>
        </p:txBody>
      </p:sp>
      <p:sp>
        <p:nvSpPr>
          <p:cNvPr id="25" name="Shape 23"/>
          <p:cNvSpPr/>
          <p:nvPr/>
        </p:nvSpPr>
        <p:spPr>
          <a:xfrm>
            <a:off x="4754880" y="2286000"/>
            <a:ext cx="3931920" cy="228600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50800" dist="25400" dir="8100000">
              <a:srgbClr val="000000">
                <a:alpha val="10000"/>
              </a:srgbClr>
            </a:outerShdw>
          </a:effectLst>
        </p:spPr>
      </p:sp>
      <p:sp>
        <p:nvSpPr>
          <p:cNvPr id="26" name="Shape 24"/>
          <p:cNvSpPr/>
          <p:nvPr/>
        </p:nvSpPr>
        <p:spPr>
          <a:xfrm>
            <a:off x="4754880" y="2286000"/>
            <a:ext cx="3931920" cy="45720"/>
          </a:xfrm>
          <a:prstGeom prst="rect">
            <a:avLst/>
          </a:prstGeom>
          <a:solidFill>
            <a:srgbClr val="DC2626"/>
          </a:solidFill>
          <a:ln/>
        </p:spPr>
      </p:sp>
      <p:sp>
        <p:nvSpPr>
          <p:cNvPr id="27" name="Text 25"/>
          <p:cNvSpPr/>
          <p:nvPr/>
        </p:nvSpPr>
        <p:spPr>
          <a:xfrm>
            <a:off x="4937760" y="2377440"/>
            <a:ext cx="2743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C262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Weaknesses</a:t>
            </a:r>
            <a:endParaRPr lang="en-US" sz="1400" dirty="0"/>
          </a:p>
        </p:txBody>
      </p:sp>
      <p:sp>
        <p:nvSpPr>
          <p:cNvPr id="28" name="Text 26"/>
          <p:cNvSpPr/>
          <p:nvPr/>
        </p:nvSpPr>
        <p:spPr>
          <a:xfrm>
            <a:off x="4937760" y="2743200"/>
            <a:ext cx="3474720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spcAft>
                <a:spcPts val="200"/>
              </a:spcAft>
              <a:buNone/>
            </a:pPr>
            <a:r>
              <a:rPr lang="en-US" sz="1100" b="1" dirty="0">
                <a:solidFill>
                  <a:srgbClr val="3341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部屋の狭さ </a:t>
            </a:r>
            <a:endParaRPr lang="en-US" sz="11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部屋は小さいですが、清潔で快適です</a:t>
            </a:r>
            <a:endParaRPr lang="en-US" sz="11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1100" b="1" dirty="0">
                <a:solidFill>
                  <a:srgbClr val="3341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エアコン・空調 </a:t>
            </a:r>
            <a:endParaRPr lang="en-US" sz="11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Is a very good location hotel, so close to shopping and d...</a:t>
            </a:r>
            <a:endParaRPr lang="en-US" sz="11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1100" b="1" dirty="0">
                <a:solidFill>
                  <a:srgbClr val="3341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浴室・水回り </a:t>
            </a:r>
            <a:endParaRPr lang="en-US" sz="11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さらに、ホテルが用意してくれたセルフサービスのバスアメニティは非常に質が高く、使用後は肌が滑らかで乾燥せず、嬉しい...</a:t>
            </a:r>
            <a:endParaRPr lang="en-US" sz="1100" dirty="0"/>
          </a:p>
        </p:txBody>
      </p:sp>
      <p:sp>
        <p:nvSpPr>
          <p:cNvPr id="29" name="Shape 27"/>
          <p:cNvSpPr/>
          <p:nvPr/>
        </p:nvSpPr>
        <p:spPr>
          <a:xfrm>
            <a:off x="0" y="4800600"/>
            <a:ext cx="9144000" cy="34290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30" name="Text 28"/>
          <p:cNvSpPr/>
          <p:nvPr/>
        </p:nvSpPr>
        <p:spPr>
          <a:xfrm>
            <a:off x="457200" y="4800600"/>
            <a:ext cx="2743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Confidential</a:t>
            </a:r>
            <a:endParaRPr lang="en-US" sz="800" dirty="0"/>
          </a:p>
        </p:txBody>
      </p:sp>
      <p:sp>
        <p:nvSpPr>
          <p:cNvPr id="31" name="Text 29"/>
          <p:cNvSpPr/>
          <p:nvPr/>
        </p:nvSpPr>
        <p:spPr>
          <a:xfrm>
            <a:off x="8229600" y="4800600"/>
            <a:ext cx="457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8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5F7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77724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3" name="Text 1"/>
          <p:cNvSpPr/>
          <p:nvPr/>
        </p:nvSpPr>
        <p:spPr>
          <a:xfrm>
            <a:off x="548640" y="73152"/>
            <a:ext cx="7315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主要KPI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548640" y="45720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9BE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Key Performance Indicators</a:t>
            </a:r>
            <a:endParaRPr lang="en-US" sz="1000" dirty="0"/>
          </a:p>
        </p:txBody>
      </p:sp>
      <p:sp>
        <p:nvSpPr>
          <p:cNvPr id="5" name="Shape 3"/>
          <p:cNvSpPr/>
          <p:nvPr/>
        </p:nvSpPr>
        <p:spPr>
          <a:xfrm>
            <a:off x="457200" y="1188720"/>
            <a:ext cx="3931920" cy="164592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50800" dist="25400" dir="8100000">
              <a:srgbClr val="000000">
                <a:alpha val="10000"/>
              </a:srgbClr>
            </a:outerShdw>
          </a:effectLst>
        </p:spPr>
      </p:sp>
      <p:sp>
        <p:nvSpPr>
          <p:cNvPr id="6" name="Shape 4"/>
          <p:cNvSpPr/>
          <p:nvPr/>
        </p:nvSpPr>
        <p:spPr>
          <a:xfrm>
            <a:off x="457200" y="1188720"/>
            <a:ext cx="3931920" cy="45720"/>
          </a:xfrm>
          <a:prstGeom prst="rect">
            <a:avLst/>
          </a:prstGeom>
          <a:solidFill>
            <a:srgbClr val="27AE60"/>
          </a:solidFill>
          <a:ln/>
        </p:spPr>
      </p:sp>
      <p:sp>
        <p:nvSpPr>
          <p:cNvPr id="7" name="Text 5"/>
          <p:cNvSpPr/>
          <p:nvPr/>
        </p:nvSpPr>
        <p:spPr>
          <a:xfrm>
            <a:off x="457200" y="1325880"/>
            <a:ext cx="3931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全体平均スコア（10点換算）</a:t>
            </a:r>
            <a:endParaRPr lang="en-US" sz="1000" dirty="0"/>
          </a:p>
        </p:txBody>
      </p:sp>
      <p:sp>
        <p:nvSpPr>
          <p:cNvPr id="8" name="Text 6"/>
          <p:cNvSpPr/>
          <p:nvPr/>
        </p:nvSpPr>
        <p:spPr>
          <a:xfrm>
            <a:off x="457200" y="1554480"/>
            <a:ext cx="3931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200" b="1" dirty="0">
                <a:solidFill>
                  <a:srgbClr val="27AE6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9.49</a:t>
            </a:r>
            <a:endParaRPr lang="en-US" sz="3200" dirty="0"/>
          </a:p>
        </p:txBody>
      </p:sp>
      <p:sp>
        <p:nvSpPr>
          <p:cNvPr id="9" name="Shape 7"/>
          <p:cNvSpPr/>
          <p:nvPr/>
        </p:nvSpPr>
        <p:spPr>
          <a:xfrm>
            <a:off x="4754880" y="1188720"/>
            <a:ext cx="3931920" cy="164592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50800" dist="25400" dir="8100000">
              <a:srgbClr val="000000">
                <a:alpha val="10000"/>
              </a:srgbClr>
            </a:outerShdw>
          </a:effectLst>
        </p:spPr>
      </p:sp>
      <p:sp>
        <p:nvSpPr>
          <p:cNvPr id="10" name="Shape 8"/>
          <p:cNvSpPr/>
          <p:nvPr/>
        </p:nvSpPr>
        <p:spPr>
          <a:xfrm>
            <a:off x="4754880" y="1188720"/>
            <a:ext cx="3931920" cy="45720"/>
          </a:xfrm>
          <a:prstGeom prst="rect">
            <a:avLst/>
          </a:prstGeom>
          <a:solidFill>
            <a:srgbClr val="16A34A"/>
          </a:solidFill>
          <a:ln/>
        </p:spPr>
      </p:sp>
      <p:sp>
        <p:nvSpPr>
          <p:cNvPr id="11" name="Text 9"/>
          <p:cNvSpPr/>
          <p:nvPr/>
        </p:nvSpPr>
        <p:spPr>
          <a:xfrm>
            <a:off x="4754880" y="1325880"/>
            <a:ext cx="3931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高評価率（8-10点）</a:t>
            </a:r>
            <a:endParaRPr lang="en-US" sz="1000" dirty="0"/>
          </a:p>
        </p:txBody>
      </p:sp>
      <p:sp>
        <p:nvSpPr>
          <p:cNvPr id="12" name="Text 10"/>
          <p:cNvSpPr/>
          <p:nvPr/>
        </p:nvSpPr>
        <p:spPr>
          <a:xfrm>
            <a:off x="4754880" y="1554480"/>
            <a:ext cx="3931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200" b="1" dirty="0">
                <a:solidFill>
                  <a:srgbClr val="16A34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93.7%</a:t>
            </a:r>
            <a:endParaRPr lang="en-US" sz="3200" dirty="0"/>
          </a:p>
        </p:txBody>
      </p:sp>
      <p:sp>
        <p:nvSpPr>
          <p:cNvPr id="13" name="Shape 11"/>
          <p:cNvSpPr/>
          <p:nvPr/>
        </p:nvSpPr>
        <p:spPr>
          <a:xfrm>
            <a:off x="457200" y="3108960"/>
            <a:ext cx="3931920" cy="137160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50800" dist="25400" dir="8100000">
              <a:srgbClr val="000000">
                <a:alpha val="10000"/>
              </a:srgbClr>
            </a:outerShdw>
          </a:effectLst>
        </p:spPr>
      </p:sp>
      <p:sp>
        <p:nvSpPr>
          <p:cNvPr id="14" name="Shape 12"/>
          <p:cNvSpPr/>
          <p:nvPr/>
        </p:nvSpPr>
        <p:spPr>
          <a:xfrm>
            <a:off x="457200" y="3108960"/>
            <a:ext cx="3931920" cy="45720"/>
          </a:xfrm>
          <a:prstGeom prst="rect">
            <a:avLst/>
          </a:prstGeom>
          <a:solidFill>
            <a:srgbClr val="16A34A"/>
          </a:solidFill>
          <a:ln/>
        </p:spPr>
      </p:sp>
      <p:sp>
        <p:nvSpPr>
          <p:cNvPr id="15" name="Text 13"/>
          <p:cNvSpPr/>
          <p:nvPr/>
        </p:nvSpPr>
        <p:spPr>
          <a:xfrm>
            <a:off x="457200" y="3246120"/>
            <a:ext cx="3931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低評価率（1-4点）</a:t>
            </a:r>
            <a:endParaRPr lang="en-US" sz="1000" dirty="0"/>
          </a:p>
        </p:txBody>
      </p:sp>
      <p:sp>
        <p:nvSpPr>
          <p:cNvPr id="16" name="Text 14"/>
          <p:cNvSpPr/>
          <p:nvPr/>
        </p:nvSpPr>
        <p:spPr>
          <a:xfrm>
            <a:off x="457200" y="3474720"/>
            <a:ext cx="3931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200" b="1" dirty="0">
                <a:solidFill>
                  <a:srgbClr val="16A34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2.5%</a:t>
            </a:r>
            <a:endParaRPr lang="en-US" sz="3200" dirty="0"/>
          </a:p>
        </p:txBody>
      </p:sp>
      <p:sp>
        <p:nvSpPr>
          <p:cNvPr id="17" name="Shape 15"/>
          <p:cNvSpPr/>
          <p:nvPr/>
        </p:nvSpPr>
        <p:spPr>
          <a:xfrm>
            <a:off x="4754880" y="3108960"/>
            <a:ext cx="3931920" cy="137160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50800" dist="25400" dir="8100000">
              <a:srgbClr val="000000">
                <a:alpha val="10000"/>
              </a:srgbClr>
            </a:outerShdw>
          </a:effectLst>
        </p:spPr>
      </p:sp>
      <p:sp>
        <p:nvSpPr>
          <p:cNvPr id="18" name="Shape 16"/>
          <p:cNvSpPr/>
          <p:nvPr/>
        </p:nvSpPr>
        <p:spPr>
          <a:xfrm>
            <a:off x="4754880" y="3108960"/>
            <a:ext cx="3931920" cy="4572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19" name="Text 17"/>
          <p:cNvSpPr/>
          <p:nvPr/>
        </p:nvSpPr>
        <p:spPr>
          <a:xfrm>
            <a:off x="4754880" y="3246120"/>
            <a:ext cx="3931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レビュー総数</a:t>
            </a:r>
            <a:endParaRPr lang="en-US" sz="1000" dirty="0"/>
          </a:p>
        </p:txBody>
      </p:sp>
      <p:sp>
        <p:nvSpPr>
          <p:cNvPr id="20" name="Text 18"/>
          <p:cNvSpPr/>
          <p:nvPr/>
        </p:nvSpPr>
        <p:spPr>
          <a:xfrm>
            <a:off x="4754880" y="3474720"/>
            <a:ext cx="3931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200" b="1" dirty="0">
                <a:solidFill>
                  <a:srgbClr val="1A27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79件</a:t>
            </a:r>
            <a:endParaRPr lang="en-US" sz="3200" dirty="0"/>
          </a:p>
        </p:txBody>
      </p:sp>
      <p:sp>
        <p:nvSpPr>
          <p:cNvPr id="21" name="Shape 19"/>
          <p:cNvSpPr/>
          <p:nvPr/>
        </p:nvSpPr>
        <p:spPr>
          <a:xfrm>
            <a:off x="0" y="4800600"/>
            <a:ext cx="9144000" cy="34290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22" name="Text 20"/>
          <p:cNvSpPr/>
          <p:nvPr/>
        </p:nvSpPr>
        <p:spPr>
          <a:xfrm>
            <a:off x="457200" y="4800600"/>
            <a:ext cx="2743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Confidential</a:t>
            </a:r>
            <a:endParaRPr lang="en-US" sz="800" dirty="0"/>
          </a:p>
        </p:txBody>
      </p:sp>
      <p:sp>
        <p:nvSpPr>
          <p:cNvPr id="23" name="Text 21"/>
          <p:cNvSpPr/>
          <p:nvPr/>
        </p:nvSpPr>
        <p:spPr>
          <a:xfrm>
            <a:off x="8229600" y="4800600"/>
            <a:ext cx="457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8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5F7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77724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3" name="Text 1"/>
          <p:cNvSpPr/>
          <p:nvPr/>
        </p:nvSpPr>
        <p:spPr>
          <a:xfrm>
            <a:off x="548640" y="73152"/>
            <a:ext cx="7315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サイト別評価分析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548640" y="45720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9BE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Rating Analysis by Platform</a:t>
            </a:r>
            <a:endParaRPr lang="en-US" sz="1000" dirty="0"/>
          </a:p>
        </p:txBody>
      </p:sp>
      <p:graphicFrame>
        <p:nvGraphicFramePr>
          <p:cNvPr id="5" name="Chart 0" descr=""/>
          <p:cNvGraphicFramePr/>
          <p:nvPr/>
        </p:nvGraphicFramePr>
        <p:xfrm>
          <a:off x="457200" y="1005840"/>
          <a:ext cx="5029200" cy="320040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6" name="Shape 3"/>
          <p:cNvSpPr/>
          <p:nvPr/>
        </p:nvSpPr>
        <p:spPr>
          <a:xfrm>
            <a:off x="5760720" y="1005840"/>
            <a:ext cx="3017520" cy="320040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50800" dist="25400" dir="8100000">
              <a:srgbClr val="000000">
                <a:alpha val="10000"/>
              </a:srgbClr>
            </a:outerShdw>
          </a:effectLst>
        </p:spPr>
      </p:sp>
      <p:sp>
        <p:nvSpPr>
          <p:cNvPr id="7" name="Shape 4"/>
          <p:cNvSpPr/>
          <p:nvPr/>
        </p:nvSpPr>
        <p:spPr>
          <a:xfrm>
            <a:off x="5760720" y="1005840"/>
            <a:ext cx="3017520" cy="45720"/>
          </a:xfrm>
          <a:prstGeom prst="rect">
            <a:avLst/>
          </a:prstGeom>
          <a:solidFill>
            <a:srgbClr val="D4A843"/>
          </a:solidFill>
          <a:ln/>
        </p:spPr>
      </p:sp>
      <p:sp>
        <p:nvSpPr>
          <p:cNvPr id="8" name="Text 5"/>
          <p:cNvSpPr/>
          <p:nvPr/>
        </p:nvSpPr>
        <p:spPr>
          <a:xfrm>
            <a:off x="5943600" y="1097280"/>
            <a:ext cx="1828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84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Insight</a:t>
            </a:r>
            <a:endParaRPr lang="en-US" sz="1300" dirty="0"/>
          </a:p>
        </p:txBody>
      </p:sp>
      <p:sp>
        <p:nvSpPr>
          <p:cNvPr id="9" name="Text 6"/>
          <p:cNvSpPr/>
          <p:nvPr/>
        </p:nvSpPr>
        <p:spPr>
          <a:xfrm>
            <a:off x="5943600" y="1417320"/>
            <a:ext cx="2651760" cy="2651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spcAft>
                <a:spcPts val="200"/>
              </a:spcAft>
              <a:buNone/>
            </a:pPr>
            <a:r>
              <a:rPr lang="en-US" sz="1200" b="1" dirty="0">
                <a:solidFill>
                  <a:srgbClr val="3341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サイト別評価の傾向</a:t>
            </a:r>
            <a:endParaRPr lang="en-US" sz="1100" dirty="0"/>
          </a:p>
          <a:p>
            <a:pPr indent="0" marL="0">
              <a:spcAft>
                <a:spcPts val="200"/>
              </a:spcAft>
              <a:buNone/>
            </a:pPr>
            <a:endParaRPr lang="en-US" sz="11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1100" b="1" dirty="0">
                <a:solidFill>
                  <a:srgbClr val="16A34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高評価グループ</a:t>
            </a:r>
            <a:endParaRPr lang="en-US" sz="11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楽天トラベル(10.00)が最高スコア。</a:t>
            </a:r>
            <a:endParaRPr lang="en-US" sz="1100" dirty="0"/>
          </a:p>
          <a:p>
            <a:pPr indent="0" marL="0">
              <a:spcAft>
                <a:spcPts val="200"/>
              </a:spcAft>
              <a:buNone/>
            </a:pPr>
            <a:endParaRPr lang="en-US" sz="11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1100" b="1" dirty="0">
                <a:solidFill>
                  <a:srgbClr val="DC262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改善対象サイト</a:t>
            </a:r>
            <a:endParaRPr lang="en-US" sz="11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Agoda(4.0)が相対的に低い。口コミ返信の強化が急務</a:t>
            </a:r>
            <a:endParaRPr lang="en-US" sz="1100" dirty="0"/>
          </a:p>
          <a:p>
            <a:pPr indent="0" marL="0">
              <a:spcAft>
                <a:spcPts val="200"/>
              </a:spcAft>
              <a:buNone/>
            </a:pPr>
            <a:endParaRPr lang="en-US" sz="11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900" b="1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注：</a:t>
            </a:r>
            <a:pPr indent="0" marL="0">
              <a:spcAft>
                <a:spcPts val="200"/>
              </a:spcAft>
              <a:buNone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Google/じゃらん/楽天は5点満点のため×2で10pt換算</a:t>
            </a:r>
            <a:endParaRPr lang="en-US" sz="1100" dirty="0"/>
          </a:p>
        </p:txBody>
      </p:sp>
      <p:graphicFrame>
        <p:nvGraphicFramePr>
          <p:cNvPr id="5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4297680"/>
          <a:ext cx="8229600" cy="91440"/>
        </p:xfrm>
        <a:graphic>
          <a:graphicData uri="http://schemas.openxmlformats.org/drawingml/2006/table">
            <a:tbl>
              <a:tblPr/>
              <a:tblGrid>
                <a:gridCol w="1828800"/>
                <a:gridCol w="914400"/>
                <a:gridCol w="1828800"/>
                <a:gridCol w="914400"/>
                <a:gridCol w="2743200"/>
              </a:tblGrid>
              <a:tr h="22860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サイト名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2744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件数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2744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ネイティブ平均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2744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尺度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2744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10pt換算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2744"/>
                    </a:solidFill>
                  </a:tcPr>
                </a:tc>
              </a:tr>
              <a:tr h="20116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楽天トラベル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F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F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F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/5 (×2)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F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10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FF8"/>
                    </a:solidFill>
                  </a:tcPr>
                </a:tc>
              </a:tr>
              <a:tr h="20116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Trip.com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46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9.72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/10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9.72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0116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Google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F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16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F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4.69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F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/5 (×2)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F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9.38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FF8"/>
                    </a:solidFill>
                  </a:tcPr>
                </a:tc>
              </a:tr>
              <a:tr h="20116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Booking.com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14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9.21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/10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9.21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0116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Agoda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F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F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F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/10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F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FF8"/>
                    </a:solidFill>
                  </a:tcPr>
                </a:tc>
              </a:tr>
            </a:tbl>
          </a:graphicData>
        </a:graphic>
      </p:graphicFrame>
      <p:sp>
        <p:nvSpPr>
          <p:cNvPr id="11" name="Shape 7"/>
          <p:cNvSpPr/>
          <p:nvPr/>
        </p:nvSpPr>
        <p:spPr>
          <a:xfrm>
            <a:off x="0" y="4800600"/>
            <a:ext cx="9144000" cy="34290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12" name="Text 8"/>
          <p:cNvSpPr/>
          <p:nvPr/>
        </p:nvSpPr>
        <p:spPr>
          <a:xfrm>
            <a:off x="457200" y="4800600"/>
            <a:ext cx="2743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Confidential</a:t>
            </a:r>
            <a:endParaRPr lang="en-US" sz="800" dirty="0"/>
          </a:p>
        </p:txBody>
      </p:sp>
      <p:sp>
        <p:nvSpPr>
          <p:cNvPr id="13" name="Text 9"/>
          <p:cNvSpPr/>
          <p:nvPr/>
        </p:nvSpPr>
        <p:spPr>
          <a:xfrm>
            <a:off x="8229600" y="4800600"/>
            <a:ext cx="457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</a:t>
            </a:r>
            <a:endParaRPr lang="en-US" sz="8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5F7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77724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3" name="Text 1"/>
          <p:cNvSpPr/>
          <p:nvPr/>
        </p:nvSpPr>
        <p:spPr>
          <a:xfrm>
            <a:off x="548640" y="73152"/>
            <a:ext cx="7315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評価分布分析（10点換算）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548640" y="45720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9BE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Rating Distribution</a:t>
            </a:r>
            <a:endParaRPr lang="en-US" sz="1000" dirty="0"/>
          </a:p>
        </p:txBody>
      </p:sp>
      <p:graphicFrame>
        <p:nvGraphicFramePr>
          <p:cNvPr id="5" name="Chart 0" descr=""/>
          <p:cNvGraphicFramePr/>
          <p:nvPr/>
        </p:nvGraphicFramePr>
        <p:xfrm>
          <a:off x="274320" y="1097280"/>
          <a:ext cx="3657600" cy="292608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graphicFrame>
        <p:nvGraphicFramePr>
          <p:cNvPr id="6" name="Chart 1" descr=""/>
          <p:cNvGraphicFramePr/>
          <p:nvPr/>
        </p:nvGraphicFramePr>
        <p:xfrm>
          <a:off x="4114800" y="1097280"/>
          <a:ext cx="4754880" cy="292608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7" name="Shape 3"/>
          <p:cNvSpPr/>
          <p:nvPr/>
        </p:nvSpPr>
        <p:spPr>
          <a:xfrm>
            <a:off x="457200" y="4160520"/>
            <a:ext cx="2651760" cy="502920"/>
          </a:xfrm>
          <a:prstGeom prst="rect">
            <a:avLst/>
          </a:prstGeom>
          <a:solidFill>
            <a:srgbClr val="DCFCE7"/>
          </a:solidFill>
          <a:ln/>
        </p:spPr>
      </p:sp>
      <p:sp>
        <p:nvSpPr>
          <p:cNvPr id="8" name="Text 4"/>
          <p:cNvSpPr/>
          <p:nvPr/>
        </p:nvSpPr>
        <p:spPr>
          <a:xfrm>
            <a:off x="457200" y="4160520"/>
            <a:ext cx="1371600" cy="502920"/>
          </a:xfrm>
          <a:prstGeom prst="rect">
            <a:avLst/>
          </a:prstGeom>
          <a:noFill/>
          <a:ln/>
        </p:spPr>
        <p:txBody>
          <a:bodyPr wrap="square" lIns="0" tIns="10160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16A34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高評価 8-10点</a:t>
            </a:r>
            <a:endParaRPr lang="en-US" sz="1000" dirty="0"/>
          </a:p>
        </p:txBody>
      </p:sp>
      <p:sp>
        <p:nvSpPr>
          <p:cNvPr id="9" name="Text 5"/>
          <p:cNvSpPr/>
          <p:nvPr/>
        </p:nvSpPr>
        <p:spPr>
          <a:xfrm>
            <a:off x="1737360" y="4160520"/>
            <a:ext cx="1371600" cy="502920"/>
          </a:xfrm>
          <a:prstGeom prst="rect">
            <a:avLst/>
          </a:prstGeom>
          <a:noFill/>
          <a:ln/>
        </p:spPr>
        <p:txBody>
          <a:bodyPr wrap="square" lIns="0" tIns="0" rIns="101600" bIns="0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16A34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74件（93.7%）</a:t>
            </a:r>
            <a:endParaRPr lang="en-US" sz="1100" dirty="0"/>
          </a:p>
        </p:txBody>
      </p:sp>
      <p:sp>
        <p:nvSpPr>
          <p:cNvPr id="10" name="Shape 6"/>
          <p:cNvSpPr/>
          <p:nvPr/>
        </p:nvSpPr>
        <p:spPr>
          <a:xfrm>
            <a:off x="3291840" y="4160520"/>
            <a:ext cx="2651760" cy="502920"/>
          </a:xfrm>
          <a:prstGeom prst="rect">
            <a:avLst/>
          </a:prstGeom>
          <a:solidFill>
            <a:srgbClr val="FFF7ED"/>
          </a:solidFill>
          <a:ln/>
        </p:spPr>
      </p:sp>
      <p:sp>
        <p:nvSpPr>
          <p:cNvPr id="11" name="Text 7"/>
          <p:cNvSpPr/>
          <p:nvPr/>
        </p:nvSpPr>
        <p:spPr>
          <a:xfrm>
            <a:off x="3291840" y="4160520"/>
            <a:ext cx="1371600" cy="502920"/>
          </a:xfrm>
          <a:prstGeom prst="rect">
            <a:avLst/>
          </a:prstGeom>
          <a:noFill/>
          <a:ln/>
        </p:spPr>
        <p:txBody>
          <a:bodyPr wrap="square" lIns="0" tIns="10160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84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中評価 5-7点</a:t>
            </a:r>
            <a:endParaRPr lang="en-US" sz="1000" dirty="0"/>
          </a:p>
        </p:txBody>
      </p:sp>
      <p:sp>
        <p:nvSpPr>
          <p:cNvPr id="12" name="Text 8"/>
          <p:cNvSpPr/>
          <p:nvPr/>
        </p:nvSpPr>
        <p:spPr>
          <a:xfrm>
            <a:off x="4572000" y="4160520"/>
            <a:ext cx="1371600" cy="502920"/>
          </a:xfrm>
          <a:prstGeom prst="rect">
            <a:avLst/>
          </a:prstGeom>
          <a:noFill/>
          <a:ln/>
        </p:spPr>
        <p:txBody>
          <a:bodyPr wrap="square" lIns="0" tIns="0" rIns="101600" bIns="0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D4A84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3件（3.8%）</a:t>
            </a:r>
            <a:endParaRPr lang="en-US" sz="1100" dirty="0"/>
          </a:p>
        </p:txBody>
      </p:sp>
      <p:sp>
        <p:nvSpPr>
          <p:cNvPr id="13" name="Shape 9"/>
          <p:cNvSpPr/>
          <p:nvPr/>
        </p:nvSpPr>
        <p:spPr>
          <a:xfrm>
            <a:off x="6126480" y="4160520"/>
            <a:ext cx="2651760" cy="502920"/>
          </a:xfrm>
          <a:prstGeom prst="rect">
            <a:avLst/>
          </a:prstGeom>
          <a:solidFill>
            <a:srgbClr val="DCFCE7"/>
          </a:solidFill>
          <a:ln/>
        </p:spPr>
      </p:sp>
      <p:sp>
        <p:nvSpPr>
          <p:cNvPr id="14" name="Text 10"/>
          <p:cNvSpPr/>
          <p:nvPr/>
        </p:nvSpPr>
        <p:spPr>
          <a:xfrm>
            <a:off x="6126480" y="4160520"/>
            <a:ext cx="1371600" cy="502920"/>
          </a:xfrm>
          <a:prstGeom prst="rect">
            <a:avLst/>
          </a:prstGeom>
          <a:noFill/>
          <a:ln/>
        </p:spPr>
        <p:txBody>
          <a:bodyPr wrap="square" lIns="0" tIns="10160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16A34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低評価 1-4点</a:t>
            </a:r>
            <a:endParaRPr lang="en-US" sz="1000" dirty="0"/>
          </a:p>
        </p:txBody>
      </p:sp>
      <p:sp>
        <p:nvSpPr>
          <p:cNvPr id="15" name="Text 11"/>
          <p:cNvSpPr/>
          <p:nvPr/>
        </p:nvSpPr>
        <p:spPr>
          <a:xfrm>
            <a:off x="7406640" y="4160520"/>
            <a:ext cx="1371600" cy="502920"/>
          </a:xfrm>
          <a:prstGeom prst="rect">
            <a:avLst/>
          </a:prstGeom>
          <a:noFill/>
          <a:ln/>
        </p:spPr>
        <p:txBody>
          <a:bodyPr wrap="square" lIns="0" tIns="0" rIns="101600" bIns="0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16A34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2件（2.5%）</a:t>
            </a:r>
            <a:endParaRPr lang="en-US" sz="1100" dirty="0"/>
          </a:p>
        </p:txBody>
      </p:sp>
      <p:sp>
        <p:nvSpPr>
          <p:cNvPr id="16" name="Shape 12"/>
          <p:cNvSpPr/>
          <p:nvPr/>
        </p:nvSpPr>
        <p:spPr>
          <a:xfrm>
            <a:off x="0" y="4800600"/>
            <a:ext cx="9144000" cy="34290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17" name="Text 13"/>
          <p:cNvSpPr/>
          <p:nvPr/>
        </p:nvSpPr>
        <p:spPr>
          <a:xfrm>
            <a:off x="457200" y="4800600"/>
            <a:ext cx="2743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Confidential</a:t>
            </a:r>
            <a:endParaRPr lang="en-US" sz="800" dirty="0"/>
          </a:p>
        </p:txBody>
      </p:sp>
      <p:sp>
        <p:nvSpPr>
          <p:cNvPr id="18" name="Text 14"/>
          <p:cNvSpPr/>
          <p:nvPr/>
        </p:nvSpPr>
        <p:spPr>
          <a:xfrm>
            <a:off x="8229600" y="4800600"/>
            <a:ext cx="457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</a:t>
            </a:r>
            <a:endParaRPr lang="en-US" sz="8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5F7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77724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3" name="Text 1"/>
          <p:cNvSpPr/>
          <p:nvPr/>
        </p:nvSpPr>
        <p:spPr>
          <a:xfrm>
            <a:off x="548640" y="73152"/>
            <a:ext cx="7315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強み分析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548640" y="45720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9BE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Strength Analysis</a:t>
            </a:r>
            <a:endParaRPr lang="en-US" sz="1000" dirty="0"/>
          </a:p>
        </p:txBody>
      </p:sp>
      <p:sp>
        <p:nvSpPr>
          <p:cNvPr id="5" name="Shape 3"/>
          <p:cNvSpPr/>
          <p:nvPr/>
        </p:nvSpPr>
        <p:spPr>
          <a:xfrm>
            <a:off x="457200" y="1051560"/>
            <a:ext cx="2651760" cy="160020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50800" dist="25400" dir="8100000">
              <a:srgbClr val="000000">
                <a:alpha val="10000"/>
              </a:srgbClr>
            </a:outerShdw>
          </a:effectLst>
        </p:spPr>
      </p:sp>
      <p:sp>
        <p:nvSpPr>
          <p:cNvPr id="6" name="Shape 4"/>
          <p:cNvSpPr/>
          <p:nvPr/>
        </p:nvSpPr>
        <p:spPr>
          <a:xfrm>
            <a:off x="457200" y="1051560"/>
            <a:ext cx="54864" cy="1600200"/>
          </a:xfrm>
          <a:prstGeom prst="rect">
            <a:avLst/>
          </a:prstGeom>
          <a:solidFill>
            <a:srgbClr val="16A34A"/>
          </a:solidFill>
          <a:ln/>
        </p:spPr>
      </p:sp>
      <p:sp>
        <p:nvSpPr>
          <p:cNvPr id="7" name="Shape 5"/>
          <p:cNvSpPr/>
          <p:nvPr/>
        </p:nvSpPr>
        <p:spPr>
          <a:xfrm>
            <a:off x="2286000" y="1124712"/>
            <a:ext cx="658368" cy="228600"/>
          </a:xfrm>
          <a:prstGeom prst="rect">
            <a:avLst/>
          </a:prstGeom>
          <a:solidFill>
            <a:srgbClr val="DCFCE7"/>
          </a:solidFill>
          <a:ln/>
        </p:spPr>
      </p:sp>
      <p:sp>
        <p:nvSpPr>
          <p:cNvPr id="8" name="Text 6"/>
          <p:cNvSpPr/>
          <p:nvPr/>
        </p:nvSpPr>
        <p:spPr>
          <a:xfrm>
            <a:off x="2286000" y="1124712"/>
            <a:ext cx="658368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16A34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50件+</a:t>
            </a:r>
            <a:endParaRPr lang="en-US" sz="900" dirty="0"/>
          </a:p>
        </p:txBody>
      </p:sp>
      <p:sp>
        <p:nvSpPr>
          <p:cNvPr id="9" name="Text 7"/>
          <p:cNvSpPr/>
          <p:nvPr/>
        </p:nvSpPr>
        <p:spPr>
          <a:xfrm>
            <a:off x="594360" y="1124712"/>
            <a:ext cx="1645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A27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立地・アクセス</a:t>
            </a:r>
            <a:endParaRPr lang="en-US" sz="1300" dirty="0"/>
          </a:p>
        </p:txBody>
      </p:sp>
      <p:sp>
        <p:nvSpPr>
          <p:cNvPr id="10" name="Text 8"/>
          <p:cNvSpPr/>
          <p:nvPr/>
        </p:nvSpPr>
        <p:spPr>
          <a:xfrm>
            <a:off x="594360" y="1417320"/>
            <a:ext cx="23774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立地は非常に便利で、電車や地下鉄の駅にも近いです</a:t>
            </a:r>
            <a:endParaRPr lang="en-US" sz="900" dirty="0"/>
          </a:p>
        </p:txBody>
      </p:sp>
      <p:sp>
        <p:nvSpPr>
          <p:cNvPr id="11" name="Text 9"/>
          <p:cNvSpPr/>
          <p:nvPr/>
        </p:nvSpPr>
        <p:spPr>
          <a:xfrm>
            <a:off x="594360" y="1828800"/>
            <a:ext cx="23774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i="1" dirty="0">
                <a:solidFill>
                  <a:srgbClr val="3B7DD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「立地は非常に便利で、サービスも良く、セルフサービスの荷物預かり所は融通が利く」</a:t>
            </a:r>
            <a:endParaRPr lang="en-US" sz="900" dirty="0"/>
          </a:p>
        </p:txBody>
      </p:sp>
      <p:sp>
        <p:nvSpPr>
          <p:cNvPr id="12" name="Shape 10"/>
          <p:cNvSpPr/>
          <p:nvPr/>
        </p:nvSpPr>
        <p:spPr>
          <a:xfrm>
            <a:off x="3291840" y="1051560"/>
            <a:ext cx="2651760" cy="160020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50800" dist="25400" dir="8100000">
              <a:srgbClr val="000000">
                <a:alpha val="10000"/>
              </a:srgbClr>
            </a:outerShdw>
          </a:effectLst>
        </p:spPr>
      </p:sp>
      <p:sp>
        <p:nvSpPr>
          <p:cNvPr id="13" name="Shape 11"/>
          <p:cNvSpPr/>
          <p:nvPr/>
        </p:nvSpPr>
        <p:spPr>
          <a:xfrm>
            <a:off x="3291840" y="1051560"/>
            <a:ext cx="54864" cy="1600200"/>
          </a:xfrm>
          <a:prstGeom prst="rect">
            <a:avLst/>
          </a:prstGeom>
          <a:solidFill>
            <a:srgbClr val="16A34A"/>
          </a:solidFill>
          <a:ln/>
        </p:spPr>
      </p:sp>
      <p:sp>
        <p:nvSpPr>
          <p:cNvPr id="14" name="Shape 12"/>
          <p:cNvSpPr/>
          <p:nvPr/>
        </p:nvSpPr>
        <p:spPr>
          <a:xfrm>
            <a:off x="5120640" y="1124712"/>
            <a:ext cx="658368" cy="228600"/>
          </a:xfrm>
          <a:prstGeom prst="rect">
            <a:avLst/>
          </a:prstGeom>
          <a:solidFill>
            <a:srgbClr val="DCFCE7"/>
          </a:solidFill>
          <a:ln/>
        </p:spPr>
      </p:sp>
      <p:sp>
        <p:nvSpPr>
          <p:cNvPr id="15" name="Text 13"/>
          <p:cNvSpPr/>
          <p:nvPr/>
        </p:nvSpPr>
        <p:spPr>
          <a:xfrm>
            <a:off x="5120640" y="1124712"/>
            <a:ext cx="658368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16A34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20件+</a:t>
            </a:r>
            <a:endParaRPr lang="en-US" sz="900" dirty="0"/>
          </a:p>
        </p:txBody>
      </p:sp>
      <p:sp>
        <p:nvSpPr>
          <p:cNvPr id="16" name="Text 14"/>
          <p:cNvSpPr/>
          <p:nvPr/>
        </p:nvSpPr>
        <p:spPr>
          <a:xfrm>
            <a:off x="3429000" y="1124712"/>
            <a:ext cx="1645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A27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スタッフの対応</a:t>
            </a:r>
            <a:endParaRPr lang="en-US" sz="1300" dirty="0"/>
          </a:p>
        </p:txBody>
      </p:sp>
      <p:sp>
        <p:nvSpPr>
          <p:cNvPr id="17" name="Text 15"/>
          <p:cNvSpPr/>
          <p:nvPr/>
        </p:nvSpPr>
        <p:spPr>
          <a:xfrm>
            <a:off x="3429000" y="1417320"/>
            <a:ext cx="23774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セルフチェックインはスムーズで、スタッフはとても丁寧です</a:t>
            </a:r>
            <a:endParaRPr lang="en-US" sz="900" dirty="0"/>
          </a:p>
        </p:txBody>
      </p:sp>
      <p:sp>
        <p:nvSpPr>
          <p:cNvPr id="18" name="Text 16"/>
          <p:cNvSpPr/>
          <p:nvPr/>
        </p:nvSpPr>
        <p:spPr>
          <a:xfrm>
            <a:off x="3429000" y="1828800"/>
            <a:ext cx="23774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i="1" dirty="0">
                <a:solidFill>
                  <a:srgbClr val="3B7DD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「立地は非常に便利で、サービスも良く、セルフサービスの荷物預かり所は融通が利く」</a:t>
            </a:r>
            <a:endParaRPr lang="en-US" sz="900" dirty="0"/>
          </a:p>
        </p:txBody>
      </p:sp>
      <p:sp>
        <p:nvSpPr>
          <p:cNvPr id="19" name="Shape 17"/>
          <p:cNvSpPr/>
          <p:nvPr/>
        </p:nvSpPr>
        <p:spPr>
          <a:xfrm>
            <a:off x="6126480" y="1051560"/>
            <a:ext cx="2651760" cy="160020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50800" dist="25400" dir="8100000">
              <a:srgbClr val="000000">
                <a:alpha val="10000"/>
              </a:srgbClr>
            </a:outerShdw>
          </a:effectLst>
        </p:spPr>
      </p:sp>
      <p:sp>
        <p:nvSpPr>
          <p:cNvPr id="20" name="Shape 18"/>
          <p:cNvSpPr/>
          <p:nvPr/>
        </p:nvSpPr>
        <p:spPr>
          <a:xfrm>
            <a:off x="6126480" y="1051560"/>
            <a:ext cx="54864" cy="1600200"/>
          </a:xfrm>
          <a:prstGeom prst="rect">
            <a:avLst/>
          </a:prstGeom>
          <a:solidFill>
            <a:srgbClr val="16A34A"/>
          </a:solidFill>
          <a:ln/>
        </p:spPr>
      </p:sp>
      <p:sp>
        <p:nvSpPr>
          <p:cNvPr id="21" name="Shape 19"/>
          <p:cNvSpPr/>
          <p:nvPr/>
        </p:nvSpPr>
        <p:spPr>
          <a:xfrm>
            <a:off x="7955280" y="1124712"/>
            <a:ext cx="658368" cy="228600"/>
          </a:xfrm>
          <a:prstGeom prst="rect">
            <a:avLst/>
          </a:prstGeom>
          <a:solidFill>
            <a:srgbClr val="DCFCE7"/>
          </a:solidFill>
          <a:ln/>
        </p:spPr>
      </p:sp>
      <p:sp>
        <p:nvSpPr>
          <p:cNvPr id="22" name="Text 20"/>
          <p:cNvSpPr/>
          <p:nvPr/>
        </p:nvSpPr>
        <p:spPr>
          <a:xfrm>
            <a:off x="7955280" y="1124712"/>
            <a:ext cx="658368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16A34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20件+</a:t>
            </a:r>
            <a:endParaRPr lang="en-US" sz="900" dirty="0"/>
          </a:p>
        </p:txBody>
      </p:sp>
      <p:sp>
        <p:nvSpPr>
          <p:cNvPr id="23" name="Text 21"/>
          <p:cNvSpPr/>
          <p:nvPr/>
        </p:nvSpPr>
        <p:spPr>
          <a:xfrm>
            <a:off x="6263640" y="1124712"/>
            <a:ext cx="1645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A27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コンビニ・周辺施設</a:t>
            </a:r>
            <a:endParaRPr lang="en-US" sz="1300" dirty="0"/>
          </a:p>
        </p:txBody>
      </p:sp>
      <p:sp>
        <p:nvSpPr>
          <p:cNvPr id="24" name="Text 22"/>
          <p:cNvSpPr/>
          <p:nvPr/>
        </p:nvSpPr>
        <p:spPr>
          <a:xfrm>
            <a:off x="6263640" y="1417320"/>
            <a:ext cx="23774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周辺は活気があり、コンビニエンスストアも1階にあるなど、生活に必要な施設も充実しています</a:t>
            </a:r>
            <a:endParaRPr lang="en-US" sz="900" dirty="0"/>
          </a:p>
        </p:txBody>
      </p:sp>
      <p:sp>
        <p:nvSpPr>
          <p:cNvPr id="25" name="Text 23"/>
          <p:cNvSpPr/>
          <p:nvPr/>
        </p:nvSpPr>
        <p:spPr>
          <a:xfrm>
            <a:off x="6263640" y="1828800"/>
            <a:ext cx="23774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i="1" dirty="0">
                <a:solidFill>
                  <a:srgbClr val="3B7DD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「立地が非常に良いホテルで、ショッピングやレストランにも近く、スタッフもとても親切です」</a:t>
            </a:r>
            <a:endParaRPr lang="en-US" sz="900" dirty="0"/>
          </a:p>
        </p:txBody>
      </p:sp>
      <p:sp>
        <p:nvSpPr>
          <p:cNvPr id="26" name="Shape 24"/>
          <p:cNvSpPr/>
          <p:nvPr/>
        </p:nvSpPr>
        <p:spPr>
          <a:xfrm>
            <a:off x="457200" y="2880360"/>
            <a:ext cx="2651760" cy="160020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50800" dist="25400" dir="8100000">
              <a:srgbClr val="000000">
                <a:alpha val="10000"/>
              </a:srgbClr>
            </a:outerShdw>
          </a:effectLst>
        </p:spPr>
      </p:sp>
      <p:sp>
        <p:nvSpPr>
          <p:cNvPr id="27" name="Shape 25"/>
          <p:cNvSpPr/>
          <p:nvPr/>
        </p:nvSpPr>
        <p:spPr>
          <a:xfrm>
            <a:off x="457200" y="2880360"/>
            <a:ext cx="54864" cy="1600200"/>
          </a:xfrm>
          <a:prstGeom prst="rect">
            <a:avLst/>
          </a:prstGeom>
          <a:solidFill>
            <a:srgbClr val="16A34A"/>
          </a:solidFill>
          <a:ln/>
        </p:spPr>
      </p:sp>
      <p:sp>
        <p:nvSpPr>
          <p:cNvPr id="28" name="Shape 26"/>
          <p:cNvSpPr/>
          <p:nvPr/>
        </p:nvSpPr>
        <p:spPr>
          <a:xfrm>
            <a:off x="2286000" y="2953512"/>
            <a:ext cx="658368" cy="228600"/>
          </a:xfrm>
          <a:prstGeom prst="rect">
            <a:avLst/>
          </a:prstGeom>
          <a:solidFill>
            <a:srgbClr val="DCFCE7"/>
          </a:solidFill>
          <a:ln/>
        </p:spPr>
      </p:sp>
      <p:sp>
        <p:nvSpPr>
          <p:cNvPr id="29" name="Text 27"/>
          <p:cNvSpPr/>
          <p:nvPr/>
        </p:nvSpPr>
        <p:spPr>
          <a:xfrm>
            <a:off x="2286000" y="2953512"/>
            <a:ext cx="658368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16A34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10件+</a:t>
            </a:r>
            <a:endParaRPr lang="en-US" sz="900" dirty="0"/>
          </a:p>
        </p:txBody>
      </p:sp>
      <p:sp>
        <p:nvSpPr>
          <p:cNvPr id="30" name="Text 28"/>
          <p:cNvSpPr/>
          <p:nvPr/>
        </p:nvSpPr>
        <p:spPr>
          <a:xfrm>
            <a:off x="594360" y="2953512"/>
            <a:ext cx="1645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A27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清潔さ・清掃</a:t>
            </a:r>
            <a:endParaRPr lang="en-US" sz="1300" dirty="0"/>
          </a:p>
        </p:txBody>
      </p:sp>
      <p:sp>
        <p:nvSpPr>
          <p:cNvPr id="31" name="Text 29"/>
          <p:cNvSpPr/>
          <p:nvPr/>
        </p:nvSpPr>
        <p:spPr>
          <a:xfrm>
            <a:off x="594360" y="3246120"/>
            <a:ext cx="23774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部屋は小さいですが、清潔で快適です</a:t>
            </a:r>
            <a:endParaRPr lang="en-US" sz="900" dirty="0"/>
          </a:p>
        </p:txBody>
      </p:sp>
      <p:sp>
        <p:nvSpPr>
          <p:cNvPr id="32" name="Text 30"/>
          <p:cNvSpPr/>
          <p:nvPr/>
        </p:nvSpPr>
        <p:spPr>
          <a:xfrm>
            <a:off x="594360" y="3657600"/>
            <a:ext cx="23774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i="1" dirty="0">
                <a:solidFill>
                  <a:srgbClr val="3B7DD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「Location, ease of check in, comfort, clean Nothing 何もない」</a:t>
            </a:r>
            <a:endParaRPr lang="en-US" sz="900" dirty="0"/>
          </a:p>
        </p:txBody>
      </p:sp>
      <p:sp>
        <p:nvSpPr>
          <p:cNvPr id="33" name="Shape 31"/>
          <p:cNvSpPr/>
          <p:nvPr/>
        </p:nvSpPr>
        <p:spPr>
          <a:xfrm>
            <a:off x="3291840" y="2880360"/>
            <a:ext cx="2651760" cy="160020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50800" dist="25400" dir="8100000">
              <a:srgbClr val="000000">
                <a:alpha val="10000"/>
              </a:srgbClr>
            </a:outerShdw>
          </a:effectLst>
        </p:spPr>
      </p:sp>
      <p:sp>
        <p:nvSpPr>
          <p:cNvPr id="34" name="Shape 32"/>
          <p:cNvSpPr/>
          <p:nvPr/>
        </p:nvSpPr>
        <p:spPr>
          <a:xfrm>
            <a:off x="3291840" y="2880360"/>
            <a:ext cx="54864" cy="1600200"/>
          </a:xfrm>
          <a:prstGeom prst="rect">
            <a:avLst/>
          </a:prstGeom>
          <a:solidFill>
            <a:srgbClr val="16A34A"/>
          </a:solidFill>
          <a:ln/>
        </p:spPr>
      </p:sp>
      <p:sp>
        <p:nvSpPr>
          <p:cNvPr id="35" name="Shape 33"/>
          <p:cNvSpPr/>
          <p:nvPr/>
        </p:nvSpPr>
        <p:spPr>
          <a:xfrm>
            <a:off x="5120640" y="2953512"/>
            <a:ext cx="658368" cy="228600"/>
          </a:xfrm>
          <a:prstGeom prst="rect">
            <a:avLst/>
          </a:prstGeom>
          <a:solidFill>
            <a:srgbClr val="DCFCE7"/>
          </a:solidFill>
          <a:ln/>
        </p:spPr>
      </p:sp>
      <p:sp>
        <p:nvSpPr>
          <p:cNvPr id="36" name="Text 34"/>
          <p:cNvSpPr/>
          <p:nvPr/>
        </p:nvSpPr>
        <p:spPr>
          <a:xfrm>
            <a:off x="5120640" y="2953512"/>
            <a:ext cx="658368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16A34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10件+</a:t>
            </a:r>
            <a:endParaRPr lang="en-US" sz="900" dirty="0"/>
          </a:p>
        </p:txBody>
      </p:sp>
      <p:sp>
        <p:nvSpPr>
          <p:cNvPr id="37" name="Text 35"/>
          <p:cNvSpPr/>
          <p:nvPr/>
        </p:nvSpPr>
        <p:spPr>
          <a:xfrm>
            <a:off x="3429000" y="2953512"/>
            <a:ext cx="1645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A27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快適さ・設備</a:t>
            </a:r>
            <a:endParaRPr lang="en-US" sz="1300" dirty="0"/>
          </a:p>
        </p:txBody>
      </p:sp>
      <p:sp>
        <p:nvSpPr>
          <p:cNvPr id="38" name="Text 36"/>
          <p:cNvSpPr/>
          <p:nvPr/>
        </p:nvSpPr>
        <p:spPr>
          <a:xfrm>
            <a:off x="3429000" y="3246120"/>
            <a:ext cx="23774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部屋は小さいですが、清潔で快適です</a:t>
            </a:r>
            <a:endParaRPr lang="en-US" sz="900" dirty="0"/>
          </a:p>
        </p:txBody>
      </p:sp>
      <p:sp>
        <p:nvSpPr>
          <p:cNvPr id="39" name="Text 37"/>
          <p:cNvSpPr/>
          <p:nvPr/>
        </p:nvSpPr>
        <p:spPr>
          <a:xfrm>
            <a:off x="3429000" y="3657600"/>
            <a:ext cx="23774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i="1" dirty="0">
                <a:solidFill>
                  <a:srgbClr val="3B7DD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「設備は少し古いが、それでもまたここに泊まりたい」</a:t>
            </a:r>
            <a:endParaRPr lang="en-US" sz="900" dirty="0"/>
          </a:p>
        </p:txBody>
      </p:sp>
      <p:sp>
        <p:nvSpPr>
          <p:cNvPr id="40" name="Shape 38"/>
          <p:cNvSpPr/>
          <p:nvPr/>
        </p:nvSpPr>
        <p:spPr>
          <a:xfrm>
            <a:off x="6126480" y="2880360"/>
            <a:ext cx="2651760" cy="160020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50800" dist="25400" dir="8100000">
              <a:srgbClr val="000000">
                <a:alpha val="10000"/>
              </a:srgbClr>
            </a:outerShdw>
          </a:effectLst>
        </p:spPr>
      </p:sp>
      <p:sp>
        <p:nvSpPr>
          <p:cNvPr id="41" name="Shape 39"/>
          <p:cNvSpPr/>
          <p:nvPr/>
        </p:nvSpPr>
        <p:spPr>
          <a:xfrm>
            <a:off x="6126480" y="2880360"/>
            <a:ext cx="54864" cy="1600200"/>
          </a:xfrm>
          <a:prstGeom prst="rect">
            <a:avLst/>
          </a:prstGeom>
          <a:solidFill>
            <a:srgbClr val="16A34A"/>
          </a:solidFill>
          <a:ln/>
        </p:spPr>
      </p:sp>
      <p:sp>
        <p:nvSpPr>
          <p:cNvPr id="42" name="Shape 40"/>
          <p:cNvSpPr/>
          <p:nvPr/>
        </p:nvSpPr>
        <p:spPr>
          <a:xfrm>
            <a:off x="7955280" y="2953512"/>
            <a:ext cx="658368" cy="228600"/>
          </a:xfrm>
          <a:prstGeom prst="rect">
            <a:avLst/>
          </a:prstGeom>
          <a:solidFill>
            <a:srgbClr val="DCFCE7"/>
          </a:solidFill>
          <a:ln/>
        </p:spPr>
      </p:sp>
      <p:sp>
        <p:nvSpPr>
          <p:cNvPr id="43" name="Text 41"/>
          <p:cNvSpPr/>
          <p:nvPr/>
        </p:nvSpPr>
        <p:spPr>
          <a:xfrm>
            <a:off x="7955280" y="2953512"/>
            <a:ext cx="658368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16A34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5件</a:t>
            </a:r>
            <a:endParaRPr lang="en-US" sz="900" dirty="0"/>
          </a:p>
        </p:txBody>
      </p:sp>
      <p:sp>
        <p:nvSpPr>
          <p:cNvPr id="44" name="Text 42"/>
          <p:cNvSpPr/>
          <p:nvPr/>
        </p:nvSpPr>
        <p:spPr>
          <a:xfrm>
            <a:off x="6263640" y="2953512"/>
            <a:ext cx="1645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A27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コストパフォーマンス</a:t>
            </a:r>
            <a:endParaRPr lang="en-US" sz="1300" dirty="0"/>
          </a:p>
        </p:txBody>
      </p:sp>
      <p:sp>
        <p:nvSpPr>
          <p:cNvPr id="45" name="Text 43"/>
          <p:cNvSpPr/>
          <p:nvPr/>
        </p:nvSpPr>
        <p:spPr>
          <a:xfrm>
            <a:off x="6263640" y="3246120"/>
            <a:ext cx="23774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全体的に見て、このホテルはコストパフォーマンスに優れています</a:t>
            </a:r>
            <a:endParaRPr lang="en-US" sz="900" dirty="0"/>
          </a:p>
        </p:txBody>
      </p:sp>
      <p:sp>
        <p:nvSpPr>
          <p:cNvPr id="46" name="Text 44"/>
          <p:cNvSpPr/>
          <p:nvPr/>
        </p:nvSpPr>
        <p:spPr>
          <a:xfrm>
            <a:off x="6263640" y="3657600"/>
            <a:ext cx="23774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i="1" dirty="0">
                <a:solidFill>
                  <a:srgbClr val="3B7DD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「料金も手頃で、公共交通機関へのアクセスも良好です」</a:t>
            </a:r>
            <a:endParaRPr lang="en-US" sz="900" dirty="0"/>
          </a:p>
        </p:txBody>
      </p:sp>
      <p:sp>
        <p:nvSpPr>
          <p:cNvPr id="47" name="Shape 45"/>
          <p:cNvSpPr/>
          <p:nvPr/>
        </p:nvSpPr>
        <p:spPr>
          <a:xfrm>
            <a:off x="0" y="4800600"/>
            <a:ext cx="9144000" cy="34290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48" name="Text 46"/>
          <p:cNvSpPr/>
          <p:nvPr/>
        </p:nvSpPr>
        <p:spPr>
          <a:xfrm>
            <a:off x="457200" y="4800600"/>
            <a:ext cx="2743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Confidential</a:t>
            </a:r>
            <a:endParaRPr lang="en-US" sz="800" dirty="0"/>
          </a:p>
        </p:txBody>
      </p:sp>
      <p:sp>
        <p:nvSpPr>
          <p:cNvPr id="49" name="Text 47"/>
          <p:cNvSpPr/>
          <p:nvPr/>
        </p:nvSpPr>
        <p:spPr>
          <a:xfrm>
            <a:off x="8229600" y="4800600"/>
            <a:ext cx="457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6</a:t>
            </a:r>
            <a:endParaRPr lang="en-US" sz="8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5F7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77724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3" name="Text 1"/>
          <p:cNvSpPr/>
          <p:nvPr/>
        </p:nvSpPr>
        <p:spPr>
          <a:xfrm>
            <a:off x="548640" y="73152"/>
            <a:ext cx="7315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弱み分析・優先度マトリクス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548640" y="45720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9BE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Weakness Analysis &amp; Priority Matrix</a:t>
            </a:r>
            <a:endParaRPr lang="en-US" sz="1000" dirty="0"/>
          </a:p>
        </p:txBody>
      </p:sp>
      <p:graphicFrame>
        <p:nvGraphicFramePr>
          <p:cNvPr id="8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1051560"/>
          <a:ext cx="8229600" cy="91440"/>
        </p:xfrm>
        <a:graphic>
          <a:graphicData uri="http://schemas.openxmlformats.org/drawingml/2006/table">
            <a:tbl>
              <a:tblPr/>
              <a:tblGrid>
                <a:gridCol w="731520"/>
                <a:gridCol w="1828800"/>
                <a:gridCol w="4572000"/>
                <a:gridCol w="1097280"/>
              </a:tblGrid>
              <a:tr h="27432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優先度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274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課題カテゴリ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274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具体的内容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2744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件数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2744"/>
                    </a:solidFill>
                  </a:tcPr>
                </a:tc>
              </a:tr>
              <a:tr h="32004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DC2626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FF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3341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部屋の狭さ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FF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64748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部屋は小さいですが、清潔で快適です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F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41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11件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FF8"/>
                    </a:solidFill>
                  </a:tcPr>
                </a:tc>
              </a:tr>
              <a:tr h="32004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EA580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3341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エアコン・空調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64748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Is a very good location hotel, so close to shopping and d...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41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10件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2004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EA580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FF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3341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浴室・水回り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FF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64748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さらに、ホテルが用意してくれたセルフサービスのバスアメニティは非常に質が高く、使用後は肌が滑らかで乾燥せず、嬉しい...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F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41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6件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FF8"/>
                    </a:solidFill>
                  </a:tcPr>
                </a:tc>
              </a:tr>
              <a:tr h="32004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D4A84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3341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設備の老朽化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64748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設備は少し古いが、それでもまたここに泊まりたい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41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5件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2004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D4A84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FF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3341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防音性能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FF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64748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地下鉄の駅は階下にありますが、防音対策がしっかりしているので、全く邪魔されることなく快適に過ごせました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F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41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3件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FF8"/>
                    </a:solidFill>
                  </a:tcPr>
                </a:tc>
              </a:tr>
              <a:tr h="32004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94A3B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3341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窓・採光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64748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เตียงขนาดกำลังดี มีแอร์แยก หน้าต่างเปิดได้ เดินทางสะดวกอย...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41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2件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2004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94A3B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FF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3341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臭い・匂い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FF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64748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低層階は（近くにレストランがたくさんあるため）調理の匂いがするかもしれません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F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41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1件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FF8"/>
                    </a:solidFill>
                  </a:tcPr>
                </a:tc>
              </a:tr>
              <a:tr h="32004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94A3B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3341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対応・サービスの不満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64748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位置極其便利，服務態度好，自助存放行李彈性大，設施稍舊但仍會再入住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41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1件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2004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94A3B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FF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3341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清掃不備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FF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64748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清掃員のゴミ箱の周りのゴミさえ片付けていなかった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F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41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1件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FF8"/>
                    </a:solidFill>
                  </a:tcPr>
                </a:tc>
              </a:tr>
            </a:tbl>
          </a:graphicData>
        </a:graphic>
      </p:graphicFrame>
      <p:sp>
        <p:nvSpPr>
          <p:cNvPr id="6" name="Text 3"/>
          <p:cNvSpPr/>
          <p:nvPr/>
        </p:nvSpPr>
        <p:spPr>
          <a:xfrm>
            <a:off x="457200" y="438912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C262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 </a:t>
            </a:r>
            <a:pPr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= 最優先   </a:t>
            </a:r>
            <a:pPr indent="0" marL="0">
              <a:buNone/>
            </a:pPr>
            <a:r>
              <a:rPr lang="en-US" sz="1000" b="1" dirty="0">
                <a:solidFill>
                  <a:srgbClr val="EA580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 </a:t>
            </a:r>
            <a:pPr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= 高優先   </a:t>
            </a:r>
            <a:pPr indent="0" marL="0">
              <a:buNone/>
            </a:pPr>
            <a:r>
              <a:rPr lang="en-US" sz="1000" b="1" dirty="0">
                <a:solidFill>
                  <a:srgbClr val="D4A84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 </a:t>
            </a:r>
            <a:pPr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= 中優先   </a:t>
            </a:r>
            <a:pPr indent="0" marL="0">
              <a:buNone/>
            </a:pPr>
            <a:r>
              <a:rPr lang="en-US" sz="1000" b="1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 </a:t>
            </a:r>
            <a:pPr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= 低優先</a:t>
            </a:r>
            <a:endParaRPr lang="en-US" sz="1000" dirty="0"/>
          </a:p>
        </p:txBody>
      </p:sp>
      <p:sp>
        <p:nvSpPr>
          <p:cNvPr id="7" name="Shape 4"/>
          <p:cNvSpPr/>
          <p:nvPr/>
        </p:nvSpPr>
        <p:spPr>
          <a:xfrm>
            <a:off x="0" y="4800600"/>
            <a:ext cx="9144000" cy="34290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8" name="Text 5"/>
          <p:cNvSpPr/>
          <p:nvPr/>
        </p:nvSpPr>
        <p:spPr>
          <a:xfrm>
            <a:off x="457200" y="4800600"/>
            <a:ext cx="2743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Confidential</a:t>
            </a:r>
            <a:endParaRPr lang="en-US" sz="800" dirty="0"/>
          </a:p>
        </p:txBody>
      </p:sp>
      <p:sp>
        <p:nvSpPr>
          <p:cNvPr id="9" name="Text 6"/>
          <p:cNvSpPr/>
          <p:nvPr/>
        </p:nvSpPr>
        <p:spPr>
          <a:xfrm>
            <a:off x="8229600" y="4800600"/>
            <a:ext cx="457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7</a:t>
            </a:r>
            <a:endParaRPr lang="en-US" sz="8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5F7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77724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3" name="Text 1"/>
          <p:cNvSpPr/>
          <p:nvPr/>
        </p:nvSpPr>
        <p:spPr>
          <a:xfrm>
            <a:off x="548640" y="73152"/>
            <a:ext cx="7315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改善施策 Phase 1：即座対応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548640" y="45720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9BE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Immediate Actions (Today ~ 1 Month)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548640" y="86868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i="1" dirty="0">
                <a:solidFill>
                  <a:srgbClr val="3B7DD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投資不要・オペレーション改善で対応可能</a:t>
            </a:r>
            <a:endParaRPr lang="en-US" sz="1000" dirty="0"/>
          </a:p>
        </p:txBody>
      </p:sp>
      <p:sp>
        <p:nvSpPr>
          <p:cNvPr id="6" name="Shape 4"/>
          <p:cNvSpPr/>
          <p:nvPr/>
        </p:nvSpPr>
        <p:spPr>
          <a:xfrm>
            <a:off x="457200" y="1234440"/>
            <a:ext cx="3977640" cy="160020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50800" dist="25400" dir="8100000">
              <a:srgbClr val="000000">
                <a:alpha val="10000"/>
              </a:srgbClr>
            </a:outerShdw>
          </a:effectLst>
        </p:spPr>
      </p:sp>
      <p:sp>
        <p:nvSpPr>
          <p:cNvPr id="7" name="Shape 5"/>
          <p:cNvSpPr/>
          <p:nvPr/>
        </p:nvSpPr>
        <p:spPr>
          <a:xfrm>
            <a:off x="457200" y="1234440"/>
            <a:ext cx="54864" cy="1600200"/>
          </a:xfrm>
          <a:prstGeom prst="rect">
            <a:avLst/>
          </a:prstGeom>
          <a:solidFill>
            <a:srgbClr val="3B7DD8"/>
          </a:solidFill>
          <a:ln/>
        </p:spPr>
      </p:sp>
      <p:sp>
        <p:nvSpPr>
          <p:cNvPr id="8" name="Text 6"/>
          <p:cNvSpPr/>
          <p:nvPr/>
        </p:nvSpPr>
        <p:spPr>
          <a:xfrm>
            <a:off x="594360" y="1280160"/>
            <a:ext cx="3657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A27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客室の消臭対策の強化</a:t>
            </a:r>
            <a:endParaRPr lang="en-US" sz="1200" dirty="0"/>
          </a:p>
        </p:txBody>
      </p:sp>
      <p:sp>
        <p:nvSpPr>
          <p:cNvPr id="9" name="Text 7"/>
          <p:cNvSpPr/>
          <p:nvPr/>
        </p:nvSpPr>
        <p:spPr>
          <a:xfrm>
            <a:off x="594360" y="1600200"/>
            <a:ext cx="365760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spcAft>
                <a:spcPts val="300"/>
              </a:spcAft>
              <a:buSzPct val="100000"/>
              <a:buChar char="•"/>
            </a:pPr>
            <a:r>
              <a:rPr lang="en-US" sz="900" dirty="0">
                <a:solidFill>
                  <a:srgbClr val="3341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チェックアウト後の換気・消臭スプレー処理の徹底</a:t>
            </a:r>
            <a:endParaRPr lang="en-US" sz="900" dirty="0"/>
          </a:p>
          <a:p>
            <a:pPr marL="342900" indent="-342900">
              <a:spcAft>
                <a:spcPts val="300"/>
              </a:spcAft>
              <a:buSzPct val="100000"/>
              <a:buChar char="•"/>
            </a:pPr>
            <a:r>
              <a:rPr lang="en-US" sz="900" dirty="0">
                <a:solidFill>
                  <a:srgbClr val="3341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定期的な脱臭剤の設置と交換フローの確立</a:t>
            </a:r>
            <a:endParaRPr lang="en-US" sz="900" dirty="0"/>
          </a:p>
          <a:p>
            <a:pPr marL="342900" indent="-342900">
              <a:spcAft>
                <a:spcPts val="300"/>
              </a:spcAft>
              <a:buSzPct val="100000"/>
              <a:buChar char="•"/>
            </a:pPr>
            <a:r>
              <a:rPr lang="en-US" sz="900" dirty="0">
                <a:solidFill>
                  <a:srgbClr val="3341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喫煙・臭いに関するクレーム発生時の即座対応マニュアル作成</a:t>
            </a:r>
            <a:endParaRPr lang="en-US" sz="900" dirty="0"/>
          </a:p>
        </p:txBody>
      </p:sp>
      <p:sp>
        <p:nvSpPr>
          <p:cNvPr id="10" name="Shape 8"/>
          <p:cNvSpPr/>
          <p:nvPr/>
        </p:nvSpPr>
        <p:spPr>
          <a:xfrm>
            <a:off x="4663440" y="1234440"/>
            <a:ext cx="3977640" cy="160020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50800" dist="25400" dir="8100000">
              <a:srgbClr val="000000">
                <a:alpha val="10000"/>
              </a:srgbClr>
            </a:outerShdw>
          </a:effectLst>
        </p:spPr>
      </p:sp>
      <p:sp>
        <p:nvSpPr>
          <p:cNvPr id="11" name="Shape 9"/>
          <p:cNvSpPr/>
          <p:nvPr/>
        </p:nvSpPr>
        <p:spPr>
          <a:xfrm>
            <a:off x="4663440" y="1234440"/>
            <a:ext cx="54864" cy="1600200"/>
          </a:xfrm>
          <a:prstGeom prst="rect">
            <a:avLst/>
          </a:prstGeom>
          <a:solidFill>
            <a:srgbClr val="3B7DD8"/>
          </a:solidFill>
          <a:ln/>
        </p:spPr>
      </p:sp>
      <p:sp>
        <p:nvSpPr>
          <p:cNvPr id="12" name="Text 10"/>
          <p:cNvSpPr/>
          <p:nvPr/>
        </p:nvSpPr>
        <p:spPr>
          <a:xfrm>
            <a:off x="4800600" y="1280160"/>
            <a:ext cx="3657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A27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清掃品質の向上</a:t>
            </a:r>
            <a:endParaRPr lang="en-US" sz="1200" dirty="0"/>
          </a:p>
        </p:txBody>
      </p:sp>
      <p:sp>
        <p:nvSpPr>
          <p:cNvPr id="13" name="Text 11"/>
          <p:cNvSpPr/>
          <p:nvPr/>
        </p:nvSpPr>
        <p:spPr>
          <a:xfrm>
            <a:off x="4800600" y="1600200"/>
            <a:ext cx="365760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spcAft>
                <a:spcPts val="300"/>
              </a:spcAft>
              <a:buSzPct val="100000"/>
              <a:buChar char="•"/>
            </a:pPr>
            <a:r>
              <a:rPr lang="en-US" sz="900" dirty="0">
                <a:solidFill>
                  <a:srgbClr val="3341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清掃チェックリストの見直しと強化（ベッド下・隅の重点確認）</a:t>
            </a:r>
            <a:endParaRPr lang="en-US" sz="900" dirty="0"/>
          </a:p>
          <a:p>
            <a:pPr marL="342900" indent="-342900">
              <a:spcAft>
                <a:spcPts val="300"/>
              </a:spcAft>
              <a:buSzPct val="100000"/>
              <a:buChar char="•"/>
            </a:pPr>
            <a:r>
              <a:rPr lang="en-US" sz="900" dirty="0">
                <a:solidFill>
                  <a:srgbClr val="3341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清掃後のダブルチェック体制の導入</a:t>
            </a:r>
            <a:endParaRPr lang="en-US" sz="900" dirty="0"/>
          </a:p>
          <a:p>
            <a:pPr marL="342900" indent="-342900">
              <a:spcAft>
                <a:spcPts val="300"/>
              </a:spcAft>
              <a:buSzPct val="100000"/>
              <a:buChar char="•"/>
            </a:pPr>
            <a:r>
              <a:rPr lang="en-US" sz="900" dirty="0">
                <a:solidFill>
                  <a:srgbClr val="3341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清掃スタッフへの再研修実施</a:t>
            </a:r>
            <a:endParaRPr lang="en-US" sz="900" dirty="0"/>
          </a:p>
        </p:txBody>
      </p:sp>
      <p:sp>
        <p:nvSpPr>
          <p:cNvPr id="14" name="Shape 12"/>
          <p:cNvSpPr/>
          <p:nvPr/>
        </p:nvSpPr>
        <p:spPr>
          <a:xfrm>
            <a:off x="457200" y="3017520"/>
            <a:ext cx="3977640" cy="160020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50800" dist="25400" dir="8100000">
              <a:srgbClr val="000000">
                <a:alpha val="10000"/>
              </a:srgbClr>
            </a:outerShdw>
          </a:effectLst>
        </p:spPr>
      </p:sp>
      <p:sp>
        <p:nvSpPr>
          <p:cNvPr id="15" name="Shape 13"/>
          <p:cNvSpPr/>
          <p:nvPr/>
        </p:nvSpPr>
        <p:spPr>
          <a:xfrm>
            <a:off x="457200" y="3017520"/>
            <a:ext cx="54864" cy="1600200"/>
          </a:xfrm>
          <a:prstGeom prst="rect">
            <a:avLst/>
          </a:prstGeom>
          <a:solidFill>
            <a:srgbClr val="3B7DD8"/>
          </a:solidFill>
          <a:ln/>
        </p:spPr>
      </p:sp>
      <p:sp>
        <p:nvSpPr>
          <p:cNvPr id="16" name="Text 14"/>
          <p:cNvSpPr/>
          <p:nvPr/>
        </p:nvSpPr>
        <p:spPr>
          <a:xfrm>
            <a:off x="594360" y="3063240"/>
            <a:ext cx="3657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A27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エアコン・空調の定期点検強化</a:t>
            </a:r>
            <a:endParaRPr lang="en-US" sz="1200" dirty="0"/>
          </a:p>
        </p:txBody>
      </p:sp>
      <p:sp>
        <p:nvSpPr>
          <p:cNvPr id="17" name="Text 15"/>
          <p:cNvSpPr/>
          <p:nvPr/>
        </p:nvSpPr>
        <p:spPr>
          <a:xfrm>
            <a:off x="594360" y="3383280"/>
            <a:ext cx="365760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spcAft>
                <a:spcPts val="300"/>
              </a:spcAft>
              <a:buSzPct val="100000"/>
              <a:buChar char="•"/>
            </a:pPr>
            <a:r>
              <a:rPr lang="en-US" sz="900" dirty="0">
                <a:solidFill>
                  <a:srgbClr val="3341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全室のエアコン設定を季節に応じてデフォルト確認する運用フロー導入</a:t>
            </a:r>
            <a:endParaRPr lang="en-US" sz="900" dirty="0"/>
          </a:p>
          <a:p>
            <a:pPr marL="342900" indent="-342900">
              <a:spcAft>
                <a:spcPts val="300"/>
              </a:spcAft>
              <a:buSzPct val="100000"/>
              <a:buChar char="•"/>
            </a:pPr>
            <a:r>
              <a:rPr lang="en-US" sz="900" dirty="0">
                <a:solidFill>
                  <a:srgbClr val="3341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冷暖房の正常動作を定期チェックリストに追加</a:t>
            </a:r>
            <a:endParaRPr lang="en-US" sz="900" dirty="0"/>
          </a:p>
          <a:p>
            <a:pPr marL="342900" indent="-342900">
              <a:spcAft>
                <a:spcPts val="300"/>
              </a:spcAft>
              <a:buSzPct val="100000"/>
              <a:buChar char="•"/>
            </a:pPr>
            <a:r>
              <a:rPr lang="en-US" sz="900" dirty="0">
                <a:solidFill>
                  <a:srgbClr val="3341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異常報告があった客室の優先メンテナンス実施</a:t>
            </a:r>
            <a:endParaRPr lang="en-US" sz="900" dirty="0"/>
          </a:p>
        </p:txBody>
      </p:sp>
      <p:sp>
        <p:nvSpPr>
          <p:cNvPr id="18" name="Shape 16"/>
          <p:cNvSpPr/>
          <p:nvPr/>
        </p:nvSpPr>
        <p:spPr>
          <a:xfrm>
            <a:off x="4663440" y="3017520"/>
            <a:ext cx="3977640" cy="160020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50800" dist="25400" dir="8100000">
              <a:srgbClr val="000000">
                <a:alpha val="10000"/>
              </a:srgbClr>
            </a:outerShdw>
          </a:effectLst>
        </p:spPr>
      </p:sp>
      <p:sp>
        <p:nvSpPr>
          <p:cNvPr id="19" name="Shape 17"/>
          <p:cNvSpPr/>
          <p:nvPr/>
        </p:nvSpPr>
        <p:spPr>
          <a:xfrm>
            <a:off x="4663440" y="3017520"/>
            <a:ext cx="54864" cy="1600200"/>
          </a:xfrm>
          <a:prstGeom prst="rect">
            <a:avLst/>
          </a:prstGeom>
          <a:solidFill>
            <a:srgbClr val="3B7DD8"/>
          </a:solidFill>
          <a:ln/>
        </p:spPr>
      </p:sp>
      <p:sp>
        <p:nvSpPr>
          <p:cNvPr id="20" name="Text 18"/>
          <p:cNvSpPr/>
          <p:nvPr/>
        </p:nvSpPr>
        <p:spPr>
          <a:xfrm>
            <a:off x="4800600" y="3063240"/>
            <a:ext cx="3657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A27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スタッフ対応品質の統一</a:t>
            </a:r>
            <a:endParaRPr lang="en-US" sz="1200" dirty="0"/>
          </a:p>
        </p:txBody>
      </p:sp>
      <p:sp>
        <p:nvSpPr>
          <p:cNvPr id="21" name="Text 19"/>
          <p:cNvSpPr/>
          <p:nvPr/>
        </p:nvSpPr>
        <p:spPr>
          <a:xfrm>
            <a:off x="4800600" y="3383280"/>
            <a:ext cx="365760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spcAft>
                <a:spcPts val="300"/>
              </a:spcAft>
              <a:buSzPct val="100000"/>
              <a:buChar char="•"/>
            </a:pPr>
            <a:r>
              <a:rPr lang="en-US" sz="900" dirty="0">
                <a:solidFill>
                  <a:srgbClr val="3341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接客マニュアルの見直しと全スタッフへの周知</a:t>
            </a:r>
            <a:endParaRPr lang="en-US" sz="900" dirty="0"/>
          </a:p>
          <a:p>
            <a:pPr marL="342900" indent="-342900">
              <a:spcAft>
                <a:spcPts val="300"/>
              </a:spcAft>
              <a:buSzPct val="100000"/>
              <a:buChar char="•"/>
            </a:pPr>
            <a:r>
              <a:rPr lang="en-US" sz="900" dirty="0">
                <a:solidFill>
                  <a:srgbClr val="3341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ゲストからのクレーム対応フローの明確化</a:t>
            </a:r>
            <a:endParaRPr lang="en-US" sz="900" dirty="0"/>
          </a:p>
          <a:p>
            <a:pPr marL="342900" indent="-342900">
              <a:spcAft>
                <a:spcPts val="300"/>
              </a:spcAft>
              <a:buSzPct val="100000"/>
              <a:buChar char="•"/>
            </a:pPr>
            <a:r>
              <a:rPr lang="en-US" sz="900" dirty="0">
                <a:solidFill>
                  <a:srgbClr val="3341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定期的なCS研修の実施</a:t>
            </a:r>
            <a:endParaRPr lang="en-US" sz="900" dirty="0"/>
          </a:p>
        </p:txBody>
      </p:sp>
      <p:sp>
        <p:nvSpPr>
          <p:cNvPr id="22" name="Shape 20"/>
          <p:cNvSpPr/>
          <p:nvPr/>
        </p:nvSpPr>
        <p:spPr>
          <a:xfrm>
            <a:off x="0" y="4800600"/>
            <a:ext cx="9144000" cy="34290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23" name="Text 21"/>
          <p:cNvSpPr/>
          <p:nvPr/>
        </p:nvSpPr>
        <p:spPr>
          <a:xfrm>
            <a:off x="457200" y="4800600"/>
            <a:ext cx="2743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Confidential</a:t>
            </a:r>
            <a:endParaRPr lang="en-US" sz="800" dirty="0"/>
          </a:p>
        </p:txBody>
      </p:sp>
      <p:sp>
        <p:nvSpPr>
          <p:cNvPr id="24" name="Text 22"/>
          <p:cNvSpPr/>
          <p:nvPr/>
        </p:nvSpPr>
        <p:spPr>
          <a:xfrm>
            <a:off x="8229600" y="4800600"/>
            <a:ext cx="457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8</a:t>
            </a:r>
            <a:endParaRPr lang="en-US" sz="8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5F7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77724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3" name="Text 1"/>
          <p:cNvSpPr/>
          <p:nvPr/>
        </p:nvSpPr>
        <p:spPr>
          <a:xfrm>
            <a:off x="548640" y="73152"/>
            <a:ext cx="7315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改善施策 Phase 2・3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548640" y="45720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9BE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Short-term &amp; Mid-term Actions</a:t>
            </a:r>
            <a:endParaRPr lang="en-US" sz="1000" dirty="0"/>
          </a:p>
        </p:txBody>
      </p:sp>
      <p:sp>
        <p:nvSpPr>
          <p:cNvPr id="5" name="Shape 3"/>
          <p:cNvSpPr/>
          <p:nvPr/>
        </p:nvSpPr>
        <p:spPr>
          <a:xfrm>
            <a:off x="457200" y="1005840"/>
            <a:ext cx="3977640" cy="347472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50800" dist="25400" dir="8100000">
              <a:srgbClr val="000000">
                <a:alpha val="10000"/>
              </a:srgbClr>
            </a:outerShdw>
          </a:effectLst>
        </p:spPr>
      </p:sp>
      <p:sp>
        <p:nvSpPr>
          <p:cNvPr id="6" name="Shape 4"/>
          <p:cNvSpPr/>
          <p:nvPr/>
        </p:nvSpPr>
        <p:spPr>
          <a:xfrm>
            <a:off x="457200" y="1005840"/>
            <a:ext cx="3977640" cy="365760"/>
          </a:xfrm>
          <a:prstGeom prst="rect">
            <a:avLst/>
          </a:prstGeom>
          <a:solidFill>
            <a:srgbClr val="3B7DD8"/>
          </a:solidFill>
          <a:ln/>
        </p:spPr>
      </p:sp>
      <p:sp>
        <p:nvSpPr>
          <p:cNvPr id="7" name="Text 5"/>
          <p:cNvSpPr/>
          <p:nvPr/>
        </p:nvSpPr>
        <p:spPr>
          <a:xfrm>
            <a:off x="594360" y="1005840"/>
            <a:ext cx="3657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Phase 2：短期施策（1〜3ヶ月）</a:t>
            </a:r>
            <a:endParaRPr lang="en-US" sz="1200" dirty="0"/>
          </a:p>
        </p:txBody>
      </p:sp>
      <p:sp>
        <p:nvSpPr>
          <p:cNvPr id="8" name="Text 6"/>
          <p:cNvSpPr/>
          <p:nvPr/>
        </p:nvSpPr>
        <p:spPr>
          <a:xfrm>
            <a:off x="640080" y="1463040"/>
            <a:ext cx="3474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1A27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浴室の快適性向上</a:t>
            </a:r>
            <a:endParaRPr lang="en-US" sz="1000" dirty="0"/>
          </a:p>
        </p:txBody>
      </p:sp>
      <p:sp>
        <p:nvSpPr>
          <p:cNvPr id="9" name="Text 7"/>
          <p:cNvSpPr/>
          <p:nvPr/>
        </p:nvSpPr>
        <p:spPr>
          <a:xfrm>
            <a:off x="640080" y="1719072"/>
            <a:ext cx="3474720" cy="6949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spcAft>
                <a:spcPts val="200"/>
              </a:spcAft>
              <a:buSzPct val="100000"/>
              <a:buChar char="•"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排水口の清掃・修繕を全室で実施し、排水速度を改善</a:t>
            </a:r>
            <a:endParaRPr lang="en-US" sz="900" dirty="0"/>
          </a:p>
          <a:p>
            <a:pPr marL="342900" indent="-342900">
              <a:spcAft>
                <a:spcPts val="200"/>
              </a:spcAft>
              <a:buSzPct val="100000"/>
              <a:buChar char="•"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シャワーヘッドの交換（水圧改善・節水タイプ導入）</a:t>
            </a:r>
            <a:endParaRPr lang="en-US" sz="900" dirty="0"/>
          </a:p>
          <a:p>
            <a:pPr marL="342900" indent="-342900">
              <a:spcAft>
                <a:spcPts val="200"/>
              </a:spcAft>
              <a:buSzPct val="100000"/>
              <a:buChar char="•"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浴室換気・暖房設備の点検と改善</a:t>
            </a:r>
            <a:endParaRPr lang="en-US" sz="900" dirty="0"/>
          </a:p>
        </p:txBody>
      </p:sp>
      <p:sp>
        <p:nvSpPr>
          <p:cNvPr id="10" name="Text 8"/>
          <p:cNvSpPr/>
          <p:nvPr/>
        </p:nvSpPr>
        <p:spPr>
          <a:xfrm>
            <a:off x="640080" y="2505456"/>
            <a:ext cx="3474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1A27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防音対策の強化</a:t>
            </a:r>
            <a:endParaRPr lang="en-US" sz="1000" dirty="0"/>
          </a:p>
        </p:txBody>
      </p:sp>
      <p:sp>
        <p:nvSpPr>
          <p:cNvPr id="11" name="Text 9"/>
          <p:cNvSpPr/>
          <p:nvPr/>
        </p:nvSpPr>
        <p:spPr>
          <a:xfrm>
            <a:off x="640080" y="2761488"/>
            <a:ext cx="3474720" cy="6949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spcAft>
                <a:spcPts val="200"/>
              </a:spcAft>
              <a:buSzPct val="100000"/>
              <a:buChar char="•"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窓際への防音カーテン導入（外部騒音対策）</a:t>
            </a:r>
            <a:endParaRPr lang="en-US" sz="900" dirty="0"/>
          </a:p>
          <a:p>
            <a:pPr marL="342900" indent="-342900">
              <a:spcAft>
                <a:spcPts val="200"/>
              </a:spcAft>
              <a:buSzPct val="100000"/>
              <a:buChar char="•"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ドア下部への隙間テープ設置（廊下・隣室からの音漏れ軽減）</a:t>
            </a:r>
            <a:endParaRPr lang="en-US" sz="900" dirty="0"/>
          </a:p>
          <a:p>
            <a:pPr marL="342900" indent="-342900">
              <a:spcAft>
                <a:spcPts val="200"/>
              </a:spcAft>
              <a:buSzPct val="100000"/>
              <a:buChar char="•"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騒音の少ない客室への優先案内の仕組み化</a:t>
            </a:r>
            <a:endParaRPr lang="en-US" sz="900" dirty="0"/>
          </a:p>
        </p:txBody>
      </p:sp>
      <p:sp>
        <p:nvSpPr>
          <p:cNvPr id="12" name="Text 10"/>
          <p:cNvSpPr/>
          <p:nvPr/>
        </p:nvSpPr>
        <p:spPr>
          <a:xfrm>
            <a:off x="640080" y="3547872"/>
            <a:ext cx="3474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1A27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窓・採光環境の改善</a:t>
            </a:r>
            <a:endParaRPr lang="en-US" sz="1000" dirty="0"/>
          </a:p>
        </p:txBody>
      </p:sp>
      <p:sp>
        <p:nvSpPr>
          <p:cNvPr id="13" name="Text 11"/>
          <p:cNvSpPr/>
          <p:nvPr/>
        </p:nvSpPr>
        <p:spPr>
          <a:xfrm>
            <a:off x="640080" y="3803904"/>
            <a:ext cx="3474720" cy="6949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spcAft>
                <a:spcPts val="200"/>
              </a:spcAft>
              <a:buSzPct val="100000"/>
              <a:buChar char="•"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遮光カーテンとレースカーテンの品質見直し</a:t>
            </a:r>
            <a:endParaRPr lang="en-US" sz="900" dirty="0"/>
          </a:p>
          <a:p>
            <a:pPr marL="342900" indent="-342900">
              <a:spcAft>
                <a:spcPts val="200"/>
              </a:spcAft>
              <a:buSzPct val="100000"/>
              <a:buChar char="•"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窓の開閉可否に関する事前案内の徹底</a:t>
            </a:r>
            <a:endParaRPr lang="en-US" sz="900" dirty="0"/>
          </a:p>
          <a:p>
            <a:pPr marL="342900" indent="-342900">
              <a:spcAft>
                <a:spcPts val="200"/>
              </a:spcAft>
              <a:buSzPct val="100000"/>
              <a:buChar char="•"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採光の良い客室の優先割り当てルール整備</a:t>
            </a:r>
            <a:endParaRPr lang="en-US" sz="900" dirty="0"/>
          </a:p>
        </p:txBody>
      </p:sp>
      <p:sp>
        <p:nvSpPr>
          <p:cNvPr id="14" name="Shape 12"/>
          <p:cNvSpPr/>
          <p:nvPr/>
        </p:nvSpPr>
        <p:spPr>
          <a:xfrm>
            <a:off x="4709160" y="1005840"/>
            <a:ext cx="3977640" cy="347472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50800" dist="25400" dir="8100000">
              <a:srgbClr val="000000">
                <a:alpha val="10000"/>
              </a:srgbClr>
            </a:outerShdw>
          </a:effectLst>
        </p:spPr>
      </p:sp>
      <p:sp>
        <p:nvSpPr>
          <p:cNvPr id="15" name="Shape 13"/>
          <p:cNvSpPr/>
          <p:nvPr/>
        </p:nvSpPr>
        <p:spPr>
          <a:xfrm>
            <a:off x="4709160" y="1005840"/>
            <a:ext cx="3977640" cy="36576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16" name="Text 14"/>
          <p:cNvSpPr/>
          <p:nvPr/>
        </p:nvSpPr>
        <p:spPr>
          <a:xfrm>
            <a:off x="4846320" y="1005840"/>
            <a:ext cx="3657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Phase 3：中期施策（3〜6ヶ月）</a:t>
            </a:r>
            <a:endParaRPr lang="en-US" sz="1200" dirty="0"/>
          </a:p>
        </p:txBody>
      </p:sp>
      <p:sp>
        <p:nvSpPr>
          <p:cNvPr id="17" name="Text 15"/>
          <p:cNvSpPr/>
          <p:nvPr/>
        </p:nvSpPr>
        <p:spPr>
          <a:xfrm>
            <a:off x="4892040" y="1463040"/>
            <a:ext cx="3474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1A27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客室リニューアル計画</a:t>
            </a:r>
            <a:endParaRPr lang="en-US" sz="1000" dirty="0"/>
          </a:p>
        </p:txBody>
      </p:sp>
      <p:sp>
        <p:nvSpPr>
          <p:cNvPr id="18" name="Text 16"/>
          <p:cNvSpPr/>
          <p:nvPr/>
        </p:nvSpPr>
        <p:spPr>
          <a:xfrm>
            <a:off x="4892040" y="1719072"/>
            <a:ext cx="3474720" cy="6949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spcAft>
                <a:spcPts val="200"/>
              </a:spcAft>
              <a:buSzPct val="100000"/>
              <a:buChar char="•"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壁紙・カーペットの張替えによる「古さ」印象の払拭</a:t>
            </a:r>
            <a:endParaRPr lang="en-US" sz="900" dirty="0"/>
          </a:p>
          <a:p>
            <a:pPr marL="342900" indent="-342900">
              <a:spcAft>
                <a:spcPts val="200"/>
              </a:spcAft>
              <a:buSzPct val="100000"/>
              <a:buChar char="•"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照明のLED化・調光機能の追加で客室の雰囲気向上</a:t>
            </a:r>
            <a:endParaRPr lang="en-US" sz="900" dirty="0"/>
          </a:p>
          <a:p>
            <a:pPr marL="342900" indent="-342900">
              <a:spcAft>
                <a:spcPts val="200"/>
              </a:spcAft>
              <a:buSzPct val="100000"/>
              <a:buChar char="•"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USB充電ポート付きコンセントの設置</a:t>
            </a:r>
            <a:endParaRPr lang="en-US" sz="900" dirty="0"/>
          </a:p>
        </p:txBody>
      </p:sp>
      <p:sp>
        <p:nvSpPr>
          <p:cNvPr id="19" name="Text 17"/>
          <p:cNvSpPr/>
          <p:nvPr/>
        </p:nvSpPr>
        <p:spPr>
          <a:xfrm>
            <a:off x="4892040" y="2505456"/>
            <a:ext cx="3474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1A27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浴室の抜本的改修</a:t>
            </a:r>
            <a:endParaRPr lang="en-US" sz="1000" dirty="0"/>
          </a:p>
        </p:txBody>
      </p:sp>
      <p:sp>
        <p:nvSpPr>
          <p:cNvPr id="20" name="Text 18"/>
          <p:cNvSpPr/>
          <p:nvPr/>
        </p:nvSpPr>
        <p:spPr>
          <a:xfrm>
            <a:off x="4892040" y="2761488"/>
            <a:ext cx="3474720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spcAft>
                <a:spcPts val="200"/>
              </a:spcAft>
              <a:buSzPct val="100000"/>
              <a:buChar char="•"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配管更新による排水問題の根本解決</a:t>
            </a:r>
            <a:endParaRPr lang="en-US" sz="900" dirty="0"/>
          </a:p>
          <a:p>
            <a:pPr marL="342900" indent="-342900">
              <a:spcAft>
                <a:spcPts val="200"/>
              </a:spcAft>
              <a:buSzPct val="100000"/>
              <a:buChar char="•"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換気設備の強化による浴室内の温度・湿度改善</a:t>
            </a:r>
            <a:endParaRPr lang="en-US" sz="900" dirty="0"/>
          </a:p>
        </p:txBody>
      </p:sp>
      <p:sp>
        <p:nvSpPr>
          <p:cNvPr id="21" name="Text 19"/>
          <p:cNvSpPr/>
          <p:nvPr/>
        </p:nvSpPr>
        <p:spPr>
          <a:xfrm>
            <a:off x="4892040" y="3346704"/>
            <a:ext cx="3474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1A27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防音工事</a:t>
            </a:r>
            <a:endParaRPr lang="en-US" sz="1000" dirty="0"/>
          </a:p>
        </p:txBody>
      </p:sp>
      <p:sp>
        <p:nvSpPr>
          <p:cNvPr id="22" name="Text 20"/>
          <p:cNvSpPr/>
          <p:nvPr/>
        </p:nvSpPr>
        <p:spPr>
          <a:xfrm>
            <a:off x="4892040" y="3602736"/>
            <a:ext cx="3474720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spcAft>
                <a:spcPts val="200"/>
              </a:spcAft>
              <a:buSzPct val="100000"/>
              <a:buChar char="•"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騒音源側客室の窓を二重サッシに交換</a:t>
            </a:r>
            <a:endParaRPr lang="en-US" sz="900" dirty="0"/>
          </a:p>
          <a:p>
            <a:pPr marL="342900" indent="-342900">
              <a:spcAft>
                <a:spcPts val="200"/>
              </a:spcAft>
              <a:buSzPct val="100000"/>
              <a:buChar char="•"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隣室との壁面に遮音材を追加する改修工事の検討</a:t>
            </a:r>
            <a:endParaRPr lang="en-US" sz="900" dirty="0"/>
          </a:p>
        </p:txBody>
      </p:sp>
      <p:sp>
        <p:nvSpPr>
          <p:cNvPr id="23" name="Shape 21"/>
          <p:cNvSpPr/>
          <p:nvPr/>
        </p:nvSpPr>
        <p:spPr>
          <a:xfrm>
            <a:off x="0" y="4800600"/>
            <a:ext cx="9144000" cy="34290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24" name="Text 22"/>
          <p:cNvSpPr/>
          <p:nvPr/>
        </p:nvSpPr>
        <p:spPr>
          <a:xfrm>
            <a:off x="457200" y="4800600"/>
            <a:ext cx="2743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Confidential</a:t>
            </a:r>
            <a:endParaRPr lang="en-US" sz="800" dirty="0"/>
          </a:p>
        </p:txBody>
      </p:sp>
      <p:sp>
        <p:nvSpPr>
          <p:cNvPr id="25" name="Text 23"/>
          <p:cNvSpPr/>
          <p:nvPr/>
        </p:nvSpPr>
        <p:spPr>
          <a:xfrm>
            <a:off x="8229600" y="4800600"/>
            <a:ext cx="457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9</a:t>
            </a:r>
            <a:endParaRPr lang="en-US" sz="8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5F7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77724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3" name="Text 1"/>
          <p:cNvSpPr/>
          <p:nvPr/>
        </p:nvSpPr>
        <p:spPr>
          <a:xfrm>
            <a:off x="548640" y="73152"/>
            <a:ext cx="7315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KPI目標設定・まとめ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548640" y="45720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9BE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Key Performance Indicators &amp; Summary</a:t>
            </a:r>
            <a:endParaRPr lang="en-US" sz="1000" dirty="0"/>
          </a:p>
        </p:txBody>
      </p:sp>
      <p:graphicFrame>
        <p:nvGraphicFramePr>
          <p:cNvPr id="11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1097280"/>
          <a:ext cx="8229600" cy="91440"/>
        </p:xfrm>
        <a:graphic>
          <a:graphicData uri="http://schemas.openxmlformats.org/drawingml/2006/table">
            <a:tbl>
              <a:tblPr/>
              <a:tblGrid>
                <a:gridCol w="2560320"/>
                <a:gridCol w="1828800"/>
                <a:gridCol w="2011680"/>
                <a:gridCol w="1828800"/>
              </a:tblGrid>
              <a:tr h="3200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KPI項目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2744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現状値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2744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目標値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2744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期限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2744"/>
                    </a:solidFill>
                  </a:tcPr>
                </a:tc>
              </a:tr>
              <a:tr h="3200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3341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全体平均(10pt換算)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F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4748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9.49点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F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16A34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9.7点以上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F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4748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2026年9月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FF8"/>
                    </a:solidFill>
                  </a:tcPr>
                </a:tc>
              </a:tr>
              <a:tr h="3200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3341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高評価率（8-10点）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4748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93.7%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16A34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96%以上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4748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2026年9月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200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3341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低評価率（1-4点）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F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4748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2.5%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F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16A34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0%以下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F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4748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2026年9月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FF8"/>
                    </a:solidFill>
                  </a:tcPr>
                </a:tc>
              </a:tr>
              <a:tr h="3200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3341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Agoda平均評価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4748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4.0点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16A34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5.0点以上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4748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2026年9月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200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3341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口コミ返信率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F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4748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未計測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F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16A34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100%（48h以内）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F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4748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2026年6月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FF8"/>
                    </a:solidFill>
                  </a:tcPr>
                </a:tc>
              </a:tr>
              <a:tr h="3200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3341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部屋の狭さクレーム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4748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約11件/期間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16A34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5件以下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4748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2026年9月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6" name="Shape 3"/>
          <p:cNvSpPr/>
          <p:nvPr/>
        </p:nvSpPr>
        <p:spPr>
          <a:xfrm>
            <a:off x="457200" y="3429000"/>
            <a:ext cx="8229600" cy="64008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50800" dist="25400" dir="8100000">
              <a:srgbClr val="000000">
                <a:alpha val="10000"/>
              </a:srgbClr>
            </a:outerShdw>
          </a:effectLst>
        </p:spPr>
      </p:sp>
      <p:sp>
        <p:nvSpPr>
          <p:cNvPr id="7" name="Shape 4"/>
          <p:cNvSpPr/>
          <p:nvPr/>
        </p:nvSpPr>
        <p:spPr>
          <a:xfrm>
            <a:off x="457200" y="3429000"/>
            <a:ext cx="54864" cy="640080"/>
          </a:xfrm>
          <a:prstGeom prst="rect">
            <a:avLst/>
          </a:prstGeom>
          <a:solidFill>
            <a:srgbClr val="3B7DD8"/>
          </a:solidFill>
          <a:ln/>
        </p:spPr>
      </p:sp>
      <p:sp>
        <p:nvSpPr>
          <p:cNvPr id="8" name="Text 5"/>
          <p:cNvSpPr/>
          <p:nvPr/>
        </p:nvSpPr>
        <p:spPr>
          <a:xfrm>
            <a:off x="640080" y="3429000"/>
            <a:ext cx="78638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1A27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モニタリング方針：</a:t>
            </a:r>
            <a:pPr indent="0" marL="0">
              <a:buNone/>
            </a:pPr>
            <a:r>
              <a:rPr lang="en-US" sz="10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毎月のサイト別スコア集計と口コミ内容の定性分析を実施。四半期ごとに改善施策の効果を検証し、Phase 2・3の優先順位を見直します。</a:t>
            </a:r>
            <a:endParaRPr lang="en-US" sz="1000" dirty="0"/>
          </a:p>
        </p:txBody>
      </p:sp>
      <p:sp>
        <p:nvSpPr>
          <p:cNvPr id="9" name="Shape 6"/>
          <p:cNvSpPr/>
          <p:nvPr/>
        </p:nvSpPr>
        <p:spPr>
          <a:xfrm>
            <a:off x="0" y="4800600"/>
            <a:ext cx="9144000" cy="34290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10" name="Text 7"/>
          <p:cNvSpPr/>
          <p:nvPr/>
        </p:nvSpPr>
        <p:spPr>
          <a:xfrm>
            <a:off x="457200" y="4800600"/>
            <a:ext cx="2743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Confidential</a:t>
            </a:r>
            <a:endParaRPr lang="en-US" sz="800" dirty="0"/>
          </a:p>
        </p:txBody>
      </p:sp>
      <p:sp>
        <p:nvSpPr>
          <p:cNvPr id="11" name="Text 8"/>
          <p:cNvSpPr/>
          <p:nvPr/>
        </p:nvSpPr>
        <p:spPr>
          <a:xfrm>
            <a:off x="8229600" y="4800600"/>
            <a:ext cx="457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</a:t>
            </a:r>
            <a:endParaRPr lang="en-US" sz="8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10</Slides>
  <Notes>10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10</vt:i4>
      </vt:variant>
    </vt:vector>
  </HeadingPairs>
  <TitlesOfParts>
    <vt:vector size="13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第一イン池袋 口コミ分析改善レポート</dc:title>
  <dc:subject>PptxGenJS Presentation</dc:subject>
  <dc:creator>Hotel Consulting</dc:creator>
  <cp:lastModifiedBy>Hotel Consulting</cp:lastModifiedBy>
  <cp:revision>1</cp:revision>
  <dcterms:created xsi:type="dcterms:W3CDTF">2026-04-04T23:43:28Z</dcterms:created>
  <dcterms:modified xsi:type="dcterms:W3CDTF">2026-04-04T23:43:28Z</dcterms:modified>
</cp:coreProperties>
</file>