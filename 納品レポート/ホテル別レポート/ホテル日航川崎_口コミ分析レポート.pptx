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じゃらん</c:v>
                  </c:pt>
                  <c:pt idx="2">
                    <c:v>楽天トラベル</c:v>
                  </c:pt>
                  <c:pt idx="3">
                    <c:v>Booking.com</c:v>
                  </c:pt>
                  <c:pt idx="4">
                    <c:v>Google</c:v>
                  </c:pt>
                  <c:pt idx="5">
                    <c:v>Agoda</c:v>
                  </c:pt>
                </c:lvl>
              </c:multiLvlStrCache>
            </c:multiLvlStrRef>
          </c:cat>
          <c:val>
            <c:numRef>
              <c:f>Sheet1!$B$2:$B$7</c:f>
              <c:numCache>
                <c:formatCode>General</c:formatCode>
                <c:ptCount val="6"/>
                <c:pt idx="0">
                  <c:v>9.63</c:v>
                </c:pt>
                <c:pt idx="1">
                  <c:v>9</c:v>
                </c:pt>
                <c:pt idx="2">
                  <c:v>9</c:v>
                </c:pt>
                <c:pt idx="3">
                  <c:v>8.65</c:v>
                </c:pt>
                <c:pt idx="4">
                  <c:v>7.16</c:v>
                </c:pt>
                <c:pt idx="5">
                  <c:v>7</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4A843"/>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106</c:v>
                </c:pt>
                <c:pt idx="1">
                  <c:v>22</c:v>
                </c:pt>
                <c:pt idx="2">
                  <c:v>2</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cat>
            <c:multiLvlStrRef>
              <c:f>Sheet1!$A$2:$A$7</c:f>
              <c:multiLvlStrCache>
                <c:ptCount val="6"/>
                <c:lvl>
                  <c:pt idx="0">
                    <c:v>10点</c:v>
                  </c:pt>
                  <c:pt idx="1">
                    <c:v>9点</c:v>
                  </c:pt>
                  <c:pt idx="2">
                    <c:v>8点</c:v>
                  </c:pt>
                  <c:pt idx="3">
                    <c:v>7点</c:v>
                  </c:pt>
                  <c:pt idx="4">
                    <c:v>6点</c:v>
                  </c:pt>
                  <c:pt idx="5">
                    <c:v>5点以下</c:v>
                  </c:pt>
                </c:lvl>
              </c:multiLvlStrCache>
            </c:multiLvlStrRef>
          </c:cat>
          <c:val>
            <c:numRef>
              <c:f>Sheet1!$B$2:$B$7</c:f>
              <c:numCache>
                <c:formatCode>General</c:formatCode>
                <c:ptCount val="6"/>
                <c:pt idx="0">
                  <c:v>56</c:v>
                </c:pt>
                <c:pt idx="1">
                  <c:v>24</c:v>
                </c:pt>
                <c:pt idx="2">
                  <c:v>26</c:v>
                </c:pt>
                <c:pt idx="3">
                  <c:v>10</c:v>
                </c:pt>
                <c:pt idx="4">
                  <c:v>11</c:v>
                </c:pt>
                <c:pt idx="5">
                  <c:v>3</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ホテル日航川崎</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分析対象期間：2026年2月〜3月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レビュー総数：130件（6サイト）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作成日：2026年3月28日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8.68</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81.5%</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1.5%</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130件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53件言及。JR川崎駅直結・羽田30分・東京20分の圧倒的立地優位性</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英語対応スタッフ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20件言及。英語を話すスタッフへの高評価がインバウンド需要を支える</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朝食の充実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23件言及。バラエティ豊富なビュッフェ・割引クーポン対応が好評</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エレベーター待ち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6件言及。混雑時間帯のエレベーター待ちがゲスト体験を損なう最大課題</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防音・騒音問題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4件言及。電車音・改装工事騒音が騒音敏感ゲストに影響</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設備の老朽化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3件言及。バスルーム設備の古さ・排水不良が指摘される</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サイト別インサイト</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Trip.com・じゃらん・楽天が優秀評価</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 9.63点・じゃらん/楽天9.00点と国内外3サイトで優秀判定</a:t>
            </a:r>
            <a:endParaRPr lang="en-US" sz="1100" dirty="0"/>
          </a:p>
          <a:p>
            <a:pPr indent="0" marL="0">
              <a:spcAft>
                <a:spcPts val="200"/>
              </a:spcAft>
              <a:buNone/>
            </a:pPr>
            <a:endParaRPr lang="en-US" sz="1100" dirty="0"/>
          </a:p>
          <a:p>
            <a:pPr indent="0" marL="0">
              <a:spcAft>
                <a:spcPts val="200"/>
              </a:spcAft>
              <a:buNone/>
            </a:pPr>
            <a:r>
              <a:rPr lang="en-US" sz="1100" b="1" dirty="0">
                <a:solidFill>
                  <a:srgbClr val="EA580C"/>
                </a:solidFill>
                <a:latin typeface="Arial" pitchFamily="34" charset="0"/>
                <a:ea typeface="Arial" pitchFamily="34" charset="-122"/>
                <a:cs typeface="Arial" pitchFamily="34" charset="-120"/>
              </a:rPr>
              <a:t>Google・Agodaが低め（7.16/7.00点）</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「概ね良好」判定。Booking.com（66件・最多）が8.65点で全体を支える構造</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国内5点満点サイト（じゃらん/楽天/Google）は×2で10点換算</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9.63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9.63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4.50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4.50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8.65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8.65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3.58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7.16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106件（81.5%）</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22件（16.9%）</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2件（1.5%）</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53件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JR川崎駅直結・羽田30分・東京20分の圧倒的アクセス優位性</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「このホテルは一流のサービスを提供しており、JR駅のすぐそばに位置し、東京駅まで徒歩わずか20分、羽田空港まで電車で30分」</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46件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客室・設備</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清潔な客室・カプセルコーヒーマシン・折り紙等のユニークな演出</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「折り紙などの部屋の飾りには驚いて、カプセルコーヒーマシンは紅茶まで淹れることができます！」</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23件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バラエティ豊富なビュッフェ・割引クーポン・アイスクリーム等が好評</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「朝食を1日追加で購入したのですが、割引クーポンをもらえました。アイスクリームなど、種類も豊富でした！」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スタッフ対応</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英語対応力が高く、フライト遅延時の迅速対応等が評価される</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「スタッフは礼儀正しく、ほとんどのスタッフが英語を話します」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22件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清潔に保たれた客室がゲストの基本的な安心感を提供</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「部屋もとても清潔で、気持ちよく過ごせました」</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コスパ・リピート</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都心比較でのリーズナブルな宿泊費と好立地の組み合わせを評価</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「宿泊料金は都心部よりもずっと安いです。川崎は東京の中心部からそれほど遠くなく、宿泊費を大幅に節約できます」</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エレベーター待ち</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6件言及。混雑時間帯のエレベーター待ちがゲスト体験に直接影響。オペレーション改善で対応可能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防音・騒音問題</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電車音（高層階）・改装工事騒音（4件）。騒音敏感ゲストへの事前通知が必要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設備老朽化（バスルーム）</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バスルーム設備の古さ・排水不良（3件）。施設年数に応じた計画的更新が必要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Google評価の低さ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7.16点（概ね良好）で他サイト比較で2点以上の乖離。国内ゲストの不満が集中</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19件・7.16点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アメニティ</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一部アメニティへの充実度向上への期待</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個人情報管理</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フロント業務での個人情報管理に関する指摘（1件）。情報管理強化が必要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エレベーター混雑緩和</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チェックイン・アウト時間分散化（時間帯別案内）</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混雑時間帯のスタッフ配置強化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階段使用促進案内（低層階向け）</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エレベーター混雑情報の可視化（掲示板）</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防音・騒音の事前案内</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予約確認メールに騒音リスクを明記</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静音客室への案内（中層階・低層）</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改装工事期間・時間帯の透明な情報開示</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騒音敏感ゲスト向け客室選択サポート</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Google口コミ対策強化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全Google口コミへ48h以内返信</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満足ゲストへのGoogle口コミ投稿案内</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低評価への真摯な公開返信</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Google評価の月次モニタリング</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個人情報管理の強化</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フロント業務での情報管理マニュアル更新</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スタッフへの個人情報保護教育実施</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情報管理チェックリストの定着化</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バスルーム設備の更新</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排水設備の点検・改修</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シャワーヘッド・水回り設備の選択的更新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老朽化が目立つ設備の優先交換</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朝食品質のさらなる向上</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ビュッフェメニューの多様性強化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インバウンド向けメニュー追加</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朝食時間帯の混雑緩和策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アメニティ充実</a:t>
            </a:r>
            <a:endParaRPr lang="en-US" sz="1000" dirty="0"/>
          </a:p>
        </p:txBody>
      </p:sp>
      <p:sp>
        <p:nvSpPr>
          <p:cNvPr id="13" name="Text 11"/>
          <p:cNvSpPr/>
          <p:nvPr/>
        </p:nvSpPr>
        <p:spPr>
          <a:xfrm>
            <a:off x="640080" y="3803904"/>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基本アメニティのグレードアップ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長期滞在ゲスト向けアメニティ追加提供</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客室・設備の全面刷新</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老朽化客室設備の計画的全面更新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防音性能の向上（電車音対策）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バスルームの全面リノベーション</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エレベーター改善</a:t>
            </a:r>
            <a:endParaRPr lang="en-US" sz="1000" dirty="0"/>
          </a:p>
        </p:txBody>
      </p:sp>
      <p:sp>
        <p:nvSpPr>
          <p:cNvPr id="20" name="Text 18"/>
          <p:cNvSpPr/>
          <p:nvPr/>
        </p:nvSpPr>
        <p:spPr>
          <a:xfrm>
            <a:off x="489204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エレベーター増設・速度向上検討</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1階改装完了後のロビー・フロントのグレードアップ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スマートエレベーター（待ち時間表示）の導入</a:t>
            </a:r>
            <a:endParaRPr lang="en-US" sz="900" dirty="0"/>
          </a:p>
        </p:txBody>
      </p:sp>
      <p:sp>
        <p:nvSpPr>
          <p:cNvPr id="21" name="Text 19"/>
          <p:cNvSpPr/>
          <p:nvPr/>
        </p:nvSpPr>
        <p:spPr>
          <a:xfrm>
            <a:off x="489204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サービス差別化強化</a:t>
            </a:r>
            <a:endParaRPr lang="en-US" sz="1000" dirty="0"/>
          </a:p>
        </p:txBody>
      </p:sp>
      <p:sp>
        <p:nvSpPr>
          <p:cNvPr id="22" name="Text 20"/>
          <p:cNvSpPr/>
          <p:nvPr/>
        </p:nvSpPr>
        <p:spPr>
          <a:xfrm>
            <a:off x="489204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日航グループブランドを活かしたプレミアム体験強化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インバウンド需要を活かした多言語サービス拡充</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川崎立地を活かしたビジネス特化プラン開発</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8.68点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8.9点以上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81.5%</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85%以上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1.5%</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0.5%以下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Trip.com平均評価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9.63/10点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9.7点以上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3.58/5点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3.8/5点以上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2026年5月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エレベータークレーム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6件/2ヶ月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2件以下/2ヶ月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8862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886200"/>
            <a:ext cx="54864" cy="640080"/>
          </a:xfrm>
          <a:prstGeom prst="rect">
            <a:avLst/>
          </a:prstGeom>
          <a:solidFill>
            <a:srgbClr val="3B7DD8"/>
          </a:solidFill>
          <a:ln/>
        </p:spPr>
      </p:sp>
      <p:sp>
        <p:nvSpPr>
          <p:cNvPr id="8" name="Text 5"/>
          <p:cNvSpPr/>
          <p:nvPr/>
        </p:nvSpPr>
        <p:spPr>
          <a:xfrm>
            <a:off x="640080" y="38862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末に全サイトのレビューデータを集計し、エレベーター・騒音クレームの件数推移を重点モニタリング。Google評価の底上げを最重要KPIとし、月次で改善進捗を確認する。1階改装完了後の評価変動も特に注視すること。</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1400" spc="600" kern="0" dirty="0">
                <a:solidFill>
                  <a:srgbClr val="5A9BE6"/>
                </a:solidFill>
                <a:latin typeface="Arial" pitchFamily="34" charset="0"/>
                <a:ea typeface="Arial" pitchFamily="34" charset="-122"/>
                <a:cs typeface="Arial" pitchFamily="34" charset="-120"/>
              </a:rPr>
              <a:t>総括</a:t>
            </a:r>
            <a:endParaRPr lang="en-US" sz="1400" dirty="0"/>
          </a:p>
        </p:txBody>
      </p:sp>
      <p:sp>
        <p:nvSpPr>
          <p:cNvPr id="4" name="Shape 2"/>
          <p:cNvSpPr/>
          <p:nvPr/>
        </p:nvSpPr>
        <p:spPr>
          <a:xfrm>
            <a:off x="731520" y="1371600"/>
            <a:ext cx="7680960" cy="2560320"/>
          </a:xfrm>
          <a:prstGeom prst="rect">
            <a:avLst/>
          </a:prstGeom>
          <a:solidFill>
            <a:srgbClr val="FFFFFF">
              <a:alpha val="10000"/>
            </a:srgbClr>
          </a:solidFill>
          <a:ln/>
        </p:spPr>
      </p:sp>
      <p:sp>
        <p:nvSpPr>
          <p:cNvPr id="5" name="Text 3"/>
          <p:cNvSpPr/>
          <p:nvPr/>
        </p:nvSpPr>
        <p:spPr>
          <a:xfrm>
            <a:off x="914400" y="1463040"/>
            <a:ext cx="7315200" cy="2286000"/>
          </a:xfrm>
          <a:prstGeom prst="rect">
            <a:avLst/>
          </a:prstGeom>
          <a:noFill/>
          <a:ln/>
        </p:spPr>
        <p:txBody>
          <a:bodyPr wrap="square" lIns="0" tIns="0" rIns="0" bIns="0" rtlCol="0" anchor="ctr"/>
          <a:lstStyle/>
          <a:p>
            <a:pPr indent="0" marL="0">
              <a:spcAft>
                <a:spcPts val="400"/>
              </a:spcAft>
              <a:buNone/>
            </a:pPr>
            <a:r>
              <a:rPr lang="en-US" sz="1200" dirty="0">
                <a:solidFill>
                  <a:srgbClr val="FFFFFF"/>
                </a:solidFill>
                <a:latin typeface="Arial" pitchFamily="34" charset="0"/>
                <a:ea typeface="Arial" pitchFamily="34" charset="-122"/>
                <a:cs typeface="Arial" pitchFamily="34" charset="-120"/>
              </a:rPr>
              <a:t>ホテル日航川崎は全体平均8.68点・高評価率81.5%と高水準の評価を誇ります。JR川崎駅直結という圧倒的立地優位性（53件）と英語対応スタッフの質の高さ（20件）が、国内外ゲストからの安定した支持を生み出す二本柱となってい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Trip.com（9.63点）・じゃらん・楽天トラベル（9.00点）での優秀評価は日航グループとしてのブランド力を示す一方、Google評価（7.16点）の低さとエレベーター待ち（6件）・防音問題（4件）・設備老朽化（3件）が中評価層形成の主因で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エレベーター混雑緩和と防音の事前案内強化はオペレーション改善で対応可能な即効性のある施策です。バスルーム設備の更新は中期計画として推進し、1階改装完了と合わせて全体的なグレードアップを図ることで評価のさらなる向上が期待されます。</a:t>
            </a:r>
            <a:endParaRPr lang="en-US" sz="1200" dirty="0"/>
          </a:p>
          <a:p>
            <a:pPr indent="0" marL="0">
              <a:spcAft>
                <a:spcPts val="400"/>
              </a:spcAft>
              <a:buNone/>
            </a:pPr>
            <a:endParaRPr lang="en-US" sz="1200" dirty="0"/>
          </a:p>
          <a:p>
            <a:pPr indent="0" marL="0">
              <a:spcAft>
                <a:spcPts val="400"/>
              </a:spcAft>
              <a:buNone/>
            </a:pPr>
            <a:r>
              <a:rPr lang="en-US" sz="1200" b="1" dirty="0">
                <a:solidFill>
                  <a:srgbClr val="D4A843"/>
                </a:solidFill>
                <a:latin typeface="Arial" pitchFamily="34" charset="0"/>
                <a:ea typeface="Arial" pitchFamily="34" charset="-122"/>
                <a:cs typeface="Arial" pitchFamily="34" charset="-120"/>
              </a:rPr>
              <a:t>川崎という都市のポテンシャルと日航グループの品質基準を融合させ、全体平均8.9点以上・高評価率85%以上を目指してください。Google評価3.8/5点以上への引き上げが最重要KPIです。</a:t>
            </a:r>
            <a:endParaRPr lang="en-US" sz="1200" dirty="0"/>
          </a:p>
        </p:txBody>
      </p:sp>
      <p:sp>
        <p:nvSpPr>
          <p:cNvPr id="6" name="Shape 4"/>
          <p:cNvSpPr/>
          <p:nvPr/>
        </p:nvSpPr>
        <p:spPr>
          <a:xfrm>
            <a:off x="731520" y="4114800"/>
            <a:ext cx="1828800" cy="0"/>
          </a:xfrm>
          <a:prstGeom prst="line">
            <a:avLst/>
          </a:prstGeom>
          <a:noFill/>
          <a:ln w="25400">
            <a:solidFill>
              <a:srgbClr val="D4A843"/>
            </a:solidFill>
            <a:prstDash val="solid"/>
          </a:ln>
        </p:spPr>
      </p:sp>
      <p:sp>
        <p:nvSpPr>
          <p:cNvPr id="7" name="Text 5"/>
          <p:cNvSpPr/>
          <p:nvPr/>
        </p:nvSpPr>
        <p:spPr>
          <a:xfrm>
            <a:off x="731520" y="420624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ホテル日航川崎 口コミ分析改善レポート</dc:title>
  <dc:subject>PptxGenJS Presentation</dc:subject>
  <dc:creator>Hotel Consulting</dc:creator>
  <cp:lastModifiedBy>Hotel Consulting</cp:lastModifiedBy>
  <cp:revision>1</cp:revision>
  <dcterms:created xsi:type="dcterms:W3CDTF">2026-03-28T23:33:07Z</dcterms:created>
  <dcterms:modified xsi:type="dcterms:W3CDTF">2026-03-28T23:33:07Z</dcterms:modified>
</cp:coreProperties>
</file>