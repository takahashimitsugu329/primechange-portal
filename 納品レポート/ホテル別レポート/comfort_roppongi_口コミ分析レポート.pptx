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じゃらん</c:v>
                  </c:pt>
                  <c:pt idx="1">
                    <c:v>Trip.com</c:v>
                  </c:pt>
                  <c:pt idx="2">
                    <c:v>楽天トラベル</c:v>
                  </c:pt>
                  <c:pt idx="3">
                    <c:v>Booking.com</c:v>
                  </c:pt>
                  <c:pt idx="4">
                    <c:v>Agoda</c:v>
                  </c:pt>
                  <c:pt idx="5">
                    <c:v>Google</c:v>
                  </c:pt>
                </c:lvl>
              </c:multiLvlStrCache>
            </c:multiLvlStrRef>
          </c:cat>
          <c:val>
            <c:numRef>
              <c:f>Sheet1!$B$2:$B$7</c:f>
              <c:numCache>
                <c:formatCode>General</c:formatCode>
                <c:ptCount val="6"/>
                <c:pt idx="0">
                  <c:v>10</c:v>
                </c:pt>
                <c:pt idx="1">
                  <c:v>9.57</c:v>
                </c:pt>
                <c:pt idx="2">
                  <c:v>8.91</c:v>
                </c:pt>
                <c:pt idx="3">
                  <c:v>8.13</c:v>
                </c:pt>
                <c:pt idx="4">
                  <c:v>7.5</c:v>
                </c:pt>
                <c:pt idx="5">
                  <c:v>7.45</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59</c:v>
                </c:pt>
                <c:pt idx="1">
                  <c:v>15</c:v>
                </c:pt>
                <c:pt idx="2">
                  <c:v>1</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4A843"/>
              </a:solidFill>
              <a:effectLst/>
            </c:spPr>
          </c:dPt>
          <c:dPt>
            <c:idx val="6"/>
            <c:invertIfNegative val="0"/>
            <c:bubble3D val="0"/>
            <c:spPr>
              <a:solidFill>
                <a:srgbClr val="DC2626"/>
              </a:solidFill>
              <a:effectLst/>
            </c:spPr>
          </c:dPt>
          <c:cat>
            <c:multiLvlStrRef>
              <c:f>Sheet1!$A$2:$A$8</c:f>
              <c:multiLvlStrCache>
                <c:ptCount val="7"/>
                <c:lvl>
                  <c:pt idx="0">
                    <c:v>10点</c:v>
                  </c:pt>
                  <c:pt idx="1">
                    <c:v>9点</c:v>
                  </c:pt>
                  <c:pt idx="2">
                    <c:v>8点</c:v>
                  </c:pt>
                  <c:pt idx="3">
                    <c:v>7点</c:v>
                  </c:pt>
                  <c:pt idx="4">
                    <c:v>6点</c:v>
                  </c:pt>
                  <c:pt idx="5">
                    <c:v>5点</c:v>
                  </c:pt>
                  <c:pt idx="6">
                    <c:v>2点</c:v>
                  </c:pt>
                </c:lvl>
              </c:multiLvlStrCache>
            </c:multiLvlStrRef>
          </c:cat>
          <c:val>
            <c:numRef>
              <c:f>Sheet1!$B$2:$B$8</c:f>
              <c:numCache>
                <c:formatCode>General</c:formatCode>
                <c:ptCount val="7"/>
                <c:pt idx="0">
                  <c:v>20</c:v>
                </c:pt>
                <c:pt idx="1">
                  <c:v>11</c:v>
                </c:pt>
                <c:pt idx="2">
                  <c:v>28</c:v>
                </c:pt>
                <c:pt idx="3">
                  <c:v>5</c:v>
                </c:pt>
                <c:pt idx="4">
                  <c:v>9</c:v>
                </c:pt>
                <c:pt idx="5">
                  <c:v>1</c:v>
                </c:pt>
                <c:pt idx="6">
                  <c:v>1</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コンフォートイン六本木</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分析対象期間：2026年3月〜4月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レビュー総数：75件（6サイト）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作成日：2026年4月6日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8.25</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78.7%</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16A34A"/>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1.3%</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75件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六本木駅前という立地ですが、ホテル周辺は落ち着いていて静かで、治安の良さも感じられました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The location is great next to a subway station, staff are...</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快適さ・設備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部屋は想像していたよりも広く、バストイレもゆったりしていて快適でした</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エアコン・空調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The location is great next to a subway station, staff are...</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部屋は想像していたよりも広く、バストイレもゆったりしていて快適でした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部屋の狭さ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 great staff and service, just the room's are just too s...</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2196F3"/>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2196F3"/>
                </a:solidFill>
                <a:latin typeface="Arial" pitchFamily="34" charset="0"/>
                <a:ea typeface="Arial" pitchFamily="34" charset="-122"/>
                <a:cs typeface="Arial" pitchFamily="34" charset="-120"/>
              </a:rPr>
              <a:t>8.25</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D4A843"/>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D4A843"/>
                </a:solidFill>
                <a:latin typeface="Arial" pitchFamily="34" charset="0"/>
                <a:ea typeface="Arial" pitchFamily="34" charset="-122"/>
                <a:cs typeface="Arial" pitchFamily="34" charset="-120"/>
              </a:rPr>
              <a:t>78.7%</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16A34A"/>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1.3%</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75件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じゃらん(10.00)が最高スコア。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Google(7.5)が相対的に低い。口コミ返信の強化が急務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9.57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9.57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4.45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8.91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8.13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8.13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3.73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7.45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59件（78.7%）</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15件（20.0%）</a:t>
            </a:r>
            <a:endParaRPr lang="en-US" sz="1100" dirty="0"/>
          </a:p>
        </p:txBody>
      </p:sp>
      <p:sp>
        <p:nvSpPr>
          <p:cNvPr id="13" name="Shape 9"/>
          <p:cNvSpPr/>
          <p:nvPr/>
        </p:nvSpPr>
        <p:spPr>
          <a:xfrm>
            <a:off x="6126480" y="4160520"/>
            <a:ext cx="2651760" cy="502920"/>
          </a:xfrm>
          <a:prstGeom prst="rect">
            <a:avLst/>
          </a:prstGeom>
          <a:solidFill>
            <a:srgbClr val="DCFCE7"/>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1件（1.3%）</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六本木駅前という立地ですが、ホテル周辺は落ち着いていて静かで、治安の良さも感じられました</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「The location is great next to a subway station, staff are...」</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The location is great next to a subway station, staff are...</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「必要なものはすべて揃っていて、紅茶、コーヒー、浄水器、ランドリー、素晴らしいシャワーなど、スタッフもサービスも最高...」</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部屋は想像していたよりも広く、バストイレもゆったりしていて快適でした</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「部屋は4ベッドルームでしたが、今までのホテルで一番広くて、ソファもあるので部屋食もゆっくり楽しめました」</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他のレビュー見て心配しましたが綺麗ですね、臭いとかこんなこともありませんでした</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「新美術館への道は時期的に桜が綺麗で、ホテルの方に教えていただいた近隣の飲食店もとても良かったです」</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Yummy but Very limited breakfast option as they have the ...</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「朝食はタイ料理です」</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9件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部屋の広さ</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The location is great next to a subway station, staff are...</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「大きなスーツケースと機内持ち込みバッグをそれぞれ持っていた2人組が海外旅行をしたのですが、どこにもバッグを置くスペ...」</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The location is great next to a subway station, staff are...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部屋は想像していたよりも広く、バストイレもゆったりしていて快適でした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 great staff and service, just the room's are just too s...</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10件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浴槽などは、少し古さを感じる部分もありましたが、特に気になるほどではありませんでした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ただ窓が開けず、中央冷暖房です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5件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窓の外にすぐに高架道路があるので防音がうまくいきません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朝食の改善要望</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Yummy but Very limited breakfast option as they have the ...</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すぐにホテルに連絡したところ、チェックアウト時に「問題ない」と言われ、キャンセルした分の返金はできないと言われました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他のレビュー見て心配しましたが綺麗ですね、臭いとかこんなこともありませんでした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朝食サービスの改善</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メニューの定期的な見直しとバリエーション追加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補充頻度の向上と品切れ防止</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宿泊客数に応じた朝食準備量の最適化</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18" name="Shape 16"/>
          <p:cNvSpPr/>
          <p:nvPr/>
        </p:nvSpPr>
        <p:spPr>
          <a:xfrm>
            <a:off x="466344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663440" y="3017520"/>
            <a:ext cx="54864" cy="1600200"/>
          </a:xfrm>
          <a:prstGeom prst="rect">
            <a:avLst/>
          </a:prstGeom>
          <a:solidFill>
            <a:srgbClr val="3B7DD8"/>
          </a:solidFill>
          <a:ln/>
        </p:spPr>
      </p:sp>
      <p:sp>
        <p:nvSpPr>
          <p:cNvPr id="20" name="Text 18"/>
          <p:cNvSpPr/>
          <p:nvPr/>
        </p:nvSpPr>
        <p:spPr>
          <a:xfrm>
            <a:off x="480060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スタッフ対応品質の統一</a:t>
            </a:r>
            <a:endParaRPr lang="en-US" sz="1200" dirty="0"/>
          </a:p>
        </p:txBody>
      </p:sp>
      <p:sp>
        <p:nvSpPr>
          <p:cNvPr id="21" name="Text 19"/>
          <p:cNvSpPr/>
          <p:nvPr/>
        </p:nvSpPr>
        <p:spPr>
          <a:xfrm>
            <a:off x="480060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接客マニュアルの見直しと全スタッフへの周知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ゲストからのクレーム対応フローの明確化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定期的なCS研修の実施</a:t>
            </a:r>
            <a:endParaRPr lang="en-US" sz="900" dirty="0"/>
          </a:p>
        </p:txBody>
      </p:sp>
      <p:sp>
        <p:nvSpPr>
          <p:cNvPr id="22" name="Shape 20"/>
          <p:cNvSpPr/>
          <p:nvPr/>
        </p:nvSpPr>
        <p:spPr>
          <a:xfrm>
            <a:off x="0" y="4800600"/>
            <a:ext cx="9144000" cy="342900"/>
          </a:xfrm>
          <a:prstGeom prst="rect">
            <a:avLst/>
          </a:prstGeom>
          <a:solidFill>
            <a:srgbClr val="1A2744"/>
          </a:solidFill>
          <a:ln/>
        </p:spPr>
      </p:sp>
      <p:sp>
        <p:nvSpPr>
          <p:cNvPr id="23" name="Text 21"/>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4" name="Text 22"/>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8.25点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8.6点以上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78.7%</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84%以上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1.3%</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0%維持</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Google平均評価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7.5点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8.4点以上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エアコン・空調クレーム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約14件/期間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コンフォートイン六本木 口コミ分析改善レポート</dc:title>
  <dc:subject>PptxGenJS Presentation</dc:subject>
  <dc:creator>Hotel Consulting</dc:creator>
  <cp:lastModifiedBy>Hotel Consulting</cp:lastModifiedBy>
  <cp:revision>1</cp:revision>
  <dcterms:created xsi:type="dcterms:W3CDTF">2026-04-06T04:03:18Z</dcterms:created>
  <dcterms:modified xsi:type="dcterms:W3CDTF">2026-04-06T04:03:18Z</dcterms:modified>
</cp:coreProperties>
</file>