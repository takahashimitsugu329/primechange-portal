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43556">
              <a:alpha val="6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3716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600" kern="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192024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改善レポート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731520" y="28346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30175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コンフォートホテルERA東京東神田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3749040"/>
            <a:ext cx="5486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分析対象期間：2026-02-09 〜 2026-03-27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レビュー総数：148件（6サイト）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作成日：2026年03月28日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858000" y="0"/>
            <a:ext cx="2286000" cy="5143500"/>
          </a:xfrm>
          <a:prstGeom prst="rect">
            <a:avLst/>
          </a:prstGeom>
          <a:solidFill>
            <a:srgbClr val="3B7DD8">
              <a:alpha val="15000"/>
            </a:srgbClr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Summary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1874520" cy="4572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161288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57200" y="1399032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9.01</a:t>
            </a:r>
            <a:endParaRPr lang="en-US" sz="2800" dirty="0"/>
          </a:p>
        </p:txBody>
      </p:sp>
      <p:sp>
        <p:nvSpPr>
          <p:cNvPr id="9" name="Shape 7"/>
          <p:cNvSpPr/>
          <p:nvPr/>
        </p:nvSpPr>
        <p:spPr>
          <a:xfrm>
            <a:off x="25146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514600" y="1051560"/>
            <a:ext cx="18745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1" name="Text 9"/>
          <p:cNvSpPr/>
          <p:nvPr/>
        </p:nvSpPr>
        <p:spPr>
          <a:xfrm>
            <a:off x="2514600" y="1161288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2514600" y="1399032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87.8%</a:t>
            </a:r>
            <a:endParaRPr lang="en-US" sz="2800" dirty="0"/>
          </a:p>
        </p:txBody>
      </p:sp>
      <p:sp>
        <p:nvSpPr>
          <p:cNvPr id="13" name="Shape 11"/>
          <p:cNvSpPr/>
          <p:nvPr/>
        </p:nvSpPr>
        <p:spPr>
          <a:xfrm>
            <a:off x="45720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0" y="1051560"/>
            <a:ext cx="18745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0" y="1161288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572000" y="1399032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4.1%</a:t>
            </a:r>
            <a:endParaRPr lang="en-US" sz="2800" dirty="0"/>
          </a:p>
        </p:txBody>
      </p:sp>
      <p:sp>
        <p:nvSpPr>
          <p:cNvPr id="17" name="Shape 15"/>
          <p:cNvSpPr/>
          <p:nvPr/>
        </p:nvSpPr>
        <p:spPr>
          <a:xfrm>
            <a:off x="6629400" y="1051560"/>
            <a:ext cx="205740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629400" y="1051560"/>
            <a:ext cx="205740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6629400" y="1161288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6629400" y="1399032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148件</a:t>
            </a:r>
            <a:endParaRPr lang="en-US" sz="2800" dirty="0"/>
          </a:p>
        </p:txBody>
      </p:sp>
      <p:sp>
        <p:nvSpPr>
          <p:cNvPr id="21" name="Shape 19"/>
          <p:cNvSpPr/>
          <p:nvPr/>
        </p:nvSpPr>
        <p:spPr>
          <a:xfrm>
            <a:off x="45720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57200" y="228600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3" name="Text 21"/>
          <p:cNvSpPr/>
          <p:nvPr/>
        </p:nvSpPr>
        <p:spPr>
          <a:xfrm>
            <a:off x="64008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Strengths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40080" y="2743200"/>
            <a:ext cx="35661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安定した高品質サービス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75488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754880" y="2286000"/>
            <a:ext cx="3931920" cy="457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27" name="Text 25"/>
          <p:cNvSpPr/>
          <p:nvPr/>
        </p:nvSpPr>
        <p:spPr>
          <a:xfrm>
            <a:off x="4937760" y="237744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Weaknesses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937760" y="2743200"/>
            <a:ext cx="35661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継続的な品質改善が必要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0" name="Text 2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Platform Analysis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48640" y="1828800"/>
            <a:ext cx="1188720" cy="2286000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876806"/>
            <a:ext cx="1188720" cy="223799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556766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9.79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57200" y="416052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Trip.com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457200" y="4526280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28件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1920240" y="1828800"/>
            <a:ext cx="1188720" cy="2286000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11" name="Shape 9"/>
          <p:cNvSpPr/>
          <p:nvPr/>
        </p:nvSpPr>
        <p:spPr>
          <a:xfrm>
            <a:off x="1920240" y="2032254"/>
            <a:ext cx="1188720" cy="2082546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2" name="Text 10"/>
          <p:cNvSpPr/>
          <p:nvPr/>
        </p:nvSpPr>
        <p:spPr>
          <a:xfrm>
            <a:off x="1828800" y="1712214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9.11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828800" y="416052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Booking.com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1828800" y="4526280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91件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3291840" y="1828800"/>
            <a:ext cx="1188720" cy="2286000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16" name="Shape 14"/>
          <p:cNvSpPr/>
          <p:nvPr/>
        </p:nvSpPr>
        <p:spPr>
          <a:xfrm>
            <a:off x="3291840" y="2286000"/>
            <a:ext cx="1188720" cy="18288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7" name="Text 15"/>
          <p:cNvSpPr/>
          <p:nvPr/>
        </p:nvSpPr>
        <p:spPr>
          <a:xfrm>
            <a:off x="3200400" y="196596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3200400" y="416052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楽天トラベル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3200400" y="4526280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3件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4663440" y="1828800"/>
            <a:ext cx="1188720" cy="2286000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21" name="Shape 19"/>
          <p:cNvSpPr/>
          <p:nvPr/>
        </p:nvSpPr>
        <p:spPr>
          <a:xfrm>
            <a:off x="4663440" y="2366010"/>
            <a:ext cx="1188720" cy="174879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22" name="Text 20"/>
          <p:cNvSpPr/>
          <p:nvPr/>
        </p:nvSpPr>
        <p:spPr>
          <a:xfrm>
            <a:off x="4572000" y="204597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7.65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572000" y="416052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4572000" y="4526280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23件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6035040" y="1828800"/>
            <a:ext cx="1188720" cy="2286000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26" name="Shape 24"/>
          <p:cNvSpPr/>
          <p:nvPr/>
        </p:nvSpPr>
        <p:spPr>
          <a:xfrm>
            <a:off x="6035040" y="1828800"/>
            <a:ext cx="1188720" cy="22860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7" name="Text 25"/>
          <p:cNvSpPr/>
          <p:nvPr/>
        </p:nvSpPr>
        <p:spPr>
          <a:xfrm>
            <a:off x="5943600" y="150876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5943600" y="416052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じゃらん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5943600" y="4526280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2件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7406640" y="1828800"/>
            <a:ext cx="1188720" cy="2286000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31" name="Shape 29"/>
          <p:cNvSpPr/>
          <p:nvPr/>
        </p:nvSpPr>
        <p:spPr>
          <a:xfrm>
            <a:off x="7406640" y="1828800"/>
            <a:ext cx="1188720" cy="22860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32" name="Text 30"/>
          <p:cNvSpPr/>
          <p:nvPr/>
        </p:nvSpPr>
        <p:spPr>
          <a:xfrm>
            <a:off x="7315200" y="150876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7315200" y="416052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Agoda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7315200" y="4526280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1件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274320" y="82296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(10点満点)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7" name="Text 3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38" name="Text 36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課題優先度マトリクス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Issue Priority Matrix</a:t>
            </a:r>
            <a:endParaRPr lang="en-US" sz="10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14400"/>
          <a:ext cx="822960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1828800"/>
                <a:gridCol w="4389120"/>
                <a:gridCol w="1371600"/>
              </a:tblGrid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優先度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課題カテゴリ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概要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言及件数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DC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口コミ返信対応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口コミ返信対応への対応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要確認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情報提供の充実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情報提供の充実への対応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要確認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改善施策提案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Improvement Roadmap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914400"/>
            <a:ext cx="4023360" cy="3657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914400"/>
            <a:ext cx="4023360" cy="36576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960120"/>
            <a:ext cx="1097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1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48640" y="1188720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口コミ返信対応の強化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48640" y="1508760"/>
            <a:ext cx="3840480" cy="2971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全OTAの口コミに48時間以内返信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返信テンプレートの整備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多言語対応（英語・中国語）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663440" y="914400"/>
            <a:ext cx="4023360" cy="3657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63440" y="914400"/>
            <a:ext cx="4023360" cy="36576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2" name="Text 10"/>
          <p:cNvSpPr/>
          <p:nvPr/>
        </p:nvSpPr>
        <p:spPr>
          <a:xfrm>
            <a:off x="4754880" y="960120"/>
            <a:ext cx="1097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1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4754880" y="1188720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周辺案内・アクセス情報の充実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754880" y="1508760"/>
            <a:ext cx="3840480" cy="2971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チェックイン時の周辺MAP配布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多言語版案内パンフレット整備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QRコードによるデジタル案内導入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6" name="Text 1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Performance Targets</a:t>
            </a:r>
            <a:endParaRPr lang="en-US" sz="10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14400"/>
          <a:ext cx="82296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1828800"/>
                <a:gridCol w="2286000"/>
                <a:gridCol w="137160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KPI項目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現状値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目標値（6ヶ月後）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期限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全体平均(10pt換算)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9.01点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9.3点以上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6ヶ月後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高評価率（8-10点）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87.8%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93%以上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6ヶ月後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低評価率（1-4点）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3.1%以下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6ヶ月後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口コミ返信率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未計測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100%（48h以内）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3ヶ月後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Trip.com平均評価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9.79/10点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10.0点以上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6ヶ月後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Booking.com平均評価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9.11/10点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9.4点以上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6ヶ月後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楽天トラベル平均評価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8.00/10点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8.3点以上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6ヶ月後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43556">
              <a:alpha val="5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645920"/>
            <a:ext cx="73152" cy="182880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45720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総括・今後のアクション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8229600" cy="3291840"/>
          </a:xfrm>
          <a:prstGeom prst="rect">
            <a:avLst/>
          </a:prstGeom>
          <a:solidFill>
            <a:srgbClr val="FFFFFF">
              <a:alpha val="90000"/>
            </a:srgbClr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371600"/>
            <a:ext cx="768096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全体平均評価：9.01点 / 高評価率：87.8% / 低評価率：4.1%</a:t>
            </a:r>
            <a:endParaRPr lang="en-US" sz="13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Phase 1施策を優先実行し、月次口コミモニタリングを継続</a:t>
            </a:r>
            <a:endParaRPr lang="en-US" sz="13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全OTAの口コミ返信率100%を早期達成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48640" y="46634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作成日：2026年03月28日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コンフォートホテルERA東京東神田 口コミ分析改善レポート</dc:title>
  <dc:subject>PptxGenJS Presentation</dc:subject>
  <dc:creator>Hotel Consulting</dc:creator>
  <cp:lastModifiedBy>Hotel Consulting</cp:lastModifiedBy>
  <cp:revision>1</cp:revision>
  <dcterms:created xsi:type="dcterms:W3CDTF">2026-03-28T22:02:41Z</dcterms:created>
  <dcterms:modified xsi:type="dcterms:W3CDTF">2026-03-28T22:02:41Z</dcterms:modified>
</cp:coreProperties>
</file>