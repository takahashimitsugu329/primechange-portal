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10pt換算平均</c:v>
                </c:pt>
              </c:strCache>
            </c:strRef>
          </c:tx>
          <c:spPr>
            <a:solidFill>
              <a:srgbClr val="3B7D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Agoda</c:v>
                  </c:pt>
                  <c:pt idx="1">
                    <c:v>じゃらん</c:v>
                  </c:pt>
                  <c:pt idx="2">
                    <c:v>Trip.com</c:v>
                  </c:pt>
                  <c:pt idx="3">
                    <c:v>Booking.com</c:v>
                  </c:pt>
                  <c:pt idx="4">
                    <c:v>楽天トラベル</c:v>
                  </c:pt>
                  <c:pt idx="5">
                    <c:v>Google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</c:v>
                </c:pt>
                <c:pt idx="1">
                  <c:v>10</c:v>
                </c:pt>
                <c:pt idx="2">
                  <c:v>9.79</c:v>
                </c:pt>
                <c:pt idx="3">
                  <c:v>8.95</c:v>
                </c:pt>
                <c:pt idx="4">
                  <c:v>8</c:v>
                </c:pt>
                <c:pt idx="5">
                  <c:v>7.65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評価分布（10pt換算）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bubble3D val="0"/>
            <c:spPr>
              <a:solidFill>
                <a:srgbClr val="D4A843"/>
              </a:solidFill>
              <a:effectLst/>
            </c:spPr>
          </c:dPt>
          <c:dPt>
            <c:idx val="2"/>
            <c:bubble3D val="0"/>
            <c:spPr>
              <a:solidFill>
                <a:srgbClr val="DC262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高評価(8-10)</c:v>
                </c:pt>
                <c:pt idx="1">
                  <c:v>中評価(5-7)</c:v>
                </c:pt>
                <c:pt idx="2">
                  <c:v>低評価(1-4)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106</c:v>
                </c:pt>
                <c:pt idx="1">
                  <c:v>11</c:v>
                </c:pt>
                <c:pt idx="2">
                  <c:v>6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件数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10点</c:v>
                  </c:pt>
                  <c:pt idx="1">
                    <c:v>9点</c:v>
                  </c:pt>
                  <c:pt idx="2">
                    <c:v>8点</c:v>
                  </c:pt>
                  <c:pt idx="3">
                    <c:v>7点</c:v>
                  </c:pt>
                  <c:pt idx="4">
                    <c:v>6点</c:v>
                  </c:pt>
                  <c:pt idx="5">
                    <c:v>5点</c:v>
                  </c:pt>
                  <c:pt idx="6">
                    <c:v>4点</c:v>
                  </c:pt>
                  <c:pt idx="7">
                    <c:v>3点</c:v>
                  </c:pt>
                  <c:pt idx="8">
                    <c:v>2点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71</c:v>
                </c:pt>
                <c:pt idx="1">
                  <c:v>16</c:v>
                </c:pt>
                <c:pt idx="2">
                  <c:v>19</c:v>
                </c:pt>
                <c:pt idx="3">
                  <c:v>7</c:v>
                </c:pt>
                <c:pt idx="4">
                  <c:v>3</c:v>
                </c:pt>
                <c:pt idx="5">
                  <c:v>1</c:v>
                </c:pt>
                <c:pt idx="6">
                  <c:v>2</c:v>
                </c:pt>
                <c:pt idx="7">
                  <c:v>1</c:v>
                </c:pt>
                <c:pt idx="8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355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73152" cy="1645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600" kern="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口コミ分析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改善レポート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1828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コンフォートホテルERA東京東神田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分析対象期間：2026年2月〜3月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レビュー総数：123件（6サイト）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作成日：2026年3月29日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3B7DD8">
              <a:alpha val="1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エグゼクティブサマリー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1874520" cy="4572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全体平均(10pt換算)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8.90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25146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051560"/>
            <a:ext cx="18745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高評価率(8-10点)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146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86.2%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5720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051560"/>
            <a:ext cx="18745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低評価率(1-4点)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4.9%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6629400" y="1051560"/>
            <a:ext cx="20574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29400" y="1051560"/>
            <a:ext cx="2057400" cy="457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11887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29400" y="14173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123件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457200" y="22860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286000"/>
            <a:ext cx="39319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27432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立地・アクセス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地下鉄の駅から徒歩6～8分ほどで、とても便利です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スタッフの対応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スタッフは親切で、部屋もスーツケースを置くのに十分な広さだった（他の多くのホテルの部屋はもっと狭かった）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清潔さ・清掃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清潔で静かで快適でした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2860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286000"/>
            <a:ext cx="393192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7760" y="27432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エアコン・空調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La cercanía a estaciones de tren, a sitios para comer, co...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浴室・水回り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14時から17時までにチェックインすると人形焼が無料でもらえます🆓 ラウンジは広くウェルカムドリンクが飲み放題で...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部屋の狭さ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欧米人で、アメリカのホテルのような快適さに慣れている方にとっては、特に窮屈に感じるかもしれません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主要KPI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Indicators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3931920" cy="4572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全体平均スコア（10点換算）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8.90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88720"/>
            <a:ext cx="39319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高評価率（8-10点）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0" y="15544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86.2%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108960"/>
            <a:ext cx="39319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246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低評価率（1-4点）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474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4.9%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4754880" y="310896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108960"/>
            <a:ext cx="3931920" cy="457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3246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3474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123件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サイト別評価分析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Analysis by Platform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0584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005840"/>
            <a:ext cx="30175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60720" y="1005840"/>
            <a:ext cx="301752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0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0" y="14173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サイト別評価の傾向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高評価グループ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じゃらん(10.00)が最高スコア。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改善対象サイト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Google(7.7)が相対的に低い。口コミ返信の強化が急務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注：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Google/じゃらん/楽天は5点満点のため×2で10pt換算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97680"/>
          <a:ext cx="8229600" cy="9144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1828800"/>
                <a:gridCol w="914400"/>
                <a:gridCol w="274320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サイト名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ネイティブ平均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尺度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10pt換算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Agoda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じゃらん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 (×2)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Trip.com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Booking.com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8.95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8.95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楽天トラベル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 (×2)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 (×2)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7.65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評価分布分析（10点換算）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Distribution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97280"/>
          <a:ext cx="3657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114800" y="1097280"/>
          <a:ext cx="47548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4160520"/>
            <a:ext cx="2651760" cy="5029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4"/>
          <p:cNvSpPr/>
          <p:nvPr/>
        </p:nvSpPr>
        <p:spPr>
          <a:xfrm>
            <a:off x="45720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 8-10点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73736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106件（86.2%）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91840" y="4160520"/>
            <a:ext cx="2651760" cy="50292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1" name="Text 7"/>
          <p:cNvSpPr/>
          <p:nvPr/>
        </p:nvSpPr>
        <p:spPr>
          <a:xfrm>
            <a:off x="32918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中評価 5-7点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11件（8.9%）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26480" y="4160520"/>
            <a:ext cx="2651760" cy="5029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4" name="Text 10"/>
          <p:cNvSpPr/>
          <p:nvPr/>
        </p:nvSpPr>
        <p:spPr>
          <a:xfrm>
            <a:off x="612648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 1-4点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4066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6件（4.9%）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7" name="Text 13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強み分析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 Analysis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20件+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立地・アクセス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地下鉄の駅から徒歩6～8分ほどで、とても便利です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「В остальном только положительные впечатления, доброжелате...」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20件+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900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スタッフの対応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900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スタッフは親切で、部屋もスーツケースを置くのに十分な広さだった（他の多くのホテルの部屋はもっと狭かった）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2900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「朝食がおいしい　フロントが優しい 駅からすこし歩く 飲食店がまわりに少ない 駅からすこし歩く 飲食店がまわりに少ない」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Shape 19"/>
          <p:cNvSpPr/>
          <p:nvPr/>
        </p:nvSpPr>
        <p:spPr>
          <a:xfrm>
            <a:off x="795528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20件+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6364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清潔さ・清掃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6364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清潔で静かで快適でした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6364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「สงบ สะดวก สบาย สะอาด 静かで、便利で、快適で、清潔」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8" name="Shape 26"/>
          <p:cNvSpPr/>
          <p:nvPr/>
        </p:nvSpPr>
        <p:spPr>
          <a:xfrm>
            <a:off x="228600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9" name="Text 27"/>
          <p:cNvSpPr/>
          <p:nvPr/>
        </p:nvSpPr>
        <p:spPr>
          <a:xfrm>
            <a:off x="228600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20件+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難点は、朝食会場が常に混雑しているため、補充されるまで待たなければならないことだ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「朝食がおいしい　フロントが優しい 駅からすこし歩く 飲食店がまわりに少ない 駅からすこし歩く 飲食店がまわりに少ない」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9184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9184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5" name="Shape 33"/>
          <p:cNvSpPr/>
          <p:nvPr/>
        </p:nvSpPr>
        <p:spPr>
          <a:xfrm>
            <a:off x="512064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6" name="Text 34"/>
          <p:cNvSpPr/>
          <p:nvPr/>
        </p:nvSpPr>
        <p:spPr>
          <a:xfrm>
            <a:off x="512064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20件+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42900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快適さ・設備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42900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清潔で静かで快適でした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42900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「สงบ สะดวก สบาย สะอาด 静かで、便利で、快適で、清潔」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2648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2648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Shape 40"/>
          <p:cNvSpPr/>
          <p:nvPr/>
        </p:nvSpPr>
        <p:spPr>
          <a:xfrm>
            <a:off x="795528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3" name="Text 41"/>
          <p:cNvSpPr/>
          <p:nvPr/>
        </p:nvSpPr>
        <p:spPr>
          <a:xfrm>
            <a:off x="795528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9件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6364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部屋の広さ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26364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14時から17時までにチェックインすると人形焼が無料でもらえます🆓 ラウンジは広くウェルカムドリンクが飲み放題で...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6364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「広めの客室（クイーンエコノミー）には、大きなスーツケース2個が楽に収まります」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弱み分析・優先度マトリクス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 Analysis &amp; Priority Matrix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"/>
        </p:xfrm>
        <a:graphic>
          <a:graphicData uri="http://schemas.openxmlformats.org/drawingml/2006/table">
            <a:tbl>
              <a:tblPr/>
              <a:tblGrid>
                <a:gridCol w="731520"/>
                <a:gridCol w="1828800"/>
                <a:gridCol w="457200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優先度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課題カテゴリ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具体的内容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エアコン・空調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cercanía a estaciones de tren, a sitios para comer, co...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58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浴室・水回り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14時から17時までにチェックインすると人形焼が無料でもらえます🆓 ラウンジは広くウェルカムドリンクが飲み放題で...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58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部屋の狭さ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欧米人で、アメリカのホテルのような快適さに慣れている方にとっては、特に窮屈に感じるかもしれません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対応・サービスの不満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サービスは最悪」  数日間滞在しましたが、残念ながら非常に不快な印象を受けました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防音性能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luggage store was easy to use and convenient 最初の夜は隣室か...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臭い・匂い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大手チェーン店ではタバコ臭かったり何かしらの不具合に見舞われますが、ここにはありませんでした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清掃不備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Alcune cose sono un po datate e sarebbero da cambiare (te...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最優先   </a:t>
            </a:r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高優先   </a:t>
            </a:r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中優先   </a:t>
            </a:r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低優先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1：即座対応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Actions (Today ~ 1 Month)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投資不要・オペレーション改善で対応可能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客室の消臭対策の強化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チェックアウト後の換気・消臭スプレー処理の徹底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定期的な脱臭剤の設置と交換フローの確立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喫煙・臭いに関するクレーム発生時の即座対応マニュアル作成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3444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清掃品質の向上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600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清掃チェックリストの見直しと強化（ベッド下・隅の重点確認）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清掃後のダブルチェック体制の導入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清掃スタッフへの再研修実施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01752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エアコン・空調の定期点検強化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33832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全室のエアコン設定を季節に応じてデフォルト確認する運用フロー導入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冷暖房の正常動作を定期チェックリストに追加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異常報告があった客室の優先メンテナンス実施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301752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301752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スタッフ対応品質の統一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33832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接客マニュアルの見直しと全スタッフへの周知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ゲストからのクレーム対応フローの明確化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定期的なCS研修の実施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2・3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 &amp; Mid-term Actions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3977640" cy="36576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2：短期施策（1〜3ヶ月）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浴室の快適性向上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71907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排水口の清掃・修繕を全室で実施し、排水速度を改善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シャワーヘッドの交換（水圧改善・節水タイプ導入）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浴室換気・暖房設備の点検と改善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防音対策の強化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761488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窓際への防音カーテン導入（外部騒音対策）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ドア下部への隙間テープ設置（廊下・隣室からの音漏れ軽減）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騒音の少ない客室への優先案内の仕組み化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口コミ返信体制の構築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803904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全サイトの口コミに48時間以内の返信を目標に設定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特に低評価レビューへのフォローアップ強化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00584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005840"/>
            <a:ext cx="3977640" cy="3657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3：中期施策（3〜6ヶ月）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客室設備のアップグレード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171907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内装の定期的なリフレッシュ計画の策定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照明・電源周りの設備更新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快適性向上のための設備投資計画の立案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2040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浴室の抜本的改修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2761488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配管更新による排水問題の根本解決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換気設備の強化による浴室内の温度・湿度改善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33467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防音工事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3602736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騒音源側客室の窓を二重サッシに交換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隣室との壁面に遮音材を追加する改修工事の検討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KPI目標設定・まとめ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Indicators &amp; Summary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2011680"/>
                <a:gridCol w="1828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KPI項目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現状値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目標値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期限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全体平均(10pt換算)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8.90点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高評価率（8-10点）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86.2%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91%以上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低評価率（1-4点）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2%以下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Google平均評価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7.7点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8.7点以上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口コミ返信率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未計測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100%（48h以内）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2026年6月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エアコン・空調クレーム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約21件/期間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10件以下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4290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3429000"/>
            <a:ext cx="54864" cy="64008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4290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モニタリング方針：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毎月のサイト別スコア集計と口コミ内容の定性分析を実施。四半期ごとに改善施策の効果を検証し、Phase 2・3の優先順位を見直します。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コンフォートホテルERA東京東神田 口コミ分析改善レポート</dc:title>
  <dc:subject>PptxGenJS Presentation</dc:subject>
  <dc:creator>Hotel Consulting</dc:creator>
  <cp:lastModifiedBy>Hotel Consulting</cp:lastModifiedBy>
  <cp:revision>1</cp:revision>
  <dcterms:created xsi:type="dcterms:W3CDTF">2026-03-29T07:52:12Z</dcterms:created>
  <dcterms:modified xsi:type="dcterms:W3CDTF">2026-03-29T07:52:12Z</dcterms:modified>
</cp:coreProperties>
</file>