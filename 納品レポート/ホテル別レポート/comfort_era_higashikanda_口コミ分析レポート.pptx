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3B7D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Agoda</c:v>
                  </c:pt>
                  <c:pt idx="1">
                    <c:v>じゃらん</c:v>
                  </c:pt>
                  <c:pt idx="2">
                    <c:v>Trip.com</c:v>
                  </c:pt>
                  <c:pt idx="3">
                    <c:v>Booking.com</c:v>
                  </c:pt>
                  <c:pt idx="4">
                    <c:v>Google</c:v>
                  </c:pt>
                  <c:pt idx="5">
                    <c:v>楽天トラベル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</c:v>
                </c:pt>
                <c:pt idx="1">
                  <c:v>10</c:v>
                </c:pt>
                <c:pt idx="2">
                  <c:v>9.81</c:v>
                </c:pt>
                <c:pt idx="3">
                  <c:v>8.8</c:v>
                </c:pt>
                <c:pt idx="4">
                  <c:v>8.24</c:v>
                </c:pt>
                <c:pt idx="5">
                  <c:v>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評価分布（10pt換算）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bubble3D val="0"/>
            <c:spPr>
              <a:solidFill>
                <a:srgbClr val="D4A843"/>
              </a:solidFill>
              <a:effectLst/>
            </c:spPr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高評価(8-10)</c:v>
                </c:pt>
                <c:pt idx="1">
                  <c:v>中評価(5-7)</c:v>
                </c:pt>
                <c:pt idx="2">
                  <c:v>低評価(1-4)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100</c:v>
                </c:pt>
                <c:pt idx="1">
                  <c:v>12</c:v>
                </c:pt>
                <c:pt idx="2">
                  <c:v>5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Sheet1!$A$2:$A$10</c:f>
              <c:multiLvlStrCache>
                <c:ptCount val="9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  <c:pt idx="7">
                    <c:v>3点</c:v>
                  </c:pt>
                  <c:pt idx="8">
                    <c:v>2点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68</c:v>
                </c:pt>
                <c:pt idx="1">
                  <c:v>17</c:v>
                </c:pt>
                <c:pt idx="2">
                  <c:v>15</c:v>
                </c:pt>
                <c:pt idx="3">
                  <c:v>7</c:v>
                </c:pt>
                <c:pt idx="4">
                  <c:v>4</c:v>
                </c:pt>
                <c:pt idx="5">
                  <c:v>1</c:v>
                </c:pt>
                <c:pt idx="6">
                  <c:v>2</c:v>
                </c:pt>
                <c:pt idx="7">
                  <c:v>1</c:v>
                </c:pt>
                <c:pt idx="8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コンフォートホテルERA東京東神田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分析対象期間：2026年2月〜3月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レビュー総数：117件（6サイト）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作成日：2026年3月19日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8.94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146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85.5%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4.3%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887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29400" y="1417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117件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立地は非常に便利で、地下鉄とJRの複数の路線が交差する場所に位置し、階下にはセブンイレブンがあります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The staff were also very friendly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他の方同様に清潔感については非の打ちどころがありません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The hotel was lovely and spacious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浴室・水回り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The bathroom in clean and big enough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部屋の狭さ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The rooms are quite small (like everywhere in Japan), but...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3931920" cy="45720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全体平均スコア（10点換算）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8.94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475488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18872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高評価率（8-10点）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75488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85.5%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10896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低評価率（1-4点）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4.3%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475488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3108960"/>
            <a:ext cx="393192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75488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75488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117件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Analysis by Platform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0584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760720" y="1005840"/>
            <a:ext cx="30175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60720" y="1005840"/>
            <a:ext cx="30175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0" y="1097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43600" y="14173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サイト別評価の傾向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高評価グループ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じゃらん(10.00)が最高スコア。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改善対象サイト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楽天トラベル(8.0)が相対的に低い。口コミ返信の強化が急務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注：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Google/じゃらん/楽天は5点満点のため×2で10pt換算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8229600" cy="9144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1828800"/>
                <a:gridCol w="914400"/>
                <a:gridCol w="27432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尺度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9.81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9.81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評価分布分析（10点換算）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Distribution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1097280"/>
          <a:ext cx="36576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4114800" y="1097280"/>
          <a:ext cx="47548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4"/>
          <p:cNvSpPr/>
          <p:nvPr/>
        </p:nvSpPr>
        <p:spPr>
          <a:xfrm>
            <a:off x="4572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 8-10点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73736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100件（85.5%）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91840" y="4160520"/>
            <a:ext cx="2651760" cy="50292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1" name="Text 7"/>
          <p:cNvSpPr/>
          <p:nvPr/>
        </p:nvSpPr>
        <p:spPr>
          <a:xfrm>
            <a:off x="32918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 5-7点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45720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12件（10.3%）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12648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4" name="Text 10"/>
          <p:cNvSpPr/>
          <p:nvPr/>
        </p:nvSpPr>
        <p:spPr>
          <a:xfrm>
            <a:off x="612648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 1-4点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74066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5件（4.3%）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7" name="Text 13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Shape 5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6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立地は非常に便利で、地下鉄とJRの複数の路線が交差する場所に位置し、階下にはセブンイレブンがあります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「The location was great, in a quiet neighbourhood where yo...」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9184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Shape 12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2900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2900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staff were also very friendly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2900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「何か必要なことがあっても、スタッフは全く助けてくれません」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2648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2648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1" name="Shape 19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2" name="Text 20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6364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6364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他の方同様に清潔感については非の打ちどころがありません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6364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「The rooms are quite small (like everywhere in Japan), but...」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8" name="Shape 26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9" name="Text 27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9436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9436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ホテルでは無料の朝食を提供しており、豪華ではありませんが必要なものはすべて揃っています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9436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「ホテルでは無料の朝食を提供しています」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9184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9184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5" name="Shape 33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36" name="Text 34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42900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42900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bed and pillows were great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42900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「タオルやその他のアメニティは毎日交換され、「お休みください」モードにしていたにもかかわらず、着替え用のバッグも用意...」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12648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12648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Shape 40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43" name="Text 41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9件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26364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部屋の広さ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26364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hotel was lovely and spacious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26364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「The bathroom in clean and big enough」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 Analysis &amp; Priority Matrix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"/>
        </p:xfrm>
        <a:graphic>
          <a:graphicData uri="http://schemas.openxmlformats.org/drawingml/2006/table">
            <a:tbl>
              <a:tblPr/>
              <a:tblGrid>
                <a:gridCol w="731520"/>
                <a:gridCol w="1828800"/>
                <a:gridCol w="457200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具体的内容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hotel was lovely and spacious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bathroom in clean and big enough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部屋の狭さ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rooms are quite small (like everywhere in Japan), but...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対応・サービスの不満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室內不大但是設施齊全，該有的東西都有 工作人員服務態度特別好，前台也備有翻譯器 也可以嘗試一下自助早餐，東西不多但...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防音性能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周辺はとても静かで、夜も騒音に悩まされることはありませんでした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臭い・匂い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大手チェーン店ではタバコ臭かったり何かしらの不具合に見舞われますが、ここにはありませんでした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最優先   </a:t>
            </a:r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高優先   </a:t>
            </a:r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中優先   </a:t>
            </a:r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低優先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1：即座対応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Actions (Today ~ 1 Month)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投資不要・オペレーション改善で対応可能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客室の消臭対策の強化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チェックアウト後の換気・消臭スプレー処理の徹底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定期的な脱臭剤の設置と交換フローの確立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喫煙・臭いに関するクレーム発生時の即座対応マニュアル作成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エアコン・空調の定期点検強化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全室のエアコン設定を季節に応じてデフォルト確認する運用フロー導入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冷暖房の正常動作を定期チェックリストに追加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異常報告があった客室の優先メンテナンス実施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スタッフ対応品質の統一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接客マニュアルの見直しと全スタッフへの周知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ゲストからのクレーム対応フローの明確化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定期的なCS研修の実施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 &amp; Mid-term Actions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77640" cy="36576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2：短期施策（1〜3ヶ月）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浴室の快適性向上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排水口の清掃・修繕を全室で実施し、排水速度を改善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シャワーヘッドの交換（水圧改善・節水タイプ導入）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浴室換気・暖房設備の点検と改善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防音対策の強化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窓際への防音カーテン導入（外部騒音対策）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ドア下部への隙間テープ設置（廊下・隣室からの音漏れ軽減）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騒音の少ない客室への優先案内の仕組み化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口コミ返信体制の構築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3803904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全サイトの口コミに48時間以内の返信を目標に設定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特に低評価レビューへのフォローアップ強化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09160" y="1005840"/>
            <a:ext cx="3977640" cy="3657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3：中期施策（3〜6ヶ月）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9204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客室設備のアップグレード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9204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内装の定期的なリフレッシュ計画の策定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照明・電源周りの設備更新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快適性向上のための設備投資計画の立案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9204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浴室の抜本的改修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92040" y="2761488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配管更新による排水問題の根本解決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換気設備の強化による浴室内の温度・湿度改善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92040" y="33467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防音工事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3602736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騒音源側客室の窓を二重サッシに交換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隣室との壁面に遮音材を追加する改修工事の検討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KPI目標設定・まとめ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 &amp; Summary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"/>
        </p:xfrm>
        <a:graphic>
          <a:graphicData uri="http://schemas.openxmlformats.org/drawingml/2006/table">
            <a:tbl>
              <a:tblPr/>
              <a:tblGrid>
                <a:gridCol w="2560320"/>
                <a:gridCol w="1828800"/>
                <a:gridCol w="2011680"/>
                <a:gridCol w="1828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8.94点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85.5%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1%以下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楽天トラベル平均評価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2026年6月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エアコン・空調クレーム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約19件/期間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9件以下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4290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3429000"/>
            <a:ext cx="54864" cy="64008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42900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モニタリング方針：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毎月のサイト別スコア集計と口コミ内容の定性分析を実施。四半期ごとに改善施策の効果を検証し、Phase 2・3の優先順位を見直します。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コンフォートホテルERA東京東神田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2026-03-19T01:52:12Z</dcterms:created>
  <dcterms:modified xsi:type="dcterms:W3CDTF">2026-03-19T01:52:12Z</dcterms:modified>
</cp:coreProperties>
</file>