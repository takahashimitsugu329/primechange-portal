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3B7D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Agoda</c:v>
                  </c:pt>
                  <c:pt idx="1">
                    <c:v>じゃらん</c:v>
                  </c:pt>
                  <c:pt idx="2">
                    <c:v>Trip.com</c:v>
                  </c:pt>
                  <c:pt idx="3">
                    <c:v>Booking.com</c:v>
                  </c:pt>
                  <c:pt idx="4">
                    <c:v>楽天トラベル</c:v>
                  </c:pt>
                  <c:pt idx="5">
                    <c:v>Google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</c:v>
                </c:pt>
                <c:pt idx="1">
                  <c:v>10</c:v>
                </c:pt>
                <c:pt idx="2">
                  <c:v>9.79</c:v>
                </c:pt>
                <c:pt idx="3">
                  <c:v>8.91</c:v>
                </c:pt>
                <c:pt idx="4">
                  <c:v>8.8</c:v>
                </c:pt>
                <c:pt idx="5">
                  <c:v>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評価分布（10pt換算）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bubble3D val="0"/>
            <c:spPr>
              <a:solidFill>
                <a:srgbClr val="D4A843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高評価(8-10)</c:v>
                </c:pt>
                <c:pt idx="1">
                  <c:v>中評価(5-7)</c:v>
                </c:pt>
                <c:pt idx="2">
                  <c:v>低評価(1-4)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59</c:v>
                </c:pt>
                <c:pt idx="1">
                  <c:v>3</c:v>
                </c:pt>
                <c:pt idx="2">
                  <c:v>5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4点</c:v>
                  </c:pt>
                  <c:pt idx="5">
                    <c:v>3点</c:v>
                  </c:pt>
                  <c:pt idx="6">
                    <c:v>2点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39</c:v>
                </c:pt>
                <c:pt idx="1">
                  <c:v>4</c:v>
                </c:pt>
                <c:pt idx="2">
                  <c:v>16</c:v>
                </c:pt>
                <c:pt idx="3">
                  <c:v>3</c:v>
                </c:pt>
                <c:pt idx="4">
                  <c:v>1</c:v>
                </c:pt>
                <c:pt idx="5">
                  <c:v>1</c:v>
                </c:pt>
                <c:pt idx="6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コンフォートホテルERA東京東神田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レビュー総数：67件（6サイト）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作成日：2026年4月15日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8.78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146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88.1%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7.5%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887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Close to the shops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ホテルの方々が本当に親切でした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Cleanliness, convenience, breakfast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Good hotel had everything needed for a Tokyo stay 良いホテルで、...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浴室・水回り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14時から17時までにチェックインすると人形焼が無料でもらえます🆓 ラウンジは広くウェルカムドリンクが飲み放題で...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部屋の狭さ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欧米人で、アメリカのホテルのような快適さに慣れている方にとっては、特に窮屈に感じるかもしれません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3931920" cy="45720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全体平均スコア（10点換算）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8.78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18872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高評価率（8-10点）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5488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88.1%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10896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低評価率（1-4点）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7.5%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475488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3108960"/>
            <a:ext cx="393192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5488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Analysis by Platform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0584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1005840"/>
            <a:ext cx="30175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60720" y="1005840"/>
            <a:ext cx="30175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0" y="1097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0" y="14173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サイト別評価の傾向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高評価グループ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じゃらん(10.00)が最高スコア。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改善対象サイト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Google(7.0)が相対的に低い。口コミ返信の強化が急務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Google/じゃらん/楽天は5点満点のため×2で10pt換算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8229600" cy="9144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828800"/>
                <a:gridCol w="91440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9.79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9.79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評価分布分析（10点換算）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Distribution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09728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114800" y="1097280"/>
          <a:ext cx="47548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4"/>
          <p:cNvSpPr/>
          <p:nvPr/>
        </p:nvSpPr>
        <p:spPr>
          <a:xfrm>
            <a:off x="4572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 8-10点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73736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59件（88.1%）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91840" y="4160520"/>
            <a:ext cx="2651760" cy="50292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1" name="Text 7"/>
          <p:cNvSpPr/>
          <p:nvPr/>
        </p:nvSpPr>
        <p:spPr>
          <a:xfrm>
            <a:off x="32918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 5-7点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5720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3件（4.5%）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4160520"/>
            <a:ext cx="2651760" cy="50292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4" name="Text 10"/>
          <p:cNvSpPr/>
          <p:nvPr/>
        </p:nvSpPr>
        <p:spPr>
          <a:xfrm>
            <a:off x="612648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 1-4点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4066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5件（7.5%）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7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Close to the shops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「Location was good and in a quiet area」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Shape 12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ホテルの方々が本当に親切でした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「スタッフさんの対応がとてもよくて又来たいなと思いました」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Cleanliness, convenience, breakfast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「部屋も風呂も清潔で適度に広く、過ごしやすかったです」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436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いつも、変わりなく場所が変わっても快適で、安心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「清潔で静かで快適でした」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9184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42900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4290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Breakfast was great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「Cleanliness, convenience, breakfast」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2648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2648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43" name="Text 41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9件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26364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コンビニ・周辺施設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6364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Cleanliness, convenience, breakfast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「駅、セブンイレブン、ローソン、ファミリーマートが近くにあり、とても便利な立地です」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 Analysis &amp; Priority Matrix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457200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具体的内容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Good hotel had everything needed for a Tokyo stay 良いホテルで、...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14時から17時までにチェックインすると人形焼が無料でもらえます🆓 ラウンジは広くウェルカムドリンクが飲み放題で...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部屋の狭さ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欧米人で、アメリカのホテルのような快適さに慣れている方にとっては、特に窮屈に感じるかもしれません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防音性能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luggage store was easy to use and convenient 最初の夜は隣室か...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臭い・匂い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外国人の方の利用が多いようで不安でしたが、たまたま玄関先でタバコを吸っている外国人3人が居る所に遭遇したのですが、...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対応・サービスの不満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みたいな感じでしたが、敷地内は禁煙ですと、毅然とした態度を示し、外国人は退散しました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清掃不備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Alcune cose sono un po datate e sarebbero da cambiare (te...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最優先   </a:t>
            </a:r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高優先   </a:t>
            </a:r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中優先   </a:t>
            </a:r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低優先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1：即座対応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(Today ~ 1 Month)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投資不要・オペレーション改善で対応可能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客室の消臭対策の強化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チェックアウト後の換気・消臭スプレー処理の徹底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定期的な脱臭剤の設置と交換フローの確立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喫煙・臭いに関するクレーム発生時の即座対応マニュアル作成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清掃品質の向上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清掃チェックリストの見直しと強化（ベッド下・隅の重点確認）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清掃後のダブルチェック体制の導入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清掃スタッフへの再研修実施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エアコン・空調の定期点検強化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全室のエアコン設定を季節に応じてデフォルト確認する運用フロー導入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冷暖房の正常動作を定期チェックリストに追加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異常報告があった客室の優先メンテナンス実施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66344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6344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20" name="Text 18"/>
          <p:cNvSpPr/>
          <p:nvPr/>
        </p:nvSpPr>
        <p:spPr>
          <a:xfrm>
            <a:off x="480060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スタッフ対応品質の統一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80060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接客マニュアルの見直しと全スタッフへの周知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ゲストからのクレーム対応フローの明確化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定期的なCS研修の実施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&amp; Mid-term Actions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77640" cy="36576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2：短期施策（1〜3ヶ月）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浴室の快適性向上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排水口の清掃・修繕を全室で実施し、排水速度を改善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シャワーヘッドの交換（水圧改善・節水タイプ導入）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浴室換気・暖房設備の点検と改善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防音対策の強化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窓際への防音カーテン導入（外部騒音対策）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ドア下部への隙間テープ設置（廊下・隣室からの音漏れ軽減）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騒音の少ない客室への優先案内の仕組み化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口コミ返信体制の構築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803904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全サイトの口コミに48時間以内の返信を目標に設定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特に低評価レビューへのフォローアップ強化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005840"/>
            <a:ext cx="3977640" cy="3657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3：中期施策（3〜6ヶ月）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客室設備のアップグレード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内装の定期的なリフレッシュ計画の策定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照明・電源周りの設備更新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快適性向上のための設備投資計画の立案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9204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浴室の抜本的改修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2761488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配管更新による排水問題の根本解決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換気設備の強化による浴室内の温度・湿度改善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33467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防音工事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3602736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騒音源側客室の窓を二重サッシに交換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隣室との壁面に遮音材を追加する改修工事の検討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KPI目標設定・まとめ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 &amp; Summary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201168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8.78点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88.1%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5%以下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Google平均評価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2026年6月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エアコン・空調クレーム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約16件/期間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8件以下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4290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3429000"/>
            <a:ext cx="54864" cy="64008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4290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モニタリング方針：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毎月のサイト別スコア集計と口コミ内容の定性分析を実施。四半期ごとに改善施策の効果を検証し、Phase 2・3の優先順位を見直します。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コンフォートホテルERA東京東神田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2026-04-15T23:41:02Z</dcterms:created>
  <dcterms:modified xsi:type="dcterms:W3CDTF">2026-04-15T23:41:02Z</dcterms:modified>
</cp:coreProperties>
</file>