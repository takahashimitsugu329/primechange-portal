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charts/chart1.xml" ContentType="application/vnd.openxmlformats-officedocument.drawingml.chart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_rels/chart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10pt換算平均</c:v>
                </c:pt>
              </c:strCache>
            </c:strRef>
          </c:tx>
          <c:spPr>
            <a:solidFill>
              <a:srgbClr val="3B7DD8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334155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楽天トラベル</c:v>
                  </c:pt>
                  <c:pt idx="1">
                    <c:v>Trip.com</c:v>
                  </c:pt>
                  <c:pt idx="2">
                    <c:v>Google</c:v>
                  </c:pt>
                  <c:pt idx="3">
                    <c:v>Booking.com</c:v>
                  </c:pt>
                  <c:pt idx="4">
                    <c:v>Agoda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10</c:v>
                </c:pt>
                <c:pt idx="1">
                  <c:v>9.72</c:v>
                </c:pt>
                <c:pt idx="2">
                  <c:v>9.38</c:v>
                </c:pt>
                <c:pt idx="3">
                  <c:v>9.15</c:v>
                </c:pt>
                <c:pt idx="4">
                  <c:v>4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334155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334155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0"/>
        </c:scaling>
        <c:delete val="0"/>
        <c:axPos val="b"/>
        <c:majorGridlines>
          <c:spPr>
            <a:ln w="6350" cap="flat">
              <a:solidFill>
                <a:srgbClr val="E2E8F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64748B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評価分布（10pt換算）</c:v>
                </c:pt>
              </c:strCache>
            </c:strRef>
          </c:tx>
          <c:spPr>
            <a:solidFill>
              <a:schemeClr val="accent1"/>
            </a:solidFill>
            <a:ln w="9525" cap="flat">
              <a:solidFill>
                <a:srgbClr val="F9F9F9"/>
              </a:solidFill>
              <a:prstDash val="solid"/>
              <a:round/>
            </a:ln>
            <a:effectLst/>
          </c:spPr>
          <c:dPt>
            <c:idx val="0"/>
            <c:bubble3D val="0"/>
            <c:spPr>
              <a:solidFill>
                <a:srgbClr val="16A34A"/>
              </a:solidFill>
              <a:effectLst/>
            </c:spPr>
          </c:dPt>
          <c:dPt>
            <c:idx val="1"/>
            <c:bubble3D val="0"/>
            <c:spPr>
              <a:solidFill>
                <a:srgbClr val="D4A843"/>
              </a:solidFill>
              <a:effectLst/>
            </c:spPr>
          </c:dPt>
          <c:dLbls>
            <c:dLbl>
              <c:idx val="0"/>
              <c:numFmt formatCode="0%" sourceLinked="0"/>
              <c:spPr/>
              <c:txPr>
                <a:bodyPr/>
                <a:lstStyle/>
                <a:p>
                  <a:pPr>
                    <a:defRPr sz="1100" b="0" i="0" u="none" strike="noStrike">
                      <a:solidFill>
                        <a:srgbClr val="FFFFFF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dLbl>
              <c:idx val="1"/>
              <c:numFmt formatCode="0%" sourceLinked="0"/>
              <c:spPr/>
              <c:txPr>
                <a:bodyPr/>
                <a:lstStyle/>
                <a:p>
                  <a:pPr>
                    <a:defRPr sz="1100" b="0" i="0" u="none" strike="noStrike">
                      <a:solidFill>
                        <a:srgbClr val="FFFFFF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numFmt formatCode="0%" sourceLinked="0"/>
            <c:txPr>
              <a:bodyPr/>
              <a:lstStyle/>
              <a:p>
                <a:pPr>
                  <a:defRPr sz="1800" b="0" i="0" u="none" strike="noStrik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1"/>
            <c:showSerName val="0"/>
            <c:showPercent val="1"/>
            <c:showBubbleSize val="0"/>
            <c:showLeaderLines val="0"/>
          </c:dLbls>
          <c:cat>
            <c:strRef>
              <c:f>Sheet1!$A$2:$A$3</c:f>
              <c:strCache>
                <c:ptCount val="2"/>
                <c:pt idx="0">
                  <c:v>高評価(8-10)</c:v>
                </c:pt>
                <c:pt idx="1">
                  <c:v>中評価(5-7)</c:v>
                </c:pt>
              </c:strCache>
            </c:strRef>
          </c:cat>
          <c:val>
            <c:numRef>
              <c:f>Sheet1!$B$2:$B$3</c:f>
              <c:numCache>
                <c:ptCount val="2"/>
                <c:pt idx="0">
                  <c:v>69</c:v>
                </c:pt>
                <c:pt idx="1">
                  <c:v>3</c:v>
                </c:pt>
              </c:numCache>
            </c:numRef>
          </c:val>
        </c:ser>
        <c:firstSliceAng val="0"/>
        <c:holeSize val="50"/>
      </c:doughnutChart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900">
              <a:solidFill>
                <a:srgbClr val="64748B"/>
              </a:solidFill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件数</c:v>
                </c:pt>
              </c:strCache>
            </c:strRef>
          </c:tx>
          <c:spPr>
            <a:solidFill>
              <a:srgbClr val="16A34A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334155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16A34A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16A34A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16A34A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D4A843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D4A843"/>
              </a:solidFill>
              <a:effectLst/>
            </c:spPr>
          </c:dPt>
          <c:dPt>
            <c:idx val="5"/>
            <c:invertIfNegative val="0"/>
            <c:bubble3D val="0"/>
            <c:spPr>
              <a:solidFill>
                <a:srgbClr val="D4A843"/>
              </a:solidFill>
              <a:effectLst/>
            </c:spPr>
          </c:dPt>
          <c:cat>
            <c:multiLvlStrRef>
              <c:f>Sheet1!$A$2:$A$7</c:f>
              <c:multiLvlStrCache>
                <c:ptCount val="6"/>
                <c:lvl>
                  <c:pt idx="0">
                    <c:v>10点</c:v>
                  </c:pt>
                  <c:pt idx="1">
                    <c:v>9点</c:v>
                  </c:pt>
                  <c:pt idx="2">
                    <c:v>8点</c:v>
                  </c:pt>
                  <c:pt idx="3">
                    <c:v>7点</c:v>
                  </c:pt>
                  <c:pt idx="4">
                    <c:v>6点</c:v>
                  </c:pt>
                  <c:pt idx="5">
                    <c:v>4点</c:v>
                  </c:pt>
                </c:lvl>
              </c:multiLvlStrCache>
            </c:multiLvl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55</c:v>
                </c:pt>
                <c:pt idx="1">
                  <c:v>11</c:v>
                </c:pt>
                <c:pt idx="2">
                  <c:v>3</c:v>
                </c:pt>
                <c:pt idx="3">
                  <c:v>2</c:v>
                </c:pt>
                <c:pt idx="4">
                  <c:v>1</c:v>
                </c:pt>
                <c:pt idx="5">
                  <c:v>2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900" u="none">
                  <a:solidFill>
                    <a:srgbClr val="334155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334155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2E8F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800" b="0" i="0" u="none" strike="noStrike">
                <a:solidFill>
                  <a:srgbClr val="64748B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.xml"/><Relationship Id="rId2" Type="http://schemas.openxmlformats.org/officeDocument/2006/relationships/chart" Target="/ppt/charts/chart3.xml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A274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243556">
              <a:alpha val="60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0" y="1828800"/>
            <a:ext cx="73152" cy="1645920"/>
          </a:xfrm>
          <a:prstGeom prst="rect">
            <a:avLst/>
          </a:prstGeom>
          <a:solidFill>
            <a:srgbClr val="D4A843"/>
          </a:solidFill>
          <a:ln/>
        </p:spPr>
      </p:sp>
      <p:sp>
        <p:nvSpPr>
          <p:cNvPr id="4" name="Text 2"/>
          <p:cNvSpPr/>
          <p:nvPr/>
        </p:nvSpPr>
        <p:spPr>
          <a:xfrm>
            <a:off x="731520" y="1371600"/>
            <a:ext cx="7315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spc="600" kern="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口コミ分析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731520" y="1920240"/>
            <a:ext cx="7315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改善レポート</a:t>
            </a:r>
            <a:endParaRPr lang="en-US" sz="4200" dirty="0"/>
          </a:p>
        </p:txBody>
      </p:sp>
      <p:sp>
        <p:nvSpPr>
          <p:cNvPr id="6" name="Shape 4"/>
          <p:cNvSpPr/>
          <p:nvPr/>
        </p:nvSpPr>
        <p:spPr>
          <a:xfrm>
            <a:off x="731520" y="2834640"/>
            <a:ext cx="1828800" cy="0"/>
          </a:xfrm>
          <a:prstGeom prst="line">
            <a:avLst/>
          </a:prstGeom>
          <a:noFill/>
          <a:ln w="25400">
            <a:solidFill>
              <a:srgbClr val="D4A843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31520" y="301752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第一イン池袋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731520" y="3749040"/>
            <a:ext cx="4572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400"/>
              </a:spcAft>
              <a:buNone/>
            </a:pPr>
            <a:r>
              <a:rPr lang="en-US" sz="10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分析対象期間：2025年12月〜2026年4月</a:t>
            </a:r>
            <a:endParaRPr lang="en-US" sz="10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0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レビュー総数：74件</a:t>
            </a:r>
            <a:endParaRPr lang="en-US" sz="10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0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作成日：2026年4月12日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6858000" y="0"/>
            <a:ext cx="2286000" cy="5143500"/>
          </a:xfrm>
          <a:prstGeom prst="rect">
            <a:avLst/>
          </a:prstGeom>
          <a:solidFill>
            <a:srgbClr val="3B7DD8">
              <a:alpha val="15000"/>
            </a:srgbClr>
          </a:solidFill>
          <a:ln/>
        </p:spPr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エグゼクティブサマリー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57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Executive Summary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457200" y="1051560"/>
            <a:ext cx="1874520" cy="9601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457200" y="1051560"/>
            <a:ext cx="1874520" cy="45720"/>
          </a:xfrm>
          <a:prstGeom prst="rect">
            <a:avLst/>
          </a:prstGeom>
          <a:solidFill>
            <a:srgbClr val="3B7DD8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1188720"/>
            <a:ext cx="1874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全体平均(10pt換算)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457200" y="1417320"/>
            <a:ext cx="1874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3B7D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9.47</a:t>
            </a:r>
            <a:endParaRPr lang="en-US" sz="3200" dirty="0"/>
          </a:p>
        </p:txBody>
      </p:sp>
      <p:sp>
        <p:nvSpPr>
          <p:cNvPr id="9" name="Shape 7"/>
          <p:cNvSpPr/>
          <p:nvPr/>
        </p:nvSpPr>
        <p:spPr>
          <a:xfrm>
            <a:off x="2514600" y="1051560"/>
            <a:ext cx="1874520" cy="9601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2514600" y="1051560"/>
            <a:ext cx="1874520" cy="45720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11" name="Text 9"/>
          <p:cNvSpPr/>
          <p:nvPr/>
        </p:nvSpPr>
        <p:spPr>
          <a:xfrm>
            <a:off x="2514600" y="1188720"/>
            <a:ext cx="1874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高評価率(8-10点)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2514600" y="1417320"/>
            <a:ext cx="1874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93.2%</a:t>
            </a:r>
            <a:endParaRPr lang="en-US" sz="3200" dirty="0"/>
          </a:p>
        </p:txBody>
      </p:sp>
      <p:sp>
        <p:nvSpPr>
          <p:cNvPr id="13" name="Shape 11"/>
          <p:cNvSpPr/>
          <p:nvPr/>
        </p:nvSpPr>
        <p:spPr>
          <a:xfrm>
            <a:off x="4572000" y="1051560"/>
            <a:ext cx="1874520" cy="9601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4572000" y="1051560"/>
            <a:ext cx="1874520" cy="45720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15" name="Text 13"/>
          <p:cNvSpPr/>
          <p:nvPr/>
        </p:nvSpPr>
        <p:spPr>
          <a:xfrm>
            <a:off x="4572000" y="1188720"/>
            <a:ext cx="1874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低評価率(1-4点)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4572000" y="1417320"/>
            <a:ext cx="1874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2.7%</a:t>
            </a:r>
            <a:endParaRPr lang="en-US" sz="3200" dirty="0"/>
          </a:p>
        </p:txBody>
      </p:sp>
      <p:sp>
        <p:nvSpPr>
          <p:cNvPr id="17" name="Shape 15"/>
          <p:cNvSpPr/>
          <p:nvPr/>
        </p:nvSpPr>
        <p:spPr>
          <a:xfrm>
            <a:off x="6629400" y="1051560"/>
            <a:ext cx="2057400" cy="9601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6629400" y="1051560"/>
            <a:ext cx="2057400" cy="4572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19" name="Text 17"/>
          <p:cNvSpPr/>
          <p:nvPr/>
        </p:nvSpPr>
        <p:spPr>
          <a:xfrm>
            <a:off x="6629400" y="1188720"/>
            <a:ext cx="2057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レビュー総数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6629400" y="1417320"/>
            <a:ext cx="2057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74件</a:t>
            </a:r>
            <a:endParaRPr lang="en-US" sz="3200" dirty="0"/>
          </a:p>
        </p:txBody>
      </p:sp>
      <p:sp>
        <p:nvSpPr>
          <p:cNvPr id="21" name="Shape 19"/>
          <p:cNvSpPr/>
          <p:nvPr/>
        </p:nvSpPr>
        <p:spPr>
          <a:xfrm>
            <a:off x="457200" y="2286000"/>
            <a:ext cx="3931920" cy="22860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457200" y="2286000"/>
            <a:ext cx="3931920" cy="45720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23" name="Text 21"/>
          <p:cNvSpPr/>
          <p:nvPr/>
        </p:nvSpPr>
        <p:spPr>
          <a:xfrm>
            <a:off x="640080" y="2377440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Strengths</a:t>
            </a:r>
            <a:endParaRPr lang="en-US" sz="1400" dirty="0"/>
          </a:p>
        </p:txBody>
      </p:sp>
      <p:sp>
        <p:nvSpPr>
          <p:cNvPr id="24" name="Text 22"/>
          <p:cNvSpPr/>
          <p:nvPr/>
        </p:nvSpPr>
        <p:spPr>
          <a:xfrm>
            <a:off x="640080" y="2743200"/>
            <a:ext cx="347472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立地・アクセス 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駅近・交通利便性に関する好評価（63件）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部屋・設備 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客室の快適性・設備の充実度への好評（33件）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スタッフ対応 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フロントスタッフの丁寧な対応への好評（22件）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4754880" y="2286000"/>
            <a:ext cx="3931920" cy="22860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26" name="Shape 24"/>
          <p:cNvSpPr/>
          <p:nvPr/>
        </p:nvSpPr>
        <p:spPr>
          <a:xfrm>
            <a:off x="4754880" y="2286000"/>
            <a:ext cx="3931920" cy="45720"/>
          </a:xfrm>
          <a:prstGeom prst="rect">
            <a:avLst/>
          </a:prstGeom>
          <a:solidFill>
            <a:srgbClr val="DC2626"/>
          </a:solidFill>
          <a:ln/>
        </p:spPr>
      </p:sp>
      <p:sp>
        <p:nvSpPr>
          <p:cNvPr id="27" name="Text 25"/>
          <p:cNvSpPr/>
          <p:nvPr/>
        </p:nvSpPr>
        <p:spPr>
          <a:xfrm>
            <a:off x="4937760" y="2377440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C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Weaknesses</a:t>
            </a:r>
            <a:endParaRPr lang="en-US" sz="1400" dirty="0"/>
          </a:p>
        </p:txBody>
      </p:sp>
      <p:sp>
        <p:nvSpPr>
          <p:cNvPr id="28" name="Text 26"/>
          <p:cNvSpPr/>
          <p:nvPr/>
        </p:nvSpPr>
        <p:spPr>
          <a:xfrm>
            <a:off x="4937760" y="2743200"/>
            <a:ext cx="347472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口コミ返信率 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継続的な品質管理・予防的対応を推奨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サービス改善 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継続的な品質管理・予防的対応を推奨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設備メンテナンス 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継続的な品質管理・予防的対応を推奨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0" name="Text 28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31" name="Text 29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サイト別評価分析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57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Rating Analysis by Platform</a:t>
            </a:r>
            <a:endParaRPr lang="en-US" sz="1000" dirty="0"/>
          </a:p>
        </p:txBody>
      </p:sp>
      <p:graphicFrame>
        <p:nvGraphicFramePr>
          <p:cNvPr id="5" name="Chart 0" descr=""/>
          <p:cNvGraphicFramePr/>
          <p:nvPr/>
        </p:nvGraphicFramePr>
        <p:xfrm>
          <a:off x="457200" y="1005840"/>
          <a:ext cx="5029200" cy="32004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6" name="Shape 3"/>
          <p:cNvSpPr/>
          <p:nvPr/>
        </p:nvSpPr>
        <p:spPr>
          <a:xfrm>
            <a:off x="5760720" y="1005840"/>
            <a:ext cx="3017520" cy="32004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7" name="Shape 4"/>
          <p:cNvSpPr/>
          <p:nvPr/>
        </p:nvSpPr>
        <p:spPr>
          <a:xfrm>
            <a:off x="5760720" y="1005840"/>
            <a:ext cx="3017520" cy="45720"/>
          </a:xfrm>
          <a:prstGeom prst="rect">
            <a:avLst/>
          </a:prstGeom>
          <a:solidFill>
            <a:srgbClr val="D4A843"/>
          </a:solidFill>
          <a:ln/>
        </p:spPr>
      </p:sp>
      <p:sp>
        <p:nvSpPr>
          <p:cNvPr id="8" name="Text 5"/>
          <p:cNvSpPr/>
          <p:nvPr/>
        </p:nvSpPr>
        <p:spPr>
          <a:xfrm>
            <a:off x="5943600" y="1097280"/>
            <a:ext cx="1828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8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Insight</a:t>
            </a:r>
            <a:endParaRPr lang="en-US" sz="1300" dirty="0"/>
          </a:p>
        </p:txBody>
      </p:sp>
      <p:sp>
        <p:nvSpPr>
          <p:cNvPr id="9" name="Text 6"/>
          <p:cNvSpPr/>
          <p:nvPr/>
        </p:nvSpPr>
        <p:spPr>
          <a:xfrm>
            <a:off x="5943600" y="1417320"/>
            <a:ext cx="265176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1200" b="1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サイト別評価インサイト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最高評価サイト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楽天トラベル: 10.00点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全体平均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9.47点（10pt換算）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0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注：</a:t>
            </a:r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海外OTAは/10、国内サイトは/5×2換算</a:t>
            </a:r>
            <a:endParaRPr lang="en-US" sz="110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4297680"/>
          <a:ext cx="8229600" cy="91440"/>
        </p:xfrm>
        <a:graphic>
          <a:graphicData uri="http://schemas.openxmlformats.org/drawingml/2006/table">
            <a:tbl>
              <a:tblPr/>
              <a:tblGrid>
                <a:gridCol w="1828800"/>
                <a:gridCol w="914400"/>
                <a:gridCol w="1828800"/>
                <a:gridCol w="914400"/>
                <a:gridCol w="2743200"/>
              </a:tblGrid>
              <a:tr h="2286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サイト名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件数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ネイティブ平均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尺度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10pt換算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</a:tr>
              <a:tr h="2011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楽天トラベル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5.00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/5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10.00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</a:tr>
              <a:tr h="2011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Trip.com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43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9.72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/10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9.72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011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Google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16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4.69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/5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9.38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</a:tr>
              <a:tr h="2011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Booking.com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9.15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/10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9.15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011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Agoda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4.00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/10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4.00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12" name="Text 8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13" name="Text 9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評価分布分析（10点換算）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57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Rating Distribution</a:t>
            </a:r>
            <a:endParaRPr lang="en-US" sz="1000" dirty="0"/>
          </a:p>
        </p:txBody>
      </p:sp>
      <p:graphicFrame>
        <p:nvGraphicFramePr>
          <p:cNvPr id="5" name="Chart 0" descr=""/>
          <p:cNvGraphicFramePr/>
          <p:nvPr/>
        </p:nvGraphicFramePr>
        <p:xfrm>
          <a:off x="274320" y="1097280"/>
          <a:ext cx="3657600" cy="29260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graphicFrame>
        <p:nvGraphicFramePr>
          <p:cNvPr id="6" name="Chart 1" descr=""/>
          <p:cNvGraphicFramePr/>
          <p:nvPr/>
        </p:nvGraphicFramePr>
        <p:xfrm>
          <a:off x="4114800" y="1097280"/>
          <a:ext cx="4754880" cy="29260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7" name="Shape 3"/>
          <p:cNvSpPr/>
          <p:nvPr/>
        </p:nvSpPr>
        <p:spPr>
          <a:xfrm>
            <a:off x="457200" y="4160520"/>
            <a:ext cx="2651760" cy="502920"/>
          </a:xfrm>
          <a:prstGeom prst="rect">
            <a:avLst/>
          </a:prstGeom>
          <a:solidFill>
            <a:srgbClr val="DCFCE7"/>
          </a:solidFill>
          <a:ln/>
        </p:spPr>
      </p:sp>
      <p:sp>
        <p:nvSpPr>
          <p:cNvPr id="8" name="Text 4"/>
          <p:cNvSpPr/>
          <p:nvPr/>
        </p:nvSpPr>
        <p:spPr>
          <a:xfrm>
            <a:off x="457200" y="4160520"/>
            <a:ext cx="1371600" cy="502920"/>
          </a:xfrm>
          <a:prstGeom prst="rect">
            <a:avLst/>
          </a:prstGeom>
          <a:noFill/>
          <a:ln/>
        </p:spPr>
        <p:txBody>
          <a:bodyPr wrap="square" lIns="0" tIns="10160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高評価 8-10点</a:t>
            </a:r>
            <a:endParaRPr lang="en-US" sz="1000" dirty="0"/>
          </a:p>
        </p:txBody>
      </p:sp>
      <p:sp>
        <p:nvSpPr>
          <p:cNvPr id="9" name="Text 5"/>
          <p:cNvSpPr/>
          <p:nvPr/>
        </p:nvSpPr>
        <p:spPr>
          <a:xfrm>
            <a:off x="1737360" y="4160520"/>
            <a:ext cx="1371600" cy="502920"/>
          </a:xfrm>
          <a:prstGeom prst="rect">
            <a:avLst/>
          </a:prstGeom>
          <a:noFill/>
          <a:ln/>
        </p:spPr>
        <p:txBody>
          <a:bodyPr wrap="square" lIns="0" tIns="0" rIns="10160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69件（93.2%）</a:t>
            </a:r>
            <a:endParaRPr lang="en-US" sz="1100" dirty="0"/>
          </a:p>
        </p:txBody>
      </p:sp>
      <p:sp>
        <p:nvSpPr>
          <p:cNvPr id="10" name="Shape 6"/>
          <p:cNvSpPr/>
          <p:nvPr/>
        </p:nvSpPr>
        <p:spPr>
          <a:xfrm>
            <a:off x="3291840" y="4160520"/>
            <a:ext cx="2651760" cy="502920"/>
          </a:xfrm>
          <a:prstGeom prst="rect">
            <a:avLst/>
          </a:prstGeom>
          <a:solidFill>
            <a:srgbClr val="FFF7ED"/>
          </a:solidFill>
          <a:ln/>
        </p:spPr>
      </p:sp>
      <p:sp>
        <p:nvSpPr>
          <p:cNvPr id="11" name="Text 7"/>
          <p:cNvSpPr/>
          <p:nvPr/>
        </p:nvSpPr>
        <p:spPr>
          <a:xfrm>
            <a:off x="3291840" y="4160520"/>
            <a:ext cx="1371600" cy="502920"/>
          </a:xfrm>
          <a:prstGeom prst="rect">
            <a:avLst/>
          </a:prstGeom>
          <a:noFill/>
          <a:ln/>
        </p:spPr>
        <p:txBody>
          <a:bodyPr wrap="square" lIns="0" tIns="10160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8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中評価 5-7点</a:t>
            </a:r>
            <a:endParaRPr lang="en-US" sz="1000" dirty="0"/>
          </a:p>
        </p:txBody>
      </p:sp>
      <p:sp>
        <p:nvSpPr>
          <p:cNvPr id="12" name="Text 8"/>
          <p:cNvSpPr/>
          <p:nvPr/>
        </p:nvSpPr>
        <p:spPr>
          <a:xfrm>
            <a:off x="4572000" y="4160520"/>
            <a:ext cx="1371600" cy="502920"/>
          </a:xfrm>
          <a:prstGeom prst="rect">
            <a:avLst/>
          </a:prstGeom>
          <a:noFill/>
          <a:ln/>
        </p:spPr>
        <p:txBody>
          <a:bodyPr wrap="square" lIns="0" tIns="0" rIns="10160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D4A8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3件（4.1%）</a:t>
            </a:r>
            <a:endParaRPr lang="en-US" sz="1100" dirty="0"/>
          </a:p>
        </p:txBody>
      </p:sp>
      <p:sp>
        <p:nvSpPr>
          <p:cNvPr id="13" name="Shape 9"/>
          <p:cNvSpPr/>
          <p:nvPr/>
        </p:nvSpPr>
        <p:spPr>
          <a:xfrm>
            <a:off x="6126480" y="4160520"/>
            <a:ext cx="2651760" cy="502920"/>
          </a:xfrm>
          <a:prstGeom prst="rect">
            <a:avLst/>
          </a:prstGeom>
          <a:solidFill>
            <a:srgbClr val="FEE2E2"/>
          </a:solidFill>
          <a:ln/>
        </p:spPr>
      </p:sp>
      <p:sp>
        <p:nvSpPr>
          <p:cNvPr id="14" name="Text 10"/>
          <p:cNvSpPr/>
          <p:nvPr/>
        </p:nvSpPr>
        <p:spPr>
          <a:xfrm>
            <a:off x="6126480" y="4160520"/>
            <a:ext cx="1371600" cy="502920"/>
          </a:xfrm>
          <a:prstGeom prst="rect">
            <a:avLst/>
          </a:prstGeom>
          <a:noFill/>
          <a:ln/>
        </p:spPr>
        <p:txBody>
          <a:bodyPr wrap="square" lIns="0" tIns="10160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C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低評価 1-4点</a:t>
            </a:r>
            <a:endParaRPr lang="en-US" sz="1000" dirty="0"/>
          </a:p>
        </p:txBody>
      </p:sp>
      <p:sp>
        <p:nvSpPr>
          <p:cNvPr id="15" name="Text 11"/>
          <p:cNvSpPr/>
          <p:nvPr/>
        </p:nvSpPr>
        <p:spPr>
          <a:xfrm>
            <a:off x="7406640" y="4160520"/>
            <a:ext cx="1371600" cy="502920"/>
          </a:xfrm>
          <a:prstGeom prst="rect">
            <a:avLst/>
          </a:prstGeom>
          <a:noFill/>
          <a:ln/>
        </p:spPr>
        <p:txBody>
          <a:bodyPr wrap="square" lIns="0" tIns="0" rIns="10160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DC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2件（2.7%）</a:t>
            </a:r>
            <a:endParaRPr lang="en-US" sz="1100" dirty="0"/>
          </a:p>
        </p:txBody>
      </p:sp>
      <p:sp>
        <p:nvSpPr>
          <p:cNvPr id="16" name="Shape 12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17" name="Text 13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18" name="Text 14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強み分析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57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Strength Analysis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457200" y="1051560"/>
            <a:ext cx="2651760" cy="16002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457200" y="1051560"/>
            <a:ext cx="54864" cy="1600200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7" name="Shape 5"/>
          <p:cNvSpPr/>
          <p:nvPr/>
        </p:nvSpPr>
        <p:spPr>
          <a:xfrm>
            <a:off x="2286000" y="1124712"/>
            <a:ext cx="658368" cy="228600"/>
          </a:xfrm>
          <a:prstGeom prst="rect">
            <a:avLst/>
          </a:prstGeom>
          <a:solidFill>
            <a:srgbClr val="DCFCE7"/>
          </a:solidFill>
          <a:ln/>
        </p:spPr>
      </p:sp>
      <p:sp>
        <p:nvSpPr>
          <p:cNvPr id="8" name="Text 6"/>
          <p:cNvSpPr/>
          <p:nvPr/>
        </p:nvSpPr>
        <p:spPr>
          <a:xfrm>
            <a:off x="2286000" y="1124712"/>
            <a:ext cx="65836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63件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594360" y="1124712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立地・アクセス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594360" y="141732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駅近・交通利便性に関する好評価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594360" y="1828800"/>
            <a:ext cx="2377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3B7D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「分と非常に便利です。部屋は広々としており、シングルルームでも」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3291840" y="1051560"/>
            <a:ext cx="2651760" cy="16002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3291840" y="1051560"/>
            <a:ext cx="54864" cy="1600200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14" name="Shape 12"/>
          <p:cNvSpPr/>
          <p:nvPr/>
        </p:nvSpPr>
        <p:spPr>
          <a:xfrm>
            <a:off x="5120640" y="1124712"/>
            <a:ext cx="658368" cy="228600"/>
          </a:xfrm>
          <a:prstGeom prst="rect">
            <a:avLst/>
          </a:prstGeom>
          <a:solidFill>
            <a:srgbClr val="DCFCE7"/>
          </a:solidFill>
          <a:ln/>
        </p:spPr>
      </p:sp>
      <p:sp>
        <p:nvSpPr>
          <p:cNvPr id="15" name="Text 13"/>
          <p:cNvSpPr/>
          <p:nvPr/>
        </p:nvSpPr>
        <p:spPr>
          <a:xfrm>
            <a:off x="5120640" y="1124712"/>
            <a:ext cx="65836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33件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3429000" y="1124712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部屋・設備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3429000" y="141732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客室の快適性・設備の充実度への好評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3429000" y="1828800"/>
            <a:ext cx="2377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3B7D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「便利です。部屋は広々としており、シングルルームでもスーツケー」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6126480" y="1051560"/>
            <a:ext cx="2651760" cy="16002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6126480" y="1051560"/>
            <a:ext cx="54864" cy="1600200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21" name="Shape 19"/>
          <p:cNvSpPr/>
          <p:nvPr/>
        </p:nvSpPr>
        <p:spPr>
          <a:xfrm>
            <a:off x="7955280" y="1124712"/>
            <a:ext cx="658368" cy="228600"/>
          </a:xfrm>
          <a:prstGeom prst="rect">
            <a:avLst/>
          </a:prstGeom>
          <a:solidFill>
            <a:srgbClr val="DCFCE7"/>
          </a:solidFill>
          <a:ln/>
        </p:spPr>
      </p:sp>
      <p:sp>
        <p:nvSpPr>
          <p:cNvPr id="22" name="Text 20"/>
          <p:cNvSpPr/>
          <p:nvPr/>
        </p:nvSpPr>
        <p:spPr>
          <a:xfrm>
            <a:off x="7955280" y="1124712"/>
            <a:ext cx="65836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22件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6263640" y="1124712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スタッフ対応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263640" y="141732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フロントスタッフの丁寧な対応への好評</a:t>
            </a:r>
            <a:endParaRPr lang="en-US" sz="900" dirty="0"/>
          </a:p>
        </p:txBody>
      </p:sp>
      <p:sp>
        <p:nvSpPr>
          <p:cNvPr id="25" name="Text 23"/>
          <p:cNvSpPr/>
          <p:nvPr/>
        </p:nvSpPr>
        <p:spPr>
          <a:xfrm>
            <a:off x="6263640" y="1828800"/>
            <a:ext cx="2377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3B7D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「にも近く、スタッフもとても親切です。部屋はそれほど新しくはあ」</a:t>
            </a:r>
            <a:endParaRPr lang="en-US" sz="900" dirty="0"/>
          </a:p>
        </p:txBody>
      </p:sp>
      <p:sp>
        <p:nvSpPr>
          <p:cNvPr id="26" name="Shape 24"/>
          <p:cNvSpPr/>
          <p:nvPr/>
        </p:nvSpPr>
        <p:spPr>
          <a:xfrm>
            <a:off x="457200" y="2880360"/>
            <a:ext cx="2651760" cy="16002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27" name="Shape 25"/>
          <p:cNvSpPr/>
          <p:nvPr/>
        </p:nvSpPr>
        <p:spPr>
          <a:xfrm>
            <a:off x="457200" y="2880360"/>
            <a:ext cx="54864" cy="1600200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28" name="Shape 26"/>
          <p:cNvSpPr/>
          <p:nvPr/>
        </p:nvSpPr>
        <p:spPr>
          <a:xfrm>
            <a:off x="2286000" y="2953512"/>
            <a:ext cx="658368" cy="228600"/>
          </a:xfrm>
          <a:prstGeom prst="rect">
            <a:avLst/>
          </a:prstGeom>
          <a:solidFill>
            <a:srgbClr val="DCFCE7"/>
          </a:solidFill>
          <a:ln/>
        </p:spPr>
      </p:sp>
      <p:sp>
        <p:nvSpPr>
          <p:cNvPr id="29" name="Text 27"/>
          <p:cNvSpPr/>
          <p:nvPr/>
        </p:nvSpPr>
        <p:spPr>
          <a:xfrm>
            <a:off x="2286000" y="2953512"/>
            <a:ext cx="65836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16件</a:t>
            </a:r>
            <a:endParaRPr lang="en-US" sz="900" dirty="0"/>
          </a:p>
        </p:txBody>
      </p:sp>
      <p:sp>
        <p:nvSpPr>
          <p:cNvPr id="30" name="Text 28"/>
          <p:cNvSpPr/>
          <p:nvPr/>
        </p:nvSpPr>
        <p:spPr>
          <a:xfrm>
            <a:off x="594360" y="2953512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清潔感</a:t>
            </a:r>
            <a:endParaRPr lang="en-US" sz="1300" dirty="0"/>
          </a:p>
        </p:txBody>
      </p:sp>
      <p:sp>
        <p:nvSpPr>
          <p:cNvPr id="31" name="Text 29"/>
          <p:cNvSpPr/>
          <p:nvPr/>
        </p:nvSpPr>
        <p:spPr>
          <a:xfrm>
            <a:off x="594360" y="324612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客室・共用部の清潔さへの高評価</a:t>
            </a:r>
            <a:endParaRPr lang="en-US" sz="900" dirty="0"/>
          </a:p>
        </p:txBody>
      </p:sp>
      <p:sp>
        <p:nvSpPr>
          <p:cNvPr id="32" name="Text 30"/>
          <p:cNvSpPr/>
          <p:nvPr/>
        </p:nvSpPr>
        <p:spPr>
          <a:xfrm>
            <a:off x="594360" y="3657600"/>
            <a:ext cx="2377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3B7D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「た。部屋は清潔で、サービスも素晴らしかったです。」</a:t>
            </a:r>
            <a:endParaRPr lang="en-US" sz="900" dirty="0"/>
          </a:p>
        </p:txBody>
      </p:sp>
      <p:sp>
        <p:nvSpPr>
          <p:cNvPr id="33" name="Shape 31"/>
          <p:cNvSpPr/>
          <p:nvPr/>
        </p:nvSpPr>
        <p:spPr>
          <a:xfrm>
            <a:off x="3291840" y="2880360"/>
            <a:ext cx="2651760" cy="16002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34" name="Shape 32"/>
          <p:cNvSpPr/>
          <p:nvPr/>
        </p:nvSpPr>
        <p:spPr>
          <a:xfrm>
            <a:off x="3291840" y="2880360"/>
            <a:ext cx="54864" cy="1600200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35" name="Shape 33"/>
          <p:cNvSpPr/>
          <p:nvPr/>
        </p:nvSpPr>
        <p:spPr>
          <a:xfrm>
            <a:off x="5120640" y="2953512"/>
            <a:ext cx="658368" cy="228600"/>
          </a:xfrm>
          <a:prstGeom prst="rect">
            <a:avLst/>
          </a:prstGeom>
          <a:solidFill>
            <a:srgbClr val="DCFCE7"/>
          </a:solidFill>
          <a:ln/>
        </p:spPr>
      </p:sp>
      <p:sp>
        <p:nvSpPr>
          <p:cNvPr id="36" name="Text 34"/>
          <p:cNvSpPr/>
          <p:nvPr/>
        </p:nvSpPr>
        <p:spPr>
          <a:xfrm>
            <a:off x="5120640" y="2953512"/>
            <a:ext cx="65836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4件</a:t>
            </a:r>
            <a:endParaRPr lang="en-US" sz="900" dirty="0"/>
          </a:p>
        </p:txBody>
      </p:sp>
      <p:sp>
        <p:nvSpPr>
          <p:cNvPr id="37" name="Text 35"/>
          <p:cNvSpPr/>
          <p:nvPr/>
        </p:nvSpPr>
        <p:spPr>
          <a:xfrm>
            <a:off x="3429000" y="2953512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朝食</a:t>
            </a:r>
            <a:endParaRPr lang="en-US" sz="1300" dirty="0"/>
          </a:p>
        </p:txBody>
      </p:sp>
      <p:sp>
        <p:nvSpPr>
          <p:cNvPr id="38" name="Text 36"/>
          <p:cNvSpPr/>
          <p:nvPr/>
        </p:nvSpPr>
        <p:spPr>
          <a:xfrm>
            <a:off x="3429000" y="324612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朝食の品質・バリエーションへの高評価</a:t>
            </a:r>
            <a:endParaRPr lang="en-US" sz="900" dirty="0"/>
          </a:p>
        </p:txBody>
      </p:sp>
      <p:sp>
        <p:nvSpPr>
          <p:cNvPr id="39" name="Text 37"/>
          <p:cNvSpPr/>
          <p:nvPr/>
        </p:nvSpPr>
        <p:spPr>
          <a:xfrm>
            <a:off x="3429000" y="3657600"/>
            <a:ext cx="2377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3B7D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「んでした。朝食はスクランブルエッグ、パスタ、白米、カレー、味」</a:t>
            </a:r>
            <a:endParaRPr lang="en-US" sz="900" dirty="0"/>
          </a:p>
        </p:txBody>
      </p:sp>
      <p:sp>
        <p:nvSpPr>
          <p:cNvPr id="40" name="Shape 38"/>
          <p:cNvSpPr/>
          <p:nvPr/>
        </p:nvSpPr>
        <p:spPr>
          <a:xfrm>
            <a:off x="6126480" y="2880360"/>
            <a:ext cx="2651760" cy="16002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41" name="Shape 39"/>
          <p:cNvSpPr/>
          <p:nvPr/>
        </p:nvSpPr>
        <p:spPr>
          <a:xfrm>
            <a:off x="6126480" y="2880360"/>
            <a:ext cx="54864" cy="1600200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42" name="Shape 40"/>
          <p:cNvSpPr/>
          <p:nvPr/>
        </p:nvSpPr>
        <p:spPr>
          <a:xfrm>
            <a:off x="7955280" y="2953512"/>
            <a:ext cx="658368" cy="228600"/>
          </a:xfrm>
          <a:prstGeom prst="rect">
            <a:avLst/>
          </a:prstGeom>
          <a:solidFill>
            <a:srgbClr val="DCFCE7"/>
          </a:solidFill>
          <a:ln/>
        </p:spPr>
      </p:sp>
      <p:sp>
        <p:nvSpPr>
          <p:cNvPr id="43" name="Text 41"/>
          <p:cNvSpPr/>
          <p:nvPr/>
        </p:nvSpPr>
        <p:spPr>
          <a:xfrm>
            <a:off x="7955280" y="2953512"/>
            <a:ext cx="65836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1件</a:t>
            </a:r>
            <a:endParaRPr lang="en-US" sz="900" dirty="0"/>
          </a:p>
        </p:txBody>
      </p:sp>
      <p:sp>
        <p:nvSpPr>
          <p:cNvPr id="44" name="Text 42"/>
          <p:cNvSpPr/>
          <p:nvPr/>
        </p:nvSpPr>
        <p:spPr>
          <a:xfrm>
            <a:off x="6263640" y="2953512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コスパ・リピート</a:t>
            </a:r>
            <a:endParaRPr lang="en-US" sz="1300" dirty="0"/>
          </a:p>
        </p:txBody>
      </p:sp>
      <p:sp>
        <p:nvSpPr>
          <p:cNvPr id="45" name="Text 43"/>
          <p:cNvSpPr/>
          <p:nvPr/>
        </p:nvSpPr>
        <p:spPr>
          <a:xfrm>
            <a:off x="6263640" y="324612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価格対価値の高さとリピート意向</a:t>
            </a:r>
            <a:endParaRPr lang="en-US" sz="900" dirty="0"/>
          </a:p>
        </p:txBody>
      </p:sp>
      <p:sp>
        <p:nvSpPr>
          <p:cNvPr id="46" name="Text 44"/>
          <p:cNvSpPr/>
          <p:nvPr/>
        </p:nvSpPr>
        <p:spPr>
          <a:xfrm>
            <a:off x="6263640" y="3657600"/>
            <a:ext cx="2377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3B7D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「滞在全体の満足度には全く影響しません。セルフサービスのバスア」</a:t>
            </a:r>
            <a:endParaRPr lang="en-US" sz="900" dirty="0"/>
          </a:p>
        </p:txBody>
      </p:sp>
      <p:sp>
        <p:nvSpPr>
          <p:cNvPr id="47" name="Shape 45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48" name="Text 46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49" name="Text 47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弱み分析・優先度マトリクス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57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Weakness Analysis &amp; Priority Matrix</a:t>
            </a:r>
            <a:endParaRPr lang="en-US" sz="100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051560"/>
          <a:ext cx="8229600" cy="91440"/>
        </p:xfrm>
        <a:graphic>
          <a:graphicData uri="http://schemas.openxmlformats.org/drawingml/2006/table">
            <a:tbl>
              <a:tblPr/>
              <a:tblGrid>
                <a:gridCol w="731520"/>
                <a:gridCol w="1828800"/>
                <a:gridCol w="4572000"/>
                <a:gridCol w="1097280"/>
              </a:tblGrid>
              <a:tr h="2743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優先度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課題カテゴリ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具体的内容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件数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D4A84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口コミ返信率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口コミへの返信対応を強化する余地あり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0件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94A3B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サービス改善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継続的なサービス品質向上が必要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0件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94A3B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設備メンテナンス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定期的なメンテナンス体制の整備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0件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</a:tr>
            </a:tbl>
          </a:graphicData>
        </a:graphic>
      </p:graphicFrame>
      <p:sp>
        <p:nvSpPr>
          <p:cNvPr id="6" name="Text 3"/>
          <p:cNvSpPr/>
          <p:nvPr/>
        </p:nvSpPr>
        <p:spPr>
          <a:xfrm>
            <a:off x="457200" y="438912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C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 </a:t>
            </a:r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= 最優先   </a:t>
            </a:r>
            <a:pPr indent="0" marL="0">
              <a:buNone/>
            </a:pPr>
            <a:r>
              <a:rPr lang="en-US" sz="1000" b="1" dirty="0">
                <a:solidFill>
                  <a:srgbClr val="EA580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</a:t>
            </a:r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= 高優先   </a:t>
            </a:r>
            <a:pPr indent="0" marL="0">
              <a:buNone/>
            </a:pPr>
            <a:r>
              <a:rPr lang="en-US" sz="1000" b="1" dirty="0">
                <a:solidFill>
                  <a:srgbClr val="D4A8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 </a:t>
            </a:r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= 中優先   </a:t>
            </a:r>
            <a:pPr indent="0" marL="0">
              <a:buNone/>
            </a:pPr>
            <a:r>
              <a:rPr lang="en-US" sz="1000" b="1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 </a:t>
            </a:r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= 低優先</a:t>
            </a:r>
            <a:endParaRPr lang="en-US" sz="1000" dirty="0"/>
          </a:p>
        </p:txBody>
      </p:sp>
      <p:sp>
        <p:nvSpPr>
          <p:cNvPr id="7" name="Shape 4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8" name="Text 5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改善施策 Phase 1：即座対応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57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Immediate Actions (Today ~ 1 Month)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548640" y="86868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3B7D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投資不要・オペレーション改善で対応可能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457200" y="1234440"/>
            <a:ext cx="3977640" cy="16002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457200" y="1234440"/>
            <a:ext cx="54864" cy="1600200"/>
          </a:xfrm>
          <a:prstGeom prst="rect">
            <a:avLst/>
          </a:prstGeom>
          <a:solidFill>
            <a:srgbClr val="3B7DD8"/>
          </a:solidFill>
          <a:ln/>
        </p:spPr>
      </p:sp>
      <p:sp>
        <p:nvSpPr>
          <p:cNvPr id="8" name="Text 6"/>
          <p:cNvSpPr/>
          <p:nvPr/>
        </p:nvSpPr>
        <p:spPr>
          <a:xfrm>
            <a:off x="594360" y="128016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(1) サービス品質全般の向上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594360" y="1600200"/>
            <a:ext cx="36576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口コミへの返信率100%達成（48時間以内）</a:t>
            </a:r>
            <a:endParaRPr lang="en-US" sz="9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チェックイン・チェックアウト対応の効率化</a:t>
            </a:r>
            <a:endParaRPr lang="en-US" sz="9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フロントスタッフへのCS向上研修実施</a:t>
            </a:r>
            <a:endParaRPr lang="en-US" sz="9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お客様満足度アンケートの配布と集計体制整備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4663440" y="1234440"/>
            <a:ext cx="3977640" cy="16002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4663440" y="1234440"/>
            <a:ext cx="54864" cy="1600200"/>
          </a:xfrm>
          <a:prstGeom prst="rect">
            <a:avLst/>
          </a:prstGeom>
          <a:solidFill>
            <a:srgbClr val="3B7DD8"/>
          </a:solidFill>
          <a:ln/>
        </p:spPr>
      </p:sp>
      <p:sp>
        <p:nvSpPr>
          <p:cNvPr id="12" name="Text 10"/>
          <p:cNvSpPr/>
          <p:nvPr/>
        </p:nvSpPr>
        <p:spPr>
          <a:xfrm>
            <a:off x="4800600" y="128016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(2) 口コミ返信率100%の実現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4800600" y="1600200"/>
            <a:ext cx="36576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全OTAサイトの口コミへの返信ルール策定（48時間以内）</a:t>
            </a:r>
            <a:endParaRPr lang="en-US" sz="9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ネガティブ口コミへの丁寧な対応テンプレート作成</a:t>
            </a:r>
            <a:endParaRPr lang="en-US" sz="9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フロントマネージャーによる週次口コミモニタリング</a:t>
            </a:r>
            <a:endParaRPr lang="en-US" sz="900" dirty="0"/>
          </a:p>
        </p:txBody>
      </p:sp>
      <p:sp>
        <p:nvSpPr>
          <p:cNvPr id="14" name="Shape 12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15" name="Text 13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改善施策 Phase 2・3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57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Short-term &amp; Mid-term Actions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457200" y="1005840"/>
            <a:ext cx="3977640" cy="34747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457200" y="1005840"/>
            <a:ext cx="3977640" cy="365760"/>
          </a:xfrm>
          <a:prstGeom prst="rect">
            <a:avLst/>
          </a:prstGeom>
          <a:solidFill>
            <a:srgbClr val="3B7DD8"/>
          </a:solidFill>
          <a:ln/>
        </p:spPr>
      </p:sp>
      <p:sp>
        <p:nvSpPr>
          <p:cNvPr id="7" name="Text 5"/>
          <p:cNvSpPr/>
          <p:nvPr/>
        </p:nvSpPr>
        <p:spPr>
          <a:xfrm>
            <a:off x="594360" y="100584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Phase 2：短期施策（1〜3ヶ月）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640080" y="1463040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顧客体験向上の短期施策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640080" y="1719072"/>
            <a:ext cx="347472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OTA写真・説明文の定期的な見直しと更新</a:t>
            </a:r>
            <a:endParaRPr lang="en-US" sz="9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リピーター向け優待プログラムの検討</a:t>
            </a:r>
            <a:endParaRPr lang="en-US" sz="9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多言語対応サービスの充実（英語・中国語）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640080" y="2505456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OTA評価スコア向上施策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640080" y="2761488"/>
            <a:ext cx="347472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高評価レビュー投稿の依頼タイミング最適化（チェックアウト時）</a:t>
            </a:r>
            <a:endParaRPr lang="en-US" sz="9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満足度の高い宿泊者へのフォローアップメール送信</a:t>
            </a:r>
            <a:endParaRPr lang="en-US" sz="9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じゃらん・楽天の評価向上に向けた特典プログラム検討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4709160" y="1005840"/>
            <a:ext cx="3977640" cy="34747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4709160" y="1005840"/>
            <a:ext cx="3977640" cy="36576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14" name="Text 12"/>
          <p:cNvSpPr/>
          <p:nvPr/>
        </p:nvSpPr>
        <p:spPr>
          <a:xfrm>
            <a:off x="4846320" y="100584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Phase 3：中期施策（3〜6ヶ月）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892040" y="1463040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「立地・アクセス」の競争優位性強化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4892040" y="1719072"/>
            <a:ext cx="347472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立地・アクセスを訴求したブランディング戦略の策定</a:t>
            </a:r>
            <a:endParaRPr lang="en-US" sz="9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SNS・口コミサイトでの強み積極的発信</a:t>
            </a:r>
            <a:endParaRPr lang="en-US" sz="9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旅行代理店・法人営業への強み訴求資料作成</a:t>
            </a:r>
            <a:endParaRPr lang="en-US" sz="900" dirty="0"/>
          </a:p>
        </p:txBody>
      </p:sp>
      <p:sp>
        <p:nvSpPr>
          <p:cNvPr id="17" name="Text 15"/>
          <p:cNvSpPr/>
          <p:nvPr/>
        </p:nvSpPr>
        <p:spPr>
          <a:xfrm>
            <a:off x="4892040" y="2505456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客室リノベーション計画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4892040" y="2761488"/>
            <a:ext cx="347472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客室設備の全面的な見直しと更新計画策定</a:t>
            </a:r>
            <a:endParaRPr lang="en-US" sz="9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最新のスマートホテル機能の導入検討</a:t>
            </a:r>
            <a:endParaRPr lang="en-US" sz="9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環境に配慮したサステナブル客室改装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4892040" y="3547872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デジタル接客・サービス高度化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4892040" y="3803904"/>
            <a:ext cx="347472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AIチャットボットによる24時間問合せ対応</a:t>
            </a:r>
            <a:endParaRPr lang="en-US" sz="9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モバイルチェックイン/アウトシステムの導入</a:t>
            </a:r>
            <a:endParaRPr lang="en-US" sz="9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顧客データ分析によるパーソナライズサービスの実現</a:t>
            </a:r>
            <a:endParaRPr lang="en-US" sz="900" dirty="0"/>
          </a:p>
        </p:txBody>
      </p:sp>
      <p:sp>
        <p:nvSpPr>
          <p:cNvPr id="21" name="Shape 19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22" name="Text 20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23" name="Text 21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KPI目標設定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57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Key Performance Indicators</a:t>
            </a:r>
            <a:endParaRPr lang="en-US" sz="100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097280"/>
          <a:ext cx="8229600" cy="91440"/>
        </p:xfrm>
        <a:graphic>
          <a:graphicData uri="http://schemas.openxmlformats.org/drawingml/2006/table">
            <a:tbl>
              <a:tblPr/>
              <a:tblGrid>
                <a:gridCol w="2560320"/>
                <a:gridCol w="1828800"/>
                <a:gridCol w="2011680"/>
                <a:gridCol w="1828800"/>
              </a:tblGrid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KPI項目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現状値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目標値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期限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全体平均(10pt換算)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9.47点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6A34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9.5点以上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2026年10月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高評価率（8-10点）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93.2%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6A34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95%以上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2026年10月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低評価率（1-4点）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2.7%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6A34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1.7%以下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2026年10月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口コミ返信率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未計測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6A34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100%（48h以内）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2026年7月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楽天トラベル評価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5.00/5点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6A34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5.2/5点以上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2026年10月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Trip.com評価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9.72/10点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6A34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9.9/10点以上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2026年10月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Shape 3"/>
          <p:cNvSpPr/>
          <p:nvPr/>
        </p:nvSpPr>
        <p:spPr>
          <a:xfrm>
            <a:off x="457200" y="3886200"/>
            <a:ext cx="8229600" cy="64008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7" name="Shape 4"/>
          <p:cNvSpPr/>
          <p:nvPr/>
        </p:nvSpPr>
        <p:spPr>
          <a:xfrm>
            <a:off x="457200" y="3886200"/>
            <a:ext cx="54864" cy="640080"/>
          </a:xfrm>
          <a:prstGeom prst="rect">
            <a:avLst/>
          </a:prstGeom>
          <a:solidFill>
            <a:srgbClr val="3B7DD8"/>
          </a:solidFill>
          <a:ln/>
        </p:spPr>
      </p:sp>
      <p:sp>
        <p:nvSpPr>
          <p:cNvPr id="8" name="Text 5"/>
          <p:cNvSpPr/>
          <p:nvPr/>
        </p:nvSpPr>
        <p:spPr>
          <a:xfrm>
            <a:off x="640080" y="3886200"/>
            <a:ext cx="7863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モニタリング方針：</a:t>
            </a:r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月次でOTA評価スコアを確認し、サービス全般改善の進捗をトラッキングします。四半期ごとに目標値を見直し、継続的な改善サイクルを確立してください。</a:t>
            </a:r>
            <a:endParaRPr lang="en-US" sz="1000" dirty="0"/>
          </a:p>
        </p:txBody>
      </p:sp>
      <p:sp>
        <p:nvSpPr>
          <p:cNvPr id="9" name="Shape 6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10" name="Text 7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11" name="Text 8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1A274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243556">
              <a:alpha val="60000"/>
            </a:srgbClr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73152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spc="600" kern="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総括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731520" y="1371600"/>
            <a:ext cx="7680960" cy="2560320"/>
          </a:xfrm>
          <a:prstGeom prst="rect">
            <a:avLst/>
          </a:prstGeom>
          <a:solidFill>
            <a:srgbClr val="FFFFFF">
              <a:alpha val="10000"/>
            </a:srgbClr>
          </a:solidFill>
          <a:ln/>
        </p:spPr>
      </p:sp>
      <p:sp>
        <p:nvSpPr>
          <p:cNvPr id="5" name="Text 3"/>
          <p:cNvSpPr/>
          <p:nvPr/>
        </p:nvSpPr>
        <p:spPr>
          <a:xfrm>
            <a:off x="914400" y="1463040"/>
            <a:ext cx="731520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第一イン池袋の2025年12月〜2026年4月口コミ分析（74件）では、総合評価9.47点（10pt換算）、高評価率93.2%という結果が得られました。</a:t>
            </a:r>
            <a:endParaRPr lang="en-US" sz="1200" dirty="0"/>
          </a:p>
          <a:p>
            <a:pPr indent="0" marL="0">
              <a:spcAft>
                <a:spcPts val="400"/>
              </a:spcAft>
              <a:buNone/>
            </a:pPr>
            <a:endParaRPr lang="en-US" sz="12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「立地・アクセス」が最大の強みとして確認され、本レポートの3フェーズ改善施策の実施により、さらなる評価向上が期待されます。</a:t>
            </a:r>
            <a:endParaRPr lang="en-US" sz="1200" dirty="0"/>
          </a:p>
          <a:p>
            <a:pPr indent="0" marL="0">
              <a:spcAft>
                <a:spcPts val="400"/>
              </a:spcAft>
              <a:buNone/>
            </a:pPr>
            <a:endParaRPr lang="en-US" sz="12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6ヶ月以内に全体平均9.5点以上、高評価率95%以上を目指し、継続的な改善サイクルを確立することを推奨します。</a:t>
            </a:r>
            <a:endParaRPr lang="en-US" sz="1200" dirty="0"/>
          </a:p>
          <a:p>
            <a:pPr indent="0" marL="0">
              <a:spcAft>
                <a:spcPts val="400"/>
              </a:spcAft>
              <a:buNone/>
            </a:pPr>
            <a:endParaRPr lang="en-US" sz="12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200" b="1" dirty="0">
                <a:solidFill>
                  <a:srgbClr val="D4A8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プライムチェンジは引き続き改善施策の実施をサポートいたします。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731520" y="4114800"/>
            <a:ext cx="1828800" cy="0"/>
          </a:xfrm>
          <a:prstGeom prst="line">
            <a:avLst/>
          </a:prstGeom>
          <a:noFill/>
          <a:ln w="25400">
            <a:solidFill>
              <a:srgbClr val="D4A843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31520" y="420624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ご清聴ありがとうございました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第一イン池袋 口コミ分析改善レポート</dc:title>
  <dc:subject>PptxGenJS Presentation</dc:subject>
  <dc:creator>Hotel Consulting</dc:creator>
  <cp:lastModifiedBy>Hotel Consulting</cp:lastModifiedBy>
  <cp:revision>1</cp:revision>
  <dcterms:created xsi:type="dcterms:W3CDTF">2026-04-12T23:43:33Z</dcterms:created>
  <dcterms:modified xsi:type="dcterms:W3CDTF">2026-04-12T23:43:33Z</dcterms:modified>
</cp:coreProperties>
</file>