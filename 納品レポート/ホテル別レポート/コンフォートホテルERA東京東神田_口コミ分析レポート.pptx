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3B7DD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Agoda</c:v>
                  </c:pt>
                  <c:pt idx="1">
                    <c:v>じゃらん</c:v>
                  </c:pt>
                  <c:pt idx="2">
                    <c:v>Trip.com</c:v>
                  </c:pt>
                  <c:pt idx="3">
                    <c:v>Booking.com</c:v>
                  </c:pt>
                  <c:pt idx="4">
                    <c:v>楽天トラベル</c:v>
                  </c:pt>
                  <c:pt idx="5">
                    <c:v>Google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</c:v>
                </c:pt>
                <c:pt idx="1">
                  <c:v>10</c:v>
                </c:pt>
                <c:pt idx="2">
                  <c:v>9.79</c:v>
                </c:pt>
                <c:pt idx="3">
                  <c:v>8.91</c:v>
                </c:pt>
                <c:pt idx="4">
                  <c:v>8.8</c:v>
                </c:pt>
                <c:pt idx="5">
                  <c:v>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評価分布（10pt換算）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bubble3D val="0"/>
            <c:spPr>
              <a:solidFill>
                <a:srgbClr val="D4A843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高評価(8-10)</c:v>
                </c:pt>
                <c:pt idx="1">
                  <c:v>中評価(5-7)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59</c:v>
                </c:pt>
                <c:pt idx="1">
                  <c:v>3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4点</c:v>
                  </c:pt>
                  <c:pt idx="5">
                    <c:v>3点</c:v>
                  </c:pt>
                  <c:pt idx="6">
                    <c:v>2点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39</c:v>
                </c:pt>
                <c:pt idx="1">
                  <c:v>4</c:v>
                </c:pt>
                <c:pt idx="2">
                  <c:v>16</c:v>
                </c:pt>
                <c:pt idx="3">
                  <c:v>3</c:v>
                </c:pt>
                <c:pt idx="4">
                  <c:v>1</c:v>
                </c:pt>
                <c:pt idx="5">
                  <c:v>1</c:v>
                </c:pt>
                <c:pt idx="6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改善レポート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コンフォートホテルERA東京東神田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分析対象期間：2025年12月〜2026年4月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レビュー総数：67件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作成日：2026年4月12日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3B7DD8">
              <a:alpha val="1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187452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8.78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25146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5146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5146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88.1%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7.5%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6629400" y="1051560"/>
            <a:ext cx="20574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1051560"/>
            <a:ext cx="205740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11887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29400" y="14173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28600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駅近・交通利便性に関する好評価（31件）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部屋・設備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客室の快適性・設備の充実度への好評（23件）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スタッフ対応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フロントスタッフの丁寧な対応への好評（18件）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28600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朝食品質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2件の指摘あり。改善対応を推奨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清潔感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1件の指摘あり。改善対応を推奨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水回り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1件の指摘あり。改善対応を推奨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Analysis by Platform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005840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760720" y="1005840"/>
            <a:ext cx="30175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760720" y="1005840"/>
            <a:ext cx="30175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8" name="Text 5"/>
          <p:cNvSpPr/>
          <p:nvPr/>
        </p:nvSpPr>
        <p:spPr>
          <a:xfrm>
            <a:off x="5943600" y="1097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943600" y="1417320"/>
            <a:ext cx="2651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サイト別評価インサイト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最高評価サイト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Agoda: 10.00点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8.78点（10pt換算）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注：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海外OTAは/10、国内サイトは/5×2換算</a:t>
            </a:r>
            <a:endParaRPr lang="en-US" sz="11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97680"/>
          <a:ext cx="8229600" cy="9144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1828800"/>
                <a:gridCol w="914400"/>
                <a:gridCol w="274320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尺度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9.79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9.79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4.40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2" name="Text 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評価分布分析（10点換算）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Distribution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74320" y="1097280"/>
          <a:ext cx="36576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4114800" y="1097280"/>
          <a:ext cx="47548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4"/>
          <p:cNvSpPr/>
          <p:nvPr/>
        </p:nvSpPr>
        <p:spPr>
          <a:xfrm>
            <a:off x="4572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 8-10点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173736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59件（88.1%）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291840" y="4160520"/>
            <a:ext cx="2651760" cy="50292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1" name="Text 7"/>
          <p:cNvSpPr/>
          <p:nvPr/>
        </p:nvSpPr>
        <p:spPr>
          <a:xfrm>
            <a:off x="32918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 5-7点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45720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3件（4.5%）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126480" y="4160520"/>
            <a:ext cx="2651760" cy="50292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4" name="Text 10"/>
          <p:cNvSpPr/>
          <p:nvPr/>
        </p:nvSpPr>
        <p:spPr>
          <a:xfrm>
            <a:off x="612648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 1-4点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74066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5件（7.5%）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7" name="Text 13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 Analysis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Shape 5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6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31件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駅近・交通利便性に関する好評価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「ても便利な立地です。部屋も広々としています。」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9184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9184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Shape 12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5" name="Text 13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23件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42900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部屋・設備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42900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客室の快適性・設備の充実度への好評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2900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「変わっても快適で、安心」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2648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2648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1" name="Shape 19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2" name="Text 20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18件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6364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スタッフ対応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6364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フロントスタッフの丁寧な対応への好評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26364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「々が本当に親切でした。 分かりやすい場所に有り、不自由無く過」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8" name="Shape 26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9" name="Text 27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14件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9436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清潔感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9436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客室・共用部の清潔さへの高評価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9436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「屋も風呂も清潔で適度に広く、過ごしやすかったです。朝食も野菜」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29184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9184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5" name="Shape 33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36" name="Text 34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14件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42900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42900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朝食の品質・バリエーションへの高評価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42900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「ops. Breakfast was great.」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12648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12648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Shape 40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43" name="Text 41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6件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26364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コスパ・リピート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26364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価格対価値の高さとリピート意向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26364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「外はすべて満足だった。スタッフは親切で、部屋もスーツケースを」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 Analysis &amp; Priority Matrix</a:t>
            </a:r>
            <a:endParaRPr lang="en-US" sz="1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"/>
        </p:xfrm>
        <a:graphic>
          <a:graphicData uri="http://schemas.openxmlformats.org/drawingml/2006/table">
            <a:tbl>
              <a:tblPr/>
              <a:tblGrid>
                <a:gridCol w="731520"/>
                <a:gridCol w="1828800"/>
                <a:gridCol w="457200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優先度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課題カテゴリ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具体的内容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朝食品質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Would have appreciated some high-fibre 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清潔感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いくつか時代遅れな点があり、改善が必要かもしれない（汚れたカーテン、シャワーカー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水回り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いくつか時代遅れな点があり、改善が必要かもしれない（汚れたカーテン、シャワーカー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駐車場・立地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駅まで少し歩かなければならないので、立地は少し不便です。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最優先   </a:t>
            </a:r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高優先   </a:t>
            </a:r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中優先   </a:t>
            </a:r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低優先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1：即座対応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 Actions (Today ~ 1 Month)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投資不要・オペレーション改善で対応可能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 朝食品質の即時改善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朝食メニューへのフィードバック収集と改善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食材品質の見直しと産地表示の充実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混雑緩和のための時間帯分散対策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朝食スタッフへのホスピタリティ研修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(2) 清潔感向上の即時対応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060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客室清掃チェックリストの強化・再徹底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気になる箇所の即時補修対応フロー整備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消臭・換気プロトコルの見直し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清潔感評価の定期モニタリング開始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(3) 水回り不具合の即時対応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36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水回り点検チェックリストの強化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排水・給水トラブルの優先対応フロー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浴室清潔度の定期巡回チェック強化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不具合報告専用の内線番号周知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66344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66344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20" name="Text 18"/>
          <p:cNvSpPr/>
          <p:nvPr/>
        </p:nvSpPr>
        <p:spPr>
          <a:xfrm>
            <a:off x="480060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(4) 口コミ返信率100%の実現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80060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全OTAサイトの口コミへの返信ルール策定（48時間以内）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ネガティブ口コミへの丁寧な対応テンプレート作成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フロントマネージャーによる週次口コミモニタリング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Short-term &amp; Mid-term Actions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3977640" cy="36576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2：短期施策（1〜3ヶ月）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朝食体験の抜本的改善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メニュー拡充と季節限定品の導入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朝食会場レイアウト改善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地産地消食材の導入による差別化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設備清潔維持の中期施策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761488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定期的な深掃除スケジュールの策定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カーペット・カーテン等の計画的な交換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清掃品質向上のためのスタッフ研修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水回り設備の計画的更新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3803904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老朽化した給排水設備の交換計画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シャワーヘッド・蛇口等の節水型設備導入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定期メンテナンス契約の見直し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09160" y="1005840"/>
            <a:ext cx="3977640" cy="3657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3：中期施策（3〜6ヶ月）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9204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「立地・アクセス」の競争優位性強化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9204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立地・アクセスを訴求したブランディング戦略の策定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SNS・口コミサイトでの強み積極的発信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旅行代理店・法人営業への強み訴求資料作成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89204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客室リノベーション計画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92040" y="2761488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客室設備の全面的な見直しと更新計画策定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最新のスマートホテル機能の導入検討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環境に配慮したサステナブル客室改装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92040" y="35478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デジタル接客・サービス高度化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92040" y="3803904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AIチャットボットによる24時間問合せ対応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モバイルチェックイン/アウトシステムの導入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顧客データ分析によるパーソナライズサービスの実現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</a:t>
            </a:r>
            <a:endParaRPr lang="en-US" sz="1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"/>
        </p:xfrm>
        <a:graphic>
          <a:graphicData uri="http://schemas.openxmlformats.org/drawingml/2006/table">
            <a:tbl>
              <a:tblPr/>
              <a:tblGrid>
                <a:gridCol w="2560320"/>
                <a:gridCol w="1828800"/>
                <a:gridCol w="2011680"/>
                <a:gridCol w="18288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KPI項目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現状値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目標値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期限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全体平均(10pt換算)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8.78点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9.1点以上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2026年10月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高評価率（8-10点）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88.1%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93%以上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2026年10月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低評価率（1-4点）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6.5%以下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2026年10月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未計測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100%（48h以内）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2026年7月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10.00/10点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10.2/10点以上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2026年10月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5.00/5点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5.2/5点以上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2026年10月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88620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3886200"/>
            <a:ext cx="54864" cy="64008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388620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モニタリング方針：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月次でOTA評価スコアを確認し、朝食品質改善の進捗をトラッキングします。四半期ごとに目標値を見直し、継続的な改善サイクルを確立してください。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731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7680960" cy="256032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463040"/>
            <a:ext cx="73152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コンフォートホテルERA東京東神田の2025年12月〜2026年4月口コミ分析（67件）では、総合評価8.78点（10pt換算）、高評価率88.1%という結果が得られました。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「立地・アクセス」が最大の強みとして確認され、本レポートの3フェーズ改善施策の実施により、さらなる評価向上が期待されます。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6ヶ月以内に全体平均9.1点以上、高評価率93%以上を目指し、継続的な改善サイクルを確立することを推奨します。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プライムチェンジは引き続き改善施策の実施をサポートいたします。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731520" y="411480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4206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ご清聴ありがとうございました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コンフォートホテルERA東京東神田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2026-04-12T23:43:34Z</dcterms:created>
  <dcterms:modified xsi:type="dcterms:W3CDTF">2026-04-12T23:43:34Z</dcterms:modified>
</cp:coreProperties>
</file>