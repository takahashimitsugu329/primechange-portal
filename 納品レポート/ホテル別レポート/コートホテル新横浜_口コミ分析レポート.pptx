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Sheet1!$A$2:$A$5</c:f>
              <c:multiLvlStrCache>
                <c:ptCount val="4"/>
                <c:lvl>
                  <c:pt idx="0">
                    <c:v>楽天トラベル</c:v>
                  </c:pt>
                  <c:pt idx="1">
                    <c:v>じゃらん</c:v>
                  </c:pt>
                  <c:pt idx="2">
                    <c:v>Booking.com</c:v>
                  </c:pt>
                  <c:pt idx="3">
                    <c:v>Trip.com</c:v>
                  </c:pt>
                </c:lvl>
              </c:multiLvlStrCache>
            </c:multiLvlStrRef>
          </c:cat>
          <c:val>
            <c:numRef>
              <c:f>Sheet1!$B$2:$B$5</c:f>
              <c:numCache>
                <c:formatCode>General</c:formatCode>
                <c:ptCount val="4"/>
                <c:pt idx="0">
                  <c:v>9</c:v>
                </c:pt>
                <c:pt idx="1">
                  <c:v>7.33</c:v>
                </c:pt>
                <c:pt idx="2">
                  <c:v>7</c:v>
                </c:pt>
                <c:pt idx="3">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16A34A"/>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28</c:v>
                </c:pt>
                <c:pt idx="1">
                  <c:v>23</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16A34A"/>
              </a:solidFill>
              <a:effectLst/>
            </c:spPr>
          </c:dPt>
          <c:dPt>
            <c:idx val="7"/>
            <c:invertIfNegative val="0"/>
            <c:bubble3D val="0"/>
            <c:spPr>
              <a:solidFill>
                <a:srgbClr val="16A34A"/>
              </a:solidFill>
              <a:effectLst/>
            </c:spPr>
          </c:dPt>
          <c:dPt>
            <c:idx val="8"/>
            <c:invertIfNegative val="0"/>
            <c:bubble3D val="0"/>
            <c:spPr>
              <a:solidFill>
                <a:srgbClr val="16A34A"/>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9</c:v>
                </c:pt>
                <c:pt idx="1">
                  <c:v>5</c:v>
                </c:pt>
                <c:pt idx="2">
                  <c:v>14</c:v>
                </c:pt>
                <c:pt idx="3">
                  <c:v>9</c:v>
                </c:pt>
                <c:pt idx="4">
                  <c:v>6</c:v>
                </c:pt>
                <c:pt idx="5">
                  <c:v>8</c:v>
                </c:pt>
                <c:pt idx="6">
                  <c:v>1</c:v>
                </c:pt>
                <c:pt idx="7">
                  <c:v>3</c:v>
                </c:pt>
                <c:pt idx="8">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コートホテル新横浜</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レビュー総数：57件（4サイト）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7.07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49.1%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10.5%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新横浜駅近の立地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8件言及。駅徒歩圏・周辺の飲食店充実がビジネス客に支持。</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4件言及。丁寧なフロント対応とスムーズなチェックインが高評価。</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コスパ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格安料金とリピーター利用が一定の支持基盤を形成。</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エアコン温度調節不可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7件言及。暖房のみ・冷房使用不可・温度調節できない問題が最重要課題。</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トイレ・バスルームの老朽化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8件言及。悪臭・排水不良・カビ・水圧低下など複合的な設備劣化。</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防音の不足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隣室・エレベーター騒音で安眠困難との報告あり。</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サイト別評価インサイト</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国内サイトは高評価</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楽天トラベル(9.0/件数少)で優秀評価。国内ゲストの満足度は比較的高い。</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Booking.com/Trip.comが課題</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最多のBooking.com(49件・7.0)とTrip.com(6.67・要改善)が全体評価を引き下げ。設備改善が急務。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国内サイト(5点満点)は×2で10点換算</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FFF7ED"/>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28件（49.1%）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23件（40.4%）</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新横浜駅徒歩圏。周辺に飲食店・コンビニが充実。ビジネス利用に最適な立地。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「新横浜駅に近いのでアクセシビリティが大好き」</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フロントスタッフの丁寧な対応とスムーズなチェックイン対応が評価。</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「スタッフの方は丁寧で対応も良かった」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7件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客室（一部）</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一部客室の広さや清潔感は高く評価されており、改善後のポテンシャルあり。</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「部屋も広くきれいで清潔感もあり気持ち良く過ごせた」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4件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コスパ・リピート</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リーズナブルな料金と繰り返し利用するリピーターの存在が支持基盤を形成。</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「何度かお世話になっています」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清潔感（一部）</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清掃が行き届いた客室については清潔感が評価される。一貫性の向上が課題。</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「部屋内は綺麗でした」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3件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デジタルチェックイン</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楽天トラベルのQRコードチェックインが便利との評価。デジタル化の方向性は正しい。</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「二次元コードからチェックイン。スムーズに手続きできます」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エアコン温度調節の不備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暖房のみ・冷房使用不可・温度調節できない問題が多発。快適な睡眠を阻害する最優先課題。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トイレ・バスルームの老朽化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トイレ悪臭・水量不足・カビ臭バスルームカーテン・浴槽排水不良・便座ガタつき等複合問題。</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シャワーの水圧低下・温度調節不可</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使用中に水圧がどんどん低下。温度調整もできないとの報告が複数。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防音の不足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エレベーター近傍・隣室の騒音で安眠困難。客室配置の見直しも必要。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窓の開閉不可</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室温調整に窓を開けたくても開閉できず、エアコン不備と相乗して不快感を増大。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空気清浄機・加湿器の不備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喫煙室に空気清浄機がなく、加湿器貸し出しの手間も不満。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照明・設備の老朽化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照明の使いにくさ・机等の破損が複数報告。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領収書発行オペレーション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事前精算時の即時領収書未発行への不満。オペレーション改善で即解決可能。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空調問題の暫定対応（即時）</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チェックイン時に空調操作方法を口頭・書面案内</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扇風機・サーキュレーターの貸し出し体制構築</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空調問題報告への24時間以内対応</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季節ごとの室温調整ガイドを客室設置</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バスルーム緊急清掃・修繕</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全客室バスルームカーテンの即時清潔化・交換</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トイレ消臭剤の定期設置・清掃頻度増加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シャワー水圧・温度調節の動作確認と修理</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トイレ便座のガタつき修繕</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フロントオペレーション改善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事前精算時の即時領収書発行を標準化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QRコードチェックインの全サイト対応拡大</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騒音の多い客室への入室前告知</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口コミへの積極的返信</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全低評価コメントへの48時間以内返信</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設備改善計画を口コミ返信で告知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高評価への感謝返信で関係構築</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空調設備の改修</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客室エアコンの冷暖房両用化への改修</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温度調節機能が正常動作する空調機への更新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窓の開閉機能の修繕（換気可能な構造へ）</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トイレ・バスルーム修繕</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トイレ排水量改善・防臭処理</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シャワーヘッドの水圧改善・温度調節弁交換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バスルームカーテン一式交換</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エレベーター近傍客室への防音シート設置</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客室ドアの防音性向上（隙間テープ等）</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騒音の多い客室の配室管理ルール化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客室の全面リノベーション</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バスルーム・トイレの全面改修（新規設備）</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照明・家具・内装の現代的デザインへの刷新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全室への個別冷暖房制御システム導入</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アメニティ・設備の全室常設化</a:t>
            </a:r>
            <a:endParaRPr lang="en-US" sz="1000" dirty="0"/>
          </a:p>
        </p:txBody>
      </p:sp>
      <p:sp>
        <p:nvSpPr>
          <p:cNvPr id="20" name="Text 18"/>
          <p:cNvSpPr/>
          <p:nvPr/>
        </p:nvSpPr>
        <p:spPr>
          <a:xfrm>
            <a:off x="489204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加湿器・空気清浄機の全室常設化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ビジネス客向けデスク・コンセント配置改善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アメニティのグレードアップ</a:t>
            </a:r>
            <a:endParaRPr lang="en-US" sz="900" dirty="0"/>
          </a:p>
        </p:txBody>
      </p:sp>
      <p:sp>
        <p:nvSpPr>
          <p:cNvPr id="21" name="Text 19"/>
          <p:cNvSpPr/>
          <p:nvPr/>
        </p:nvSpPr>
        <p:spPr>
          <a:xfrm>
            <a:off x="489204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Booking.com評価7.5点以上の達成</a:t>
            </a:r>
            <a:endParaRPr lang="en-US" sz="1000" dirty="0"/>
          </a:p>
        </p:txBody>
      </p:sp>
      <p:sp>
        <p:nvSpPr>
          <p:cNvPr id="22" name="Text 20"/>
          <p:cNvSpPr/>
          <p:nvPr/>
        </p:nvSpPr>
        <p:spPr>
          <a:xfrm>
            <a:off x="489204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リノベーション後の写真・情報全面更新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海外ゲスト向け多言語対応強化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49.1%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7.00/10点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7.5/10点以上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Trip.com平均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6.67/10点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7.5/10点以上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設備クレーム件数</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15件/2ヶ月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5件以下/2ヶ月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2026年4月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8862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886200"/>
            <a:ext cx="54864" cy="640080"/>
          </a:xfrm>
          <a:prstGeom prst="rect">
            <a:avLst/>
          </a:prstGeom>
          <a:solidFill>
            <a:srgbClr val="3B7DD8"/>
          </a:solidFill>
          <a:ln/>
        </p:spPr>
      </p:sp>
      <p:sp>
        <p:nvSpPr>
          <p:cNvPr id="8" name="Text 5"/>
          <p:cNvSpPr/>
          <p:nvPr/>
        </p:nvSpPr>
        <p:spPr>
          <a:xfrm>
            <a:off x="640080" y="38862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エアコン・バスルーム改修の完了を節目として月次でBooking.com評価をモニタリング。設備クレーム件数を最重要指標として管理し、2026年6月末に中間評価を実施する。</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Text 1"/>
          <p:cNvSpPr/>
          <p:nvPr/>
        </p:nvSpPr>
        <p:spPr>
          <a:xfrm>
            <a:off x="731520" y="731520"/>
            <a:ext cx="7315200" cy="457200"/>
          </a:xfrm>
          <a:prstGeom prst="rect">
            <a:avLst/>
          </a:prstGeom>
          <a:noFill/>
          <a:ln/>
        </p:spPr>
        <p:txBody>
          <a:bodyPr wrap="square" lIns="0" tIns="0" rIns="0" bIns="0" rtlCol="0" anchor="ctr"/>
          <a:lstStyle/>
          <a:p>
            <a:pPr indent="0" marL="0">
              <a:buNone/>
            </a:pPr>
            <a:r>
              <a:rPr lang="en-US" sz="1400" spc="600" kern="0" dirty="0">
                <a:solidFill>
                  <a:srgbClr val="5A9BE6"/>
                </a:solidFill>
                <a:latin typeface="Arial" pitchFamily="34" charset="0"/>
                <a:ea typeface="Arial" pitchFamily="34" charset="-122"/>
                <a:cs typeface="Arial" pitchFamily="34" charset="-120"/>
              </a:rPr>
              <a:t>総括</a:t>
            </a:r>
            <a:endParaRPr lang="en-US" sz="1400" dirty="0"/>
          </a:p>
        </p:txBody>
      </p:sp>
      <p:sp>
        <p:nvSpPr>
          <p:cNvPr id="4" name="Shape 2"/>
          <p:cNvSpPr/>
          <p:nvPr/>
        </p:nvSpPr>
        <p:spPr>
          <a:xfrm>
            <a:off x="731520" y="1371600"/>
            <a:ext cx="7680960" cy="2560320"/>
          </a:xfrm>
          <a:prstGeom prst="rect">
            <a:avLst/>
          </a:prstGeom>
          <a:solidFill>
            <a:srgbClr val="FFFFFF">
              <a:alpha val="10000"/>
            </a:srgbClr>
          </a:solidFill>
          <a:ln/>
        </p:spPr>
      </p:sp>
      <p:sp>
        <p:nvSpPr>
          <p:cNvPr id="5" name="Text 3"/>
          <p:cNvSpPr/>
          <p:nvPr/>
        </p:nvSpPr>
        <p:spPr>
          <a:xfrm>
            <a:off x="914400" y="1463040"/>
            <a:ext cx="7315200" cy="2286000"/>
          </a:xfrm>
          <a:prstGeom prst="rect">
            <a:avLst/>
          </a:prstGeom>
          <a:noFill/>
          <a:ln/>
        </p:spPr>
        <p:txBody>
          <a:bodyPr wrap="square" lIns="0" tIns="0" rIns="0" bIns="0" rtlCol="0" anchor="ctr"/>
          <a:lstStyle/>
          <a:p>
            <a:pPr indent="0" marL="0">
              <a:spcAft>
                <a:spcPts val="400"/>
              </a:spcAft>
              <a:buNone/>
            </a:pPr>
            <a:r>
              <a:rPr lang="en-US" sz="1200" dirty="0">
                <a:solidFill>
                  <a:srgbClr val="FFFFFF"/>
                </a:solidFill>
                <a:latin typeface="Arial" pitchFamily="34" charset="0"/>
                <a:ea typeface="Arial" pitchFamily="34" charset="-122"/>
                <a:cs typeface="Arial" pitchFamily="34" charset="-120"/>
              </a:rPr>
              <a:t>コートホテル新横浜は、全体平均7.07点・高評価率49.1%という結果であり、設備老朽化問題が評価の足を引っ張っている状況です。しかし、新横浜駅近という立地の強みと丁寧なスタッフ対応という基盤的な価値は宿泊者から継続的に評価されています。</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最優先課題はエアコン温度調節不備（7件）とトイレ・バスルームの老朽化（8件）の解消です。この2点だけで低評価の大部分を占めており、改善効果が直接的に評価向上につながります。Phase 1の即時対応（暫定措置）から始め、Phase 2の設備改修、Phase 3の全面リノベーションへと段階的に進めてください。</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中評価層（40.4%・23件）の存在は大きな改善余地を示しています。設備改善が実現すれば、この中評価層の相当部分が高評価に転換し、高評価率60%以上・平均7.5点以上の達成は十分に見込まれます。</a:t>
            </a:r>
            <a:endParaRPr lang="en-US" sz="1200" dirty="0"/>
          </a:p>
          <a:p>
            <a:pPr indent="0" marL="0">
              <a:spcAft>
                <a:spcPts val="400"/>
              </a:spcAft>
              <a:buNone/>
            </a:pPr>
            <a:endParaRPr lang="en-US" sz="1200" dirty="0"/>
          </a:p>
          <a:p>
            <a:pPr indent="0" marL="0">
              <a:spcAft>
                <a:spcPts val="400"/>
              </a:spcAft>
              <a:buNone/>
            </a:pPr>
            <a:r>
              <a:rPr lang="en-US" sz="1200" b="1" dirty="0">
                <a:solidFill>
                  <a:srgbClr val="D4A843"/>
                </a:solidFill>
                <a:latin typeface="Arial" pitchFamily="34" charset="0"/>
                <a:ea typeface="Arial" pitchFamily="34" charset="-122"/>
                <a:cs typeface="Arial" pitchFamily="34" charset="-120"/>
              </a:rPr>
              <a:t>設備への集中投資と継続的なオペレーション改善で、新横浜エリアでの競争力回復を実現してください。</a:t>
            </a:r>
            <a:endParaRPr lang="en-US" sz="1200" dirty="0"/>
          </a:p>
        </p:txBody>
      </p:sp>
      <p:sp>
        <p:nvSpPr>
          <p:cNvPr id="6" name="Shape 4"/>
          <p:cNvSpPr/>
          <p:nvPr/>
        </p:nvSpPr>
        <p:spPr>
          <a:xfrm>
            <a:off x="731520" y="4114800"/>
            <a:ext cx="1828800" cy="0"/>
          </a:xfrm>
          <a:prstGeom prst="line">
            <a:avLst/>
          </a:prstGeom>
          <a:noFill/>
          <a:ln w="25400">
            <a:solidFill>
              <a:srgbClr val="D4A843"/>
            </a:solidFill>
            <a:prstDash val="solid"/>
          </a:ln>
        </p:spPr>
      </p:sp>
      <p:sp>
        <p:nvSpPr>
          <p:cNvPr id="7" name="Text 5"/>
          <p:cNvSpPr/>
          <p:nvPr/>
        </p:nvSpPr>
        <p:spPr>
          <a:xfrm>
            <a:off x="731520" y="4206240"/>
            <a:ext cx="7315200" cy="36576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ご清聴ありがとうございました</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コートホテル新横浜 口コミ分析改善レポート</dc:title>
  <dc:subject>PptxGenJS Presentation</dc:subject>
  <dc:creator>Hotel Consulting</dc:creator>
  <cp:lastModifiedBy>Hotel Consulting</cp:lastModifiedBy>
  <cp:revision>1</cp:revision>
  <dcterms:created xsi:type="dcterms:W3CDTF">2026-03-28T23:30:14Z</dcterms:created>
  <dcterms:modified xsi:type="dcterms:W3CDTF">2026-03-28T23:30:14Z</dcterms:modified>
</cp:coreProperties>
</file>