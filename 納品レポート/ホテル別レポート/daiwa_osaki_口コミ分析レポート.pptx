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3B7DD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Trip.com</c:v>
                  </c:pt>
                  <c:pt idx="1">
                    <c:v>Agoda</c:v>
                  </c:pt>
                  <c:pt idx="2">
                    <c:v>Booking.com</c:v>
                  </c:pt>
                  <c:pt idx="3">
                    <c:v>楽天トラベル</c:v>
                  </c:pt>
                  <c:pt idx="4">
                    <c:v>Google</c:v>
                  </c:pt>
                  <c:pt idx="5">
                    <c:v>じゃらん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9.64</c:v>
                </c:pt>
                <c:pt idx="1">
                  <c:v>9</c:v>
                </c:pt>
                <c:pt idx="2">
                  <c:v>9</c:v>
                </c:pt>
                <c:pt idx="3">
                  <c:v>8.67</c:v>
                </c:pt>
                <c:pt idx="4">
                  <c:v>8</c:v>
                </c:pt>
                <c:pt idx="5">
                  <c:v>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評価分布（10pt換算）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bubble3D val="0"/>
            <c:spPr>
              <a:solidFill>
                <a:srgbClr val="D4A843"/>
              </a:solidFill>
              <a:effectLst/>
            </c:spPr>
          </c:dPt>
          <c:dPt>
            <c:idx val="2"/>
            <c:bubble3D val="0"/>
            <c:spPr>
              <a:solidFill>
                <a:srgbClr val="DC2626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高評価(8-10)</c:v>
                </c:pt>
                <c:pt idx="1">
                  <c:v>中評価(5-7)</c:v>
                </c:pt>
                <c:pt idx="2">
                  <c:v>低評価(1-4)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47</c:v>
                </c:pt>
                <c:pt idx="1">
                  <c:v>10</c:v>
                </c:pt>
                <c:pt idx="2">
                  <c:v>0</c:v>
                </c:pt>
              </c:numCache>
            </c:numRef>
          </c:val>
        </c:ser>
        <c:firstSliceAng val="0"/>
        <c:holeSize val="5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64748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28</c:v>
                </c:pt>
                <c:pt idx="1">
                  <c:v>8</c:v>
                </c:pt>
                <c:pt idx="2">
                  <c:v>11</c:v>
                </c:pt>
                <c:pt idx="3">
                  <c:v>5</c:v>
                </c:pt>
                <c:pt idx="4">
                  <c:v>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43556">
              <a:alpha val="6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600" kern="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9202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改善レポート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731520" y="28346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3017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ダイワロイネットホテル東京大崎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374904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分析対象期間：2026年2月〜3月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レビュー総数：57件（6サイト）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作成日：2026年3月24日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58000" y="0"/>
            <a:ext cx="2286000" cy="5143500"/>
          </a:xfrm>
          <a:prstGeom prst="rect">
            <a:avLst/>
          </a:prstGeom>
          <a:solidFill>
            <a:srgbClr val="3B7DD8">
              <a:alpha val="15000"/>
            </a:srgbClr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1874520" cy="4572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8.86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25146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5146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25146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5146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82.5%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0.0%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6629400" y="1051560"/>
            <a:ext cx="205740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629400" y="1051560"/>
            <a:ext cx="205740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6629400" y="118872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629400" y="141732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57件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45720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" y="228600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駅が近くて駐車場も隣にあり良かった ございません ございません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それ以外は、部屋の広さと清潔さは気に入っています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結局、貴重品は毎日フロントに預けなければなりませんでした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75488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754880" y="2286000"/>
            <a:ext cx="39319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7" name="Text 25"/>
          <p:cNvSpPr/>
          <p:nvPr/>
        </p:nvSpPr>
        <p:spPr>
          <a:xfrm>
            <a:off x="493776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Weaknesses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93776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浴室・水回り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広いお部屋にしていただいたおかげで、トイレとお風呂も十分な広さがあり、子供と二人で着替えやトイレ利用をしても全く窮...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アメニティや設備も充実しており、コンセント、照明設備、ドライヤー、冷暖房も使いやすくとても快適に過ごせました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部屋の狭さ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広いお部屋にしていただいたおかげで、トイレとお風呂も十分な広さがあり、子供と二人で着替えやトイレ利用をしても全く窮...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主要KPI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3931920" cy="45720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全体平均スコア（10点換算）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19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8.86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475488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118872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475488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高評価率（8-10点）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75488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82.5%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310896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低評価率（1-4点）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0.0%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475488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754880" y="3108960"/>
            <a:ext cx="393192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475488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75488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57件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Analysis by Platform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005840"/>
          <a:ext cx="50292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5760720" y="1005840"/>
            <a:ext cx="301752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760720" y="1005840"/>
            <a:ext cx="301752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8" name="Text 5"/>
          <p:cNvSpPr/>
          <p:nvPr/>
        </p:nvSpPr>
        <p:spPr>
          <a:xfrm>
            <a:off x="5943600" y="10972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943600" y="1417320"/>
            <a:ext cx="2651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サイト別評価の傾向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高評価グループ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Trip.com(9.64)が最高スコア。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改善対象サイト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じゃらん(8.0)が相対的に低い。口コミ返信の強化が急務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注：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Google/じゃらん/楽天は5点満点のため×2で10pt換算</a:t>
            </a:r>
            <a:endParaRPr lang="en-US" sz="11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297680"/>
          <a:ext cx="8229600" cy="91440"/>
        </p:xfrm>
        <a:graphic>
          <a:graphicData uri="http://schemas.openxmlformats.org/drawingml/2006/table">
            <a:tbl>
              <a:tblPr/>
              <a:tblGrid>
                <a:gridCol w="1828800"/>
                <a:gridCol w="914400"/>
                <a:gridCol w="1828800"/>
                <a:gridCol w="914400"/>
                <a:gridCol w="2743200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尺度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9.64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9.64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4.33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2" name="Text 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3" name="Text 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評価分布分析（10点換算）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Distribution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274320" y="1097280"/>
          <a:ext cx="365760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Chart 1" descr=""/>
          <p:cNvGraphicFramePr/>
          <p:nvPr/>
        </p:nvGraphicFramePr>
        <p:xfrm>
          <a:off x="4114800" y="1097280"/>
          <a:ext cx="475488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4"/>
          <p:cNvSpPr/>
          <p:nvPr/>
        </p:nvSpPr>
        <p:spPr>
          <a:xfrm>
            <a:off x="4572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 8-10点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173736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47件（82.5%）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3291840" y="4160520"/>
            <a:ext cx="2651760" cy="50292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1" name="Text 7"/>
          <p:cNvSpPr/>
          <p:nvPr/>
        </p:nvSpPr>
        <p:spPr>
          <a:xfrm>
            <a:off x="32918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 5-7点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45720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10件（17.5%）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12648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4" name="Text 10"/>
          <p:cNvSpPr/>
          <p:nvPr/>
        </p:nvSpPr>
        <p:spPr>
          <a:xfrm>
            <a:off x="612648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 1-4点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74066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0件（0.0%）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7" name="Text 13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8" name="Text 14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 Analysis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7" name="Shape 5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6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9436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駅が近くて駐車場も隣にあり良かった ございません ございません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9436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「Location, comfort, amenities None なし」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29184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9184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Shape 12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5" name="Text 13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42900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42900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それ以外は、部屋の広さと清潔さは気に入っています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42900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「清潔感のある過ごしやすい環境を提供しているホテルでした」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12648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12648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1" name="Shape 19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2" name="Text 20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26364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26364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結局、貴重品は毎日フロントに預けなければなりませんでした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26364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「スタッフ皆さんに優しくしていただき感謝しています」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5720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5720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8" name="Shape 26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9" name="Text 27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9436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快適さ・設備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9436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コットンボールなどの基本的なアメニティが用意されていないのは驚きです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9436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「Location, comfort, amenities None なし」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29184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329184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35" name="Shape 33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36" name="Text 34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7件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42900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コンビニ・周辺施設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342900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ホテルの立地は便利で、近くにレストランやショップがたくさんあり、滞在するには良い場所です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342900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「周辺にはレストランやスーパーマーケットがあり、買い物にも便利です」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12648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612648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2" name="Shape 40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43" name="Text 41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6件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26364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部屋の広さ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626364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広いお部屋にしていただいたおかげで、トイレとお風呂も十分な広さがあり、子供と二人で着替えやトイレ利用をしても全く窮...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26364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「位置方便，房間也算大，前台服務也好，提供洗漱用品，很喜歡 立地も便利だし、部屋もかなり広いし、フロントの対応も良く...」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8" name="Text 4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 Analysis &amp; Priority Matrix</a:t>
            </a:r>
            <a:endParaRPr lang="en-US" sz="1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"/>
        </p:xfrm>
        <a:graphic>
          <a:graphicData uri="http://schemas.openxmlformats.org/drawingml/2006/table">
            <a:tbl>
              <a:tblPr/>
              <a:tblGrid>
                <a:gridCol w="731520"/>
                <a:gridCol w="1828800"/>
                <a:gridCol w="4572000"/>
                <a:gridCol w="10972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優先度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課題カテゴリ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具体的内容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C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浴室・水回り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広いお部屋にしていただいたおかげで、トイレとお風呂も十分な広さがあり、子供と二人で着替えやトイレ利用をしても全く窮...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エアコン・空調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アメニティや設備も充実しており、コンセント、照明設備、ドライヤー、冷暖房も使いやすくとても快適に過ごせました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部屋の狭さ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広いお部屋にしていただいたおかげで、トイレとお風呂も十分な広さがあり、子供と二人で着替えやトイレ利用をしても全く窮...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臭い・匂い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少しお風呂、水回りの匂いが気になりましたが、それ以外は何にも不便も不快もありません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窓・採光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立地はとても便利で、窓の一つからは素晴らしい景色が望めます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対応・サービスの不満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服務人員態度普通，辦理入住與退房都還算順利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最優先   </a:t>
            </a:r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高優先   </a:t>
            </a:r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中優先   </a:t>
            </a:r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低優先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1：即座対応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Immediate Actions (Today ~ 1 Month)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投資不要・オペレーション改善で対応可能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6"/>
          <p:cNvSpPr/>
          <p:nvPr/>
        </p:nvSpPr>
        <p:spPr>
          <a:xfrm>
            <a:off x="59436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客室の消臭対策の強化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9436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チェックアウト後の換気・消臭スプレー処理の徹底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定期的な脱臭剤の設置と交換フローの確立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喫煙・臭いに関するクレーム発生時の即座対応マニュアル作成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66344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2" name="Text 10"/>
          <p:cNvSpPr/>
          <p:nvPr/>
        </p:nvSpPr>
        <p:spPr>
          <a:xfrm>
            <a:off x="480060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エアコン・空調の定期点検強化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0060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全室のエアコン設定を季節に応じてデフォルト確認する運用フロー導入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冷暖房の正常動作を定期チェックリストに追加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異常報告があった客室の優先メンテナンス実施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720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6" name="Text 14"/>
          <p:cNvSpPr/>
          <p:nvPr/>
        </p:nvSpPr>
        <p:spPr>
          <a:xfrm>
            <a:off x="59436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スタッフ対応品質の統一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9436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接客マニュアルの見直しと全スタッフへの周知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ゲストからのクレーム対応フローの明確化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定期的なCS研修の実施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Short-term &amp; Mid-term Actions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05840"/>
            <a:ext cx="3977640" cy="36576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2：短期施策（1〜3ヶ月）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浴室の快適性向上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排水口の清掃・修繕を全室で実施し、排水速度を改善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シャワーヘッドの交換（水圧改善・節水タイプ導入）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浴室換気・暖房設備の点検と改善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4008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窓・採光環境の改善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" y="2761488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遮光カーテンとレースカーテンの品質見直し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窓の開閉可否に関する事前案内の徹底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採光の良い客室の優先割り当てルール整備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口コミ返信体制の構築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0080" y="3803904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全サイトの口コミに48時間以内の返信を目標に設定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特に低評価レビューへのフォローアップ強化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70916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709160" y="1005840"/>
            <a:ext cx="3977640" cy="3657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6" name="Text 14"/>
          <p:cNvSpPr/>
          <p:nvPr/>
        </p:nvSpPr>
        <p:spPr>
          <a:xfrm>
            <a:off x="484632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3：中期施策（3〜6ヶ月）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89204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客室設備のアップグレード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89204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内装の定期的なリフレッシュ計画の策定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照明・電源周りの設備更新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快適性向上のための設備投資計画の立案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89204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浴室の抜本的改修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892040" y="2761488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配管更新による排水問題の根本解決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換気設備の強化による浴室内の温度・湿度改善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892040" y="334670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客室レイアウトの見直し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892040" y="3602736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家具配置の最適化による体感スペースの拡大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コンパクト家具への入替検討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収納スペースの効率化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KPI目標設定・まとめ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 &amp; Summary</a:t>
            </a:r>
            <a:endParaRPr lang="en-US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"/>
        </p:xfrm>
        <a:graphic>
          <a:graphicData uri="http://schemas.openxmlformats.org/drawingml/2006/table">
            <a:tbl>
              <a:tblPr/>
              <a:tblGrid>
                <a:gridCol w="2560320"/>
                <a:gridCol w="1828800"/>
                <a:gridCol w="2011680"/>
                <a:gridCol w="182880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KPI項目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現状値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目標値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期限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全体平均(10pt換算)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8.86点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9.2点以上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高評価率（8-10点）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82.5%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88%以上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低評価率（1-4点）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0%維持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じゃらん平均評価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口コミ返信率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未計測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100%（48h以内）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2026年6月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浴室・水回りクレーム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約3件/期間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42900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457200" y="3429000"/>
            <a:ext cx="54864" cy="64008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342900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モニタリング方針：</a:t>
            </a:r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毎月のサイト別スコア集計と口コミ内容の定性分析を実施。四半期ごとに改善施策の効果を検証し、Phase 2・3の優先順位を見直します。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0" name="Text 7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ダイワロイネットホテル東京大崎 口コミ分析改善レポート</dc:title>
  <dc:subject>PptxGenJS Presentation</dc:subject>
  <dc:creator>Hotel Consulting</dc:creator>
  <cp:lastModifiedBy>Hotel Consulting</cp:lastModifiedBy>
  <cp:revision>1</cp:revision>
  <dcterms:created xsi:type="dcterms:W3CDTF">2026-03-24T01:12:42Z</dcterms:created>
  <dcterms:modified xsi:type="dcterms:W3CDTF">2026-03-24T01:12:42Z</dcterms:modified>
</cp:coreProperties>
</file>