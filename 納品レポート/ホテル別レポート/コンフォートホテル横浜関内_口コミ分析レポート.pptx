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Trip.com</c:v>
                  </c:pt>
                  <c:pt idx="1">
                    <c:v>Agoda</c:v>
                  </c:pt>
                  <c:pt idx="2">
                    <c:v>Google</c:v>
                  </c:pt>
                  <c:pt idx="3">
                    <c:v>楽天トラベル</c:v>
                  </c:pt>
                  <c:pt idx="4">
                    <c:v>Booking.com</c:v>
                  </c:pt>
                  <c:pt idx="5">
                    <c:v>じゃらん</c:v>
                  </c:pt>
                </c:lvl>
              </c:multiLvlStrCache>
            </c:multiLvlStrRef>
          </c:cat>
          <c:val>
            <c:numRef>
              <c:f>Sheet1!$B$2:$B$7</c:f>
              <c:numCache>
                <c:formatCode>General</c:formatCode>
                <c:ptCount val="6"/>
                <c:pt idx="0">
                  <c:v>8.35</c:v>
                </c:pt>
                <c:pt idx="1">
                  <c:v>8</c:v>
                </c:pt>
                <c:pt idx="2">
                  <c:v>7.57</c:v>
                </c:pt>
                <c:pt idx="3">
                  <c:v>7.57</c:v>
                </c:pt>
                <c:pt idx="4">
                  <c:v>7.25</c:v>
                </c:pt>
                <c:pt idx="5">
                  <c:v>7.2</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高評価(8-10)</c:v>
                </c:pt>
                <c:pt idx="1">
                  <c:v>中評価(5-7)</c:v>
                </c:pt>
              </c:strCache>
            </c:strRef>
          </c:cat>
          <c:val>
            <c:numRef>
              <c:f>Sheet1!$B$2:$B$3</c:f>
              <c:numCache>
                <c:ptCount val="2"/>
                <c:pt idx="0">
                  <c:v>97</c:v>
                </c:pt>
                <c:pt idx="1">
                  <c:v>29</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16A34A"/>
              </a:solidFill>
              <a:effectLst/>
            </c:spPr>
          </c:dPt>
          <c:dPt>
            <c:idx val="7"/>
            <c:invertIfNegative val="0"/>
            <c:bubble3D val="0"/>
            <c:spPr>
              <a:solidFill>
                <a:srgbClr val="16A34A"/>
              </a:solidFill>
              <a:effectLst/>
            </c:spPr>
          </c:dPt>
          <c:cat>
            <c:multiLvlStrRef>
              <c:f>Sheet1!$A$2:$A$9</c:f>
              <c:multiLvlStrCache>
                <c:ptCount val="8"/>
                <c:lvl>
                  <c:pt idx="0">
                    <c:v>10点</c:v>
                  </c:pt>
                  <c:pt idx="1">
                    <c:v>9点</c:v>
                  </c:pt>
                  <c:pt idx="2">
                    <c:v>8点</c:v>
                  </c:pt>
                  <c:pt idx="3">
                    <c:v>7点</c:v>
                  </c:pt>
                  <c:pt idx="4">
                    <c:v>6点</c:v>
                  </c:pt>
                  <c:pt idx="5">
                    <c:v>5点</c:v>
                  </c:pt>
                  <c:pt idx="6">
                    <c:v>4点</c:v>
                  </c:pt>
                  <c:pt idx="7">
                    <c:v>2点</c:v>
                  </c:pt>
                </c:lvl>
              </c:multiLvlStrCache>
            </c:multiLvlStrRef>
          </c:cat>
          <c:val>
            <c:numRef>
              <c:f>Sheet1!$B$2:$B$9</c:f>
              <c:numCache>
                <c:formatCode>General</c:formatCode>
                <c:ptCount val="8"/>
                <c:pt idx="0">
                  <c:v>36</c:v>
                </c:pt>
                <c:pt idx="1">
                  <c:v>8</c:v>
                </c:pt>
                <c:pt idx="2">
                  <c:v>53</c:v>
                </c:pt>
                <c:pt idx="3">
                  <c:v>6</c:v>
                </c:pt>
                <c:pt idx="4">
                  <c:v>18</c:v>
                </c:pt>
                <c:pt idx="5">
                  <c:v>5</c:v>
                </c:pt>
                <c:pt idx="6">
                  <c:v>9</c:v>
                </c:pt>
                <c:pt idx="7">
                  <c:v>8</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コンフォートホテル横浜関内</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分析対象期間：2025年12月〜2026年4月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レビュー総数：143件</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作成日：2026年4月12日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7.57</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67.8%</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11.9%</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143件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朝食の品質・バリエーションへの高評価（149件）</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部屋・設備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客室の快適性・設備の充実度への好評（110件）</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駅近・交通利便性に関する好評価（86件）</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朝食品質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10件の指摘あり。改善対応を推奨</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部屋狭小感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2件の指摘あり。改善対応を推奨</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エレベーター待ち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2件の指摘あり。改善対応を推奨</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サイト別評価インサイト</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最高評価サイト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 8.35点</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全体平均</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7.57点（10pt換算）</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海外OTAは/10、国内サイトは/5×2換算</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8.35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8.35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3.78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3.78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3.60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7.20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97件（67.8%）</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29件（20.3%）</a:t>
            </a:r>
            <a:endParaRPr lang="en-US" sz="1100" dirty="0"/>
          </a:p>
        </p:txBody>
      </p:sp>
      <p:sp>
        <p:nvSpPr>
          <p:cNvPr id="13" name="Shape 9"/>
          <p:cNvSpPr/>
          <p:nvPr/>
        </p:nvSpPr>
        <p:spPr>
          <a:xfrm>
            <a:off x="6126480" y="4160520"/>
            <a:ext cx="2651760" cy="502920"/>
          </a:xfrm>
          <a:prstGeom prst="rect">
            <a:avLst/>
          </a:prstGeom>
          <a:solidFill>
            <a:srgbClr val="FEE2E2"/>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DC2626"/>
                </a:solidFill>
                <a:latin typeface="Arial" pitchFamily="34" charset="0"/>
                <a:ea typeface="Arial" pitchFamily="34" charset="-122"/>
                <a:cs typeface="Arial" pitchFamily="34" charset="-120"/>
              </a:rPr>
              <a:t>17件（11.9%）</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149件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朝食の品質・バリエーションへの高評価</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「はない。 朝食も悪くはないが、狭いので時間帯のよってはかなり」</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110件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部屋・設備</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客室の快適性・設備の充実度への好評</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「部屋の広さも設備も料金に見合うものだと思うが、それ」</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86件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駅近・交通利便性に関する好評価</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「横浜という立地から多少の英会話くらいは出来ると思ってましたが」</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69件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スタッフ対応</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フロントスタッフの丁寧な対応への好評</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「かった。 フロントの方が不慣れなのか、他の人には伝えていたウ」</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50件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清潔感</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客室・共用部の清潔さへの高評価</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 部屋はきれいで、過不足なく快適に過ごせました。朝食のビュ」</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33件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コスパ・リピート</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価格対価値の高さとリピート意向</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「てはかなり満足です。会場が狭めで品数も多くはありませんが、パ」</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朝食品質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ホテルが改装中が残念で、朝食がバイキングでないのが、残念でした。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10件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部屋狭小感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部屋が思っていた以上に狭い  タオルかける場所がない  ユニットバスが狭すぎる </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エレベーター待ち</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レストラン？が改装中で提供された朝ごはん（お弁当）が残念でした。 あと、エレベー</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設備にちょい残念な点が… シャワーヘッドの元のあたりから水もれあり。３部屋予約し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(1) 朝食品質の即時改善</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朝食メニューへのフィードバック収集と改善</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食材品質の見直しと産地表示の充実</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混雑緩和のための時間帯分散対策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朝食スタッフへのホスピタリティ研修</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(2) 部屋利用満足度の最大化</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収納スペースの整理・最適化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荷物預かりサービスの案内強化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部屋タイプ別の使い勝手改善ガイド作成</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コンパクトな部屋の魅力を訴求するOTA説明文改訂</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(3) エレベーター待ち時間の改善</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ピーク時間帯の案内と階段利用促進</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チェックアウト時間分散の促進</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エレベーター近くの待機スペース改善</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待ち時間の見える化掲示</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(4) 水回り不具合の即時対応</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水回り点検チェックリストの強化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排水・給水トラブルの優先対応フロー</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浴室清潔度の定期巡回チェック強化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不具合報告専用の内線番号周知</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朝食体験の抜本的改善</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メニュー拡充と季節限定品の導入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朝食会場レイアウト改善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地産地消食材の導入による差別化</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部屋改装計画の検討</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上位グレード部屋への誘導施策導入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スペース効率化家具への入替計画立案</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客室タイプ構成の見直し</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エレベーター運用改善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エレベーター制御プログラムの最適化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増設可否の建物調査実施</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荷物専用エレベーターの時間帯設定</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「朝食」の競争優位性強化</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朝食を訴求したブランディング戦略の策定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SNS・口コミサイトでの強み積極的発信</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旅行代理店・法人営業への強み訴求資料作成</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客室リノベーション計画</a:t>
            </a:r>
            <a:endParaRPr lang="en-US" sz="1000" dirty="0"/>
          </a:p>
        </p:txBody>
      </p:sp>
      <p:sp>
        <p:nvSpPr>
          <p:cNvPr id="20" name="Text 18"/>
          <p:cNvSpPr/>
          <p:nvPr/>
        </p:nvSpPr>
        <p:spPr>
          <a:xfrm>
            <a:off x="489204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客室設備の全面的な見直しと更新計画策定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最新のスマートホテル機能の導入検討</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環境に配慮したサステナブル客室改装</a:t>
            </a:r>
            <a:endParaRPr lang="en-US" sz="900" dirty="0"/>
          </a:p>
        </p:txBody>
      </p:sp>
      <p:sp>
        <p:nvSpPr>
          <p:cNvPr id="21" name="Text 19"/>
          <p:cNvSpPr/>
          <p:nvPr/>
        </p:nvSpPr>
        <p:spPr>
          <a:xfrm>
            <a:off x="489204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デジタル接客・サービス高度化</a:t>
            </a:r>
            <a:endParaRPr lang="en-US" sz="1000" dirty="0"/>
          </a:p>
        </p:txBody>
      </p:sp>
      <p:sp>
        <p:nvSpPr>
          <p:cNvPr id="22" name="Text 20"/>
          <p:cNvSpPr/>
          <p:nvPr/>
        </p:nvSpPr>
        <p:spPr>
          <a:xfrm>
            <a:off x="489204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AIチャットボットによる24時間問合せ対応</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モバイルチェックイン/アウトシステムの導入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顧客データ分析によるパーソナライズサービスの実現</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7.57点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7.9点以上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2026年10月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67.8%</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73%以上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2026年10月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11.9%</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10.9%以下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2026年10月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2026年7月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Trip.com評価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8.35/10点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8.5/10点以上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2026年10月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Agoda評価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8.00/10点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8.2/10点以上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2026年10月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8862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886200"/>
            <a:ext cx="54864" cy="640080"/>
          </a:xfrm>
          <a:prstGeom prst="rect">
            <a:avLst/>
          </a:prstGeom>
          <a:solidFill>
            <a:srgbClr val="3B7DD8"/>
          </a:solidFill>
          <a:ln/>
        </p:spPr>
      </p:sp>
      <p:sp>
        <p:nvSpPr>
          <p:cNvPr id="8" name="Text 5"/>
          <p:cNvSpPr/>
          <p:nvPr/>
        </p:nvSpPr>
        <p:spPr>
          <a:xfrm>
            <a:off x="640080" y="38862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月次でOTA評価スコアを確認し、朝食品質改善の進捗をトラッキングします。四半期ごとに目標値を見直し、継続的な改善サイクルを確立してください。</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1400" spc="600" kern="0" dirty="0">
                <a:solidFill>
                  <a:srgbClr val="5A9BE6"/>
                </a:solidFill>
                <a:latin typeface="Arial" pitchFamily="34" charset="0"/>
                <a:ea typeface="Arial" pitchFamily="34" charset="-122"/>
                <a:cs typeface="Arial" pitchFamily="34" charset="-120"/>
              </a:rPr>
              <a:t>総括</a:t>
            </a:r>
            <a:endParaRPr lang="en-US" sz="1400" dirty="0"/>
          </a:p>
        </p:txBody>
      </p:sp>
      <p:sp>
        <p:nvSpPr>
          <p:cNvPr id="4" name="Shape 2"/>
          <p:cNvSpPr/>
          <p:nvPr/>
        </p:nvSpPr>
        <p:spPr>
          <a:xfrm>
            <a:off x="731520" y="1371600"/>
            <a:ext cx="7680960" cy="2560320"/>
          </a:xfrm>
          <a:prstGeom prst="rect">
            <a:avLst/>
          </a:prstGeom>
          <a:solidFill>
            <a:srgbClr val="FFFFFF">
              <a:alpha val="10000"/>
            </a:srgbClr>
          </a:solidFill>
          <a:ln/>
        </p:spPr>
      </p:sp>
      <p:sp>
        <p:nvSpPr>
          <p:cNvPr id="5" name="Text 3"/>
          <p:cNvSpPr/>
          <p:nvPr/>
        </p:nvSpPr>
        <p:spPr>
          <a:xfrm>
            <a:off x="914400" y="1463040"/>
            <a:ext cx="7315200" cy="2286000"/>
          </a:xfrm>
          <a:prstGeom prst="rect">
            <a:avLst/>
          </a:prstGeom>
          <a:noFill/>
          <a:ln/>
        </p:spPr>
        <p:txBody>
          <a:bodyPr wrap="square" lIns="0" tIns="0" rIns="0" bIns="0" rtlCol="0" anchor="ctr"/>
          <a:lstStyle/>
          <a:p>
            <a:pPr indent="0" marL="0">
              <a:spcAft>
                <a:spcPts val="400"/>
              </a:spcAft>
              <a:buNone/>
            </a:pPr>
            <a:r>
              <a:rPr lang="en-US" sz="1200" dirty="0">
                <a:solidFill>
                  <a:srgbClr val="FFFFFF"/>
                </a:solidFill>
                <a:latin typeface="Arial" pitchFamily="34" charset="0"/>
                <a:ea typeface="Arial" pitchFamily="34" charset="-122"/>
                <a:cs typeface="Arial" pitchFamily="34" charset="-120"/>
              </a:rPr>
              <a:t>コンフォートホテル横浜関内の2025年12月〜2026年4月口コミ分析（143件）では、総合評価7.57点（10pt換算）、高評価率67.8%という結果が得られました。</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「朝食」が最大の強みとして確認され、本レポートの3フェーズ改善施策の実施により、さらなる評価向上が期待されます。</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6ヶ月以内に全体平均7.9点以上、高評価率73%以上を目指し、継続的な改善サイクルを確立することを推奨します。</a:t>
            </a:r>
            <a:endParaRPr lang="en-US" sz="1200" dirty="0"/>
          </a:p>
          <a:p>
            <a:pPr indent="0" marL="0">
              <a:spcAft>
                <a:spcPts val="400"/>
              </a:spcAft>
              <a:buNone/>
            </a:pPr>
            <a:endParaRPr lang="en-US" sz="1200" dirty="0"/>
          </a:p>
          <a:p>
            <a:pPr indent="0" marL="0">
              <a:spcAft>
                <a:spcPts val="400"/>
              </a:spcAft>
              <a:buNone/>
            </a:pPr>
            <a:r>
              <a:rPr lang="en-US" sz="1200" b="1" dirty="0">
                <a:solidFill>
                  <a:srgbClr val="D4A843"/>
                </a:solidFill>
                <a:latin typeface="Arial" pitchFamily="34" charset="0"/>
                <a:ea typeface="Arial" pitchFamily="34" charset="-122"/>
                <a:cs typeface="Arial" pitchFamily="34" charset="-120"/>
              </a:rPr>
              <a:t>プライムチェンジは引き続き改善施策の実施をサポートいたします。</a:t>
            </a:r>
            <a:endParaRPr lang="en-US" sz="1200" dirty="0"/>
          </a:p>
        </p:txBody>
      </p:sp>
      <p:sp>
        <p:nvSpPr>
          <p:cNvPr id="6" name="Shape 4"/>
          <p:cNvSpPr/>
          <p:nvPr/>
        </p:nvSpPr>
        <p:spPr>
          <a:xfrm>
            <a:off x="731520" y="4114800"/>
            <a:ext cx="1828800" cy="0"/>
          </a:xfrm>
          <a:prstGeom prst="line">
            <a:avLst/>
          </a:prstGeom>
          <a:noFill/>
          <a:ln w="25400">
            <a:solidFill>
              <a:srgbClr val="D4A843"/>
            </a:solidFill>
            <a:prstDash val="solid"/>
          </a:ln>
        </p:spPr>
      </p:sp>
      <p:sp>
        <p:nvSpPr>
          <p:cNvPr id="7" name="Text 5"/>
          <p:cNvSpPr/>
          <p:nvPr/>
        </p:nvSpPr>
        <p:spPr>
          <a:xfrm>
            <a:off x="731520" y="4206240"/>
            <a:ext cx="7315200" cy="36576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ご清聴ありがとうございました</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コンフォートホテル横浜関内 口コミ分析改善レポート</dc:title>
  <dc:subject>PptxGenJS Presentation</dc:subject>
  <dc:creator>Hotel Consulting</dc:creator>
  <cp:lastModifiedBy>Hotel Consulting</cp:lastModifiedBy>
  <cp:revision>1</cp:revision>
  <dcterms:created xsi:type="dcterms:W3CDTF">2026-04-12T23:43:35Z</dcterms:created>
  <dcterms:modified xsi:type="dcterms:W3CDTF">2026-04-12T23:43:35Z</dcterms:modified>
</cp:coreProperties>
</file>