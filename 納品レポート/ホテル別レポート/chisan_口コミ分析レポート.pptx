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じゃらん</c:v>
                  </c:pt>
                  <c:pt idx="1">
                    <c:v>Google</c:v>
                  </c:pt>
                  <c:pt idx="2">
                    <c:v>Agoda</c:v>
                  </c:pt>
                  <c:pt idx="3">
                    <c:v>Booking.com</c:v>
                  </c:pt>
                  <c:pt idx="4">
                    <c:v>楽天トラベル</c:v>
                  </c:pt>
                  <c:pt idx="5">
                    <c:v>Trip.com</c:v>
                  </c:pt>
                </c:lvl>
              </c:multiLvlStrCache>
            </c:multiLvlStrRef>
          </c:cat>
          <c:val>
            <c:numRef>
              <c:f>Sheet1!$B$2:$B$7</c:f>
              <c:numCache>
                <c:formatCode>General</c:formatCode>
                <c:ptCount val="6"/>
                <c:pt idx="0">
                  <c:v>7</c:v>
                </c:pt>
                <c:pt idx="1">
                  <c:v>6.71</c:v>
                </c:pt>
                <c:pt idx="2">
                  <c:v>6.67</c:v>
                </c:pt>
                <c:pt idx="3">
                  <c:v>6.6</c:v>
                </c:pt>
                <c:pt idx="4">
                  <c:v>6.4</c:v>
                </c:pt>
                <c:pt idx="5">
                  <c:v>6</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27</c:v>
                </c:pt>
                <c:pt idx="1">
                  <c:v>19</c:v>
                </c:pt>
                <c:pt idx="2">
                  <c:v>12</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D4A843"/>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C2626"/>
              </a:solidFill>
              <a:effectLst/>
            </c:spPr>
          </c:dPt>
          <c:dPt>
            <c:idx val="6"/>
            <c:invertIfNegative val="0"/>
            <c:bubble3D val="0"/>
            <c:spPr>
              <a:solidFill>
                <a:srgbClr val="DC2626"/>
              </a:solidFill>
              <a:effectLst/>
            </c:spPr>
          </c:dPt>
          <c:dPt>
            <c:idx val="7"/>
            <c:invertIfNegative val="0"/>
            <c:bubble3D val="0"/>
            <c:spPr>
              <a:solidFill>
                <a:srgbClr val="DC2626"/>
              </a:solidFill>
              <a:effectLst/>
            </c:spPr>
          </c:dPt>
          <c:cat>
            <c:multiLvlStrRef>
              <c:f>Sheet1!$A$2:$A$9</c:f>
              <c:multiLvlStrCache>
                <c:ptCount val="8"/>
                <c:lvl>
                  <c:pt idx="0">
                    <c:v>10点</c:v>
                  </c:pt>
                  <c:pt idx="1">
                    <c:v>8点</c:v>
                  </c:pt>
                  <c:pt idx="2">
                    <c:v>7点</c:v>
                  </c:pt>
                  <c:pt idx="3">
                    <c:v>6点</c:v>
                  </c:pt>
                  <c:pt idx="4">
                    <c:v>5点</c:v>
                  </c:pt>
                  <c:pt idx="5">
                    <c:v>4点</c:v>
                  </c:pt>
                  <c:pt idx="6">
                    <c:v>3点</c:v>
                  </c:pt>
                  <c:pt idx="7">
                    <c:v>2点</c:v>
                  </c:pt>
                </c:lvl>
              </c:multiLvlStrCache>
            </c:multiLvlStrRef>
          </c:cat>
          <c:val>
            <c:numRef>
              <c:f>Sheet1!$B$2:$B$9</c:f>
              <c:numCache>
                <c:formatCode>General</c:formatCode>
                <c:ptCount val="8"/>
                <c:pt idx="0">
                  <c:v>7</c:v>
                </c:pt>
                <c:pt idx="1">
                  <c:v>20</c:v>
                </c:pt>
                <c:pt idx="2">
                  <c:v>3</c:v>
                </c:pt>
                <c:pt idx="3">
                  <c:v>14</c:v>
                </c:pt>
                <c:pt idx="4">
                  <c:v>2</c:v>
                </c:pt>
                <c:pt idx="5">
                  <c:v>5</c:v>
                </c:pt>
                <c:pt idx="6">
                  <c:v>2</c:v>
                </c:pt>
                <c:pt idx="7">
                  <c:v>5</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チサンホテル浜松町</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分析対象期間：2026年3月〜4月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レビュー総数：58件（6サイト）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作成日：2026年4月2日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6.57</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46.6%</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DC2626"/>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20.7%</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58件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駅が近いのと、コンビニがすぐ近くにあるのが嬉しい</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食事は果物が美味しかったです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最低限のアメニティで手頃な価格で宿泊できるので良い</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設備の老朽化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それなりの古さも感じましたが</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トイレを流した時の音が異常にうるさい・・隣の部屋の音も聞こえるし、自分の部屋の音も聞こえていたと思う</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防音性能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トイレを流した時の音が異常にうるさい・・隣の部屋の音も聞こえるし、自分の部屋の音も聞こえていたと思う</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E74C3C"/>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E74C3C"/>
                </a:solidFill>
                <a:latin typeface="Arial" pitchFamily="34" charset="0"/>
                <a:ea typeface="Arial" pitchFamily="34" charset="-122"/>
                <a:cs typeface="Arial" pitchFamily="34" charset="-120"/>
              </a:rPr>
              <a:t>6.57</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46.6%</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DC2626"/>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20.7%</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58件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じゃらん(7.00)が最高スコア。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Trip.com(6.0)が相対的に低い。口コミ返信の強化が急務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3.36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6.71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27件（46.6%）</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19件（32.8%）</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12件（20.7%）</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駅が近いのと、コンビニがすぐ近くにあるのが嬉しい</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「駅からは行きやすいしわかりやすいし、スタッフの方の対応もよかったですが、音が気になる人にはおすすめしないです」</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食事は果物が美味しかったです</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「フロントの接客も概ね良好、 朝食会場のバイキングが他のビジネスホテルに比べて豪華な気がしました」</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最低限のアメニティで手頃な価格で宿泊できるので良い</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「ベッドの下に子どもが入ってしまって出てきたら服も髪の毛もホコリまるけでした」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コストパフォーマンス</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最低限のアメニティで手頃な価格で宿泊できるので良い</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「安いです」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9件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清潔なお部屋でした 浜松町駅から結構歩きました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「築年数を感じる室内でしたが、綺麗にされていました」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9件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駅からは行きやすいしわかりやすいし、スタッフの方の対応もよかったですが、音が気になる人にはおすすめしないです</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「値段なりの内装、 外国人スタッフばかりです」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それなりの古さも感じましたが</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トイレを流した時の音が異常にうるさい・・隣の部屋の音も聞こえるし、自分の部屋の音も聞こえていたと思う</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トイレを流した時の音が異常にうるさい・・隣の部屋の音も聞こえるし、自分の部屋の音も聞こえていたと思う</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とても残念でした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浜松町駅から徒歩11分程度かかるところと、 年季がはいっている建物なので客室の壁に小さな穴が空いていたり浴室に落ち...</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宿は禁煙ルームにも関わらずタバコのような匂いがしたのは残念だった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ごはんは品数はほどほどであるが、どれも美味しい お風呂は大浴場はなく、汚くはないが綺麗でもない ごはんは品数はほど...</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線路沿線なので、騒音が苦手な方は耳栓が必要かもしれませんが、窓にふすまが付いており、ふすまを閉めれば、私は気になら...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駐車場はとにかく狭い間に停めるのはいいけど端とかはほんと狭くて危うくぶつけそうになるから大きい車で来る際は注意が必要</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6.57点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7.1点以上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46.6%</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57%以上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20.7%</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16%以下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Trip.com平均評価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設備の老朽化クレーム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約13件/期間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6件以下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チサンホテル浜松町 口コミ分析改善レポート</dc:title>
  <dc:subject>PptxGenJS Presentation</dc:subject>
  <dc:creator>Hotel Consulting</dc:creator>
  <cp:lastModifiedBy>Hotel Consulting</cp:lastModifiedBy>
  <cp:revision>1</cp:revision>
  <dcterms:created xsi:type="dcterms:W3CDTF">2026-04-02T08:56:35Z</dcterms:created>
  <dcterms:modified xsi:type="dcterms:W3CDTF">2026-04-02T08:56:35Z</dcterms:modified>
</cp:coreProperties>
</file>