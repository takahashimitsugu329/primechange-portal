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charts/chart1.xml" ContentType="application/vnd.openxmlformats-officedocument.drawingml.chart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_rels/chart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10pt換算平均</c:v>
                </c:pt>
              </c:strCache>
            </c:strRef>
          </c:tx>
          <c:spPr>
            <a:solidFill>
              <a:srgbClr val="3B7DD8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334155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Sheet1!$A$2:$A$7</c:f>
              <c:multiLvlStrCache>
                <c:ptCount val="6"/>
                <c:lvl>
                  <c:pt idx="0">
                    <c:v>Agoda</c:v>
                  </c:pt>
                  <c:pt idx="1">
                    <c:v>Booking.com</c:v>
                  </c:pt>
                  <c:pt idx="2">
                    <c:v>Trip.com</c:v>
                  </c:pt>
                  <c:pt idx="3">
                    <c:v>じゃらん</c:v>
                  </c:pt>
                  <c:pt idx="4">
                    <c:v>Google</c:v>
                  </c:pt>
                  <c:pt idx="5">
                    <c:v>楽天トラベル</c:v>
                  </c:pt>
                </c:lvl>
              </c:multiLvlStrCache>
            </c:multiLvl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8.73</c:v>
                </c:pt>
                <c:pt idx="1">
                  <c:v>7</c:v>
                </c:pt>
                <c:pt idx="2">
                  <c:v>7</c:v>
                </c:pt>
                <c:pt idx="3">
                  <c:v>6.86</c:v>
                </c:pt>
                <c:pt idx="4">
                  <c:v>6.62</c:v>
                </c:pt>
                <c:pt idx="5">
                  <c:v>6.59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334155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334155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0"/>
        </c:scaling>
        <c:delete val="0"/>
        <c:axPos val="b"/>
        <c:majorGridlines>
          <c:spPr>
            <a:ln w="6350" cap="flat">
              <a:solidFill>
                <a:srgbClr val="E2E8F0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64748B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doughnut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評価分布（10pt換算）</c:v>
                </c:pt>
              </c:strCache>
            </c:strRef>
          </c:tx>
          <c:spPr>
            <a:solidFill>
              <a:schemeClr val="accent1"/>
            </a:solidFill>
            <a:ln w="9525" cap="flat">
              <a:solidFill>
                <a:srgbClr val="F9F9F9"/>
              </a:solidFill>
              <a:prstDash val="solid"/>
              <a:round/>
            </a:ln>
            <a:effectLst/>
          </c:spPr>
          <c:dPt>
            <c:idx val="0"/>
            <c:bubble3D val="0"/>
            <c:spPr>
              <a:solidFill>
                <a:srgbClr val="16A34A"/>
              </a:solidFill>
              <a:effectLst/>
            </c:spPr>
          </c:dPt>
          <c:dPt>
            <c:idx val="1"/>
            <c:bubble3D val="0"/>
            <c:spPr>
              <a:solidFill>
                <a:srgbClr val="D4A843"/>
              </a:solidFill>
              <a:effectLst/>
            </c:spPr>
          </c:dPt>
          <c:dPt>
            <c:idx val="2"/>
            <c:bubble3D val="0"/>
            <c:spPr>
              <a:solidFill>
                <a:srgbClr val="DC2626"/>
              </a:solidFill>
              <a:effectLst/>
            </c:spPr>
          </c:dPt>
          <c:dLbls>
            <c:dLbl>
              <c:idx val="0"/>
              <c:numFmt formatCode="0%" sourceLinked="0"/>
              <c:spPr/>
              <c:txPr>
                <a:bodyPr/>
                <a:lstStyle/>
                <a:p>
                  <a:pPr>
                    <a:defRPr sz="1100" b="0" i="0" u="none" strike="noStrike">
                      <a:solidFill>
                        <a:srgbClr val="FFFFFF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dLbl>
              <c:idx val="1"/>
              <c:numFmt formatCode="0%" sourceLinked="0"/>
              <c:spPr/>
              <c:txPr>
                <a:bodyPr/>
                <a:lstStyle/>
                <a:p>
                  <a:pPr>
                    <a:defRPr sz="1100" b="0" i="0" u="none" strike="noStrike">
                      <a:solidFill>
                        <a:srgbClr val="FFFFFF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dLbl>
              <c:idx val="2"/>
              <c:numFmt formatCode="0%" sourceLinked="0"/>
              <c:spPr/>
              <c:txPr>
                <a:bodyPr/>
                <a:lstStyle/>
                <a:p>
                  <a:pPr>
                    <a:defRPr sz="1100" b="0" i="0" u="none" strike="noStrike">
                      <a:solidFill>
                        <a:srgbClr val="FFFFFF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numFmt formatCode="0%" sourceLinked="0"/>
            <c:txPr>
              <a:bodyPr/>
              <a:lstStyle/>
              <a:p>
                <a:pPr>
                  <a:defRPr sz="1800" b="0" i="0" u="none" strike="noStrik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1"/>
            <c:showSerName val="0"/>
            <c:showPercent val="1"/>
            <c:showBubbleSize val="0"/>
            <c:showLeaderLines val="0"/>
          </c:dLbls>
          <c:cat>
            <c:strRef>
              <c:f>Sheet1!$A$2:$A$4</c:f>
              <c:strCache>
                <c:ptCount val="3"/>
                <c:pt idx="0">
                  <c:v>高評価(8-10)</c:v>
                </c:pt>
                <c:pt idx="1">
                  <c:v>中評価(5-7)</c:v>
                </c:pt>
                <c:pt idx="2">
                  <c:v>低評価(1-4)</c:v>
                </c:pt>
              </c:strCache>
            </c:strRef>
          </c:cat>
          <c:val>
            <c:numRef>
              <c:f>Sheet1!$B$2:$B$4</c:f>
              <c:numCache>
                <c:ptCount val="3"/>
                <c:pt idx="0">
                  <c:v>37</c:v>
                </c:pt>
                <c:pt idx="1">
                  <c:v>15</c:v>
                </c:pt>
                <c:pt idx="2">
                  <c:v>13</c:v>
                </c:pt>
              </c:numCache>
            </c:numRef>
          </c:val>
        </c:ser>
        <c:firstSliceAng val="0"/>
        <c:holeSize val="50"/>
      </c:doughnutChart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900">
              <a:solidFill>
                <a:srgbClr val="64748B"/>
              </a:solidFill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件数</c:v>
                </c:pt>
              </c:strCache>
            </c:strRef>
          </c:tx>
          <c:spPr>
            <a:solidFill>
              <a:srgbClr val="16A34A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334155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16A34A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16A34A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16A34A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D4A843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D4A843"/>
              </a:solidFill>
              <a:effectLst/>
            </c:spPr>
          </c:dPt>
          <c:dPt>
            <c:idx val="5"/>
            <c:invertIfNegative val="0"/>
            <c:bubble3D val="0"/>
            <c:spPr>
              <a:solidFill>
                <a:srgbClr val="D4A843"/>
              </a:solidFill>
              <a:effectLst/>
            </c:spPr>
          </c:dPt>
          <c:dPt>
            <c:idx val="6"/>
            <c:invertIfNegative val="0"/>
            <c:bubble3D val="0"/>
            <c:spPr>
              <a:solidFill>
                <a:srgbClr val="DC2626"/>
              </a:solidFill>
              <a:effectLst/>
            </c:spPr>
          </c:dPt>
          <c:dPt>
            <c:idx val="7"/>
            <c:invertIfNegative val="0"/>
            <c:bubble3D val="0"/>
            <c:spPr>
              <a:solidFill>
                <a:srgbClr val="DC2626"/>
              </a:solidFill>
              <a:effectLst/>
            </c:spPr>
          </c:dPt>
          <c:cat>
            <c:multiLvlStrRef>
              <c:f>Sheet1!$A$2:$A$9</c:f>
              <c:multiLvlStrCache>
                <c:ptCount val="8"/>
                <c:lvl>
                  <c:pt idx="0">
                    <c:v>10点</c:v>
                  </c:pt>
                  <c:pt idx="1">
                    <c:v>9点</c:v>
                  </c:pt>
                  <c:pt idx="2">
                    <c:v>8点</c:v>
                  </c:pt>
                  <c:pt idx="3">
                    <c:v>7点</c:v>
                  </c:pt>
                  <c:pt idx="4">
                    <c:v>6点</c:v>
                  </c:pt>
                  <c:pt idx="5">
                    <c:v>5点</c:v>
                  </c:pt>
                  <c:pt idx="6">
                    <c:v>4点</c:v>
                  </c:pt>
                  <c:pt idx="7">
                    <c:v>2点</c:v>
                  </c:pt>
                </c:lvl>
              </c:multiLvlStrCache>
            </c:multiLvlStrRef>
          </c:cat>
          <c:val>
            <c:numRef>
              <c:f>Sheet1!$B$2:$B$9</c:f>
              <c:numCache>
                <c:formatCode>General</c:formatCode>
                <c:ptCount val="8"/>
                <c:pt idx="0">
                  <c:v>13</c:v>
                </c:pt>
                <c:pt idx="1">
                  <c:v>2</c:v>
                </c:pt>
                <c:pt idx="2">
                  <c:v>22</c:v>
                </c:pt>
                <c:pt idx="3">
                  <c:v>1</c:v>
                </c:pt>
                <c:pt idx="4">
                  <c:v>13</c:v>
                </c:pt>
                <c:pt idx="5">
                  <c:v>1</c:v>
                </c:pt>
                <c:pt idx="6">
                  <c:v>8</c:v>
                </c:pt>
                <c:pt idx="7">
                  <c:v>5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900" u="none">
                  <a:solidFill>
                    <a:srgbClr val="334155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334155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2E8F0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800" b="0" i="0" u="none" strike="noStrike">
                <a:solidFill>
                  <a:srgbClr val="64748B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.xml"/><Relationship Id="rId2" Type="http://schemas.openxmlformats.org/officeDocument/2006/relationships/chart" Target="/ppt/charts/chart3.xml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A274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243556">
              <a:alpha val="60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0" y="1828800"/>
            <a:ext cx="73152" cy="1645920"/>
          </a:xfrm>
          <a:prstGeom prst="rect">
            <a:avLst/>
          </a:prstGeom>
          <a:solidFill>
            <a:srgbClr val="D4A843"/>
          </a:solidFill>
          <a:ln/>
        </p:spPr>
      </p:sp>
      <p:sp>
        <p:nvSpPr>
          <p:cNvPr id="4" name="Text 2"/>
          <p:cNvSpPr/>
          <p:nvPr/>
        </p:nvSpPr>
        <p:spPr>
          <a:xfrm>
            <a:off x="731520" y="1371600"/>
            <a:ext cx="7315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spc="600" kern="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口コミ分析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731520" y="1920240"/>
            <a:ext cx="73152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改善レポート</a:t>
            </a:r>
            <a:endParaRPr lang="en-US" sz="4200" dirty="0"/>
          </a:p>
        </p:txBody>
      </p:sp>
      <p:sp>
        <p:nvSpPr>
          <p:cNvPr id="6" name="Shape 4"/>
          <p:cNvSpPr/>
          <p:nvPr/>
        </p:nvSpPr>
        <p:spPr>
          <a:xfrm>
            <a:off x="731520" y="2834640"/>
            <a:ext cx="1828800" cy="0"/>
          </a:xfrm>
          <a:prstGeom prst="line">
            <a:avLst/>
          </a:prstGeom>
          <a:noFill/>
          <a:ln w="25400">
            <a:solidFill>
              <a:srgbClr val="D4A843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31520" y="3017520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チサンホテル浜松町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731520" y="3749040"/>
            <a:ext cx="45720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400"/>
              </a:spcAft>
              <a:buNone/>
            </a:pPr>
            <a:r>
              <a:rPr lang="en-US" sz="10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分析対象期間：2026年2月〜3月</a:t>
            </a:r>
            <a:endParaRPr lang="en-US" sz="10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0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レビュー総数：65件（6サイト）</a:t>
            </a:r>
            <a:endParaRPr lang="en-US" sz="10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0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作成日：2026年3月17日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6858000" y="0"/>
            <a:ext cx="2286000" cy="5143500"/>
          </a:xfrm>
          <a:prstGeom prst="rect">
            <a:avLst/>
          </a:prstGeom>
          <a:solidFill>
            <a:srgbClr val="3B7DD8">
              <a:alpha val="15000"/>
            </a:srgbClr>
          </a:solidFill>
          <a:ln/>
        </p:spPr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エグゼクティブサマリー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57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Executive Summary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457200" y="1051560"/>
            <a:ext cx="1874520" cy="9601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457200" y="1051560"/>
            <a:ext cx="1874520" cy="45720"/>
          </a:xfrm>
          <a:prstGeom prst="rect">
            <a:avLst/>
          </a:prstGeom>
          <a:solidFill>
            <a:srgbClr val="3B7DD8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1188720"/>
            <a:ext cx="1874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全体平均(10pt換算)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457200" y="1417320"/>
            <a:ext cx="1874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3B7D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7.02</a:t>
            </a:r>
            <a:endParaRPr lang="en-US" sz="3200" dirty="0"/>
          </a:p>
        </p:txBody>
      </p:sp>
      <p:sp>
        <p:nvSpPr>
          <p:cNvPr id="9" name="Shape 7"/>
          <p:cNvSpPr/>
          <p:nvPr/>
        </p:nvSpPr>
        <p:spPr>
          <a:xfrm>
            <a:off x="2514600" y="1051560"/>
            <a:ext cx="1874520" cy="9601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2514600" y="1051560"/>
            <a:ext cx="1874520" cy="45720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11" name="Text 9"/>
          <p:cNvSpPr/>
          <p:nvPr/>
        </p:nvSpPr>
        <p:spPr>
          <a:xfrm>
            <a:off x="2514600" y="1188720"/>
            <a:ext cx="1874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高評価率(8-10点)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2514600" y="1417320"/>
            <a:ext cx="1874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56.9%</a:t>
            </a:r>
            <a:endParaRPr lang="en-US" sz="3200" dirty="0"/>
          </a:p>
        </p:txBody>
      </p:sp>
      <p:sp>
        <p:nvSpPr>
          <p:cNvPr id="13" name="Shape 11"/>
          <p:cNvSpPr/>
          <p:nvPr/>
        </p:nvSpPr>
        <p:spPr>
          <a:xfrm>
            <a:off x="4572000" y="1051560"/>
            <a:ext cx="1874520" cy="9601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4572000" y="1051560"/>
            <a:ext cx="1874520" cy="45720"/>
          </a:xfrm>
          <a:prstGeom prst="rect">
            <a:avLst/>
          </a:prstGeom>
          <a:solidFill>
            <a:srgbClr val="DC2626"/>
          </a:solidFill>
          <a:ln/>
        </p:spPr>
      </p:sp>
      <p:sp>
        <p:nvSpPr>
          <p:cNvPr id="15" name="Text 13"/>
          <p:cNvSpPr/>
          <p:nvPr/>
        </p:nvSpPr>
        <p:spPr>
          <a:xfrm>
            <a:off x="4572000" y="1188720"/>
            <a:ext cx="1874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低評価率(1-4点)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4572000" y="1417320"/>
            <a:ext cx="1874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DC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20.0%</a:t>
            </a:r>
            <a:endParaRPr lang="en-US" sz="3200" dirty="0"/>
          </a:p>
        </p:txBody>
      </p:sp>
      <p:sp>
        <p:nvSpPr>
          <p:cNvPr id="17" name="Shape 15"/>
          <p:cNvSpPr/>
          <p:nvPr/>
        </p:nvSpPr>
        <p:spPr>
          <a:xfrm>
            <a:off x="6629400" y="1051560"/>
            <a:ext cx="2057400" cy="9601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6629400" y="1051560"/>
            <a:ext cx="2057400" cy="4572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19" name="Text 17"/>
          <p:cNvSpPr/>
          <p:nvPr/>
        </p:nvSpPr>
        <p:spPr>
          <a:xfrm>
            <a:off x="6629400" y="1188720"/>
            <a:ext cx="2057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レビュー総数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6629400" y="1417320"/>
            <a:ext cx="2057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65件</a:t>
            </a:r>
            <a:endParaRPr lang="en-US" sz="3200" dirty="0"/>
          </a:p>
        </p:txBody>
      </p:sp>
      <p:sp>
        <p:nvSpPr>
          <p:cNvPr id="21" name="Shape 19"/>
          <p:cNvSpPr/>
          <p:nvPr/>
        </p:nvSpPr>
        <p:spPr>
          <a:xfrm>
            <a:off x="457200" y="2286000"/>
            <a:ext cx="3931920" cy="22860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457200" y="2286000"/>
            <a:ext cx="3931920" cy="45720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23" name="Text 21"/>
          <p:cNvSpPr/>
          <p:nvPr/>
        </p:nvSpPr>
        <p:spPr>
          <a:xfrm>
            <a:off x="640080" y="2377440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Strengths</a:t>
            </a:r>
            <a:endParaRPr lang="en-US" sz="1400" dirty="0"/>
          </a:p>
        </p:txBody>
      </p:sp>
      <p:sp>
        <p:nvSpPr>
          <p:cNvPr id="24" name="Text 22"/>
          <p:cNvSpPr/>
          <p:nvPr/>
        </p:nvSpPr>
        <p:spPr>
          <a:xfrm>
            <a:off x="640080" y="2743200"/>
            <a:ext cx="347472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立地・アクセス 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立地が良く便利 立地が良く便利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快適さ・設備 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部屋のWi-Fiが弱く且つ安定してなかった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朝食 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朝食のバイキングも、種類も沢山あるので、連泊でも飽きないです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4754880" y="2286000"/>
            <a:ext cx="3931920" cy="22860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26" name="Shape 24"/>
          <p:cNvSpPr/>
          <p:nvPr/>
        </p:nvSpPr>
        <p:spPr>
          <a:xfrm>
            <a:off x="4754880" y="2286000"/>
            <a:ext cx="3931920" cy="45720"/>
          </a:xfrm>
          <a:prstGeom prst="rect">
            <a:avLst/>
          </a:prstGeom>
          <a:solidFill>
            <a:srgbClr val="DC2626"/>
          </a:solidFill>
          <a:ln/>
        </p:spPr>
      </p:sp>
      <p:sp>
        <p:nvSpPr>
          <p:cNvPr id="27" name="Text 25"/>
          <p:cNvSpPr/>
          <p:nvPr/>
        </p:nvSpPr>
        <p:spPr>
          <a:xfrm>
            <a:off x="4937760" y="2377440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C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Weaknesses</a:t>
            </a:r>
            <a:endParaRPr lang="en-US" sz="1400" dirty="0"/>
          </a:p>
        </p:txBody>
      </p:sp>
      <p:sp>
        <p:nvSpPr>
          <p:cNvPr id="28" name="Text 26"/>
          <p:cNvSpPr/>
          <p:nvPr/>
        </p:nvSpPr>
        <p:spPr>
          <a:xfrm>
            <a:off x="4937760" y="2743200"/>
            <a:ext cx="347472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防音性能 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古くてずっと音が鳴ってて怖かったです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設備の老朽化 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施設が古いのは仕方ないですね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浴室・水回り 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ユニットバスに関しては、とても古く便座も冷たいので座るのに要注意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0" name="Text 28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31" name="Text 29"/>
          <p:cNvSpPr/>
          <p:nvPr/>
        </p:nvSpPr>
        <p:spPr>
          <a:xfrm>
            <a:off x="822960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主要KPI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57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Key Performance Indicators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457200" y="1188720"/>
            <a:ext cx="3931920" cy="16459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457200" y="1188720"/>
            <a:ext cx="3931920" cy="45720"/>
          </a:xfrm>
          <a:prstGeom prst="rect">
            <a:avLst/>
          </a:prstGeom>
          <a:solidFill>
            <a:srgbClr val="FF9800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1325880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全体平均スコア（10点換算）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457200" y="1554480"/>
            <a:ext cx="3931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FF98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7.02</a:t>
            </a:r>
            <a:endParaRPr lang="en-US" sz="3200" dirty="0"/>
          </a:p>
        </p:txBody>
      </p:sp>
      <p:sp>
        <p:nvSpPr>
          <p:cNvPr id="9" name="Shape 7"/>
          <p:cNvSpPr/>
          <p:nvPr/>
        </p:nvSpPr>
        <p:spPr>
          <a:xfrm>
            <a:off x="4754880" y="1188720"/>
            <a:ext cx="3931920" cy="16459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4754880" y="1188720"/>
            <a:ext cx="3931920" cy="45720"/>
          </a:xfrm>
          <a:prstGeom prst="rect">
            <a:avLst/>
          </a:prstGeom>
          <a:solidFill>
            <a:srgbClr val="D4A843"/>
          </a:solidFill>
          <a:ln/>
        </p:spPr>
      </p:sp>
      <p:sp>
        <p:nvSpPr>
          <p:cNvPr id="11" name="Text 9"/>
          <p:cNvSpPr/>
          <p:nvPr/>
        </p:nvSpPr>
        <p:spPr>
          <a:xfrm>
            <a:off x="4754880" y="1325880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高評価率（8-10点）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4754880" y="1554480"/>
            <a:ext cx="3931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D4A8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56.9%</a:t>
            </a:r>
            <a:endParaRPr lang="en-US" sz="3200" dirty="0"/>
          </a:p>
        </p:txBody>
      </p:sp>
      <p:sp>
        <p:nvSpPr>
          <p:cNvPr id="13" name="Shape 11"/>
          <p:cNvSpPr/>
          <p:nvPr/>
        </p:nvSpPr>
        <p:spPr>
          <a:xfrm>
            <a:off x="457200" y="3108960"/>
            <a:ext cx="3931920" cy="13716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457200" y="3108960"/>
            <a:ext cx="3931920" cy="45720"/>
          </a:xfrm>
          <a:prstGeom prst="rect">
            <a:avLst/>
          </a:prstGeom>
          <a:solidFill>
            <a:srgbClr val="DC2626"/>
          </a:solidFill>
          <a:ln/>
        </p:spPr>
      </p:sp>
      <p:sp>
        <p:nvSpPr>
          <p:cNvPr id="15" name="Text 13"/>
          <p:cNvSpPr/>
          <p:nvPr/>
        </p:nvSpPr>
        <p:spPr>
          <a:xfrm>
            <a:off x="457200" y="3246120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低評価率（1-4点）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457200" y="3474720"/>
            <a:ext cx="3931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DC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20.0%</a:t>
            </a:r>
            <a:endParaRPr lang="en-US" sz="3200" dirty="0"/>
          </a:p>
        </p:txBody>
      </p:sp>
      <p:sp>
        <p:nvSpPr>
          <p:cNvPr id="17" name="Shape 15"/>
          <p:cNvSpPr/>
          <p:nvPr/>
        </p:nvSpPr>
        <p:spPr>
          <a:xfrm>
            <a:off x="4754880" y="3108960"/>
            <a:ext cx="3931920" cy="13716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4754880" y="3108960"/>
            <a:ext cx="3931920" cy="4572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19" name="Text 17"/>
          <p:cNvSpPr/>
          <p:nvPr/>
        </p:nvSpPr>
        <p:spPr>
          <a:xfrm>
            <a:off x="4754880" y="3246120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レビュー総数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4754880" y="3474720"/>
            <a:ext cx="3931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65件</a:t>
            </a:r>
            <a:endParaRPr lang="en-US" sz="3200" dirty="0"/>
          </a:p>
        </p:txBody>
      </p:sp>
      <p:sp>
        <p:nvSpPr>
          <p:cNvPr id="21" name="Shape 19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22" name="Text 20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23" name="Text 21"/>
          <p:cNvSpPr/>
          <p:nvPr/>
        </p:nvSpPr>
        <p:spPr>
          <a:xfrm>
            <a:off x="822960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サイト別評価分析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57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Rating Analysis by Platform</a:t>
            </a:r>
            <a:endParaRPr lang="en-US" sz="1000" dirty="0"/>
          </a:p>
        </p:txBody>
      </p:sp>
      <p:graphicFrame>
        <p:nvGraphicFramePr>
          <p:cNvPr id="5" name="Chart 0" descr=""/>
          <p:cNvGraphicFramePr/>
          <p:nvPr/>
        </p:nvGraphicFramePr>
        <p:xfrm>
          <a:off x="457200" y="1005840"/>
          <a:ext cx="5029200" cy="32004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6" name="Shape 3"/>
          <p:cNvSpPr/>
          <p:nvPr/>
        </p:nvSpPr>
        <p:spPr>
          <a:xfrm>
            <a:off x="5760720" y="1005840"/>
            <a:ext cx="3017520" cy="32004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7" name="Shape 4"/>
          <p:cNvSpPr/>
          <p:nvPr/>
        </p:nvSpPr>
        <p:spPr>
          <a:xfrm>
            <a:off x="5760720" y="1005840"/>
            <a:ext cx="3017520" cy="45720"/>
          </a:xfrm>
          <a:prstGeom prst="rect">
            <a:avLst/>
          </a:prstGeom>
          <a:solidFill>
            <a:srgbClr val="D4A843"/>
          </a:solidFill>
          <a:ln/>
        </p:spPr>
      </p:sp>
      <p:sp>
        <p:nvSpPr>
          <p:cNvPr id="8" name="Text 5"/>
          <p:cNvSpPr/>
          <p:nvPr/>
        </p:nvSpPr>
        <p:spPr>
          <a:xfrm>
            <a:off x="5943600" y="1097280"/>
            <a:ext cx="1828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8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Insight</a:t>
            </a:r>
            <a:endParaRPr lang="en-US" sz="1300" dirty="0"/>
          </a:p>
        </p:txBody>
      </p:sp>
      <p:sp>
        <p:nvSpPr>
          <p:cNvPr id="9" name="Text 6"/>
          <p:cNvSpPr/>
          <p:nvPr/>
        </p:nvSpPr>
        <p:spPr>
          <a:xfrm>
            <a:off x="5943600" y="1417320"/>
            <a:ext cx="265176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1200" b="1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サイト別評価の傾向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高評価グループ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Agoda(8.73)が最高スコア。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0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注：</a:t>
            </a:r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Google/じゃらん/楽天は5点満点のため×2で10pt換算</a:t>
            </a:r>
            <a:endParaRPr lang="en-US" sz="110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4297680"/>
          <a:ext cx="8229600" cy="91440"/>
        </p:xfrm>
        <a:graphic>
          <a:graphicData uri="http://schemas.openxmlformats.org/drawingml/2006/table">
            <a:tbl>
              <a:tblPr/>
              <a:tblGrid>
                <a:gridCol w="1828800"/>
                <a:gridCol w="914400"/>
                <a:gridCol w="1828800"/>
                <a:gridCol w="914400"/>
                <a:gridCol w="2743200"/>
              </a:tblGrid>
              <a:tr h="2286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サイト名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件数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ネイティブ平均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尺度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10pt換算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</a:tr>
              <a:tr h="2011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Agoda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8.73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/10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8.73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</a:tr>
              <a:tr h="2011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Booking.com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/10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011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Trip.com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/10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</a:tr>
              <a:tr h="2011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じゃらん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3.43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/5 (×2)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6.86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011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Google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16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3.31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/5 (×2)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6.62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</a:tr>
              <a:tr h="2011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楽天トラベル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27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3.3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/5 (×2)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6.59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12" name="Text 8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13" name="Text 9"/>
          <p:cNvSpPr/>
          <p:nvPr/>
        </p:nvSpPr>
        <p:spPr>
          <a:xfrm>
            <a:off x="822960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評価分布分析（10点換算）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57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Rating Distribution</a:t>
            </a:r>
            <a:endParaRPr lang="en-US" sz="1000" dirty="0"/>
          </a:p>
        </p:txBody>
      </p:sp>
      <p:graphicFrame>
        <p:nvGraphicFramePr>
          <p:cNvPr id="5" name="Chart 0" descr=""/>
          <p:cNvGraphicFramePr/>
          <p:nvPr/>
        </p:nvGraphicFramePr>
        <p:xfrm>
          <a:off x="274320" y="1097280"/>
          <a:ext cx="3657600" cy="29260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graphicFrame>
        <p:nvGraphicFramePr>
          <p:cNvPr id="6" name="Chart 1" descr=""/>
          <p:cNvGraphicFramePr/>
          <p:nvPr/>
        </p:nvGraphicFramePr>
        <p:xfrm>
          <a:off x="4114800" y="1097280"/>
          <a:ext cx="4754880" cy="29260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7" name="Shape 3"/>
          <p:cNvSpPr/>
          <p:nvPr/>
        </p:nvSpPr>
        <p:spPr>
          <a:xfrm>
            <a:off x="457200" y="4160520"/>
            <a:ext cx="2651760" cy="502920"/>
          </a:xfrm>
          <a:prstGeom prst="rect">
            <a:avLst/>
          </a:prstGeom>
          <a:solidFill>
            <a:srgbClr val="DCFCE7"/>
          </a:solidFill>
          <a:ln/>
        </p:spPr>
      </p:sp>
      <p:sp>
        <p:nvSpPr>
          <p:cNvPr id="8" name="Text 4"/>
          <p:cNvSpPr/>
          <p:nvPr/>
        </p:nvSpPr>
        <p:spPr>
          <a:xfrm>
            <a:off x="457200" y="4160520"/>
            <a:ext cx="1371600" cy="502920"/>
          </a:xfrm>
          <a:prstGeom prst="rect">
            <a:avLst/>
          </a:prstGeom>
          <a:noFill/>
          <a:ln/>
        </p:spPr>
        <p:txBody>
          <a:bodyPr wrap="square" lIns="0" tIns="10160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高評価 8-10点</a:t>
            </a:r>
            <a:endParaRPr lang="en-US" sz="1000" dirty="0"/>
          </a:p>
        </p:txBody>
      </p:sp>
      <p:sp>
        <p:nvSpPr>
          <p:cNvPr id="9" name="Text 5"/>
          <p:cNvSpPr/>
          <p:nvPr/>
        </p:nvSpPr>
        <p:spPr>
          <a:xfrm>
            <a:off x="1737360" y="4160520"/>
            <a:ext cx="1371600" cy="502920"/>
          </a:xfrm>
          <a:prstGeom prst="rect">
            <a:avLst/>
          </a:prstGeom>
          <a:noFill/>
          <a:ln/>
        </p:spPr>
        <p:txBody>
          <a:bodyPr wrap="square" lIns="0" tIns="0" rIns="10160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37件（56.9%）</a:t>
            </a:r>
            <a:endParaRPr lang="en-US" sz="1100" dirty="0"/>
          </a:p>
        </p:txBody>
      </p:sp>
      <p:sp>
        <p:nvSpPr>
          <p:cNvPr id="10" name="Shape 6"/>
          <p:cNvSpPr/>
          <p:nvPr/>
        </p:nvSpPr>
        <p:spPr>
          <a:xfrm>
            <a:off x="3291840" y="4160520"/>
            <a:ext cx="2651760" cy="502920"/>
          </a:xfrm>
          <a:prstGeom prst="rect">
            <a:avLst/>
          </a:prstGeom>
          <a:solidFill>
            <a:srgbClr val="FFF7ED"/>
          </a:solidFill>
          <a:ln/>
        </p:spPr>
      </p:sp>
      <p:sp>
        <p:nvSpPr>
          <p:cNvPr id="11" name="Text 7"/>
          <p:cNvSpPr/>
          <p:nvPr/>
        </p:nvSpPr>
        <p:spPr>
          <a:xfrm>
            <a:off x="3291840" y="4160520"/>
            <a:ext cx="1371600" cy="502920"/>
          </a:xfrm>
          <a:prstGeom prst="rect">
            <a:avLst/>
          </a:prstGeom>
          <a:noFill/>
          <a:ln/>
        </p:spPr>
        <p:txBody>
          <a:bodyPr wrap="square" lIns="0" tIns="10160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8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中評価 5-7点</a:t>
            </a:r>
            <a:endParaRPr lang="en-US" sz="1000" dirty="0"/>
          </a:p>
        </p:txBody>
      </p:sp>
      <p:sp>
        <p:nvSpPr>
          <p:cNvPr id="12" name="Text 8"/>
          <p:cNvSpPr/>
          <p:nvPr/>
        </p:nvSpPr>
        <p:spPr>
          <a:xfrm>
            <a:off x="4572000" y="4160520"/>
            <a:ext cx="1371600" cy="502920"/>
          </a:xfrm>
          <a:prstGeom prst="rect">
            <a:avLst/>
          </a:prstGeom>
          <a:noFill/>
          <a:ln/>
        </p:spPr>
        <p:txBody>
          <a:bodyPr wrap="square" lIns="0" tIns="0" rIns="10160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D4A8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15件（23.1%）</a:t>
            </a:r>
            <a:endParaRPr lang="en-US" sz="1100" dirty="0"/>
          </a:p>
        </p:txBody>
      </p:sp>
      <p:sp>
        <p:nvSpPr>
          <p:cNvPr id="13" name="Shape 9"/>
          <p:cNvSpPr/>
          <p:nvPr/>
        </p:nvSpPr>
        <p:spPr>
          <a:xfrm>
            <a:off x="6126480" y="4160520"/>
            <a:ext cx="2651760" cy="502920"/>
          </a:xfrm>
          <a:prstGeom prst="rect">
            <a:avLst/>
          </a:prstGeom>
          <a:solidFill>
            <a:srgbClr val="FEE2E2"/>
          </a:solidFill>
          <a:ln/>
        </p:spPr>
      </p:sp>
      <p:sp>
        <p:nvSpPr>
          <p:cNvPr id="14" name="Text 10"/>
          <p:cNvSpPr/>
          <p:nvPr/>
        </p:nvSpPr>
        <p:spPr>
          <a:xfrm>
            <a:off x="6126480" y="4160520"/>
            <a:ext cx="1371600" cy="502920"/>
          </a:xfrm>
          <a:prstGeom prst="rect">
            <a:avLst/>
          </a:prstGeom>
          <a:noFill/>
          <a:ln/>
        </p:spPr>
        <p:txBody>
          <a:bodyPr wrap="square" lIns="0" tIns="10160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C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低評価 1-4点</a:t>
            </a:r>
            <a:endParaRPr lang="en-US" sz="1000" dirty="0"/>
          </a:p>
        </p:txBody>
      </p:sp>
      <p:sp>
        <p:nvSpPr>
          <p:cNvPr id="15" name="Text 11"/>
          <p:cNvSpPr/>
          <p:nvPr/>
        </p:nvSpPr>
        <p:spPr>
          <a:xfrm>
            <a:off x="7406640" y="4160520"/>
            <a:ext cx="1371600" cy="502920"/>
          </a:xfrm>
          <a:prstGeom prst="rect">
            <a:avLst/>
          </a:prstGeom>
          <a:noFill/>
          <a:ln/>
        </p:spPr>
        <p:txBody>
          <a:bodyPr wrap="square" lIns="0" tIns="0" rIns="10160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DC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13件（20.0%）</a:t>
            </a:r>
            <a:endParaRPr lang="en-US" sz="1100" dirty="0"/>
          </a:p>
        </p:txBody>
      </p:sp>
      <p:sp>
        <p:nvSpPr>
          <p:cNvPr id="16" name="Shape 12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17" name="Text 13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18" name="Text 14"/>
          <p:cNvSpPr/>
          <p:nvPr/>
        </p:nvSpPr>
        <p:spPr>
          <a:xfrm>
            <a:off x="822960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強み分析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57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Strength Analysis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457200" y="1051560"/>
            <a:ext cx="2651760" cy="16002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457200" y="1051560"/>
            <a:ext cx="54864" cy="1600200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7" name="Shape 5"/>
          <p:cNvSpPr/>
          <p:nvPr/>
        </p:nvSpPr>
        <p:spPr>
          <a:xfrm>
            <a:off x="2286000" y="1124712"/>
            <a:ext cx="658368" cy="228600"/>
          </a:xfrm>
          <a:prstGeom prst="rect">
            <a:avLst/>
          </a:prstGeom>
          <a:solidFill>
            <a:srgbClr val="DCFCE7"/>
          </a:solidFill>
          <a:ln/>
        </p:spPr>
      </p:sp>
      <p:sp>
        <p:nvSpPr>
          <p:cNvPr id="8" name="Text 6"/>
          <p:cNvSpPr/>
          <p:nvPr/>
        </p:nvSpPr>
        <p:spPr>
          <a:xfrm>
            <a:off x="2286000" y="1124712"/>
            <a:ext cx="65836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20件+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594360" y="1124712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立地・アクセス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594360" y="1417320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立地が良く便利 立地が良く便利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594360" y="1828800"/>
            <a:ext cx="2377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3B7D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「国際展示場や都心のアクセスがよかったです」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3291840" y="1051560"/>
            <a:ext cx="2651760" cy="16002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3291840" y="1051560"/>
            <a:ext cx="54864" cy="1600200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14" name="Shape 12"/>
          <p:cNvSpPr/>
          <p:nvPr/>
        </p:nvSpPr>
        <p:spPr>
          <a:xfrm>
            <a:off x="5120640" y="1124712"/>
            <a:ext cx="658368" cy="228600"/>
          </a:xfrm>
          <a:prstGeom prst="rect">
            <a:avLst/>
          </a:prstGeom>
          <a:solidFill>
            <a:srgbClr val="DCFCE7"/>
          </a:solidFill>
          <a:ln/>
        </p:spPr>
      </p:sp>
      <p:sp>
        <p:nvSpPr>
          <p:cNvPr id="15" name="Text 13"/>
          <p:cNvSpPr/>
          <p:nvPr/>
        </p:nvSpPr>
        <p:spPr>
          <a:xfrm>
            <a:off x="5120640" y="1124712"/>
            <a:ext cx="65836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10件+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3429000" y="1124712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快適さ・設備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3429000" y="1417320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部屋のWi-Fiが弱く且つ安定してなかった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3429000" y="1828800"/>
            <a:ext cx="2377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3B7D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「駅から近くコスパ良き 設備が古い 設備が古い」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6126480" y="1051560"/>
            <a:ext cx="2651760" cy="16002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6126480" y="1051560"/>
            <a:ext cx="54864" cy="1600200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21" name="Shape 19"/>
          <p:cNvSpPr/>
          <p:nvPr/>
        </p:nvSpPr>
        <p:spPr>
          <a:xfrm>
            <a:off x="7955280" y="1124712"/>
            <a:ext cx="658368" cy="228600"/>
          </a:xfrm>
          <a:prstGeom prst="rect">
            <a:avLst/>
          </a:prstGeom>
          <a:solidFill>
            <a:srgbClr val="DCFCE7"/>
          </a:solidFill>
          <a:ln/>
        </p:spPr>
      </p:sp>
      <p:sp>
        <p:nvSpPr>
          <p:cNvPr id="22" name="Text 20"/>
          <p:cNvSpPr/>
          <p:nvPr/>
        </p:nvSpPr>
        <p:spPr>
          <a:xfrm>
            <a:off x="7955280" y="1124712"/>
            <a:ext cx="65836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10件+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6263640" y="1124712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朝食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263640" y="1417320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朝食のバイキングも、種類も沢山あるので、連泊でも飽きないです</a:t>
            </a:r>
            <a:endParaRPr lang="en-US" sz="900" dirty="0"/>
          </a:p>
        </p:txBody>
      </p:sp>
      <p:sp>
        <p:nvSpPr>
          <p:cNvPr id="25" name="Text 23"/>
          <p:cNvSpPr/>
          <p:nvPr/>
        </p:nvSpPr>
        <p:spPr>
          <a:xfrm>
            <a:off x="6263640" y="1828800"/>
            <a:ext cx="2377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3B7D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「朝食はバリエーション豊富で楽しめました 部屋のWi-Fiが弱く且つ安定してなかった」</a:t>
            </a:r>
            <a:endParaRPr lang="en-US" sz="900" dirty="0"/>
          </a:p>
        </p:txBody>
      </p:sp>
      <p:sp>
        <p:nvSpPr>
          <p:cNvPr id="26" name="Shape 24"/>
          <p:cNvSpPr/>
          <p:nvPr/>
        </p:nvSpPr>
        <p:spPr>
          <a:xfrm>
            <a:off x="457200" y="2880360"/>
            <a:ext cx="2651760" cy="16002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27" name="Shape 25"/>
          <p:cNvSpPr/>
          <p:nvPr/>
        </p:nvSpPr>
        <p:spPr>
          <a:xfrm>
            <a:off x="457200" y="2880360"/>
            <a:ext cx="54864" cy="1600200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28" name="Shape 26"/>
          <p:cNvSpPr/>
          <p:nvPr/>
        </p:nvSpPr>
        <p:spPr>
          <a:xfrm>
            <a:off x="2286000" y="2953512"/>
            <a:ext cx="658368" cy="228600"/>
          </a:xfrm>
          <a:prstGeom prst="rect">
            <a:avLst/>
          </a:prstGeom>
          <a:solidFill>
            <a:srgbClr val="DCFCE7"/>
          </a:solidFill>
          <a:ln/>
        </p:spPr>
      </p:sp>
      <p:sp>
        <p:nvSpPr>
          <p:cNvPr id="29" name="Text 27"/>
          <p:cNvSpPr/>
          <p:nvPr/>
        </p:nvSpPr>
        <p:spPr>
          <a:xfrm>
            <a:off x="2286000" y="2953512"/>
            <a:ext cx="65836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10件+</a:t>
            </a:r>
            <a:endParaRPr lang="en-US" sz="900" dirty="0"/>
          </a:p>
        </p:txBody>
      </p:sp>
      <p:sp>
        <p:nvSpPr>
          <p:cNvPr id="30" name="Text 28"/>
          <p:cNvSpPr/>
          <p:nvPr/>
        </p:nvSpPr>
        <p:spPr>
          <a:xfrm>
            <a:off x="594360" y="2953512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清潔さ・清掃</a:t>
            </a:r>
            <a:endParaRPr lang="en-US" sz="1300" dirty="0"/>
          </a:p>
        </p:txBody>
      </p:sp>
      <p:sp>
        <p:nvSpPr>
          <p:cNvPr id="31" name="Text 29"/>
          <p:cNvSpPr/>
          <p:nvPr/>
        </p:nvSpPr>
        <p:spPr>
          <a:xfrm>
            <a:off x="594360" y="3246120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ごはんは品数はほどほどであるが、どれも美味しい お風呂は大浴場はなく、汚くはないが綺麗でもない ごはんは品数はほど...</a:t>
            </a:r>
            <a:endParaRPr lang="en-US" sz="900" dirty="0"/>
          </a:p>
        </p:txBody>
      </p:sp>
      <p:sp>
        <p:nvSpPr>
          <p:cNvPr id="32" name="Text 30"/>
          <p:cNvSpPr/>
          <p:nvPr/>
        </p:nvSpPr>
        <p:spPr>
          <a:xfrm>
            <a:off x="594360" y="3657600"/>
            <a:ext cx="2377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3B7D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「換気をしようと窓を開けると、清掃されてないようなサッシ部分」</a:t>
            </a:r>
            <a:endParaRPr lang="en-US" sz="900" dirty="0"/>
          </a:p>
        </p:txBody>
      </p:sp>
      <p:sp>
        <p:nvSpPr>
          <p:cNvPr id="33" name="Shape 31"/>
          <p:cNvSpPr/>
          <p:nvPr/>
        </p:nvSpPr>
        <p:spPr>
          <a:xfrm>
            <a:off x="3291840" y="2880360"/>
            <a:ext cx="2651760" cy="16002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34" name="Shape 32"/>
          <p:cNvSpPr/>
          <p:nvPr/>
        </p:nvSpPr>
        <p:spPr>
          <a:xfrm>
            <a:off x="3291840" y="2880360"/>
            <a:ext cx="54864" cy="1600200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35" name="Shape 33"/>
          <p:cNvSpPr/>
          <p:nvPr/>
        </p:nvSpPr>
        <p:spPr>
          <a:xfrm>
            <a:off x="5120640" y="2953512"/>
            <a:ext cx="658368" cy="228600"/>
          </a:xfrm>
          <a:prstGeom prst="rect">
            <a:avLst/>
          </a:prstGeom>
          <a:solidFill>
            <a:srgbClr val="DCFCE7"/>
          </a:solidFill>
          <a:ln/>
        </p:spPr>
      </p:sp>
      <p:sp>
        <p:nvSpPr>
          <p:cNvPr id="36" name="Text 34"/>
          <p:cNvSpPr/>
          <p:nvPr/>
        </p:nvSpPr>
        <p:spPr>
          <a:xfrm>
            <a:off x="5120640" y="2953512"/>
            <a:ext cx="65836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8件</a:t>
            </a:r>
            <a:endParaRPr lang="en-US" sz="900" dirty="0"/>
          </a:p>
        </p:txBody>
      </p:sp>
      <p:sp>
        <p:nvSpPr>
          <p:cNvPr id="37" name="Text 35"/>
          <p:cNvSpPr/>
          <p:nvPr/>
        </p:nvSpPr>
        <p:spPr>
          <a:xfrm>
            <a:off x="3429000" y="2953512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スタッフの対応</a:t>
            </a:r>
            <a:endParaRPr lang="en-US" sz="1300" dirty="0"/>
          </a:p>
        </p:txBody>
      </p:sp>
      <p:sp>
        <p:nvSpPr>
          <p:cNvPr id="38" name="Text 36"/>
          <p:cNvSpPr/>
          <p:nvPr/>
        </p:nvSpPr>
        <p:spPr>
          <a:xfrm>
            <a:off x="3429000" y="3246120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喫煙で予約してたが禁煙シングルを希望したら柔軟に対応頂けた</a:t>
            </a:r>
            <a:endParaRPr lang="en-US" sz="900" dirty="0"/>
          </a:p>
        </p:txBody>
      </p:sp>
      <p:sp>
        <p:nvSpPr>
          <p:cNvPr id="39" name="Text 37"/>
          <p:cNvSpPr/>
          <p:nvPr/>
        </p:nvSpPr>
        <p:spPr>
          <a:xfrm>
            <a:off x="3429000" y="3657600"/>
            <a:ext cx="2377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3B7D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「設備刷新できないなら、例えばエアドッグを貸しますーとか、フロントでプレステ5貸してくれるーとか、そんなに有名じゃあ...」</a:t>
            </a:r>
            <a:endParaRPr lang="en-US" sz="900" dirty="0"/>
          </a:p>
        </p:txBody>
      </p:sp>
      <p:sp>
        <p:nvSpPr>
          <p:cNvPr id="40" name="Shape 38"/>
          <p:cNvSpPr/>
          <p:nvPr/>
        </p:nvSpPr>
        <p:spPr>
          <a:xfrm>
            <a:off x="6126480" y="2880360"/>
            <a:ext cx="2651760" cy="16002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41" name="Shape 39"/>
          <p:cNvSpPr/>
          <p:nvPr/>
        </p:nvSpPr>
        <p:spPr>
          <a:xfrm>
            <a:off x="6126480" y="2880360"/>
            <a:ext cx="54864" cy="1600200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42" name="Shape 40"/>
          <p:cNvSpPr/>
          <p:nvPr/>
        </p:nvSpPr>
        <p:spPr>
          <a:xfrm>
            <a:off x="7955280" y="2953512"/>
            <a:ext cx="658368" cy="228600"/>
          </a:xfrm>
          <a:prstGeom prst="rect">
            <a:avLst/>
          </a:prstGeom>
          <a:solidFill>
            <a:srgbClr val="DCFCE7"/>
          </a:solidFill>
          <a:ln/>
        </p:spPr>
      </p:sp>
      <p:sp>
        <p:nvSpPr>
          <p:cNvPr id="43" name="Text 41"/>
          <p:cNvSpPr/>
          <p:nvPr/>
        </p:nvSpPr>
        <p:spPr>
          <a:xfrm>
            <a:off x="7955280" y="2953512"/>
            <a:ext cx="65836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7件</a:t>
            </a:r>
            <a:endParaRPr lang="en-US" sz="900" dirty="0"/>
          </a:p>
        </p:txBody>
      </p:sp>
      <p:sp>
        <p:nvSpPr>
          <p:cNvPr id="44" name="Text 42"/>
          <p:cNvSpPr/>
          <p:nvPr/>
        </p:nvSpPr>
        <p:spPr>
          <a:xfrm>
            <a:off x="6263640" y="2953512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コストパフォーマンス</a:t>
            </a:r>
            <a:endParaRPr lang="en-US" sz="1300" dirty="0"/>
          </a:p>
        </p:txBody>
      </p:sp>
      <p:sp>
        <p:nvSpPr>
          <p:cNvPr id="45" name="Text 43"/>
          <p:cNvSpPr/>
          <p:nvPr/>
        </p:nvSpPr>
        <p:spPr>
          <a:xfrm>
            <a:off x="6263640" y="3246120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コスパ最高</a:t>
            </a:r>
            <a:endParaRPr lang="en-US" sz="900" dirty="0"/>
          </a:p>
        </p:txBody>
      </p:sp>
      <p:sp>
        <p:nvSpPr>
          <p:cNvPr id="46" name="Text 44"/>
          <p:cNvSpPr/>
          <p:nvPr/>
        </p:nvSpPr>
        <p:spPr>
          <a:xfrm>
            <a:off x="6263640" y="3657600"/>
            <a:ext cx="2377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3B7D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「コスパ良しです」</a:t>
            </a:r>
            <a:endParaRPr lang="en-US" sz="900" dirty="0"/>
          </a:p>
        </p:txBody>
      </p:sp>
      <p:sp>
        <p:nvSpPr>
          <p:cNvPr id="47" name="Shape 45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48" name="Text 46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49" name="Text 47"/>
          <p:cNvSpPr/>
          <p:nvPr/>
        </p:nvSpPr>
        <p:spPr>
          <a:xfrm>
            <a:off x="822960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弱み分析・優先度マトリクス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57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Weakness Analysis &amp; Priority Matrix</a:t>
            </a:r>
            <a:endParaRPr lang="en-US" sz="100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051560"/>
          <a:ext cx="8229600" cy="91440"/>
        </p:xfrm>
        <a:graphic>
          <a:graphicData uri="http://schemas.openxmlformats.org/drawingml/2006/table">
            <a:tbl>
              <a:tblPr/>
              <a:tblGrid>
                <a:gridCol w="731520"/>
                <a:gridCol w="1828800"/>
                <a:gridCol w="4572000"/>
                <a:gridCol w="1097280"/>
              </a:tblGrid>
              <a:tr h="2743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優先度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課題カテゴリ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具体的内容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件数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DC262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防音性能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古くてずっと音が鳴ってて怖かったです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11件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EA580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設備の老朽化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施設が古いのは仕方ないですね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10件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EA580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浴室・水回り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ユニットバスに関しては、とても古く便座も冷たいので座るのに要注意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8件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D4A84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部屋の狭さ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たぶん直線距離は大した事ないのかもしれませんけど、狭い路地をぐにゃぐにゃ歩いて、屋形船の前をとおり、謎の高架の下を...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3件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D4A84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エアコン・空調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共同エアコン、、、 暑かったです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3件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94A3B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臭い・匂い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少し残念だったのは禁煙ルームを取りましたが、同じ階に喫煙ルームもある様でエレベーターを降りて廊下中に染みついている...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2件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94A3B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朝食の改善要望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ごはんは品数はほどほどであるが、どれも美味しい お風呂は大浴場はなく、汚くはないが綺麗でもない ごはんは品数はほど...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2件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94A3B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窓・採光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換気をしようと窓を開けると、清掃されてないようなサッシ部分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2件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94A3B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対応・サービスの不満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少し残念だったのは禁煙ルームを取りましたが、同じ階に喫煙ルームもある様でエレベーターを降りて廊下中に染みついている...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2件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</a:tr>
            </a:tbl>
          </a:graphicData>
        </a:graphic>
      </p:graphicFrame>
      <p:sp>
        <p:nvSpPr>
          <p:cNvPr id="6" name="Text 3"/>
          <p:cNvSpPr/>
          <p:nvPr/>
        </p:nvSpPr>
        <p:spPr>
          <a:xfrm>
            <a:off x="457200" y="438912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C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 </a:t>
            </a:r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= 最優先   </a:t>
            </a:r>
            <a:pPr indent="0" marL="0">
              <a:buNone/>
            </a:pPr>
            <a:r>
              <a:rPr lang="en-US" sz="1000" b="1" dirty="0">
                <a:solidFill>
                  <a:srgbClr val="EA580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</a:t>
            </a:r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= 高優先   </a:t>
            </a:r>
            <a:pPr indent="0" marL="0">
              <a:buNone/>
            </a:pPr>
            <a:r>
              <a:rPr lang="en-US" sz="1000" b="1" dirty="0">
                <a:solidFill>
                  <a:srgbClr val="D4A8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 </a:t>
            </a:r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= 中優先   </a:t>
            </a:r>
            <a:pPr indent="0" marL="0">
              <a:buNone/>
            </a:pPr>
            <a:r>
              <a:rPr lang="en-US" sz="1000" b="1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 </a:t>
            </a:r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= 低優先</a:t>
            </a:r>
            <a:endParaRPr lang="en-US" sz="1000" dirty="0"/>
          </a:p>
        </p:txBody>
      </p:sp>
      <p:sp>
        <p:nvSpPr>
          <p:cNvPr id="7" name="Shape 4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8" name="Text 5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改善施策 Phase 1：即座対応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57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Immediate Actions (Today ~ 1 Month)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548640" y="86868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3B7D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投資不要・オペレーション改善で対応可能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457200" y="1234440"/>
            <a:ext cx="3977640" cy="16002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457200" y="1234440"/>
            <a:ext cx="54864" cy="1600200"/>
          </a:xfrm>
          <a:prstGeom prst="rect">
            <a:avLst/>
          </a:prstGeom>
          <a:solidFill>
            <a:srgbClr val="3B7DD8"/>
          </a:solidFill>
          <a:ln/>
        </p:spPr>
      </p:sp>
      <p:sp>
        <p:nvSpPr>
          <p:cNvPr id="8" name="Text 6"/>
          <p:cNvSpPr/>
          <p:nvPr/>
        </p:nvSpPr>
        <p:spPr>
          <a:xfrm>
            <a:off x="594360" y="128016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客室の消臭対策の強化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594360" y="1600200"/>
            <a:ext cx="36576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チェックアウト後の換気・消臭スプレー処理の徹底</a:t>
            </a:r>
            <a:endParaRPr lang="en-US" sz="9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定期的な脱臭剤の設置と交換フローの確立</a:t>
            </a:r>
            <a:endParaRPr lang="en-US" sz="9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喫煙・臭いに関するクレーム発生時の即座対応マニュアル作成</a:t>
            </a:r>
            <a:endParaRPr lang="en-US" sz="900" dirty="0"/>
          </a:p>
        </p:txBody>
      </p:sp>
      <p:sp>
        <p:nvSpPr>
          <p:cNvPr id="10" name="Shape 8"/>
          <p:cNvSpPr/>
          <p:nvPr/>
        </p:nvSpPr>
        <p:spPr>
          <a:xfrm>
            <a:off x="4663440" y="1234440"/>
            <a:ext cx="3977640" cy="16002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4663440" y="1234440"/>
            <a:ext cx="54864" cy="1600200"/>
          </a:xfrm>
          <a:prstGeom prst="rect">
            <a:avLst/>
          </a:prstGeom>
          <a:solidFill>
            <a:srgbClr val="3B7DD8"/>
          </a:solidFill>
          <a:ln/>
        </p:spPr>
      </p:sp>
      <p:sp>
        <p:nvSpPr>
          <p:cNvPr id="12" name="Text 10"/>
          <p:cNvSpPr/>
          <p:nvPr/>
        </p:nvSpPr>
        <p:spPr>
          <a:xfrm>
            <a:off x="4800600" y="128016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清掃品質の向上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4800600" y="1600200"/>
            <a:ext cx="36576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清掃チェックリストの見直しと強化（ベッド下・隅の重点確認）</a:t>
            </a:r>
            <a:endParaRPr lang="en-US" sz="9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清掃後のダブルチェック体制の導入</a:t>
            </a:r>
            <a:endParaRPr lang="en-US" sz="9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清掃スタッフへの再研修実施</a:t>
            </a:r>
            <a:endParaRPr lang="en-US" sz="900" dirty="0"/>
          </a:p>
        </p:txBody>
      </p:sp>
      <p:sp>
        <p:nvSpPr>
          <p:cNvPr id="14" name="Shape 12"/>
          <p:cNvSpPr/>
          <p:nvPr/>
        </p:nvSpPr>
        <p:spPr>
          <a:xfrm>
            <a:off x="457200" y="3017520"/>
            <a:ext cx="3977640" cy="16002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457200" y="3017520"/>
            <a:ext cx="54864" cy="1600200"/>
          </a:xfrm>
          <a:prstGeom prst="rect">
            <a:avLst/>
          </a:prstGeom>
          <a:solidFill>
            <a:srgbClr val="3B7DD8"/>
          </a:solidFill>
          <a:ln/>
        </p:spPr>
      </p:sp>
      <p:sp>
        <p:nvSpPr>
          <p:cNvPr id="16" name="Text 14"/>
          <p:cNvSpPr/>
          <p:nvPr/>
        </p:nvSpPr>
        <p:spPr>
          <a:xfrm>
            <a:off x="594360" y="306324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朝食サービスの改善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594360" y="3383280"/>
            <a:ext cx="36576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メニューの定期的な見直しとバリエーション追加</a:t>
            </a:r>
            <a:endParaRPr lang="en-US" sz="9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補充頻度の向上と品切れ防止</a:t>
            </a:r>
            <a:endParaRPr lang="en-US" sz="9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宿泊客数に応じた朝食準備量の最適化</a:t>
            </a:r>
            <a:endParaRPr lang="en-US" sz="900" dirty="0"/>
          </a:p>
        </p:txBody>
      </p:sp>
      <p:sp>
        <p:nvSpPr>
          <p:cNvPr id="18" name="Shape 16"/>
          <p:cNvSpPr/>
          <p:nvPr/>
        </p:nvSpPr>
        <p:spPr>
          <a:xfrm>
            <a:off x="4663440" y="3017520"/>
            <a:ext cx="3977640" cy="16002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9" name="Shape 17"/>
          <p:cNvSpPr/>
          <p:nvPr/>
        </p:nvSpPr>
        <p:spPr>
          <a:xfrm>
            <a:off x="4663440" y="3017520"/>
            <a:ext cx="54864" cy="1600200"/>
          </a:xfrm>
          <a:prstGeom prst="rect">
            <a:avLst/>
          </a:prstGeom>
          <a:solidFill>
            <a:srgbClr val="3B7DD8"/>
          </a:solidFill>
          <a:ln/>
        </p:spPr>
      </p:sp>
      <p:sp>
        <p:nvSpPr>
          <p:cNvPr id="20" name="Text 18"/>
          <p:cNvSpPr/>
          <p:nvPr/>
        </p:nvSpPr>
        <p:spPr>
          <a:xfrm>
            <a:off x="4800600" y="306324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エアコン・空調の定期点検強化</a:t>
            </a:r>
            <a:endParaRPr lang="en-US" sz="1200" dirty="0"/>
          </a:p>
        </p:txBody>
      </p:sp>
      <p:sp>
        <p:nvSpPr>
          <p:cNvPr id="21" name="Text 19"/>
          <p:cNvSpPr/>
          <p:nvPr/>
        </p:nvSpPr>
        <p:spPr>
          <a:xfrm>
            <a:off x="4800600" y="3383280"/>
            <a:ext cx="36576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全室のエアコン設定を季節に応じてデフォルト確認する運用フロー導入</a:t>
            </a:r>
            <a:endParaRPr lang="en-US" sz="9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冷暖房の正常動作を定期チェックリストに追加</a:t>
            </a:r>
            <a:endParaRPr lang="en-US" sz="9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異常報告があった客室の優先メンテナンス実施</a:t>
            </a:r>
            <a:endParaRPr lang="en-US" sz="900" dirty="0"/>
          </a:p>
        </p:txBody>
      </p:sp>
      <p:sp>
        <p:nvSpPr>
          <p:cNvPr id="22" name="Shape 20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23" name="Text 21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24" name="Text 22"/>
          <p:cNvSpPr/>
          <p:nvPr/>
        </p:nvSpPr>
        <p:spPr>
          <a:xfrm>
            <a:off x="822960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改善施策 Phase 2・3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57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Short-term &amp; Mid-term Actions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457200" y="1005840"/>
            <a:ext cx="3977640" cy="34747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457200" y="1005840"/>
            <a:ext cx="3977640" cy="365760"/>
          </a:xfrm>
          <a:prstGeom prst="rect">
            <a:avLst/>
          </a:prstGeom>
          <a:solidFill>
            <a:srgbClr val="3B7DD8"/>
          </a:solidFill>
          <a:ln/>
        </p:spPr>
      </p:sp>
      <p:sp>
        <p:nvSpPr>
          <p:cNvPr id="7" name="Text 5"/>
          <p:cNvSpPr/>
          <p:nvPr/>
        </p:nvSpPr>
        <p:spPr>
          <a:xfrm>
            <a:off x="594360" y="100584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Phase 2：短期施策（1〜3ヶ月）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640080" y="1463040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浴室の快適性向上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640080" y="1719072"/>
            <a:ext cx="347472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排水口の清掃・修繕を全室で実施し、排水速度を改善</a:t>
            </a:r>
            <a:endParaRPr lang="en-US" sz="9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シャワーヘッドの交換（水圧改善・節水タイプ導入）</a:t>
            </a:r>
            <a:endParaRPr lang="en-US" sz="9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浴室換気・暖房設備の点検と改善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640080" y="2505456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防音対策の強化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640080" y="2761488"/>
            <a:ext cx="347472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窓際への防音カーテン導入（外部騒音対策）</a:t>
            </a:r>
            <a:endParaRPr lang="en-US" sz="9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ドア下部への隙間テープ設置（廊下・隣室からの音漏れ軽減）</a:t>
            </a:r>
            <a:endParaRPr lang="en-US" sz="9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騒音の少ない客室への優先案内の仕組み化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640080" y="3547872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窓・採光環境の改善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640080" y="3803904"/>
            <a:ext cx="347472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遮光カーテンとレースカーテンの品質見直し</a:t>
            </a:r>
            <a:endParaRPr lang="en-US" sz="9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窓の開閉可否に関する事前案内の徹底</a:t>
            </a:r>
            <a:endParaRPr lang="en-US" sz="9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採光の良い客室の優先割り当てルール整備</a:t>
            </a:r>
            <a:endParaRPr lang="en-US" sz="900" dirty="0"/>
          </a:p>
        </p:txBody>
      </p:sp>
      <p:sp>
        <p:nvSpPr>
          <p:cNvPr id="14" name="Shape 12"/>
          <p:cNvSpPr/>
          <p:nvPr/>
        </p:nvSpPr>
        <p:spPr>
          <a:xfrm>
            <a:off x="4709160" y="1005840"/>
            <a:ext cx="3977640" cy="34747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4709160" y="1005840"/>
            <a:ext cx="3977640" cy="36576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16" name="Text 14"/>
          <p:cNvSpPr/>
          <p:nvPr/>
        </p:nvSpPr>
        <p:spPr>
          <a:xfrm>
            <a:off x="4846320" y="100584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Phase 3：中期施策（3〜6ヶ月）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4892040" y="1463040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客室リニューアル計画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4892040" y="1719072"/>
            <a:ext cx="347472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壁紙・カーペットの張替えによる「古さ」印象の払拭</a:t>
            </a:r>
            <a:endParaRPr lang="en-US" sz="9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照明のLED化・調光機能の追加で客室の雰囲気向上</a:t>
            </a:r>
            <a:endParaRPr lang="en-US" sz="9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USB充電ポート付きコンセントの設置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4892040" y="2505456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浴室の抜本的改修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4892040" y="2761488"/>
            <a:ext cx="347472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配管更新による排水問題の根本解決</a:t>
            </a:r>
            <a:endParaRPr lang="en-US" sz="9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換気設備の強化による浴室内の温度・湿度改善</a:t>
            </a:r>
            <a:endParaRPr lang="en-US" sz="900" dirty="0"/>
          </a:p>
        </p:txBody>
      </p:sp>
      <p:sp>
        <p:nvSpPr>
          <p:cNvPr id="21" name="Text 19"/>
          <p:cNvSpPr/>
          <p:nvPr/>
        </p:nvSpPr>
        <p:spPr>
          <a:xfrm>
            <a:off x="4892040" y="3346704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防音工事</a:t>
            </a:r>
            <a:endParaRPr lang="en-US" sz="1000" dirty="0"/>
          </a:p>
        </p:txBody>
      </p:sp>
      <p:sp>
        <p:nvSpPr>
          <p:cNvPr id="22" name="Text 20"/>
          <p:cNvSpPr/>
          <p:nvPr/>
        </p:nvSpPr>
        <p:spPr>
          <a:xfrm>
            <a:off x="4892040" y="3602736"/>
            <a:ext cx="347472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騒音源側客室の窓を二重サッシに交換</a:t>
            </a:r>
            <a:endParaRPr lang="en-US" sz="9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隣室との壁面に遮音材を追加する改修工事の検討</a:t>
            </a:r>
            <a:endParaRPr lang="en-US" sz="900" dirty="0"/>
          </a:p>
        </p:txBody>
      </p:sp>
      <p:sp>
        <p:nvSpPr>
          <p:cNvPr id="23" name="Shape 21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24" name="Text 22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25" name="Text 23"/>
          <p:cNvSpPr/>
          <p:nvPr/>
        </p:nvSpPr>
        <p:spPr>
          <a:xfrm>
            <a:off x="822960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KPI目標設定・まとめ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57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Key Performance Indicators &amp; Summary</a:t>
            </a:r>
            <a:endParaRPr lang="en-US" sz="100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097280"/>
          <a:ext cx="8229600" cy="91440"/>
        </p:xfrm>
        <a:graphic>
          <a:graphicData uri="http://schemas.openxmlformats.org/drawingml/2006/table">
            <a:tbl>
              <a:tblPr/>
              <a:tblGrid>
                <a:gridCol w="2560320"/>
                <a:gridCol w="1828800"/>
                <a:gridCol w="2011680"/>
                <a:gridCol w="1828800"/>
              </a:tblGrid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KPI項目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現状値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目標値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期限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全体平均(10pt換算)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7.02点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16A34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7.5点以上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2026年9月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高評価率（8-10点）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56.9%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16A34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67%以上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2026年9月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低評価率（1-4点）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20.0%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16A34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15%以下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2026年9月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口コミ返信率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未計測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16A34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100%（48h以内）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2026年6月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防音性能クレーム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約11件/期間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16A34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5件以下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2026年9月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</a:tr>
            </a:tbl>
          </a:graphicData>
        </a:graphic>
      </p:graphicFrame>
      <p:sp>
        <p:nvSpPr>
          <p:cNvPr id="6" name="Shape 3"/>
          <p:cNvSpPr/>
          <p:nvPr/>
        </p:nvSpPr>
        <p:spPr>
          <a:xfrm>
            <a:off x="457200" y="3108960"/>
            <a:ext cx="8229600" cy="64008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7" name="Shape 4"/>
          <p:cNvSpPr/>
          <p:nvPr/>
        </p:nvSpPr>
        <p:spPr>
          <a:xfrm>
            <a:off x="457200" y="3108960"/>
            <a:ext cx="54864" cy="640080"/>
          </a:xfrm>
          <a:prstGeom prst="rect">
            <a:avLst/>
          </a:prstGeom>
          <a:solidFill>
            <a:srgbClr val="3B7DD8"/>
          </a:solidFill>
          <a:ln/>
        </p:spPr>
      </p:sp>
      <p:sp>
        <p:nvSpPr>
          <p:cNvPr id="8" name="Text 5"/>
          <p:cNvSpPr/>
          <p:nvPr/>
        </p:nvSpPr>
        <p:spPr>
          <a:xfrm>
            <a:off x="640080" y="3108960"/>
            <a:ext cx="7863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モニタリング方針：</a:t>
            </a:r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毎月のサイト別スコア集計と口コミ内容の定性分析を実施。四半期ごとに改善施策の効果を検証し、Phase 2・3の優先順位を見直します。</a:t>
            </a:r>
            <a:endParaRPr lang="en-US" sz="1000" dirty="0"/>
          </a:p>
        </p:txBody>
      </p:sp>
      <p:sp>
        <p:nvSpPr>
          <p:cNvPr id="9" name="Shape 6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10" name="Text 7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11" name="Text 8"/>
          <p:cNvSpPr/>
          <p:nvPr/>
        </p:nvSpPr>
        <p:spPr>
          <a:xfrm>
            <a:off x="822960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チサンホテル浜松町 口コミ分析改善レポート</dc:title>
  <dc:subject>PptxGenJS Presentation</dc:subject>
  <dc:creator>Hotel Consulting</dc:creator>
  <cp:lastModifiedBy>Hotel Consulting</cp:lastModifiedBy>
  <cp:revision>1</cp:revision>
  <dcterms:created xsi:type="dcterms:W3CDTF">2026-03-16T22:42:39Z</dcterms:created>
  <dcterms:modified xsi:type="dcterms:W3CDTF">2026-03-16T22:42:39Z</dcterms:modified>
</cp:coreProperties>
</file>