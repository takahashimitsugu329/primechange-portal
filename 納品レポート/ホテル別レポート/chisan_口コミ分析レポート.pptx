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2744"/>
          </a:solidFill>
          <a:ln/>
        </p:spPr>
      </p:sp>
      <p:sp>
        <p:nvSpPr>
          <p:cNvPr id="3" name="Shape 1"/>
          <p:cNvSpPr/>
          <p:nvPr/>
        </p:nvSpPr>
        <p:spPr>
          <a:xfrm>
            <a:off x="0" y="3474720"/>
            <a:ext cx="9144000" cy="1668780"/>
          </a:xfrm>
          <a:prstGeom prst="rect">
            <a:avLst/>
          </a:prstGeom>
          <a:solidFill>
            <a:srgbClr val="243556"/>
          </a:solidFill>
          <a:ln/>
        </p:spPr>
      </p:sp>
      <p:sp>
        <p:nvSpPr>
          <p:cNvPr id="4" name="Shape 2"/>
          <p:cNvSpPr/>
          <p:nvPr/>
        </p:nvSpPr>
        <p:spPr>
          <a:xfrm>
            <a:off x="457200" y="1371600"/>
            <a:ext cx="73152" cy="1645920"/>
          </a:xfrm>
          <a:prstGeom prst="rect">
            <a:avLst/>
          </a:prstGeom>
          <a:solidFill>
            <a:srgbClr val="3B7DD8"/>
          </a:solidFill>
          <a:ln/>
        </p:spPr>
      </p:sp>
      <p:sp>
        <p:nvSpPr>
          <p:cNvPr id="5" name="Text 3"/>
          <p:cNvSpPr/>
          <p:nvPr/>
        </p:nvSpPr>
        <p:spPr>
          <a:xfrm>
            <a:off x="685800" y="1325880"/>
            <a:ext cx="7772400" cy="640080"/>
          </a:xfrm>
          <a:prstGeom prst="rect">
            <a:avLst/>
          </a:prstGeom>
          <a:noFill/>
          <a:ln/>
        </p:spPr>
        <p:txBody>
          <a:bodyPr wrap="square" rtlCol="0" anchor="ctr"/>
          <a:lstStyle/>
          <a:p>
            <a:pPr indent="0" marL="0">
              <a:buNone/>
            </a:pPr>
            <a:r>
              <a:rPr lang="en-US" sz="3400" b="1" dirty="0">
                <a:solidFill>
                  <a:srgbClr val="FFFFFF"/>
                </a:solidFill>
                <a:latin typeface="Arial" pitchFamily="34" charset="0"/>
                <a:ea typeface="Arial" pitchFamily="34" charset="-122"/>
                <a:cs typeface="Arial" pitchFamily="34" charset="-120"/>
              </a:rPr>
              <a:t>口コミ分析改善レポート</a:t>
            </a:r>
            <a:endParaRPr lang="en-US" sz="3400" dirty="0"/>
          </a:p>
        </p:txBody>
      </p:sp>
      <p:sp>
        <p:nvSpPr>
          <p:cNvPr id="6" name="Text 4"/>
          <p:cNvSpPr/>
          <p:nvPr/>
        </p:nvSpPr>
        <p:spPr>
          <a:xfrm>
            <a:off x="685800" y="1965960"/>
            <a:ext cx="7772400" cy="502920"/>
          </a:xfrm>
          <a:prstGeom prst="rect">
            <a:avLst/>
          </a:prstGeom>
          <a:noFill/>
          <a:ln/>
        </p:spPr>
        <p:txBody>
          <a:bodyPr wrap="square" rtlCol="0" anchor="ctr"/>
          <a:lstStyle/>
          <a:p>
            <a:pPr indent="0" marL="0">
              <a:buNone/>
            </a:pPr>
            <a:r>
              <a:rPr lang="en-US" sz="2200" dirty="0">
                <a:solidFill>
                  <a:srgbClr val="5A9BE6"/>
                </a:solidFill>
                <a:latin typeface="Arial" pitchFamily="34" charset="0"/>
                <a:ea typeface="Arial" pitchFamily="34" charset="-122"/>
                <a:cs typeface="Arial" pitchFamily="34" charset="-120"/>
              </a:rPr>
              <a:t>チサンホテル浜松町</a:t>
            </a:r>
            <a:endParaRPr lang="en-US" sz="2200" dirty="0"/>
          </a:p>
        </p:txBody>
      </p:sp>
      <p:sp>
        <p:nvSpPr>
          <p:cNvPr id="7" name="Text 5"/>
          <p:cNvSpPr/>
          <p:nvPr/>
        </p:nvSpPr>
        <p:spPr>
          <a:xfrm>
            <a:off x="685800" y="2514600"/>
            <a:ext cx="7772400" cy="365760"/>
          </a:xfrm>
          <a:prstGeom prst="rect">
            <a:avLst/>
          </a:prstGeom>
          <a:noFill/>
          <a:ln/>
        </p:spPr>
        <p:txBody>
          <a:bodyPr wrap="square" rtlCol="0" anchor="ctr"/>
          <a:lstStyle/>
          <a:p>
            <a:pPr indent="0" marL="0">
              <a:buNone/>
            </a:pPr>
            <a:r>
              <a:rPr lang="en-US" sz="1300" dirty="0">
                <a:solidFill>
                  <a:srgbClr val="94A3B8"/>
                </a:solidFill>
                <a:latin typeface="Arial" pitchFamily="34" charset="0"/>
                <a:ea typeface="Arial" pitchFamily="34" charset="-122"/>
                <a:cs typeface="Arial" pitchFamily="34" charset="-120"/>
              </a:rPr>
              <a:t>レビュー総数: 47件　全体平均: 7.15/10</a:t>
            </a:r>
            <a:endParaRPr lang="en-US" sz="1300" dirty="0"/>
          </a:p>
        </p:txBody>
      </p:sp>
      <p:sp>
        <p:nvSpPr>
          <p:cNvPr id="8" name="Text 6"/>
          <p:cNvSpPr/>
          <p:nvPr/>
        </p:nvSpPr>
        <p:spPr>
          <a:xfrm>
            <a:off x="457200" y="3566160"/>
            <a:ext cx="4572000" cy="320040"/>
          </a:xfrm>
          <a:prstGeom prst="rect">
            <a:avLst/>
          </a:prstGeom>
          <a:noFill/>
          <a:ln/>
        </p:spPr>
        <p:txBody>
          <a:bodyPr wrap="square" rtlCol="0" anchor="ctr"/>
          <a:lstStyle/>
          <a:p>
            <a:pPr indent="0" marL="0">
              <a:buNone/>
            </a:pPr>
            <a:r>
              <a:rPr lang="en-US" sz="1100" dirty="0">
                <a:solidFill>
                  <a:srgbClr val="94A3B8"/>
                </a:solidFill>
                <a:latin typeface="Arial" pitchFamily="34" charset="0"/>
                <a:ea typeface="Arial" pitchFamily="34" charset="-122"/>
                <a:cs typeface="Arial" pitchFamily="34" charset="-120"/>
              </a:rPr>
              <a:t>作成日: 2026年3月28日</a:t>
            </a:r>
            <a:endParaRPr lang="en-US" sz="1100" dirty="0"/>
          </a:p>
        </p:txBody>
      </p:sp>
      <p:sp>
        <p:nvSpPr>
          <p:cNvPr id="9" name="Text 7"/>
          <p:cNvSpPr/>
          <p:nvPr/>
        </p:nvSpPr>
        <p:spPr>
          <a:xfrm>
            <a:off x="6400800" y="3566160"/>
            <a:ext cx="2286000" cy="320040"/>
          </a:xfrm>
          <a:prstGeom prst="rect">
            <a:avLst/>
          </a:prstGeom>
          <a:noFill/>
          <a:ln/>
        </p:spPr>
        <p:txBody>
          <a:bodyPr wrap="square" rtlCol="0" anchor="ctr"/>
          <a:lstStyle/>
          <a:p>
            <a:pPr algn="r" indent="0" marL="0">
              <a:buNone/>
            </a:pPr>
            <a:r>
              <a:rPr lang="en-US" sz="1000" dirty="0">
                <a:solidFill>
                  <a:srgbClr val="94A3B8"/>
                </a:solidFill>
                <a:latin typeface="Arial" pitchFamily="34" charset="0"/>
                <a:ea typeface="Arial" pitchFamily="34" charset="-122"/>
                <a:cs typeface="Arial" pitchFamily="34" charset="-120"/>
              </a:rPr>
              <a:t>Confidential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チサンホテル浜松町 | 全47件分析</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9" name="Shape 7"/>
          <p:cNvSpPr/>
          <p:nvPr/>
        </p:nvSpPr>
        <p:spPr>
          <a:xfrm>
            <a:off x="27432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74320" y="1005840"/>
            <a:ext cx="2011680" cy="45720"/>
          </a:xfrm>
          <a:prstGeom prst="rect">
            <a:avLst/>
          </a:prstGeom>
          <a:solidFill>
            <a:srgbClr val="EA580C"/>
          </a:solidFill>
          <a:ln/>
        </p:spPr>
      </p:sp>
      <p:sp>
        <p:nvSpPr>
          <p:cNvPr id="11" name="Text 9"/>
          <p:cNvSpPr/>
          <p:nvPr/>
        </p:nvSpPr>
        <p:spPr>
          <a:xfrm>
            <a:off x="27432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a:t>
            </a:r>
            <a:endParaRPr lang="en-US" sz="1000" dirty="0"/>
          </a:p>
        </p:txBody>
      </p:sp>
      <p:sp>
        <p:nvSpPr>
          <p:cNvPr id="12" name="Text 10"/>
          <p:cNvSpPr/>
          <p:nvPr/>
        </p:nvSpPr>
        <p:spPr>
          <a:xfrm>
            <a:off x="274320" y="1371600"/>
            <a:ext cx="2011680" cy="502920"/>
          </a:xfrm>
          <a:prstGeom prst="rect">
            <a:avLst/>
          </a:prstGeom>
          <a:noFill/>
          <a:ln/>
        </p:spPr>
        <p:txBody>
          <a:bodyPr wrap="square" lIns="0" tIns="0" rIns="0" bIns="0" rtlCol="0" anchor="ctr"/>
          <a:lstStyle/>
          <a:p>
            <a:pPr algn="ctr" indent="0" marL="0">
              <a:buNone/>
            </a:pPr>
            <a:r>
              <a:rPr lang="en-US" sz="3200" b="1" dirty="0">
                <a:solidFill>
                  <a:srgbClr val="EA580C"/>
                </a:solidFill>
                <a:latin typeface="Arial" pitchFamily="34" charset="0"/>
                <a:ea typeface="Arial" pitchFamily="34" charset="-122"/>
                <a:cs typeface="Arial" pitchFamily="34" charset="-120"/>
              </a:rPr>
              <a:t>7.15/10</a:t>
            </a:r>
            <a:endParaRPr lang="en-US" sz="3200" dirty="0"/>
          </a:p>
        </p:txBody>
      </p:sp>
      <p:sp>
        <p:nvSpPr>
          <p:cNvPr id="13" name="Shape 11"/>
          <p:cNvSpPr/>
          <p:nvPr/>
        </p:nvSpPr>
        <p:spPr>
          <a:xfrm>
            <a:off x="246888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2468880" y="1005840"/>
            <a:ext cx="2011680" cy="45720"/>
          </a:xfrm>
          <a:prstGeom prst="rect">
            <a:avLst/>
          </a:prstGeom>
          <a:solidFill>
            <a:srgbClr val="16A34A"/>
          </a:solidFill>
          <a:ln/>
        </p:spPr>
      </p:sp>
      <p:sp>
        <p:nvSpPr>
          <p:cNvPr id="15" name="Text 13"/>
          <p:cNvSpPr/>
          <p:nvPr/>
        </p:nvSpPr>
        <p:spPr>
          <a:xfrm>
            <a:off x="246888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6" name="Text 14"/>
          <p:cNvSpPr/>
          <p:nvPr/>
        </p:nvSpPr>
        <p:spPr>
          <a:xfrm>
            <a:off x="2468880" y="1371600"/>
            <a:ext cx="201168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59.6%</a:t>
            </a:r>
            <a:endParaRPr lang="en-US" sz="3200" dirty="0"/>
          </a:p>
        </p:txBody>
      </p:sp>
      <p:sp>
        <p:nvSpPr>
          <p:cNvPr id="17" name="Shape 15"/>
          <p:cNvSpPr/>
          <p:nvPr/>
        </p:nvSpPr>
        <p:spPr>
          <a:xfrm>
            <a:off x="466344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663440" y="1005840"/>
            <a:ext cx="2011680" cy="45720"/>
          </a:xfrm>
          <a:prstGeom prst="rect">
            <a:avLst/>
          </a:prstGeom>
          <a:solidFill>
            <a:srgbClr val="3B7DD8"/>
          </a:solidFill>
          <a:ln/>
        </p:spPr>
      </p:sp>
      <p:sp>
        <p:nvSpPr>
          <p:cNvPr id="19" name="Text 17"/>
          <p:cNvSpPr/>
          <p:nvPr/>
        </p:nvSpPr>
        <p:spPr>
          <a:xfrm>
            <a:off x="466344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中評価率(6-7点)</a:t>
            </a:r>
            <a:endParaRPr lang="en-US" sz="1000" dirty="0"/>
          </a:p>
        </p:txBody>
      </p:sp>
      <p:sp>
        <p:nvSpPr>
          <p:cNvPr id="20" name="Text 18"/>
          <p:cNvSpPr/>
          <p:nvPr/>
        </p:nvSpPr>
        <p:spPr>
          <a:xfrm>
            <a:off x="4663440" y="1371600"/>
            <a:ext cx="201168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19.1%</a:t>
            </a:r>
            <a:endParaRPr lang="en-US" sz="3200" dirty="0"/>
          </a:p>
        </p:txBody>
      </p:sp>
      <p:sp>
        <p:nvSpPr>
          <p:cNvPr id="21" name="Shape 19"/>
          <p:cNvSpPr/>
          <p:nvPr/>
        </p:nvSpPr>
        <p:spPr>
          <a:xfrm>
            <a:off x="685800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6858000" y="1005840"/>
            <a:ext cx="2011680" cy="45720"/>
          </a:xfrm>
          <a:prstGeom prst="rect">
            <a:avLst/>
          </a:prstGeom>
          <a:solidFill>
            <a:srgbClr val="DC2626"/>
          </a:solidFill>
          <a:ln/>
        </p:spPr>
      </p:sp>
      <p:sp>
        <p:nvSpPr>
          <p:cNvPr id="23" name="Text 21"/>
          <p:cNvSpPr/>
          <p:nvPr/>
        </p:nvSpPr>
        <p:spPr>
          <a:xfrm>
            <a:off x="685800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低評価率(~5点)</a:t>
            </a:r>
            <a:endParaRPr lang="en-US" sz="1000" dirty="0"/>
          </a:p>
        </p:txBody>
      </p:sp>
      <p:sp>
        <p:nvSpPr>
          <p:cNvPr id="24" name="Text 22"/>
          <p:cNvSpPr/>
          <p:nvPr/>
        </p:nvSpPr>
        <p:spPr>
          <a:xfrm>
            <a:off x="6858000" y="1371600"/>
            <a:ext cx="201168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21.3%</a:t>
            </a:r>
            <a:endParaRPr lang="en-US" sz="3200" dirty="0"/>
          </a:p>
        </p:txBody>
      </p:sp>
      <p:sp>
        <p:nvSpPr>
          <p:cNvPr id="25" name="Shape 23"/>
          <p:cNvSpPr/>
          <p:nvPr/>
        </p:nvSpPr>
        <p:spPr>
          <a:xfrm>
            <a:off x="274320" y="2240280"/>
            <a:ext cx="859536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Text 24"/>
          <p:cNvSpPr/>
          <p:nvPr/>
        </p:nvSpPr>
        <p:spPr>
          <a:xfrm>
            <a:off x="457200" y="2331720"/>
            <a:ext cx="7315200" cy="274320"/>
          </a:xfrm>
          <a:prstGeom prst="rect">
            <a:avLst/>
          </a:prstGeom>
          <a:noFill/>
          <a:ln/>
        </p:spPr>
        <p:txBody>
          <a:bodyPr wrap="square" rtlCol="0" anchor="ctr"/>
          <a:lstStyle/>
          <a:p>
            <a:pPr indent="0" marL="0">
              <a:buNone/>
            </a:pPr>
            <a:r>
              <a:rPr lang="en-US" sz="1100" b="1" dirty="0">
                <a:solidFill>
                  <a:srgbClr val="1A2744"/>
                </a:solidFill>
                <a:latin typeface="Arial" pitchFamily="34" charset="0"/>
                <a:ea typeface="Arial" pitchFamily="34" charset="-122"/>
                <a:cs typeface="Arial" pitchFamily="34" charset="-120"/>
              </a:rPr>
              <a:t>主要発見事項</a:t>
            </a:r>
            <a:endParaRPr lang="en-US" sz="1100" dirty="0"/>
          </a:p>
        </p:txBody>
      </p:sp>
      <p:sp>
        <p:nvSpPr>
          <p:cNvPr id="27" name="Text 25"/>
          <p:cNvSpPr/>
          <p:nvPr/>
        </p:nvSpPr>
        <p:spPr>
          <a:xfrm>
            <a:off x="457200" y="2697480"/>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全体平均スコア 7.15/10 — 概ね良好ですが改善の余地があります</a:t>
            </a:r>
            <a:endParaRPr lang="en-US" sz="1000" dirty="0"/>
          </a:p>
        </p:txBody>
      </p:sp>
      <p:sp>
        <p:nvSpPr>
          <p:cNvPr id="28" name="Text 26"/>
          <p:cNvSpPr/>
          <p:nvPr/>
        </p:nvSpPr>
        <p:spPr>
          <a:xfrm>
            <a:off x="457200" y="3099816"/>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高評価(8点以上)が全体の59.6%を占めています</a:t>
            </a:r>
            <a:endParaRPr lang="en-US" sz="1000" dirty="0"/>
          </a:p>
        </p:txBody>
      </p:sp>
      <p:sp>
        <p:nvSpPr>
          <p:cNvPr id="29" name="Text 27"/>
          <p:cNvSpPr/>
          <p:nvPr/>
        </p:nvSpPr>
        <p:spPr>
          <a:xfrm>
            <a:off x="457200" y="3502152"/>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低評価(5点以下)は21.3%で早急な対応が必要です</a:t>
            </a:r>
            <a:endParaRPr lang="en-US" sz="1000" dirty="0"/>
          </a:p>
        </p:txBody>
      </p:sp>
      <p:sp>
        <p:nvSpPr>
          <p:cNvPr id="30" name="Text 28"/>
          <p:cNvSpPr/>
          <p:nvPr/>
        </p:nvSpPr>
        <p:spPr>
          <a:xfrm>
            <a:off x="457200" y="3904488"/>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対象サイト: 楽天トラベル / Google / Agoda / じゃらん / Booking.com</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各予約サイト・口コミサイト別スコア詳細</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
        <p:nvSpPr>
          <p:cNvPr id="9" name="Shape 7"/>
          <p:cNvSpPr/>
          <p:nvPr/>
        </p:nvSpPr>
        <p:spPr>
          <a:xfrm>
            <a:off x="274320" y="914400"/>
            <a:ext cx="2286000" cy="292608"/>
          </a:xfrm>
          <a:prstGeom prst="rect">
            <a:avLst/>
          </a:prstGeom>
          <a:solidFill>
            <a:srgbClr val="1A2744"/>
          </a:solidFill>
          <a:ln/>
        </p:spPr>
      </p:sp>
      <p:sp>
        <p:nvSpPr>
          <p:cNvPr id="10" name="Text 8"/>
          <p:cNvSpPr/>
          <p:nvPr/>
        </p:nvSpPr>
        <p:spPr>
          <a:xfrm>
            <a:off x="274320" y="914400"/>
            <a:ext cx="22860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p>
        </p:txBody>
      </p:sp>
      <p:sp>
        <p:nvSpPr>
          <p:cNvPr id="11" name="Shape 9"/>
          <p:cNvSpPr/>
          <p:nvPr/>
        </p:nvSpPr>
        <p:spPr>
          <a:xfrm>
            <a:off x="2560320" y="914400"/>
            <a:ext cx="1097280" cy="292608"/>
          </a:xfrm>
          <a:prstGeom prst="rect">
            <a:avLst/>
          </a:prstGeom>
          <a:solidFill>
            <a:srgbClr val="1A2744"/>
          </a:solidFill>
          <a:ln/>
        </p:spPr>
      </p:sp>
      <p:sp>
        <p:nvSpPr>
          <p:cNvPr id="12" name="Text 10"/>
          <p:cNvSpPr/>
          <p:nvPr/>
        </p:nvSpPr>
        <p:spPr>
          <a:xfrm>
            <a:off x="2560320" y="914400"/>
            <a:ext cx="109728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p>
        </p:txBody>
      </p:sp>
      <p:sp>
        <p:nvSpPr>
          <p:cNvPr id="13" name="Shape 11"/>
          <p:cNvSpPr/>
          <p:nvPr/>
        </p:nvSpPr>
        <p:spPr>
          <a:xfrm>
            <a:off x="3657600" y="914400"/>
            <a:ext cx="1371600" cy="292608"/>
          </a:xfrm>
          <a:prstGeom prst="rect">
            <a:avLst/>
          </a:prstGeom>
          <a:solidFill>
            <a:srgbClr val="1A2744"/>
          </a:solidFill>
          <a:ln/>
        </p:spPr>
      </p:sp>
      <p:sp>
        <p:nvSpPr>
          <p:cNvPr id="14" name="Text 12"/>
          <p:cNvSpPr/>
          <p:nvPr/>
        </p:nvSpPr>
        <p:spPr>
          <a:xfrm>
            <a:off x="3657600" y="914400"/>
            <a:ext cx="13716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平均評価</a:t>
            </a:r>
            <a:endParaRPr lang="en-US" sz="900" dirty="0"/>
          </a:p>
        </p:txBody>
      </p:sp>
      <p:sp>
        <p:nvSpPr>
          <p:cNvPr id="15" name="Shape 13"/>
          <p:cNvSpPr/>
          <p:nvPr/>
        </p:nvSpPr>
        <p:spPr>
          <a:xfrm>
            <a:off x="5029200" y="914400"/>
            <a:ext cx="1371600" cy="292608"/>
          </a:xfrm>
          <a:prstGeom prst="rect">
            <a:avLst/>
          </a:prstGeom>
          <a:solidFill>
            <a:srgbClr val="1A2744"/>
          </a:solidFill>
          <a:ln/>
        </p:spPr>
      </p:sp>
      <p:sp>
        <p:nvSpPr>
          <p:cNvPr id="16" name="Text 14"/>
          <p:cNvSpPr/>
          <p:nvPr/>
        </p:nvSpPr>
        <p:spPr>
          <a:xfrm>
            <a:off x="5029200" y="914400"/>
            <a:ext cx="13716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10点換算</a:t>
            </a:r>
            <a:endParaRPr lang="en-US" sz="900" dirty="0"/>
          </a:p>
        </p:txBody>
      </p:sp>
      <p:sp>
        <p:nvSpPr>
          <p:cNvPr id="17" name="Shape 15"/>
          <p:cNvSpPr/>
          <p:nvPr/>
        </p:nvSpPr>
        <p:spPr>
          <a:xfrm>
            <a:off x="6400800" y="914400"/>
            <a:ext cx="1828800" cy="292608"/>
          </a:xfrm>
          <a:prstGeom prst="rect">
            <a:avLst/>
          </a:prstGeom>
          <a:solidFill>
            <a:srgbClr val="1A2744"/>
          </a:solidFill>
          <a:ln/>
        </p:spPr>
      </p:sp>
      <p:sp>
        <p:nvSpPr>
          <p:cNvPr id="18" name="Text 16"/>
          <p:cNvSpPr/>
          <p:nvPr/>
        </p:nvSpPr>
        <p:spPr>
          <a:xfrm>
            <a:off x="6400800" y="914400"/>
            <a:ext cx="18288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評価判定</a:t>
            </a:r>
            <a:endParaRPr lang="en-US" sz="900" dirty="0"/>
          </a:p>
        </p:txBody>
      </p:sp>
      <p:sp>
        <p:nvSpPr>
          <p:cNvPr id="19" name="Shape 17"/>
          <p:cNvSpPr/>
          <p:nvPr/>
        </p:nvSpPr>
        <p:spPr>
          <a:xfrm>
            <a:off x="274320" y="1207008"/>
            <a:ext cx="2286000" cy="310896"/>
          </a:xfrm>
          <a:prstGeom prst="rect">
            <a:avLst/>
          </a:prstGeom>
          <a:solidFill>
            <a:srgbClr val="FFFFFF"/>
          </a:solidFill>
          <a:ln/>
        </p:spPr>
      </p:sp>
      <p:sp>
        <p:nvSpPr>
          <p:cNvPr id="20" name="Shape 18"/>
          <p:cNvSpPr/>
          <p:nvPr/>
        </p:nvSpPr>
        <p:spPr>
          <a:xfrm>
            <a:off x="2560320" y="1207008"/>
            <a:ext cx="1097280" cy="310896"/>
          </a:xfrm>
          <a:prstGeom prst="rect">
            <a:avLst/>
          </a:prstGeom>
          <a:solidFill>
            <a:srgbClr val="FFFFFF"/>
          </a:solidFill>
          <a:ln/>
        </p:spPr>
      </p:sp>
      <p:sp>
        <p:nvSpPr>
          <p:cNvPr id="21" name="Shape 19"/>
          <p:cNvSpPr/>
          <p:nvPr/>
        </p:nvSpPr>
        <p:spPr>
          <a:xfrm>
            <a:off x="3657600" y="1207008"/>
            <a:ext cx="1371600" cy="310896"/>
          </a:xfrm>
          <a:prstGeom prst="rect">
            <a:avLst/>
          </a:prstGeom>
          <a:solidFill>
            <a:srgbClr val="FFFFFF"/>
          </a:solidFill>
          <a:ln/>
        </p:spPr>
      </p:sp>
      <p:sp>
        <p:nvSpPr>
          <p:cNvPr id="22" name="Shape 20"/>
          <p:cNvSpPr/>
          <p:nvPr/>
        </p:nvSpPr>
        <p:spPr>
          <a:xfrm>
            <a:off x="5029200" y="1207008"/>
            <a:ext cx="1371600" cy="310896"/>
          </a:xfrm>
          <a:prstGeom prst="rect">
            <a:avLst/>
          </a:prstGeom>
          <a:solidFill>
            <a:srgbClr val="FFFFFF"/>
          </a:solidFill>
          <a:ln/>
        </p:spPr>
      </p:sp>
      <p:sp>
        <p:nvSpPr>
          <p:cNvPr id="23" name="Shape 21"/>
          <p:cNvSpPr/>
          <p:nvPr/>
        </p:nvSpPr>
        <p:spPr>
          <a:xfrm>
            <a:off x="6400800" y="1207008"/>
            <a:ext cx="1828800" cy="310896"/>
          </a:xfrm>
          <a:prstGeom prst="rect">
            <a:avLst/>
          </a:prstGeom>
          <a:solidFill>
            <a:srgbClr val="FFFFFF"/>
          </a:solidFill>
          <a:ln/>
        </p:spPr>
      </p:sp>
      <p:sp>
        <p:nvSpPr>
          <p:cNvPr id="24" name="Text 22"/>
          <p:cNvSpPr/>
          <p:nvPr/>
        </p:nvSpPr>
        <p:spPr>
          <a:xfrm>
            <a:off x="274320" y="1207008"/>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楽天トラベル</a:t>
            </a:r>
            <a:endParaRPr lang="en-US" sz="900" dirty="0"/>
          </a:p>
        </p:txBody>
      </p:sp>
      <p:sp>
        <p:nvSpPr>
          <p:cNvPr id="25" name="Text 23"/>
          <p:cNvSpPr/>
          <p:nvPr/>
        </p:nvSpPr>
        <p:spPr>
          <a:xfrm>
            <a:off x="2560320" y="1207008"/>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17</a:t>
            </a:r>
            <a:endParaRPr lang="en-US" sz="900" dirty="0"/>
          </a:p>
        </p:txBody>
      </p:sp>
      <p:sp>
        <p:nvSpPr>
          <p:cNvPr id="26" name="Text 24"/>
          <p:cNvSpPr/>
          <p:nvPr/>
        </p:nvSpPr>
        <p:spPr>
          <a:xfrm>
            <a:off x="3657600" y="120700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3.53/5</a:t>
            </a:r>
            <a:endParaRPr lang="en-US" sz="900" dirty="0"/>
          </a:p>
        </p:txBody>
      </p:sp>
      <p:sp>
        <p:nvSpPr>
          <p:cNvPr id="27" name="Text 25"/>
          <p:cNvSpPr/>
          <p:nvPr/>
        </p:nvSpPr>
        <p:spPr>
          <a:xfrm>
            <a:off x="5029200" y="120700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7.06/10</a:t>
            </a:r>
            <a:endParaRPr lang="en-US" sz="900" dirty="0"/>
          </a:p>
        </p:txBody>
      </p:sp>
      <p:sp>
        <p:nvSpPr>
          <p:cNvPr id="28" name="Text 26"/>
          <p:cNvSpPr/>
          <p:nvPr/>
        </p:nvSpPr>
        <p:spPr>
          <a:xfrm>
            <a:off x="6400800" y="1207008"/>
            <a:ext cx="1828800" cy="310896"/>
          </a:xfrm>
          <a:prstGeom prst="rect">
            <a:avLst/>
          </a:prstGeom>
          <a:noFill/>
          <a:ln/>
        </p:spPr>
        <p:txBody>
          <a:bodyPr wrap="square" lIns="0" tIns="0" rIns="0" bIns="0" rtlCol="0" anchor="ctr"/>
          <a:lstStyle/>
          <a:p>
            <a:pPr algn="ctr" indent="0" marL="0">
              <a:buNone/>
            </a:pPr>
            <a:r>
              <a:rPr lang="en-US" sz="900" b="1" dirty="0">
                <a:solidFill>
                  <a:srgbClr val="EA580C"/>
                </a:solidFill>
                <a:latin typeface="Arial" pitchFamily="34" charset="0"/>
                <a:ea typeface="Arial" pitchFamily="34" charset="-122"/>
                <a:cs typeface="Arial" pitchFamily="34" charset="-120"/>
              </a:rPr>
              <a:t>要改善</a:t>
            </a:r>
            <a:endParaRPr lang="en-US" sz="900" dirty="0"/>
          </a:p>
        </p:txBody>
      </p:sp>
      <p:sp>
        <p:nvSpPr>
          <p:cNvPr id="29" name="Shape 27"/>
          <p:cNvSpPr/>
          <p:nvPr/>
        </p:nvSpPr>
        <p:spPr>
          <a:xfrm>
            <a:off x="274320" y="1536192"/>
            <a:ext cx="2286000" cy="310896"/>
          </a:xfrm>
          <a:prstGeom prst="rect">
            <a:avLst/>
          </a:prstGeom>
          <a:solidFill>
            <a:srgbClr val="E8EFF8"/>
          </a:solidFill>
          <a:ln/>
        </p:spPr>
      </p:sp>
      <p:sp>
        <p:nvSpPr>
          <p:cNvPr id="30" name="Shape 28"/>
          <p:cNvSpPr/>
          <p:nvPr/>
        </p:nvSpPr>
        <p:spPr>
          <a:xfrm>
            <a:off x="2560320" y="1536192"/>
            <a:ext cx="1097280" cy="310896"/>
          </a:xfrm>
          <a:prstGeom prst="rect">
            <a:avLst/>
          </a:prstGeom>
          <a:solidFill>
            <a:srgbClr val="E8EFF8"/>
          </a:solidFill>
          <a:ln/>
        </p:spPr>
      </p:sp>
      <p:sp>
        <p:nvSpPr>
          <p:cNvPr id="31" name="Shape 29"/>
          <p:cNvSpPr/>
          <p:nvPr/>
        </p:nvSpPr>
        <p:spPr>
          <a:xfrm>
            <a:off x="3657600" y="1536192"/>
            <a:ext cx="1371600" cy="310896"/>
          </a:xfrm>
          <a:prstGeom prst="rect">
            <a:avLst/>
          </a:prstGeom>
          <a:solidFill>
            <a:srgbClr val="E8EFF8"/>
          </a:solidFill>
          <a:ln/>
        </p:spPr>
      </p:sp>
      <p:sp>
        <p:nvSpPr>
          <p:cNvPr id="32" name="Shape 30"/>
          <p:cNvSpPr/>
          <p:nvPr/>
        </p:nvSpPr>
        <p:spPr>
          <a:xfrm>
            <a:off x="5029200" y="1536192"/>
            <a:ext cx="1371600" cy="310896"/>
          </a:xfrm>
          <a:prstGeom prst="rect">
            <a:avLst/>
          </a:prstGeom>
          <a:solidFill>
            <a:srgbClr val="E8EFF8"/>
          </a:solidFill>
          <a:ln/>
        </p:spPr>
      </p:sp>
      <p:sp>
        <p:nvSpPr>
          <p:cNvPr id="33" name="Shape 31"/>
          <p:cNvSpPr/>
          <p:nvPr/>
        </p:nvSpPr>
        <p:spPr>
          <a:xfrm>
            <a:off x="6400800" y="1536192"/>
            <a:ext cx="1828800" cy="310896"/>
          </a:xfrm>
          <a:prstGeom prst="rect">
            <a:avLst/>
          </a:prstGeom>
          <a:solidFill>
            <a:srgbClr val="E8EFF8"/>
          </a:solidFill>
          <a:ln/>
        </p:spPr>
      </p:sp>
      <p:sp>
        <p:nvSpPr>
          <p:cNvPr id="34" name="Text 32"/>
          <p:cNvSpPr/>
          <p:nvPr/>
        </p:nvSpPr>
        <p:spPr>
          <a:xfrm>
            <a:off x="274320" y="1536192"/>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Google</a:t>
            </a:r>
            <a:endParaRPr lang="en-US" sz="900" dirty="0"/>
          </a:p>
        </p:txBody>
      </p:sp>
      <p:sp>
        <p:nvSpPr>
          <p:cNvPr id="35" name="Text 33"/>
          <p:cNvSpPr/>
          <p:nvPr/>
        </p:nvSpPr>
        <p:spPr>
          <a:xfrm>
            <a:off x="2560320" y="1536192"/>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12</a:t>
            </a:r>
            <a:endParaRPr lang="en-US" sz="900" dirty="0"/>
          </a:p>
        </p:txBody>
      </p:sp>
      <p:sp>
        <p:nvSpPr>
          <p:cNvPr id="36" name="Text 34"/>
          <p:cNvSpPr/>
          <p:nvPr/>
        </p:nvSpPr>
        <p:spPr>
          <a:xfrm>
            <a:off x="3657600" y="1536192"/>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3.08/5</a:t>
            </a:r>
            <a:endParaRPr lang="en-US" sz="900" dirty="0"/>
          </a:p>
        </p:txBody>
      </p:sp>
      <p:sp>
        <p:nvSpPr>
          <p:cNvPr id="37" name="Text 35"/>
          <p:cNvSpPr/>
          <p:nvPr/>
        </p:nvSpPr>
        <p:spPr>
          <a:xfrm>
            <a:off x="5029200" y="1536192"/>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6.17/10</a:t>
            </a:r>
            <a:endParaRPr lang="en-US" sz="900" dirty="0"/>
          </a:p>
        </p:txBody>
      </p:sp>
      <p:sp>
        <p:nvSpPr>
          <p:cNvPr id="38" name="Text 36"/>
          <p:cNvSpPr/>
          <p:nvPr/>
        </p:nvSpPr>
        <p:spPr>
          <a:xfrm>
            <a:off x="6400800" y="1536192"/>
            <a:ext cx="1828800" cy="310896"/>
          </a:xfrm>
          <a:prstGeom prst="rect">
            <a:avLst/>
          </a:prstGeom>
          <a:noFill/>
          <a:ln/>
        </p:spPr>
        <p:txBody>
          <a:bodyPr wrap="square" lIns="0" tIns="0" rIns="0" bIns="0" rtlCol="0" anchor="ctr"/>
          <a:lstStyle/>
          <a:p>
            <a:pPr algn="ctr" indent="0" marL="0">
              <a:buNone/>
            </a:pPr>
            <a:r>
              <a:rPr lang="en-US" sz="900" b="1" dirty="0">
                <a:solidFill>
                  <a:srgbClr val="DC2626"/>
                </a:solidFill>
                <a:latin typeface="Arial" pitchFamily="34" charset="0"/>
                <a:ea typeface="Arial" pitchFamily="34" charset="-122"/>
                <a:cs typeface="Arial" pitchFamily="34" charset="-120"/>
              </a:rPr>
              <a:t>要注意</a:t>
            </a:r>
            <a:endParaRPr lang="en-US" sz="900" dirty="0"/>
          </a:p>
        </p:txBody>
      </p:sp>
      <p:sp>
        <p:nvSpPr>
          <p:cNvPr id="39" name="Shape 37"/>
          <p:cNvSpPr/>
          <p:nvPr/>
        </p:nvSpPr>
        <p:spPr>
          <a:xfrm>
            <a:off x="274320" y="1865376"/>
            <a:ext cx="2286000" cy="310896"/>
          </a:xfrm>
          <a:prstGeom prst="rect">
            <a:avLst/>
          </a:prstGeom>
          <a:solidFill>
            <a:srgbClr val="FFFFFF"/>
          </a:solidFill>
          <a:ln/>
        </p:spPr>
      </p:sp>
      <p:sp>
        <p:nvSpPr>
          <p:cNvPr id="40" name="Shape 38"/>
          <p:cNvSpPr/>
          <p:nvPr/>
        </p:nvSpPr>
        <p:spPr>
          <a:xfrm>
            <a:off x="2560320" y="1865376"/>
            <a:ext cx="1097280" cy="310896"/>
          </a:xfrm>
          <a:prstGeom prst="rect">
            <a:avLst/>
          </a:prstGeom>
          <a:solidFill>
            <a:srgbClr val="FFFFFF"/>
          </a:solidFill>
          <a:ln/>
        </p:spPr>
      </p:sp>
      <p:sp>
        <p:nvSpPr>
          <p:cNvPr id="41" name="Shape 39"/>
          <p:cNvSpPr/>
          <p:nvPr/>
        </p:nvSpPr>
        <p:spPr>
          <a:xfrm>
            <a:off x="3657600" y="1865376"/>
            <a:ext cx="1371600" cy="310896"/>
          </a:xfrm>
          <a:prstGeom prst="rect">
            <a:avLst/>
          </a:prstGeom>
          <a:solidFill>
            <a:srgbClr val="FFFFFF"/>
          </a:solidFill>
          <a:ln/>
        </p:spPr>
      </p:sp>
      <p:sp>
        <p:nvSpPr>
          <p:cNvPr id="42" name="Shape 40"/>
          <p:cNvSpPr/>
          <p:nvPr/>
        </p:nvSpPr>
        <p:spPr>
          <a:xfrm>
            <a:off x="5029200" y="1865376"/>
            <a:ext cx="1371600" cy="310896"/>
          </a:xfrm>
          <a:prstGeom prst="rect">
            <a:avLst/>
          </a:prstGeom>
          <a:solidFill>
            <a:srgbClr val="FFFFFF"/>
          </a:solidFill>
          <a:ln/>
        </p:spPr>
      </p:sp>
      <p:sp>
        <p:nvSpPr>
          <p:cNvPr id="43" name="Shape 41"/>
          <p:cNvSpPr/>
          <p:nvPr/>
        </p:nvSpPr>
        <p:spPr>
          <a:xfrm>
            <a:off x="6400800" y="1865376"/>
            <a:ext cx="1828800" cy="310896"/>
          </a:xfrm>
          <a:prstGeom prst="rect">
            <a:avLst/>
          </a:prstGeom>
          <a:solidFill>
            <a:srgbClr val="FFFFFF"/>
          </a:solidFill>
          <a:ln/>
        </p:spPr>
      </p:sp>
      <p:sp>
        <p:nvSpPr>
          <p:cNvPr id="44" name="Text 42"/>
          <p:cNvSpPr/>
          <p:nvPr/>
        </p:nvSpPr>
        <p:spPr>
          <a:xfrm>
            <a:off x="274320" y="1865376"/>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Agoda</a:t>
            </a:r>
            <a:endParaRPr lang="en-US" sz="900" dirty="0"/>
          </a:p>
        </p:txBody>
      </p:sp>
      <p:sp>
        <p:nvSpPr>
          <p:cNvPr id="45" name="Text 43"/>
          <p:cNvSpPr/>
          <p:nvPr/>
        </p:nvSpPr>
        <p:spPr>
          <a:xfrm>
            <a:off x="2560320" y="1865376"/>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a:t>
            </a:r>
            <a:endParaRPr lang="en-US" sz="900" dirty="0"/>
          </a:p>
        </p:txBody>
      </p:sp>
      <p:sp>
        <p:nvSpPr>
          <p:cNvPr id="46" name="Text 44"/>
          <p:cNvSpPr/>
          <p:nvPr/>
        </p:nvSpPr>
        <p:spPr>
          <a:xfrm>
            <a:off x="3657600" y="1865376"/>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8.67/10</a:t>
            </a:r>
            <a:endParaRPr lang="en-US" sz="900" dirty="0"/>
          </a:p>
        </p:txBody>
      </p:sp>
      <p:sp>
        <p:nvSpPr>
          <p:cNvPr id="47" name="Text 45"/>
          <p:cNvSpPr/>
          <p:nvPr/>
        </p:nvSpPr>
        <p:spPr>
          <a:xfrm>
            <a:off x="5029200" y="1865376"/>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8.67/10</a:t>
            </a:r>
            <a:endParaRPr lang="en-US" sz="900" dirty="0"/>
          </a:p>
        </p:txBody>
      </p:sp>
      <p:sp>
        <p:nvSpPr>
          <p:cNvPr id="48" name="Text 46"/>
          <p:cNvSpPr/>
          <p:nvPr/>
        </p:nvSpPr>
        <p:spPr>
          <a:xfrm>
            <a:off x="6400800" y="1865376"/>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49" name="Shape 47"/>
          <p:cNvSpPr/>
          <p:nvPr/>
        </p:nvSpPr>
        <p:spPr>
          <a:xfrm>
            <a:off x="274320" y="2194560"/>
            <a:ext cx="2286000" cy="310896"/>
          </a:xfrm>
          <a:prstGeom prst="rect">
            <a:avLst/>
          </a:prstGeom>
          <a:solidFill>
            <a:srgbClr val="E8EFF8"/>
          </a:solidFill>
          <a:ln/>
        </p:spPr>
      </p:sp>
      <p:sp>
        <p:nvSpPr>
          <p:cNvPr id="50" name="Shape 48"/>
          <p:cNvSpPr/>
          <p:nvPr/>
        </p:nvSpPr>
        <p:spPr>
          <a:xfrm>
            <a:off x="2560320" y="2194560"/>
            <a:ext cx="1097280" cy="310896"/>
          </a:xfrm>
          <a:prstGeom prst="rect">
            <a:avLst/>
          </a:prstGeom>
          <a:solidFill>
            <a:srgbClr val="E8EFF8"/>
          </a:solidFill>
          <a:ln/>
        </p:spPr>
      </p:sp>
      <p:sp>
        <p:nvSpPr>
          <p:cNvPr id="51" name="Shape 49"/>
          <p:cNvSpPr/>
          <p:nvPr/>
        </p:nvSpPr>
        <p:spPr>
          <a:xfrm>
            <a:off x="3657600" y="2194560"/>
            <a:ext cx="1371600" cy="310896"/>
          </a:xfrm>
          <a:prstGeom prst="rect">
            <a:avLst/>
          </a:prstGeom>
          <a:solidFill>
            <a:srgbClr val="E8EFF8"/>
          </a:solidFill>
          <a:ln/>
        </p:spPr>
      </p:sp>
      <p:sp>
        <p:nvSpPr>
          <p:cNvPr id="52" name="Shape 50"/>
          <p:cNvSpPr/>
          <p:nvPr/>
        </p:nvSpPr>
        <p:spPr>
          <a:xfrm>
            <a:off x="5029200" y="2194560"/>
            <a:ext cx="1371600" cy="310896"/>
          </a:xfrm>
          <a:prstGeom prst="rect">
            <a:avLst/>
          </a:prstGeom>
          <a:solidFill>
            <a:srgbClr val="E8EFF8"/>
          </a:solidFill>
          <a:ln/>
        </p:spPr>
      </p:sp>
      <p:sp>
        <p:nvSpPr>
          <p:cNvPr id="53" name="Shape 51"/>
          <p:cNvSpPr/>
          <p:nvPr/>
        </p:nvSpPr>
        <p:spPr>
          <a:xfrm>
            <a:off x="6400800" y="2194560"/>
            <a:ext cx="1828800" cy="310896"/>
          </a:xfrm>
          <a:prstGeom prst="rect">
            <a:avLst/>
          </a:prstGeom>
          <a:solidFill>
            <a:srgbClr val="E8EFF8"/>
          </a:solidFill>
          <a:ln/>
        </p:spPr>
      </p:sp>
      <p:sp>
        <p:nvSpPr>
          <p:cNvPr id="54" name="Text 52"/>
          <p:cNvSpPr/>
          <p:nvPr/>
        </p:nvSpPr>
        <p:spPr>
          <a:xfrm>
            <a:off x="274320" y="2194560"/>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じゃらん</a:t>
            </a:r>
            <a:endParaRPr lang="en-US" sz="900" dirty="0"/>
          </a:p>
        </p:txBody>
      </p:sp>
      <p:sp>
        <p:nvSpPr>
          <p:cNvPr id="55" name="Text 53"/>
          <p:cNvSpPr/>
          <p:nvPr/>
        </p:nvSpPr>
        <p:spPr>
          <a:xfrm>
            <a:off x="2560320" y="2194560"/>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a:t>
            </a:r>
            <a:endParaRPr lang="en-US" sz="900" dirty="0"/>
          </a:p>
        </p:txBody>
      </p:sp>
      <p:sp>
        <p:nvSpPr>
          <p:cNvPr id="56" name="Text 54"/>
          <p:cNvSpPr/>
          <p:nvPr/>
        </p:nvSpPr>
        <p:spPr>
          <a:xfrm>
            <a:off x="3657600" y="2194560"/>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3.43/5</a:t>
            </a:r>
            <a:endParaRPr lang="en-US" sz="900" dirty="0"/>
          </a:p>
        </p:txBody>
      </p:sp>
      <p:sp>
        <p:nvSpPr>
          <p:cNvPr id="57" name="Text 55"/>
          <p:cNvSpPr/>
          <p:nvPr/>
        </p:nvSpPr>
        <p:spPr>
          <a:xfrm>
            <a:off x="5029200" y="2194560"/>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6.86/10</a:t>
            </a:r>
            <a:endParaRPr lang="en-US" sz="900" dirty="0"/>
          </a:p>
        </p:txBody>
      </p:sp>
      <p:sp>
        <p:nvSpPr>
          <p:cNvPr id="58" name="Text 56"/>
          <p:cNvSpPr/>
          <p:nvPr/>
        </p:nvSpPr>
        <p:spPr>
          <a:xfrm>
            <a:off x="6400800" y="2194560"/>
            <a:ext cx="1828800" cy="310896"/>
          </a:xfrm>
          <a:prstGeom prst="rect">
            <a:avLst/>
          </a:prstGeom>
          <a:noFill/>
          <a:ln/>
        </p:spPr>
        <p:txBody>
          <a:bodyPr wrap="square" lIns="0" tIns="0" rIns="0" bIns="0" rtlCol="0" anchor="ctr"/>
          <a:lstStyle/>
          <a:p>
            <a:pPr algn="ctr" indent="0" marL="0">
              <a:buNone/>
            </a:pPr>
            <a:r>
              <a:rPr lang="en-US" sz="900" b="1" dirty="0">
                <a:solidFill>
                  <a:srgbClr val="EA580C"/>
                </a:solidFill>
                <a:latin typeface="Arial" pitchFamily="34" charset="0"/>
                <a:ea typeface="Arial" pitchFamily="34" charset="-122"/>
                <a:cs typeface="Arial" pitchFamily="34" charset="-120"/>
              </a:rPr>
              <a:t>要改善</a:t>
            </a:r>
            <a:endParaRPr lang="en-US" sz="900" dirty="0"/>
          </a:p>
        </p:txBody>
      </p:sp>
      <p:sp>
        <p:nvSpPr>
          <p:cNvPr id="59" name="Shape 57"/>
          <p:cNvSpPr/>
          <p:nvPr/>
        </p:nvSpPr>
        <p:spPr>
          <a:xfrm>
            <a:off x="274320" y="2523744"/>
            <a:ext cx="2286000" cy="310896"/>
          </a:xfrm>
          <a:prstGeom prst="rect">
            <a:avLst/>
          </a:prstGeom>
          <a:solidFill>
            <a:srgbClr val="FFFFFF"/>
          </a:solidFill>
          <a:ln/>
        </p:spPr>
      </p:sp>
      <p:sp>
        <p:nvSpPr>
          <p:cNvPr id="60" name="Shape 58"/>
          <p:cNvSpPr/>
          <p:nvPr/>
        </p:nvSpPr>
        <p:spPr>
          <a:xfrm>
            <a:off x="2560320" y="2523744"/>
            <a:ext cx="1097280" cy="310896"/>
          </a:xfrm>
          <a:prstGeom prst="rect">
            <a:avLst/>
          </a:prstGeom>
          <a:solidFill>
            <a:srgbClr val="FFFFFF"/>
          </a:solidFill>
          <a:ln/>
        </p:spPr>
      </p:sp>
      <p:sp>
        <p:nvSpPr>
          <p:cNvPr id="61" name="Shape 59"/>
          <p:cNvSpPr/>
          <p:nvPr/>
        </p:nvSpPr>
        <p:spPr>
          <a:xfrm>
            <a:off x="3657600" y="2523744"/>
            <a:ext cx="1371600" cy="310896"/>
          </a:xfrm>
          <a:prstGeom prst="rect">
            <a:avLst/>
          </a:prstGeom>
          <a:solidFill>
            <a:srgbClr val="FFFFFF"/>
          </a:solidFill>
          <a:ln/>
        </p:spPr>
      </p:sp>
      <p:sp>
        <p:nvSpPr>
          <p:cNvPr id="62" name="Shape 60"/>
          <p:cNvSpPr/>
          <p:nvPr/>
        </p:nvSpPr>
        <p:spPr>
          <a:xfrm>
            <a:off x="5029200" y="2523744"/>
            <a:ext cx="1371600" cy="310896"/>
          </a:xfrm>
          <a:prstGeom prst="rect">
            <a:avLst/>
          </a:prstGeom>
          <a:solidFill>
            <a:srgbClr val="FFFFFF"/>
          </a:solidFill>
          <a:ln/>
        </p:spPr>
      </p:sp>
      <p:sp>
        <p:nvSpPr>
          <p:cNvPr id="63" name="Shape 61"/>
          <p:cNvSpPr/>
          <p:nvPr/>
        </p:nvSpPr>
        <p:spPr>
          <a:xfrm>
            <a:off x="6400800" y="2523744"/>
            <a:ext cx="1828800" cy="310896"/>
          </a:xfrm>
          <a:prstGeom prst="rect">
            <a:avLst/>
          </a:prstGeom>
          <a:solidFill>
            <a:srgbClr val="FFFFFF"/>
          </a:solidFill>
          <a:ln/>
        </p:spPr>
      </p:sp>
      <p:sp>
        <p:nvSpPr>
          <p:cNvPr id="64" name="Text 62"/>
          <p:cNvSpPr/>
          <p:nvPr/>
        </p:nvSpPr>
        <p:spPr>
          <a:xfrm>
            <a:off x="274320" y="2523744"/>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Booking.com</a:t>
            </a:r>
            <a:endParaRPr lang="en-US" sz="900" dirty="0"/>
          </a:p>
        </p:txBody>
      </p:sp>
      <p:sp>
        <p:nvSpPr>
          <p:cNvPr id="65" name="Text 63"/>
          <p:cNvSpPr/>
          <p:nvPr/>
        </p:nvSpPr>
        <p:spPr>
          <a:xfrm>
            <a:off x="2560320" y="2523744"/>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2</a:t>
            </a:r>
            <a:endParaRPr lang="en-US" sz="900" dirty="0"/>
          </a:p>
        </p:txBody>
      </p:sp>
      <p:sp>
        <p:nvSpPr>
          <p:cNvPr id="66" name="Text 64"/>
          <p:cNvSpPr/>
          <p:nvPr/>
        </p:nvSpPr>
        <p:spPr>
          <a:xfrm>
            <a:off x="3657600" y="2523744"/>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8/10</a:t>
            </a:r>
            <a:endParaRPr lang="en-US" sz="900" dirty="0"/>
          </a:p>
        </p:txBody>
      </p:sp>
      <p:sp>
        <p:nvSpPr>
          <p:cNvPr id="67" name="Text 65"/>
          <p:cNvSpPr/>
          <p:nvPr/>
        </p:nvSpPr>
        <p:spPr>
          <a:xfrm>
            <a:off x="5029200" y="2523744"/>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8/10</a:t>
            </a:r>
            <a:endParaRPr lang="en-US" sz="900" dirty="0"/>
          </a:p>
        </p:txBody>
      </p:sp>
      <p:sp>
        <p:nvSpPr>
          <p:cNvPr id="68" name="Text 66"/>
          <p:cNvSpPr/>
          <p:nvPr/>
        </p:nvSpPr>
        <p:spPr>
          <a:xfrm>
            <a:off x="6400800" y="2523744"/>
            <a:ext cx="1828800" cy="310896"/>
          </a:xfrm>
          <a:prstGeom prst="rect">
            <a:avLst/>
          </a:prstGeom>
          <a:noFill/>
          <a:ln/>
        </p:spPr>
        <p:txBody>
          <a:bodyPr wrap="square" lIns="0" tIns="0" rIns="0" bIns="0" rtlCol="0" anchor="ctr"/>
          <a:lstStyle/>
          <a:p>
            <a:pPr algn="ctr" indent="0" marL="0">
              <a:buNone/>
            </a:pPr>
            <a:r>
              <a:rPr lang="en-US" sz="900" b="1" dirty="0">
                <a:solidFill>
                  <a:srgbClr val="3B7DD8"/>
                </a:solidFill>
                <a:latin typeface="Arial" pitchFamily="34" charset="0"/>
                <a:ea typeface="Arial" pitchFamily="34" charset="-122"/>
                <a:cs typeface="Arial" pitchFamily="34" charset="-120"/>
              </a:rPr>
              <a:t>概ね良好</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評価スコア分布</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10点換算スコア別件数・割合</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9" name="Text 7"/>
          <p:cNvSpPr/>
          <p:nvPr/>
        </p:nvSpPr>
        <p:spPr>
          <a:xfrm>
            <a:off x="274320" y="1005840"/>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Shape 8"/>
          <p:cNvSpPr/>
          <p:nvPr/>
        </p:nvSpPr>
        <p:spPr>
          <a:xfrm>
            <a:off x="1097280" y="1033272"/>
            <a:ext cx="4023360" cy="237744"/>
          </a:xfrm>
          <a:prstGeom prst="rect">
            <a:avLst/>
          </a:prstGeom>
          <a:solidFill>
            <a:srgbClr val="16A34A"/>
          </a:solidFill>
          <a:ln/>
        </p:spPr>
      </p:sp>
      <p:sp>
        <p:nvSpPr>
          <p:cNvPr id="11" name="Text 9"/>
          <p:cNvSpPr/>
          <p:nvPr/>
        </p:nvSpPr>
        <p:spPr>
          <a:xfrm>
            <a:off x="5212080" y="1005840"/>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11件 (23.4%)</a:t>
            </a:r>
            <a:endParaRPr lang="en-US" sz="900" dirty="0"/>
          </a:p>
        </p:txBody>
      </p:sp>
      <p:sp>
        <p:nvSpPr>
          <p:cNvPr id="12" name="Text 10"/>
          <p:cNvSpPr/>
          <p:nvPr/>
        </p:nvSpPr>
        <p:spPr>
          <a:xfrm>
            <a:off x="274320" y="1353312"/>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3" name="Shape 11"/>
          <p:cNvSpPr/>
          <p:nvPr/>
        </p:nvSpPr>
        <p:spPr>
          <a:xfrm>
            <a:off x="1097280" y="1380744"/>
            <a:ext cx="731520" cy="237744"/>
          </a:xfrm>
          <a:prstGeom prst="rect">
            <a:avLst/>
          </a:prstGeom>
          <a:solidFill>
            <a:srgbClr val="16A34A"/>
          </a:solidFill>
          <a:ln/>
        </p:spPr>
      </p:sp>
      <p:sp>
        <p:nvSpPr>
          <p:cNvPr id="14" name="Text 12"/>
          <p:cNvSpPr/>
          <p:nvPr/>
        </p:nvSpPr>
        <p:spPr>
          <a:xfrm>
            <a:off x="1920240" y="1353312"/>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2件 (4.3%)</a:t>
            </a:r>
            <a:endParaRPr lang="en-US" sz="900" dirty="0"/>
          </a:p>
        </p:txBody>
      </p:sp>
      <p:sp>
        <p:nvSpPr>
          <p:cNvPr id="15" name="Text 13"/>
          <p:cNvSpPr/>
          <p:nvPr/>
        </p:nvSpPr>
        <p:spPr>
          <a:xfrm>
            <a:off x="274320" y="1700784"/>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6" name="Shape 14"/>
          <p:cNvSpPr/>
          <p:nvPr/>
        </p:nvSpPr>
        <p:spPr>
          <a:xfrm>
            <a:off x="1097280" y="1728216"/>
            <a:ext cx="5486400" cy="237744"/>
          </a:xfrm>
          <a:prstGeom prst="rect">
            <a:avLst/>
          </a:prstGeom>
          <a:solidFill>
            <a:srgbClr val="16A34A"/>
          </a:solidFill>
          <a:ln/>
        </p:spPr>
      </p:sp>
      <p:sp>
        <p:nvSpPr>
          <p:cNvPr id="17" name="Text 15"/>
          <p:cNvSpPr/>
          <p:nvPr/>
        </p:nvSpPr>
        <p:spPr>
          <a:xfrm>
            <a:off x="6675120" y="1700784"/>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15件 (31.9%)</a:t>
            </a:r>
            <a:endParaRPr lang="en-US" sz="900" dirty="0"/>
          </a:p>
        </p:txBody>
      </p:sp>
      <p:sp>
        <p:nvSpPr>
          <p:cNvPr id="18" name="Text 16"/>
          <p:cNvSpPr/>
          <p:nvPr/>
        </p:nvSpPr>
        <p:spPr>
          <a:xfrm>
            <a:off x="274320" y="2048256"/>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19" name="Shape 17"/>
          <p:cNvSpPr/>
          <p:nvPr/>
        </p:nvSpPr>
        <p:spPr>
          <a:xfrm>
            <a:off x="1097280" y="2075688"/>
            <a:ext cx="3291840" cy="237744"/>
          </a:xfrm>
          <a:prstGeom prst="rect">
            <a:avLst/>
          </a:prstGeom>
          <a:solidFill>
            <a:srgbClr val="3B7DD8"/>
          </a:solidFill>
          <a:ln/>
        </p:spPr>
      </p:sp>
      <p:sp>
        <p:nvSpPr>
          <p:cNvPr id="20" name="Text 18"/>
          <p:cNvSpPr/>
          <p:nvPr/>
        </p:nvSpPr>
        <p:spPr>
          <a:xfrm>
            <a:off x="4480560" y="2048256"/>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9件 (19.1%)</a:t>
            </a:r>
            <a:endParaRPr lang="en-US" sz="900" dirty="0"/>
          </a:p>
        </p:txBody>
      </p:sp>
      <p:sp>
        <p:nvSpPr>
          <p:cNvPr id="21" name="Text 19"/>
          <p:cNvSpPr/>
          <p:nvPr/>
        </p:nvSpPr>
        <p:spPr>
          <a:xfrm>
            <a:off x="274320" y="2395728"/>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22" name="Shape 20"/>
          <p:cNvSpPr/>
          <p:nvPr/>
        </p:nvSpPr>
        <p:spPr>
          <a:xfrm>
            <a:off x="1097280" y="2423160"/>
            <a:ext cx="2560320" cy="237744"/>
          </a:xfrm>
          <a:prstGeom prst="rect">
            <a:avLst/>
          </a:prstGeom>
          <a:solidFill>
            <a:srgbClr val="DC2626"/>
          </a:solidFill>
          <a:ln/>
        </p:spPr>
      </p:sp>
      <p:sp>
        <p:nvSpPr>
          <p:cNvPr id="23" name="Text 21"/>
          <p:cNvSpPr/>
          <p:nvPr/>
        </p:nvSpPr>
        <p:spPr>
          <a:xfrm>
            <a:off x="3749040" y="2395728"/>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7件 (14.9%)</a:t>
            </a:r>
            <a:endParaRPr lang="en-US" sz="900" dirty="0"/>
          </a:p>
        </p:txBody>
      </p:sp>
      <p:sp>
        <p:nvSpPr>
          <p:cNvPr id="24" name="Text 22"/>
          <p:cNvSpPr/>
          <p:nvPr/>
        </p:nvSpPr>
        <p:spPr>
          <a:xfrm>
            <a:off x="274320" y="2743200"/>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2点</a:t>
            </a:r>
            <a:endParaRPr lang="en-US" sz="900" dirty="0"/>
          </a:p>
        </p:txBody>
      </p:sp>
      <p:sp>
        <p:nvSpPr>
          <p:cNvPr id="25" name="Shape 23"/>
          <p:cNvSpPr/>
          <p:nvPr/>
        </p:nvSpPr>
        <p:spPr>
          <a:xfrm>
            <a:off x="1097280" y="2770632"/>
            <a:ext cx="1097280" cy="237744"/>
          </a:xfrm>
          <a:prstGeom prst="rect">
            <a:avLst/>
          </a:prstGeom>
          <a:solidFill>
            <a:srgbClr val="DC2626"/>
          </a:solidFill>
          <a:ln/>
        </p:spPr>
      </p:sp>
      <p:sp>
        <p:nvSpPr>
          <p:cNvPr id="26" name="Text 24"/>
          <p:cNvSpPr/>
          <p:nvPr/>
        </p:nvSpPr>
        <p:spPr>
          <a:xfrm>
            <a:off x="2286000" y="2743200"/>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3件 (6.4%)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顧客フィードバック分析</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主要ポジティブ・ネガティブポイント</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9" name="Shape 7"/>
          <p:cNvSpPr/>
          <p:nvPr/>
        </p:nvSpPr>
        <p:spPr>
          <a:xfrm>
            <a:off x="274320" y="914400"/>
            <a:ext cx="4023360" cy="3657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74320" y="914400"/>
            <a:ext cx="4023360" cy="320040"/>
          </a:xfrm>
          <a:prstGeom prst="rect">
            <a:avLst/>
          </a:prstGeom>
          <a:solidFill>
            <a:srgbClr val="16A34A"/>
          </a:solidFill>
          <a:ln/>
        </p:spPr>
      </p:sp>
      <p:sp>
        <p:nvSpPr>
          <p:cNvPr id="11" name="Text 9"/>
          <p:cNvSpPr/>
          <p:nvPr/>
        </p:nvSpPr>
        <p:spPr>
          <a:xfrm>
            <a:off x="274320" y="914400"/>
            <a:ext cx="402336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好評ポイント</a:t>
            </a:r>
            <a:endParaRPr lang="en-US" sz="1100" dirty="0"/>
          </a:p>
        </p:txBody>
      </p:sp>
      <p:sp>
        <p:nvSpPr>
          <p:cNvPr id="12" name="Text 10"/>
          <p:cNvSpPr/>
          <p:nvPr/>
        </p:nvSpPr>
        <p:spPr>
          <a:xfrm>
            <a:off x="365760" y="132588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仕事の研修がお台場周辺なのでゆりかもめ線沿線で探して4泊5日の滞在をしました。JR浜松町駅からも、ゆりかもめ線の日の出駅からも近くて遠方からの滞在者の私には東京駅にも乗り換えなしで行けたのが良かったで...</a:t>
            </a:r>
            <a:endParaRPr lang="en-US" sz="850" dirty="0"/>
          </a:p>
        </p:txBody>
      </p:sp>
      <p:sp>
        <p:nvSpPr>
          <p:cNvPr id="13" name="Text 11"/>
          <p:cNvSpPr/>
          <p:nvPr/>
        </p:nvSpPr>
        <p:spPr>
          <a:xfrm>
            <a:off x="365760" y="205740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当初の予定を急に変更して、東京に行くのを一日前倒しして、浜松町エリアでホテルを取ることになりました。できるだけ安く探して、こちらのホテルを発見。新しくはないかもしれないけど、何も困らなかったし、追加料...</a:t>
            </a:r>
            <a:endParaRPr lang="en-US" sz="850" dirty="0"/>
          </a:p>
        </p:txBody>
      </p:sp>
      <p:sp>
        <p:nvSpPr>
          <p:cNvPr id="14" name="Text 12"/>
          <p:cNvSpPr/>
          <p:nvPr/>
        </p:nvSpPr>
        <p:spPr>
          <a:xfrm>
            <a:off x="365760" y="278892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駅から遠いと思いきや、近くまで濡れずに歩ける道があり、結構近い。 部屋も設備に逆さを感じるものの、綺麗にされており、価格面含めて良かったです。</a:t>
            </a:r>
            <a:endParaRPr lang="en-US" sz="850" dirty="0"/>
          </a:p>
        </p:txBody>
      </p:sp>
      <p:sp>
        <p:nvSpPr>
          <p:cNvPr id="15" name="Text 13"/>
          <p:cNvSpPr/>
          <p:nvPr/>
        </p:nvSpPr>
        <p:spPr>
          <a:xfrm>
            <a:off x="365760" y="352044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施設の古さは否めませんが、快適に過ごせました。朝食も不満なし。 3Fのツインルームは角部屋でした。 水洗トイレの水補給音が騒々しかたったのは、施設の古さ故か。総じて満足のいく宿泊でした。</a:t>
            </a:r>
            <a:endParaRPr lang="en-US" sz="850" dirty="0"/>
          </a:p>
        </p:txBody>
      </p:sp>
      <p:sp>
        <p:nvSpPr>
          <p:cNvPr id="16" name="Shape 14"/>
          <p:cNvSpPr/>
          <p:nvPr/>
        </p:nvSpPr>
        <p:spPr>
          <a:xfrm>
            <a:off x="4846320" y="914400"/>
            <a:ext cx="4023360" cy="3657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846320" y="914400"/>
            <a:ext cx="4023360" cy="320040"/>
          </a:xfrm>
          <a:prstGeom prst="rect">
            <a:avLst/>
          </a:prstGeom>
          <a:solidFill>
            <a:srgbClr val="DC2626"/>
          </a:solidFill>
          <a:ln/>
        </p:spPr>
      </p:sp>
      <p:sp>
        <p:nvSpPr>
          <p:cNvPr id="18" name="Text 16"/>
          <p:cNvSpPr/>
          <p:nvPr/>
        </p:nvSpPr>
        <p:spPr>
          <a:xfrm>
            <a:off x="4846320" y="914400"/>
            <a:ext cx="402336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改善課題</a:t>
            </a:r>
            <a:endParaRPr lang="en-US" sz="1100" dirty="0"/>
          </a:p>
        </p:txBody>
      </p:sp>
      <p:sp>
        <p:nvSpPr>
          <p:cNvPr id="19" name="Text 17"/>
          <p:cNvSpPr/>
          <p:nvPr/>
        </p:nvSpPr>
        <p:spPr>
          <a:xfrm>
            <a:off x="4937760" y="132588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東京研修で利用させていただきました。 まず、駅から遠い立地である。地図を見ないとスムーズにはたどり着けなかった。 また、周辺にはリーズナブルな飲食店がなくコンビニか駅の方まで行かないと無い。 客室に関...</a:t>
            </a:r>
            <a:endParaRPr lang="en-US" sz="850" dirty="0"/>
          </a:p>
        </p:txBody>
      </p:sp>
      <p:sp>
        <p:nvSpPr>
          <p:cNvPr id="20" name="Text 18"/>
          <p:cNvSpPr/>
          <p:nvPr/>
        </p:nvSpPr>
        <p:spPr>
          <a:xfrm>
            <a:off x="4937760" y="205740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浜松町駅から距離が離れてる ホテル自体は年期を感じる 朝食はおかずが少ないけど貧素の感じは無く、美味しかった</a:t>
            </a:r>
            <a:endParaRPr lang="en-US" sz="850" dirty="0"/>
          </a:p>
        </p:txBody>
      </p:sp>
      <p:sp>
        <p:nvSpPr>
          <p:cNvPr id="21" name="Text 19"/>
          <p:cNvSpPr/>
          <p:nvPr/>
        </p:nvSpPr>
        <p:spPr>
          <a:xfrm>
            <a:off x="4937760" y="278892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良くも悪くも普通の何ら特徴のないホテルだとは思うんですが、いかんせん設備が古いらしく、お風呂の浴槽に穴が空いてたり、ヒビが入ってたりとか、廊下のカーペットがダルんダルんとしててキャリーバックの車輪が軽...</a:t>
            </a:r>
            <a:endParaRPr lang="en-US" sz="850" dirty="0"/>
          </a:p>
        </p:txBody>
      </p:sp>
      <p:sp>
        <p:nvSpPr>
          <p:cNvPr id="22" name="Text 20"/>
          <p:cNvSpPr/>
          <p:nvPr/>
        </p:nvSpPr>
        <p:spPr>
          <a:xfrm>
            <a:off x="4937760" y="352044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2泊だったから安かったのか分かりませんが、、  毛布をお願いしたら良かったと後で後悔しました。  思ってたより綺麗でした。</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改善アクションプラン</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優先度別施策ロードマップ</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9" name="Shape 7"/>
          <p:cNvSpPr/>
          <p:nvPr/>
        </p:nvSpPr>
        <p:spPr>
          <a:xfrm>
            <a:off x="274320" y="960120"/>
            <a:ext cx="8595360" cy="1188720"/>
          </a:xfrm>
          <a:prstGeom prst="rect">
            <a:avLst/>
          </a:prstGeom>
          <a:solidFill>
            <a:srgbClr val="FEE2E2"/>
          </a:solidFill>
          <a:ln/>
          <a:effectLst>
            <a:outerShdw sx="100000" sy="100000" kx="0" ky="0" algn="bl" rotWithShape="0" blurRad="50800" dist="25400" dir="8100000">
              <a:srgbClr val="000000">
                <a:alpha val="10000"/>
              </a:srgbClr>
            </a:outerShdw>
          </a:effectLst>
        </p:spPr>
      </p:sp>
      <p:sp>
        <p:nvSpPr>
          <p:cNvPr id="10" name="Shape 8"/>
          <p:cNvSpPr/>
          <p:nvPr/>
        </p:nvSpPr>
        <p:spPr>
          <a:xfrm>
            <a:off x="274320" y="960120"/>
            <a:ext cx="457200" cy="1188720"/>
          </a:xfrm>
          <a:prstGeom prst="rect">
            <a:avLst/>
          </a:prstGeom>
          <a:solidFill>
            <a:srgbClr val="DC2626"/>
          </a:solidFill>
          <a:ln/>
        </p:spPr>
      </p:sp>
      <p:sp>
        <p:nvSpPr>
          <p:cNvPr id="11" name="Text 9"/>
          <p:cNvSpPr/>
          <p:nvPr/>
        </p:nvSpPr>
        <p:spPr>
          <a:xfrm>
            <a:off x="274320" y="960120"/>
            <a:ext cx="457200" cy="11887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S</a:t>
            </a:r>
            <a:endParaRPr lang="en-US" sz="1800" dirty="0"/>
          </a:p>
        </p:txBody>
      </p:sp>
      <p:sp>
        <p:nvSpPr>
          <p:cNvPr id="12" name="Text 10"/>
          <p:cNvSpPr/>
          <p:nvPr/>
        </p:nvSpPr>
        <p:spPr>
          <a:xfrm>
            <a:off x="822960" y="1033272"/>
            <a:ext cx="7772400" cy="292608"/>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即時対応（~2週間）</a:t>
            </a:r>
            <a:endParaRPr lang="en-US" sz="1100" dirty="0"/>
          </a:p>
        </p:txBody>
      </p:sp>
      <p:sp>
        <p:nvSpPr>
          <p:cNvPr id="13" name="Text 11"/>
          <p:cNvSpPr/>
          <p:nvPr/>
        </p:nvSpPr>
        <p:spPr>
          <a:xfrm>
            <a:off x="868680" y="1344168"/>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低評価の根本原因特定とオペレーション改善</a:t>
            </a:r>
            <a:endParaRPr lang="en-US" sz="950" dirty="0"/>
          </a:p>
        </p:txBody>
      </p:sp>
      <p:sp>
        <p:nvSpPr>
          <p:cNvPr id="14" name="Text 12"/>
          <p:cNvSpPr/>
          <p:nvPr/>
        </p:nvSpPr>
        <p:spPr>
          <a:xfrm>
            <a:off x="868680" y="1691640"/>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スタッフサービス品質トレーニング強化</a:t>
            </a:r>
            <a:endParaRPr lang="en-US" sz="950" dirty="0"/>
          </a:p>
        </p:txBody>
      </p:sp>
      <p:sp>
        <p:nvSpPr>
          <p:cNvPr id="15" name="Shape 13"/>
          <p:cNvSpPr/>
          <p:nvPr/>
        </p:nvSpPr>
        <p:spPr>
          <a:xfrm>
            <a:off x="274320" y="2286000"/>
            <a:ext cx="8595360" cy="1188720"/>
          </a:xfrm>
          <a:prstGeom prst="rect">
            <a:avLst/>
          </a:prstGeom>
          <a:solidFill>
            <a:srgbClr val="FFF7ED"/>
          </a:solidFill>
          <a:ln/>
          <a:effectLst>
            <a:outerShdw sx="100000" sy="100000" kx="0" ky="0" algn="bl" rotWithShape="0" blurRad="50800" dist="25400" dir="8100000">
              <a:srgbClr val="000000">
                <a:alpha val="10000"/>
              </a:srgbClr>
            </a:outerShdw>
          </a:effectLst>
        </p:spPr>
      </p:sp>
      <p:sp>
        <p:nvSpPr>
          <p:cNvPr id="16" name="Shape 14"/>
          <p:cNvSpPr/>
          <p:nvPr/>
        </p:nvSpPr>
        <p:spPr>
          <a:xfrm>
            <a:off x="274320" y="2286000"/>
            <a:ext cx="457200" cy="1188720"/>
          </a:xfrm>
          <a:prstGeom prst="rect">
            <a:avLst/>
          </a:prstGeom>
          <a:solidFill>
            <a:srgbClr val="EA580C"/>
          </a:solidFill>
          <a:ln/>
        </p:spPr>
      </p:sp>
      <p:sp>
        <p:nvSpPr>
          <p:cNvPr id="17" name="Text 15"/>
          <p:cNvSpPr/>
          <p:nvPr/>
        </p:nvSpPr>
        <p:spPr>
          <a:xfrm>
            <a:off x="274320" y="2286000"/>
            <a:ext cx="457200" cy="11887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18" name="Text 16"/>
          <p:cNvSpPr/>
          <p:nvPr/>
        </p:nvSpPr>
        <p:spPr>
          <a:xfrm>
            <a:off x="822960" y="2359152"/>
            <a:ext cx="7772400" cy="292608"/>
          </a:xfrm>
          <a:prstGeom prst="rect">
            <a:avLst/>
          </a:prstGeom>
          <a:noFill/>
          <a:ln/>
        </p:spPr>
        <p:txBody>
          <a:bodyPr wrap="square" rtlCol="0" anchor="ctr"/>
          <a:lstStyle/>
          <a:p>
            <a:pPr indent="0" marL="0">
              <a:buNone/>
            </a:pPr>
            <a:r>
              <a:rPr lang="en-US" sz="1100" b="1" dirty="0">
                <a:solidFill>
                  <a:srgbClr val="EA580C"/>
                </a:solidFill>
                <a:latin typeface="Arial" pitchFamily="34" charset="0"/>
                <a:ea typeface="Arial" pitchFamily="34" charset="-122"/>
                <a:cs typeface="Arial" pitchFamily="34" charset="-120"/>
              </a:rPr>
              <a:t>短期対応（1ヶ月以内）</a:t>
            </a:r>
            <a:endParaRPr lang="en-US" sz="1100" dirty="0"/>
          </a:p>
        </p:txBody>
      </p:sp>
      <p:sp>
        <p:nvSpPr>
          <p:cNvPr id="19" name="Text 17"/>
          <p:cNvSpPr/>
          <p:nvPr/>
        </p:nvSpPr>
        <p:spPr>
          <a:xfrm>
            <a:off x="868680" y="2670048"/>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口コミ返信率向上によるブランド管理強化</a:t>
            </a:r>
            <a:endParaRPr lang="en-US" sz="950" dirty="0"/>
          </a:p>
        </p:txBody>
      </p:sp>
      <p:sp>
        <p:nvSpPr>
          <p:cNvPr id="20" name="Text 18"/>
          <p:cNvSpPr/>
          <p:nvPr/>
        </p:nvSpPr>
        <p:spPr>
          <a:xfrm>
            <a:off x="868680" y="3017520"/>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多言語対応改善による外国人ゲスト満足度向上</a:t>
            </a:r>
            <a:endParaRPr lang="en-US" sz="950" dirty="0"/>
          </a:p>
        </p:txBody>
      </p:sp>
      <p:sp>
        <p:nvSpPr>
          <p:cNvPr id="21" name="Shape 19"/>
          <p:cNvSpPr/>
          <p:nvPr/>
        </p:nvSpPr>
        <p:spPr>
          <a:xfrm>
            <a:off x="274320" y="3611880"/>
            <a:ext cx="8595360" cy="1188720"/>
          </a:xfrm>
          <a:prstGeom prst="rect">
            <a:avLst/>
          </a:prstGeom>
          <a:solidFill>
            <a:srgbClr val="EFF6FF"/>
          </a:solidFill>
          <a:ln/>
          <a:effectLst>
            <a:outerShdw sx="100000" sy="100000" kx="0" ky="0" algn="bl" rotWithShape="0" blurRad="50800" dist="25400" dir="8100000">
              <a:srgbClr val="000000">
                <a:alpha val="10000"/>
              </a:srgbClr>
            </a:outerShdw>
          </a:effectLst>
        </p:spPr>
      </p:sp>
      <p:sp>
        <p:nvSpPr>
          <p:cNvPr id="22" name="Shape 20"/>
          <p:cNvSpPr/>
          <p:nvPr/>
        </p:nvSpPr>
        <p:spPr>
          <a:xfrm>
            <a:off x="274320" y="3611880"/>
            <a:ext cx="457200" cy="1188720"/>
          </a:xfrm>
          <a:prstGeom prst="rect">
            <a:avLst/>
          </a:prstGeom>
          <a:solidFill>
            <a:srgbClr val="3B7DD8"/>
          </a:solidFill>
          <a:ln/>
        </p:spPr>
      </p:sp>
      <p:sp>
        <p:nvSpPr>
          <p:cNvPr id="23" name="Text 21"/>
          <p:cNvSpPr/>
          <p:nvPr/>
        </p:nvSpPr>
        <p:spPr>
          <a:xfrm>
            <a:off x="274320" y="3611880"/>
            <a:ext cx="457200" cy="11887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24" name="Text 22"/>
          <p:cNvSpPr/>
          <p:nvPr/>
        </p:nvSpPr>
        <p:spPr>
          <a:xfrm>
            <a:off x="822960" y="3685032"/>
            <a:ext cx="7772400" cy="292608"/>
          </a:xfrm>
          <a:prstGeom prst="rect">
            <a:avLst/>
          </a:prstGeom>
          <a:noFill/>
          <a:ln/>
        </p:spPr>
        <p:txBody>
          <a:bodyPr wrap="square" rtlCol="0" anchor="ctr"/>
          <a:lstStyle/>
          <a:p>
            <a:pPr indent="0" marL="0">
              <a:buNone/>
            </a:pPr>
            <a:r>
              <a:rPr lang="en-US" sz="1100" b="1" dirty="0">
                <a:solidFill>
                  <a:srgbClr val="3B7DD8"/>
                </a:solidFill>
                <a:latin typeface="Arial" pitchFamily="34" charset="0"/>
                <a:ea typeface="Arial" pitchFamily="34" charset="-122"/>
                <a:cs typeface="Arial" pitchFamily="34" charset="-120"/>
              </a:rPr>
              <a:t>中期対応（3ヶ月以内）</a:t>
            </a:r>
            <a:endParaRPr lang="en-US" sz="1100" dirty="0"/>
          </a:p>
        </p:txBody>
      </p:sp>
      <p:sp>
        <p:nvSpPr>
          <p:cNvPr id="25" name="Text 23"/>
          <p:cNvSpPr/>
          <p:nvPr/>
        </p:nvSpPr>
        <p:spPr>
          <a:xfrm>
            <a:off x="868680" y="3995928"/>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設備・アメニティ定期点検・更新サイクル確立</a:t>
            </a:r>
            <a:endParaRPr lang="en-US" sz="950" dirty="0"/>
          </a:p>
        </p:txBody>
      </p:sp>
      <p:sp>
        <p:nvSpPr>
          <p:cNvPr id="26" name="Text 24"/>
          <p:cNvSpPr/>
          <p:nvPr/>
        </p:nvSpPr>
        <p:spPr>
          <a:xfrm>
            <a:off x="868680" y="4343400"/>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ゲストフィードバック収集システムの整備</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2026-03-28T22:44:17Z</dcterms:created>
  <dcterms:modified xsi:type="dcterms:W3CDTF">2026-03-28T22:44:17Z</dcterms:modified>
</cp:coreProperties>
</file>