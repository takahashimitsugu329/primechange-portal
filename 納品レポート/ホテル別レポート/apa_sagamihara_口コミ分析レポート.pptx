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4114800"/>
            <a:ext cx="9144000" cy="1028700"/>
          </a:xfrm>
          <a:prstGeom prst="rect">
            <a:avLst/>
          </a:prstGeom>
          <a:solidFill>
            <a:srgbClr val="3B7DD8">
              <a:alpha val="40000"/>
            </a:srgbClr>
          </a:solidFill>
          <a:ln/>
        </p:spPr>
      </p:sp>
      <p:sp>
        <p:nvSpPr>
          <p:cNvPr id="4" name="Shape 2"/>
          <p:cNvSpPr/>
          <p:nvPr/>
        </p:nvSpPr>
        <p:spPr>
          <a:xfrm>
            <a:off x="457200" y="1463040"/>
            <a:ext cx="8229600" cy="45720"/>
          </a:xfrm>
          <a:prstGeom prst="rect">
            <a:avLst/>
          </a:prstGeom>
          <a:solidFill>
            <a:srgbClr val="3B7DD8"/>
          </a:solidFill>
          <a:ln/>
        </p:spPr>
      </p:sp>
      <p:sp>
        <p:nvSpPr>
          <p:cNvPr id="5" name="Shape 3"/>
          <p:cNvSpPr/>
          <p:nvPr/>
        </p:nvSpPr>
        <p:spPr>
          <a:xfrm>
            <a:off x="457200" y="3657600"/>
            <a:ext cx="8229600" cy="45720"/>
          </a:xfrm>
          <a:prstGeom prst="rect">
            <a:avLst/>
          </a:prstGeom>
          <a:solidFill>
            <a:srgbClr val="3B7DD8"/>
          </a:solidFill>
          <a:ln/>
        </p:spPr>
      </p:sp>
      <p:sp>
        <p:nvSpPr>
          <p:cNvPr id="6" name="Text 4"/>
          <p:cNvSpPr/>
          <p:nvPr/>
        </p:nvSpPr>
        <p:spPr>
          <a:xfrm>
            <a:off x="457200" y="548640"/>
            <a:ext cx="8229600" cy="731520"/>
          </a:xfrm>
          <a:prstGeom prst="rect">
            <a:avLst/>
          </a:prstGeom>
          <a:noFill/>
          <a:ln/>
        </p:spPr>
        <p:txBody>
          <a:bodyPr wrap="square" rtlCol="0" anchor="ctr"/>
          <a:lstStyle/>
          <a:p>
            <a:pPr algn="ctr" indent="0" marL="0">
              <a:buNone/>
            </a:pPr>
            <a:r>
              <a:rPr lang="en-US" sz="3200" b="1" dirty="0">
                <a:solidFill>
                  <a:srgbClr val="FFFFFF"/>
                </a:solidFill>
                <a:latin typeface="Arial" pitchFamily="34" charset="0"/>
                <a:ea typeface="Arial" pitchFamily="34" charset="-122"/>
                <a:cs typeface="Arial" pitchFamily="34" charset="-120"/>
              </a:rPr>
              <a:t>口コミ分析改善レポート</a:t>
            </a:r>
            <a:endParaRPr lang="en-US" sz="3200" dirty="0"/>
          </a:p>
        </p:txBody>
      </p:sp>
      <p:sp>
        <p:nvSpPr>
          <p:cNvPr id="7" name="Text 5"/>
          <p:cNvSpPr/>
          <p:nvPr/>
        </p:nvSpPr>
        <p:spPr>
          <a:xfrm>
            <a:off x="457200" y="1554480"/>
            <a:ext cx="8229600" cy="1371600"/>
          </a:xfrm>
          <a:prstGeom prst="rect">
            <a:avLst/>
          </a:prstGeom>
          <a:noFill/>
          <a:ln/>
        </p:spPr>
        <p:txBody>
          <a:bodyPr wrap="square" rtlCol="0" anchor="ctr"/>
          <a:lstStyle/>
          <a:p>
            <a:pPr algn="ctr" indent="0" marL="0">
              <a:buNone/>
            </a:pPr>
            <a:r>
              <a:rPr lang="en-US" sz="2800" b="1" dirty="0">
                <a:solidFill>
                  <a:srgbClr val="5A9BE6"/>
                </a:solidFill>
                <a:latin typeface="Arial" pitchFamily="34" charset="0"/>
                <a:ea typeface="Arial" pitchFamily="34" charset="-122"/>
                <a:cs typeface="Arial" pitchFamily="34" charset="-120"/>
              </a:rPr>
              <a:t>アパホテル相模原橋本駅東</a:t>
            </a:r>
            <a:endParaRPr lang="en-US" sz="2800" dirty="0"/>
          </a:p>
        </p:txBody>
      </p:sp>
      <p:sp>
        <p:nvSpPr>
          <p:cNvPr id="8" name="Text 6"/>
          <p:cNvSpPr/>
          <p:nvPr/>
        </p:nvSpPr>
        <p:spPr>
          <a:xfrm>
            <a:off x="457200" y="3749040"/>
            <a:ext cx="8229600" cy="457200"/>
          </a:xfrm>
          <a:prstGeom prst="rect">
            <a:avLst/>
          </a:prstGeom>
          <a:noFill/>
          <a:ln/>
        </p:spPr>
        <p:txBody>
          <a:bodyPr wrap="square" rtlCol="0" anchor="ctr"/>
          <a:lstStyle/>
          <a:p>
            <a:pPr algn="ctr" indent="0" marL="0">
              <a:buNone/>
            </a:pPr>
            <a:r>
              <a:rPr lang="en-US" sz="1200" dirty="0">
                <a:solidFill>
                  <a:srgbClr val="94A3B8"/>
                </a:solidFill>
                <a:latin typeface="Arial" pitchFamily="34" charset="0"/>
                <a:ea typeface="Arial" pitchFamily="34" charset="-122"/>
                <a:cs typeface="Arial" pitchFamily="34" charset="-120"/>
              </a:rPr>
              <a:t>レポート作成日: 2026-03-28  |  分析件数: 69件  |  総合評価: 8.13点 (概ね良好)</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口コミ分析結果の概要</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
        <p:nvSpPr>
          <p:cNvPr id="8" name="Shape 6"/>
          <p:cNvSpPr/>
          <p:nvPr/>
        </p:nvSpPr>
        <p:spPr>
          <a:xfrm>
            <a:off x="27432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9" name="Shape 7"/>
          <p:cNvSpPr/>
          <p:nvPr/>
        </p:nvSpPr>
        <p:spPr>
          <a:xfrm>
            <a:off x="274320" y="1005840"/>
            <a:ext cx="1920240" cy="45720"/>
          </a:xfrm>
          <a:prstGeom prst="rect">
            <a:avLst/>
          </a:prstGeom>
          <a:solidFill>
            <a:srgbClr val="3B7DD8"/>
          </a:solidFill>
          <a:ln/>
        </p:spPr>
      </p:sp>
      <p:sp>
        <p:nvSpPr>
          <p:cNvPr id="10" name="Text 8"/>
          <p:cNvSpPr/>
          <p:nvPr/>
        </p:nvSpPr>
        <p:spPr>
          <a:xfrm>
            <a:off x="27432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総レビュー数</a:t>
            </a:r>
            <a:endParaRPr lang="en-US" sz="1000" dirty="0"/>
          </a:p>
        </p:txBody>
      </p:sp>
      <p:sp>
        <p:nvSpPr>
          <p:cNvPr id="11" name="Text 9"/>
          <p:cNvSpPr/>
          <p:nvPr/>
        </p:nvSpPr>
        <p:spPr>
          <a:xfrm>
            <a:off x="274320" y="1371600"/>
            <a:ext cx="1920240" cy="502920"/>
          </a:xfrm>
          <a:prstGeom prst="rect">
            <a:avLst/>
          </a:prstGeom>
          <a:noFill/>
          <a:ln/>
        </p:spPr>
        <p:txBody>
          <a:bodyPr wrap="square"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69件</a:t>
            </a:r>
            <a:endParaRPr lang="en-US" sz="3200" dirty="0"/>
          </a:p>
        </p:txBody>
      </p:sp>
      <p:sp>
        <p:nvSpPr>
          <p:cNvPr id="12" name="Shape 10"/>
          <p:cNvSpPr/>
          <p:nvPr/>
        </p:nvSpPr>
        <p:spPr>
          <a:xfrm>
            <a:off x="242316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2423160" y="1005840"/>
            <a:ext cx="1920240" cy="45720"/>
          </a:xfrm>
          <a:prstGeom prst="rect">
            <a:avLst/>
          </a:prstGeom>
          <a:solidFill>
            <a:srgbClr val="3B7DD8"/>
          </a:solidFill>
          <a:ln/>
        </p:spPr>
      </p:sp>
      <p:sp>
        <p:nvSpPr>
          <p:cNvPr id="14" name="Text 12"/>
          <p:cNvSpPr/>
          <p:nvPr/>
        </p:nvSpPr>
        <p:spPr>
          <a:xfrm>
            <a:off x="242316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総合平均（10pt）</a:t>
            </a:r>
            <a:endParaRPr lang="en-US" sz="1000" dirty="0"/>
          </a:p>
        </p:txBody>
      </p:sp>
      <p:sp>
        <p:nvSpPr>
          <p:cNvPr id="15" name="Text 13"/>
          <p:cNvSpPr/>
          <p:nvPr/>
        </p:nvSpPr>
        <p:spPr>
          <a:xfrm>
            <a:off x="2423160" y="1371600"/>
            <a:ext cx="1920240" cy="502920"/>
          </a:xfrm>
          <a:prstGeom prst="rect">
            <a:avLst/>
          </a:prstGeom>
          <a:noFill/>
          <a:ln/>
        </p:spPr>
        <p:txBody>
          <a:bodyPr wrap="square"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8.13点</a:t>
            </a:r>
            <a:endParaRPr lang="en-US" sz="3200" dirty="0"/>
          </a:p>
        </p:txBody>
      </p:sp>
      <p:sp>
        <p:nvSpPr>
          <p:cNvPr id="16" name="Shape 14"/>
          <p:cNvSpPr/>
          <p:nvPr/>
        </p:nvSpPr>
        <p:spPr>
          <a:xfrm>
            <a:off x="457200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Shape 15"/>
          <p:cNvSpPr/>
          <p:nvPr/>
        </p:nvSpPr>
        <p:spPr>
          <a:xfrm>
            <a:off x="4572000" y="1005840"/>
            <a:ext cx="1920240" cy="45720"/>
          </a:xfrm>
          <a:prstGeom prst="rect">
            <a:avLst/>
          </a:prstGeom>
          <a:solidFill>
            <a:srgbClr val="16A34A"/>
          </a:solidFill>
          <a:ln/>
        </p:spPr>
      </p:sp>
      <p:sp>
        <p:nvSpPr>
          <p:cNvPr id="18" name="Text 16"/>
          <p:cNvSpPr/>
          <p:nvPr/>
        </p:nvSpPr>
        <p:spPr>
          <a:xfrm>
            <a:off x="457200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9" name="Text 17"/>
          <p:cNvSpPr/>
          <p:nvPr/>
        </p:nvSpPr>
        <p:spPr>
          <a:xfrm>
            <a:off x="4572000" y="1371600"/>
            <a:ext cx="1920240" cy="502920"/>
          </a:xfrm>
          <a:prstGeom prst="rect">
            <a:avLst/>
          </a:prstGeom>
          <a:noFill/>
          <a:ln/>
        </p:spPr>
        <p:txBody>
          <a:bodyPr wrap="square"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69.6%</a:t>
            </a:r>
            <a:endParaRPr lang="en-US" sz="3200" dirty="0"/>
          </a:p>
        </p:txBody>
      </p:sp>
      <p:sp>
        <p:nvSpPr>
          <p:cNvPr id="20" name="Shape 18"/>
          <p:cNvSpPr/>
          <p:nvPr/>
        </p:nvSpPr>
        <p:spPr>
          <a:xfrm>
            <a:off x="672084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1" name="Shape 19"/>
          <p:cNvSpPr/>
          <p:nvPr/>
        </p:nvSpPr>
        <p:spPr>
          <a:xfrm>
            <a:off x="6720840" y="1005840"/>
            <a:ext cx="1920240" cy="45720"/>
          </a:xfrm>
          <a:prstGeom prst="rect">
            <a:avLst/>
          </a:prstGeom>
          <a:solidFill>
            <a:srgbClr val="64748B"/>
          </a:solidFill>
          <a:ln/>
        </p:spPr>
      </p:sp>
      <p:sp>
        <p:nvSpPr>
          <p:cNvPr id="22" name="Text 20"/>
          <p:cNvSpPr/>
          <p:nvPr/>
        </p:nvSpPr>
        <p:spPr>
          <a:xfrm>
            <a:off x="672084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23" name="Text 21"/>
          <p:cNvSpPr/>
          <p:nvPr/>
        </p:nvSpPr>
        <p:spPr>
          <a:xfrm>
            <a:off x="6720840" y="1371600"/>
            <a:ext cx="1920240" cy="502920"/>
          </a:xfrm>
          <a:prstGeom prst="rect">
            <a:avLst/>
          </a:prstGeom>
          <a:noFill/>
          <a:ln/>
        </p:spPr>
        <p:txBody>
          <a:bodyPr wrap="square" rtlCol="0" anchor="ctr"/>
          <a:lstStyle/>
          <a:p>
            <a:pPr algn="ctr" indent="0" marL="0">
              <a:buNone/>
            </a:pPr>
            <a:r>
              <a:rPr lang="en-US" sz="3200" b="1" dirty="0">
                <a:solidFill>
                  <a:srgbClr val="64748B"/>
                </a:solidFill>
                <a:latin typeface="Arial" pitchFamily="34" charset="0"/>
                <a:ea typeface="Arial" pitchFamily="34" charset="-122"/>
                <a:cs typeface="Arial" pitchFamily="34" charset="-120"/>
              </a:rPr>
              <a:t>1.4%</a:t>
            </a:r>
            <a:endParaRPr lang="en-US" sz="3200" dirty="0"/>
          </a:p>
        </p:txBody>
      </p:sp>
      <p:sp>
        <p:nvSpPr>
          <p:cNvPr id="24" name="Shape 22"/>
          <p:cNvSpPr/>
          <p:nvPr/>
        </p:nvSpPr>
        <p:spPr>
          <a:xfrm>
            <a:off x="274320" y="2240280"/>
            <a:ext cx="8595360" cy="1371600"/>
          </a:xfrm>
          <a:prstGeom prst="rect">
            <a:avLst/>
          </a:prstGeom>
          <a:solidFill>
            <a:srgbClr val="E8EFF8"/>
          </a:solidFill>
          <a:ln/>
          <a:effectLst>
            <a:outerShdw sx="100000" sy="100000" kx="0" ky="0" algn="bl" rotWithShape="0" blurRad="50800" dist="25400" dir="8100000">
              <a:srgbClr val="000000">
                <a:alpha val="10000"/>
              </a:srgbClr>
            </a:outerShdw>
          </a:effectLst>
        </p:spPr>
      </p:sp>
      <p:sp>
        <p:nvSpPr>
          <p:cNvPr id="25" name="Text 23"/>
          <p:cNvSpPr/>
          <p:nvPr/>
        </p:nvSpPr>
        <p:spPr>
          <a:xfrm>
            <a:off x="457200" y="2331720"/>
            <a:ext cx="8229600" cy="320040"/>
          </a:xfrm>
          <a:prstGeom prst="rect">
            <a:avLst/>
          </a:prstGeom>
          <a:noFill/>
          <a:ln/>
        </p:spPr>
        <p:txBody>
          <a:bodyPr wrap="square" rtlCol="0" anchor="ctr"/>
          <a:lstStyle/>
          <a:p>
            <a:pPr indent="0" marL="0">
              <a:buNone/>
            </a:pPr>
            <a:r>
              <a:rPr lang="en-US" sz="1200" b="1" dirty="0">
                <a:solidFill>
                  <a:srgbClr val="1A2744"/>
                </a:solidFill>
                <a:latin typeface="Arial" pitchFamily="34" charset="0"/>
                <a:ea typeface="Arial" pitchFamily="34" charset="-122"/>
                <a:cs typeface="Arial" pitchFamily="34" charset="-120"/>
              </a:rPr>
              <a:t>総合評価コメント</a:t>
            </a:r>
            <a:endParaRPr lang="en-US" sz="1200" dirty="0"/>
          </a:p>
        </p:txBody>
      </p:sp>
      <p:sp>
        <p:nvSpPr>
          <p:cNvPr id="26" name="Text 24"/>
          <p:cNvSpPr/>
          <p:nvPr/>
        </p:nvSpPr>
        <p:spPr>
          <a:xfrm>
            <a:off x="457200" y="2697480"/>
            <a:ext cx="8229600" cy="822960"/>
          </a:xfrm>
          <a:prstGeom prst="rect">
            <a:avLst/>
          </a:prstGeom>
          <a:noFill/>
          <a:ln/>
        </p:spPr>
        <p:txBody>
          <a:bodyPr wrap="square" rtlCol="0" anchor="ctr"/>
          <a:lstStyle/>
          <a:p>
            <a:pPr indent="0" marL="0">
              <a:buNone/>
            </a:pPr>
            <a:r>
              <a:rPr lang="en-US" sz="1100" dirty="0">
                <a:solidFill>
                  <a:srgbClr val="334155"/>
                </a:solidFill>
                <a:latin typeface="Arial" pitchFamily="34" charset="0"/>
                <a:ea typeface="Arial" pitchFamily="34" charset="-122"/>
                <a:cs typeface="Arial" pitchFamily="34" charset="-120"/>
              </a:rPr>
              <a:t>アパホテル相模原橋本駅東は分析対象69件の口コミで、10点換算平均8.13点（概ね良好）を記録。高評価（8〜10点）が48件（69.6%）、低評価（1〜4点）が1件（1.4%）。6サイトにわたる評価傾向を分析しました。</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サイト別口コミ評価</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分析サイト数: 6サイト</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914400"/>
        </p:xfrm>
        <a:graphic>
          <a:graphicData uri="http://schemas.openxmlformats.org/drawingml/2006/table">
            <a:tbl>
              <a:tblPr/>
              <a:tblGrid>
                <a:gridCol w="1719072"/>
                <a:gridCol w="1719072"/>
                <a:gridCol w="1719072"/>
                <a:gridCol w="1719072"/>
                <a:gridCol w="1719072"/>
              </a:tblGrid>
              <a:tr h="411480">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サイト名</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件数</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ネイティブ評価</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10pt換算平均</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評価判定</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Booking.com</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25件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8/10</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3B7DD8"/>
                          </a:solidFill>
                          <a:latin typeface="Arial" pitchFamily="34" charset="0"/>
                          <a:ea typeface="Arial" pitchFamily="34" charset="-122"/>
                          <a:cs typeface="Arial" pitchFamily="34" charset="-120"/>
                        </a:rPr>
                        <a:t>8点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3B7DD8"/>
                          </a:solidFill>
                          <a:latin typeface="Arial" pitchFamily="34" charset="0"/>
                          <a:ea typeface="Arial" pitchFamily="34" charset="-122"/>
                          <a:cs typeface="Arial" pitchFamily="34" charset="-120"/>
                        </a:rPr>
                        <a:t>概ね良好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楽天トラベル</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15件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3.8/5</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3B7DD8"/>
                          </a:solidFill>
                          <a:latin typeface="Arial" pitchFamily="34" charset="0"/>
                          <a:ea typeface="Arial" pitchFamily="34" charset="-122"/>
                          <a:cs typeface="Arial" pitchFamily="34" charset="-120"/>
                        </a:rPr>
                        <a:t>7.6点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3B7DD8"/>
                          </a:solidFill>
                          <a:latin typeface="Arial" pitchFamily="34" charset="0"/>
                          <a:ea typeface="Arial" pitchFamily="34" charset="-122"/>
                          <a:cs typeface="Arial" pitchFamily="34" charset="-120"/>
                        </a:rPr>
                        <a:t>概ね良好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じゃらん</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11件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4.46/5</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8.91点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非常に良好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Agoda</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8件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7.88/10</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3B7DD8"/>
                          </a:solidFill>
                          <a:latin typeface="Arial" pitchFamily="34" charset="0"/>
                          <a:ea typeface="Arial" pitchFamily="34" charset="-122"/>
                          <a:cs typeface="Arial" pitchFamily="34" charset="-120"/>
                        </a:rPr>
                        <a:t>7.88点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3B7DD8"/>
                          </a:solidFill>
                          <a:latin typeface="Arial" pitchFamily="34" charset="0"/>
                          <a:ea typeface="Arial" pitchFamily="34" charset="-122"/>
                          <a:cs typeface="Arial" pitchFamily="34" charset="-120"/>
                        </a:rPr>
                        <a:t>概ね良好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Google</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7件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4.29/5</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8.57点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非常に良好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Trip.com</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3件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8.67/10</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8.67点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非常に良好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スコア分布分析</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10点換算スコアの分布状況</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
        <p:nvSpPr>
          <p:cNvPr id="8" name="Shape 6"/>
          <p:cNvSpPr/>
          <p:nvPr/>
        </p:nvSpPr>
        <p:spPr>
          <a:xfrm>
            <a:off x="457200" y="1945178"/>
            <a:ext cx="685800" cy="2443942"/>
          </a:xfrm>
          <a:prstGeom prst="rect">
            <a:avLst/>
          </a:prstGeom>
          <a:solidFill>
            <a:srgbClr val="16A34A"/>
          </a:solidFill>
          <a:ln/>
        </p:spPr>
      </p:sp>
      <p:sp>
        <p:nvSpPr>
          <p:cNvPr id="9" name="Text 7"/>
          <p:cNvSpPr/>
          <p:nvPr/>
        </p:nvSpPr>
        <p:spPr>
          <a:xfrm>
            <a:off x="41148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10点</a:t>
            </a:r>
            <a:endParaRPr lang="en-US" sz="900" dirty="0"/>
          </a:p>
        </p:txBody>
      </p:sp>
      <p:sp>
        <p:nvSpPr>
          <p:cNvPr id="10" name="Text 8"/>
          <p:cNvSpPr/>
          <p:nvPr/>
        </p:nvSpPr>
        <p:spPr>
          <a:xfrm>
            <a:off x="365760" y="1716578"/>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30.4%</a:t>
            </a:r>
            <a:endParaRPr lang="en-US" sz="800" dirty="0"/>
          </a:p>
        </p:txBody>
      </p:sp>
      <p:sp>
        <p:nvSpPr>
          <p:cNvPr id="11" name="Text 9"/>
          <p:cNvSpPr/>
          <p:nvPr/>
        </p:nvSpPr>
        <p:spPr>
          <a:xfrm>
            <a:off x="365760" y="1487978"/>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21件</a:t>
            </a:r>
            <a:endParaRPr lang="en-US" sz="800" dirty="0"/>
          </a:p>
        </p:txBody>
      </p:sp>
      <p:sp>
        <p:nvSpPr>
          <p:cNvPr id="12" name="Shape 10"/>
          <p:cNvSpPr/>
          <p:nvPr/>
        </p:nvSpPr>
        <p:spPr>
          <a:xfrm>
            <a:off x="1325880" y="3807229"/>
            <a:ext cx="685800" cy="581891"/>
          </a:xfrm>
          <a:prstGeom prst="rect">
            <a:avLst/>
          </a:prstGeom>
          <a:solidFill>
            <a:srgbClr val="16A34A"/>
          </a:solidFill>
          <a:ln/>
        </p:spPr>
      </p:sp>
      <p:sp>
        <p:nvSpPr>
          <p:cNvPr id="13" name="Text 11"/>
          <p:cNvSpPr/>
          <p:nvPr/>
        </p:nvSpPr>
        <p:spPr>
          <a:xfrm>
            <a:off x="128016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9点</a:t>
            </a:r>
            <a:endParaRPr lang="en-US" sz="900" dirty="0"/>
          </a:p>
        </p:txBody>
      </p:sp>
      <p:sp>
        <p:nvSpPr>
          <p:cNvPr id="14" name="Text 12"/>
          <p:cNvSpPr/>
          <p:nvPr/>
        </p:nvSpPr>
        <p:spPr>
          <a:xfrm>
            <a:off x="1234440" y="3578629"/>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7.2%</a:t>
            </a:r>
            <a:endParaRPr lang="en-US" sz="800" dirty="0"/>
          </a:p>
        </p:txBody>
      </p:sp>
      <p:sp>
        <p:nvSpPr>
          <p:cNvPr id="15" name="Text 13"/>
          <p:cNvSpPr/>
          <p:nvPr/>
        </p:nvSpPr>
        <p:spPr>
          <a:xfrm>
            <a:off x="1234440" y="3350029"/>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5件</a:t>
            </a:r>
            <a:endParaRPr lang="en-US" sz="800" dirty="0"/>
          </a:p>
        </p:txBody>
      </p:sp>
      <p:sp>
        <p:nvSpPr>
          <p:cNvPr id="16" name="Shape 14"/>
          <p:cNvSpPr/>
          <p:nvPr/>
        </p:nvSpPr>
        <p:spPr>
          <a:xfrm>
            <a:off x="2194560" y="1828800"/>
            <a:ext cx="685800" cy="2560320"/>
          </a:xfrm>
          <a:prstGeom prst="rect">
            <a:avLst/>
          </a:prstGeom>
          <a:solidFill>
            <a:srgbClr val="16A34A"/>
          </a:solidFill>
          <a:ln/>
        </p:spPr>
      </p:sp>
      <p:sp>
        <p:nvSpPr>
          <p:cNvPr id="17" name="Text 15"/>
          <p:cNvSpPr/>
          <p:nvPr/>
        </p:nvSpPr>
        <p:spPr>
          <a:xfrm>
            <a:off x="214884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8点</a:t>
            </a:r>
            <a:endParaRPr lang="en-US" sz="900" dirty="0"/>
          </a:p>
        </p:txBody>
      </p:sp>
      <p:sp>
        <p:nvSpPr>
          <p:cNvPr id="18" name="Text 16"/>
          <p:cNvSpPr/>
          <p:nvPr/>
        </p:nvSpPr>
        <p:spPr>
          <a:xfrm>
            <a:off x="2103120" y="1600200"/>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31.9%</a:t>
            </a:r>
            <a:endParaRPr lang="en-US" sz="800" dirty="0"/>
          </a:p>
        </p:txBody>
      </p:sp>
      <p:sp>
        <p:nvSpPr>
          <p:cNvPr id="19" name="Text 17"/>
          <p:cNvSpPr/>
          <p:nvPr/>
        </p:nvSpPr>
        <p:spPr>
          <a:xfrm>
            <a:off x="2103120" y="1371600"/>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22件</a:t>
            </a:r>
            <a:endParaRPr lang="en-US" sz="800" dirty="0"/>
          </a:p>
        </p:txBody>
      </p:sp>
      <p:sp>
        <p:nvSpPr>
          <p:cNvPr id="20" name="Shape 18"/>
          <p:cNvSpPr/>
          <p:nvPr/>
        </p:nvSpPr>
        <p:spPr>
          <a:xfrm>
            <a:off x="3063240" y="3458095"/>
            <a:ext cx="685800" cy="931025"/>
          </a:xfrm>
          <a:prstGeom prst="rect">
            <a:avLst/>
          </a:prstGeom>
          <a:solidFill>
            <a:srgbClr val="3B7DD8"/>
          </a:solidFill>
          <a:ln/>
        </p:spPr>
      </p:sp>
      <p:sp>
        <p:nvSpPr>
          <p:cNvPr id="21" name="Text 19"/>
          <p:cNvSpPr/>
          <p:nvPr/>
        </p:nvSpPr>
        <p:spPr>
          <a:xfrm>
            <a:off x="301752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7点</a:t>
            </a:r>
            <a:endParaRPr lang="en-US" sz="900" dirty="0"/>
          </a:p>
        </p:txBody>
      </p:sp>
      <p:sp>
        <p:nvSpPr>
          <p:cNvPr id="22" name="Text 20"/>
          <p:cNvSpPr/>
          <p:nvPr/>
        </p:nvSpPr>
        <p:spPr>
          <a:xfrm>
            <a:off x="2971800" y="3229495"/>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11.6%</a:t>
            </a:r>
            <a:endParaRPr lang="en-US" sz="800" dirty="0"/>
          </a:p>
        </p:txBody>
      </p:sp>
      <p:sp>
        <p:nvSpPr>
          <p:cNvPr id="23" name="Text 21"/>
          <p:cNvSpPr/>
          <p:nvPr/>
        </p:nvSpPr>
        <p:spPr>
          <a:xfrm>
            <a:off x="2971800" y="3000895"/>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8件</a:t>
            </a:r>
            <a:endParaRPr lang="en-US" sz="800" dirty="0"/>
          </a:p>
        </p:txBody>
      </p:sp>
      <p:sp>
        <p:nvSpPr>
          <p:cNvPr id="24" name="Shape 22"/>
          <p:cNvSpPr/>
          <p:nvPr/>
        </p:nvSpPr>
        <p:spPr>
          <a:xfrm>
            <a:off x="3931920" y="3225338"/>
            <a:ext cx="685800" cy="1163782"/>
          </a:xfrm>
          <a:prstGeom prst="rect">
            <a:avLst/>
          </a:prstGeom>
          <a:solidFill>
            <a:srgbClr val="3B7DD8"/>
          </a:solidFill>
          <a:ln/>
        </p:spPr>
      </p:sp>
      <p:sp>
        <p:nvSpPr>
          <p:cNvPr id="25" name="Text 23"/>
          <p:cNvSpPr/>
          <p:nvPr/>
        </p:nvSpPr>
        <p:spPr>
          <a:xfrm>
            <a:off x="388620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6点</a:t>
            </a:r>
            <a:endParaRPr lang="en-US" sz="900" dirty="0"/>
          </a:p>
        </p:txBody>
      </p:sp>
      <p:sp>
        <p:nvSpPr>
          <p:cNvPr id="26" name="Text 24"/>
          <p:cNvSpPr/>
          <p:nvPr/>
        </p:nvSpPr>
        <p:spPr>
          <a:xfrm>
            <a:off x="3840480" y="2996738"/>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14.5%</a:t>
            </a:r>
            <a:endParaRPr lang="en-US" sz="800" dirty="0"/>
          </a:p>
        </p:txBody>
      </p:sp>
      <p:sp>
        <p:nvSpPr>
          <p:cNvPr id="27" name="Text 25"/>
          <p:cNvSpPr/>
          <p:nvPr/>
        </p:nvSpPr>
        <p:spPr>
          <a:xfrm>
            <a:off x="3840480" y="2768138"/>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10件</a:t>
            </a:r>
            <a:endParaRPr lang="en-US" sz="800" dirty="0"/>
          </a:p>
        </p:txBody>
      </p:sp>
      <p:sp>
        <p:nvSpPr>
          <p:cNvPr id="28" name="Shape 26"/>
          <p:cNvSpPr/>
          <p:nvPr/>
        </p:nvSpPr>
        <p:spPr>
          <a:xfrm>
            <a:off x="4800600" y="4156364"/>
            <a:ext cx="685800" cy="232756"/>
          </a:xfrm>
          <a:prstGeom prst="rect">
            <a:avLst/>
          </a:prstGeom>
          <a:solidFill>
            <a:srgbClr val="3B7DD8"/>
          </a:solidFill>
          <a:ln/>
        </p:spPr>
      </p:sp>
      <p:sp>
        <p:nvSpPr>
          <p:cNvPr id="29" name="Text 27"/>
          <p:cNvSpPr/>
          <p:nvPr/>
        </p:nvSpPr>
        <p:spPr>
          <a:xfrm>
            <a:off x="475488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5点</a:t>
            </a:r>
            <a:endParaRPr lang="en-US" sz="900" dirty="0"/>
          </a:p>
        </p:txBody>
      </p:sp>
      <p:sp>
        <p:nvSpPr>
          <p:cNvPr id="30" name="Text 28"/>
          <p:cNvSpPr/>
          <p:nvPr/>
        </p:nvSpPr>
        <p:spPr>
          <a:xfrm>
            <a:off x="4709160" y="3927764"/>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2.9%</a:t>
            </a:r>
            <a:endParaRPr lang="en-US" sz="800" dirty="0"/>
          </a:p>
        </p:txBody>
      </p:sp>
      <p:sp>
        <p:nvSpPr>
          <p:cNvPr id="31" name="Text 29"/>
          <p:cNvSpPr/>
          <p:nvPr/>
        </p:nvSpPr>
        <p:spPr>
          <a:xfrm>
            <a:off x="4709160" y="3699164"/>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2件</a:t>
            </a:r>
            <a:endParaRPr lang="en-US" sz="800" dirty="0"/>
          </a:p>
        </p:txBody>
      </p:sp>
      <p:sp>
        <p:nvSpPr>
          <p:cNvPr id="32" name="Shape 30"/>
          <p:cNvSpPr/>
          <p:nvPr/>
        </p:nvSpPr>
        <p:spPr>
          <a:xfrm>
            <a:off x="5669280" y="4272742"/>
            <a:ext cx="685800" cy="116378"/>
          </a:xfrm>
          <a:prstGeom prst="rect">
            <a:avLst/>
          </a:prstGeom>
          <a:solidFill>
            <a:srgbClr val="DC2626"/>
          </a:solidFill>
          <a:ln/>
        </p:spPr>
      </p:sp>
      <p:sp>
        <p:nvSpPr>
          <p:cNvPr id="33" name="Text 31"/>
          <p:cNvSpPr/>
          <p:nvPr/>
        </p:nvSpPr>
        <p:spPr>
          <a:xfrm>
            <a:off x="562356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4点</a:t>
            </a:r>
            <a:endParaRPr lang="en-US" sz="900" dirty="0"/>
          </a:p>
        </p:txBody>
      </p:sp>
      <p:sp>
        <p:nvSpPr>
          <p:cNvPr id="34" name="Text 32"/>
          <p:cNvSpPr/>
          <p:nvPr/>
        </p:nvSpPr>
        <p:spPr>
          <a:xfrm>
            <a:off x="5577840" y="4044142"/>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1.4%</a:t>
            </a:r>
            <a:endParaRPr lang="en-US" sz="800" dirty="0"/>
          </a:p>
        </p:txBody>
      </p:sp>
      <p:sp>
        <p:nvSpPr>
          <p:cNvPr id="35" name="Text 33"/>
          <p:cNvSpPr/>
          <p:nvPr/>
        </p:nvSpPr>
        <p:spPr>
          <a:xfrm>
            <a:off x="5577840" y="3815542"/>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1件</a:t>
            </a:r>
            <a:endParaRPr lang="en-US" sz="800" dirty="0"/>
          </a:p>
        </p:txBody>
      </p:sp>
      <p:sp>
        <p:nvSpPr>
          <p:cNvPr id="36" name="Shape 34"/>
          <p:cNvSpPr/>
          <p:nvPr/>
        </p:nvSpPr>
        <p:spPr>
          <a:xfrm>
            <a:off x="365760" y="4389120"/>
            <a:ext cx="8412480" cy="0"/>
          </a:xfrm>
          <a:prstGeom prst="line">
            <a:avLst/>
          </a:prstGeom>
          <a:noFill/>
          <a:ln w="12700">
            <a:solidFill>
              <a:srgbClr val="94A3B8"/>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代表的な口コミコメント</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高評価・低評価の声</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
        <p:nvSpPr>
          <p:cNvPr id="8" name="Shape 6"/>
          <p:cNvSpPr/>
          <p:nvPr/>
        </p:nvSpPr>
        <p:spPr>
          <a:xfrm>
            <a:off x="274320" y="914400"/>
            <a:ext cx="4114800" cy="320040"/>
          </a:xfrm>
          <a:prstGeom prst="rect">
            <a:avLst/>
          </a:prstGeom>
          <a:solidFill>
            <a:srgbClr val="DCFCE7"/>
          </a:solidFill>
          <a:ln/>
        </p:spPr>
      </p:sp>
      <p:sp>
        <p:nvSpPr>
          <p:cNvPr id="9" name="Text 7"/>
          <p:cNvSpPr/>
          <p:nvPr/>
        </p:nvSpPr>
        <p:spPr>
          <a:xfrm>
            <a:off x="365760" y="914400"/>
            <a:ext cx="3931920" cy="320040"/>
          </a:xfrm>
          <a:prstGeom prst="rect">
            <a:avLst/>
          </a:prstGeom>
          <a:noFill/>
          <a:ln/>
        </p:spPr>
        <p:txBody>
          <a:bodyPr wrap="square" rtlCol="0" anchor="ctr"/>
          <a:lstStyle/>
          <a:p>
            <a:pPr indent="0" marL="0">
              <a:buNone/>
            </a:pPr>
            <a:r>
              <a:rPr lang="en-US" sz="1100" b="1" dirty="0">
                <a:solidFill>
                  <a:srgbClr val="16A34A"/>
                </a:solidFill>
                <a:latin typeface="Arial" pitchFamily="34" charset="0"/>
                <a:ea typeface="Arial" pitchFamily="34" charset="-122"/>
                <a:cs typeface="Arial" pitchFamily="34" charset="-120"/>
              </a:rPr>
              <a:t>高評価コメント（8〜10点）</a:t>
            </a:r>
            <a:endParaRPr lang="en-US" sz="1100" dirty="0"/>
          </a:p>
        </p:txBody>
      </p:sp>
      <p:sp>
        <p:nvSpPr>
          <p:cNvPr id="10" name="Shape 8"/>
          <p:cNvSpPr/>
          <p:nvPr/>
        </p:nvSpPr>
        <p:spPr>
          <a:xfrm>
            <a:off x="274320" y="132588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Text 9"/>
          <p:cNvSpPr/>
          <p:nvPr/>
        </p:nvSpPr>
        <p:spPr>
          <a:xfrm>
            <a:off x="365760" y="1371600"/>
            <a:ext cx="3931920" cy="182880"/>
          </a:xfrm>
          <a:prstGeom prst="rect">
            <a:avLst/>
          </a:prstGeom>
          <a:noFill/>
          <a:ln/>
        </p:spPr>
        <p:txBody>
          <a:bodyPr wrap="square" rtlCol="0" anchor="ctr"/>
          <a:lstStyle/>
          <a:p>
            <a:pPr indent="0" marL="0">
              <a:buNone/>
            </a:pPr>
            <a:r>
              <a:rPr lang="en-US" sz="800" b="1" dirty="0">
                <a:solidFill>
                  <a:srgbClr val="16A34A"/>
                </a:solidFill>
                <a:latin typeface="Arial" pitchFamily="34" charset="0"/>
                <a:ea typeface="Arial" pitchFamily="34" charset="-122"/>
                <a:cs typeface="Arial" pitchFamily="34" charset="-120"/>
              </a:rPr>
              <a:t>Agoda / 10点</a:t>
            </a:r>
            <a:endParaRPr lang="en-US" sz="800" dirty="0"/>
          </a:p>
        </p:txBody>
      </p:sp>
      <p:sp>
        <p:nvSpPr>
          <p:cNvPr id="12" name="Text 10"/>
          <p:cNvSpPr/>
          <p:nvPr/>
        </p:nvSpPr>
        <p:spPr>
          <a:xfrm>
            <a:off x="365760" y="155448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清潔感があり、スタッフの対応が良く立地も便利です。大浴場は快適でシャワーの水圧も十分です。安心して過ごせる環境が整っていて満足のいく滞在でした。</a:t>
            </a:r>
            <a:endParaRPr lang="en-US" sz="900" dirty="0"/>
          </a:p>
        </p:txBody>
      </p:sp>
      <p:sp>
        <p:nvSpPr>
          <p:cNvPr id="13" name="Shape 11"/>
          <p:cNvSpPr/>
          <p:nvPr/>
        </p:nvSpPr>
        <p:spPr>
          <a:xfrm>
            <a:off x="274320" y="214884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Text 12"/>
          <p:cNvSpPr/>
          <p:nvPr/>
        </p:nvSpPr>
        <p:spPr>
          <a:xfrm>
            <a:off x="365760" y="2194560"/>
            <a:ext cx="3931920" cy="182880"/>
          </a:xfrm>
          <a:prstGeom prst="rect">
            <a:avLst/>
          </a:prstGeom>
          <a:noFill/>
          <a:ln/>
        </p:spPr>
        <p:txBody>
          <a:bodyPr wrap="square" rtlCol="0" anchor="ctr"/>
          <a:lstStyle/>
          <a:p>
            <a:pPr indent="0" marL="0">
              <a:buNone/>
            </a:pPr>
            <a:r>
              <a:rPr lang="en-US" sz="800" b="1" dirty="0">
                <a:solidFill>
                  <a:srgbClr val="16A34A"/>
                </a:solidFill>
                <a:latin typeface="Arial" pitchFamily="34" charset="0"/>
                <a:ea typeface="Arial" pitchFamily="34" charset="-122"/>
                <a:cs typeface="Arial" pitchFamily="34" charset="-120"/>
              </a:rPr>
              <a:t>Booking.com / 9点</a:t>
            </a:r>
            <a:endParaRPr lang="en-US" sz="800" dirty="0"/>
          </a:p>
        </p:txBody>
      </p:sp>
      <p:sp>
        <p:nvSpPr>
          <p:cNvPr id="15" name="Text 13"/>
          <p:cNvSpPr/>
          <p:nvPr/>
        </p:nvSpPr>
        <p:spPr>
          <a:xfrm>
            <a:off x="365760" y="237744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フロントの方々の対応がとても丁寧でした。</a:t>
            </a:r>
            <a:endParaRPr lang="en-US" sz="900" dirty="0"/>
          </a:p>
        </p:txBody>
      </p:sp>
      <p:sp>
        <p:nvSpPr>
          <p:cNvPr id="16" name="Shape 14"/>
          <p:cNvSpPr/>
          <p:nvPr/>
        </p:nvSpPr>
        <p:spPr>
          <a:xfrm>
            <a:off x="274320" y="297180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Text 15"/>
          <p:cNvSpPr/>
          <p:nvPr/>
        </p:nvSpPr>
        <p:spPr>
          <a:xfrm>
            <a:off x="365760" y="3017520"/>
            <a:ext cx="3931920" cy="182880"/>
          </a:xfrm>
          <a:prstGeom prst="rect">
            <a:avLst/>
          </a:prstGeom>
          <a:noFill/>
          <a:ln/>
        </p:spPr>
        <p:txBody>
          <a:bodyPr wrap="square" rtlCol="0" anchor="ctr"/>
          <a:lstStyle/>
          <a:p>
            <a:pPr indent="0" marL="0">
              <a:buNone/>
            </a:pPr>
            <a:r>
              <a:rPr lang="en-US" sz="800" b="1" dirty="0">
                <a:solidFill>
                  <a:srgbClr val="16A34A"/>
                </a:solidFill>
                <a:latin typeface="Arial" pitchFamily="34" charset="0"/>
                <a:ea typeface="Arial" pitchFamily="34" charset="-122"/>
                <a:cs typeface="Arial" pitchFamily="34" charset="-120"/>
              </a:rPr>
              <a:t>Google / 8点</a:t>
            </a:r>
            <a:endParaRPr lang="en-US" sz="800" dirty="0"/>
          </a:p>
        </p:txBody>
      </p:sp>
      <p:sp>
        <p:nvSpPr>
          <p:cNvPr id="18" name="Text 16"/>
          <p:cNvSpPr/>
          <p:nvPr/>
        </p:nvSpPr>
        <p:spPr>
          <a:xfrm>
            <a:off x="365760" y="320040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ちょうど東横インの向かい側にあり、こちらは大浴場あり。他の浴場付の施設と違いお風呂は集めでしたかね？</a:t>
            </a:r>
            <a:endParaRPr lang="en-US" sz="900" dirty="0"/>
          </a:p>
        </p:txBody>
      </p:sp>
      <p:sp>
        <p:nvSpPr>
          <p:cNvPr id="19" name="Shape 17"/>
          <p:cNvSpPr/>
          <p:nvPr/>
        </p:nvSpPr>
        <p:spPr>
          <a:xfrm>
            <a:off x="4754880" y="914400"/>
            <a:ext cx="4114800" cy="320040"/>
          </a:xfrm>
          <a:prstGeom prst="rect">
            <a:avLst/>
          </a:prstGeom>
          <a:solidFill>
            <a:srgbClr val="FEE2E2"/>
          </a:solidFill>
          <a:ln/>
        </p:spPr>
      </p:sp>
      <p:sp>
        <p:nvSpPr>
          <p:cNvPr id="20" name="Text 18"/>
          <p:cNvSpPr/>
          <p:nvPr/>
        </p:nvSpPr>
        <p:spPr>
          <a:xfrm>
            <a:off x="4846320" y="914400"/>
            <a:ext cx="3931920" cy="320040"/>
          </a:xfrm>
          <a:prstGeom prst="rect">
            <a:avLst/>
          </a:prstGeom>
          <a:noFill/>
          <a:ln/>
        </p:spPr>
        <p:txBody>
          <a:bodyPr wrap="square" rtlCol="0" anchor="ctr"/>
          <a:lstStyle/>
          <a:p>
            <a:pPr indent="0" marL="0">
              <a:buNone/>
            </a:pPr>
            <a:r>
              <a:rPr lang="en-US" sz="1100" b="1" dirty="0">
                <a:solidFill>
                  <a:srgbClr val="DC2626"/>
                </a:solidFill>
                <a:latin typeface="Arial" pitchFamily="34" charset="0"/>
                <a:ea typeface="Arial" pitchFamily="34" charset="-122"/>
                <a:cs typeface="Arial" pitchFamily="34" charset="-120"/>
              </a:rPr>
              <a:t>低評価コメント（1〜4点）</a:t>
            </a:r>
            <a:endParaRPr lang="en-US" sz="1100" dirty="0"/>
          </a:p>
        </p:txBody>
      </p:sp>
      <p:sp>
        <p:nvSpPr>
          <p:cNvPr id="21" name="Shape 19"/>
          <p:cNvSpPr/>
          <p:nvPr/>
        </p:nvSpPr>
        <p:spPr>
          <a:xfrm>
            <a:off x="4754880" y="132588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Text 20"/>
          <p:cNvSpPr/>
          <p:nvPr/>
        </p:nvSpPr>
        <p:spPr>
          <a:xfrm>
            <a:off x="4846320" y="1371600"/>
            <a:ext cx="3931920" cy="182880"/>
          </a:xfrm>
          <a:prstGeom prst="rect">
            <a:avLst/>
          </a:prstGeom>
          <a:noFill/>
          <a:ln/>
        </p:spPr>
        <p:txBody>
          <a:bodyPr wrap="square" rtlCol="0" anchor="ctr"/>
          <a:lstStyle/>
          <a:p>
            <a:pPr indent="0" marL="0">
              <a:buNone/>
            </a:pPr>
            <a:r>
              <a:rPr lang="en-US" sz="800" b="1" dirty="0">
                <a:solidFill>
                  <a:srgbClr val="DC2626"/>
                </a:solidFill>
                <a:latin typeface="Arial" pitchFamily="34" charset="0"/>
                <a:ea typeface="Arial" pitchFamily="34" charset="-122"/>
                <a:cs typeface="Arial" pitchFamily="34" charset="-120"/>
              </a:rPr>
              <a:t>楽天トラベル / 4点</a:t>
            </a:r>
            <a:endParaRPr lang="en-US" sz="800" dirty="0"/>
          </a:p>
        </p:txBody>
      </p:sp>
      <p:sp>
        <p:nvSpPr>
          <p:cNvPr id="23" name="Text 21"/>
          <p:cNvSpPr/>
          <p:nvPr/>
        </p:nvSpPr>
        <p:spPr>
          <a:xfrm>
            <a:off x="4846320" y="155448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朝食がパンが１種類しかなく、洋風の料理（スクランブルエッグやソーセージ等）もないのが残念。コーヒーも部屋で飲めるようにプラカップがあればいいと思う。カレーはおいしかった。 大浴場が男女入れ替え制で使いづらかった。アメニティは無駄にならないよ…</a:t>
            </a:r>
            <a:endParaRPr lang="en-US" sz="900" dirty="0"/>
          </a:p>
        </p:txBody>
      </p:sp>
      <p:sp>
        <p:nvSpPr>
          <p:cNvPr id="24" name="Shape 22"/>
          <p:cNvSpPr/>
          <p:nvPr/>
        </p:nvSpPr>
        <p:spPr>
          <a:xfrm>
            <a:off x="4754880" y="214884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5" name="Text 23"/>
          <p:cNvSpPr/>
          <p:nvPr/>
        </p:nvSpPr>
        <p:spPr>
          <a:xfrm>
            <a:off x="4846320" y="2194560"/>
            <a:ext cx="3931920" cy="182880"/>
          </a:xfrm>
          <a:prstGeom prst="rect">
            <a:avLst/>
          </a:prstGeom>
          <a:noFill/>
          <a:ln/>
        </p:spPr>
        <p:txBody>
          <a:bodyPr wrap="square" rtlCol="0" anchor="ctr"/>
          <a:lstStyle/>
          <a:p>
            <a:pPr indent="0" marL="0">
              <a:buNone/>
            </a:pPr>
            <a:r>
              <a:rPr lang="en-US" sz="800" b="1" dirty="0">
                <a:solidFill>
                  <a:srgbClr val="DC2626"/>
                </a:solidFill>
                <a:latin typeface="Arial" pitchFamily="34" charset="0"/>
                <a:ea typeface="Arial" pitchFamily="34" charset="-122"/>
                <a:cs typeface="Arial" pitchFamily="34" charset="-120"/>
              </a:rPr>
              <a:t>Booking.com / 5点</a:t>
            </a:r>
            <a:endParaRPr lang="en-US" sz="800" dirty="0"/>
          </a:p>
        </p:txBody>
      </p:sp>
      <p:sp>
        <p:nvSpPr>
          <p:cNvPr id="26" name="Text 24"/>
          <p:cNvSpPr/>
          <p:nvPr/>
        </p:nvSpPr>
        <p:spPr>
          <a:xfrm>
            <a:off x="4846320" y="237744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夜中に火災報知器が鳴ったこと</a:t>
            </a:r>
            <a:endParaRPr lang="en-US" sz="900" dirty="0"/>
          </a:p>
        </p:txBody>
      </p:sp>
      <p:sp>
        <p:nvSpPr>
          <p:cNvPr id="27" name="Shape 25"/>
          <p:cNvSpPr/>
          <p:nvPr/>
        </p:nvSpPr>
        <p:spPr>
          <a:xfrm>
            <a:off x="4754880" y="297180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8" name="Text 26"/>
          <p:cNvSpPr/>
          <p:nvPr/>
        </p:nvSpPr>
        <p:spPr>
          <a:xfrm>
            <a:off x="4846320" y="3017520"/>
            <a:ext cx="3931920" cy="182880"/>
          </a:xfrm>
          <a:prstGeom prst="rect">
            <a:avLst/>
          </a:prstGeom>
          <a:noFill/>
          <a:ln/>
        </p:spPr>
        <p:txBody>
          <a:bodyPr wrap="square" rtlCol="0" anchor="ctr"/>
          <a:lstStyle/>
          <a:p>
            <a:pPr indent="0" marL="0">
              <a:buNone/>
            </a:pPr>
            <a:r>
              <a:rPr lang="en-US" sz="800" b="1" dirty="0">
                <a:solidFill>
                  <a:srgbClr val="DC2626"/>
                </a:solidFill>
                <a:latin typeface="Arial" pitchFamily="34" charset="0"/>
                <a:ea typeface="Arial" pitchFamily="34" charset="-122"/>
                <a:cs typeface="Arial" pitchFamily="34" charset="-120"/>
              </a:rPr>
              <a:t>Booking.com / 5点</a:t>
            </a:r>
            <a:endParaRPr lang="en-US" sz="800" dirty="0"/>
          </a:p>
        </p:txBody>
      </p:sp>
      <p:sp>
        <p:nvSpPr>
          <p:cNvPr id="29" name="Text 27"/>
          <p:cNvSpPr/>
          <p:nvPr/>
        </p:nvSpPr>
        <p:spPr>
          <a:xfrm>
            <a:off x="4846320" y="320040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清潔さ</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改善施策提案</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Phase別アクションプラン</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
        <p:nvSpPr>
          <p:cNvPr id="8" name="Shape 6"/>
          <p:cNvSpPr/>
          <p:nvPr/>
        </p:nvSpPr>
        <p:spPr>
          <a:xfrm>
            <a:off x="274320" y="914400"/>
            <a:ext cx="2743200" cy="502920"/>
          </a:xfrm>
          <a:prstGeom prst="rect">
            <a:avLst/>
          </a:prstGeom>
          <a:solidFill>
            <a:srgbClr val="DC2626"/>
          </a:solidFill>
          <a:ln/>
        </p:spPr>
      </p:sp>
      <p:sp>
        <p:nvSpPr>
          <p:cNvPr id="9" name="Text 7"/>
          <p:cNvSpPr/>
          <p:nvPr/>
        </p:nvSpPr>
        <p:spPr>
          <a:xfrm>
            <a:off x="365760" y="914400"/>
            <a:ext cx="2560320" cy="27432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Phase 1</a:t>
            </a:r>
            <a:endParaRPr lang="en-US" sz="1400" dirty="0"/>
          </a:p>
        </p:txBody>
      </p:sp>
      <p:sp>
        <p:nvSpPr>
          <p:cNvPr id="10" name="Text 8"/>
          <p:cNvSpPr/>
          <p:nvPr/>
        </p:nvSpPr>
        <p:spPr>
          <a:xfrm>
            <a:off x="365760" y="1170432"/>
            <a:ext cx="2560320" cy="228600"/>
          </a:xfrm>
          <a:prstGeom prst="rect">
            <a:avLst/>
          </a:prstGeom>
          <a:noFill/>
          <a:ln/>
        </p:spPr>
        <p:txBody>
          <a:bodyPr wrap="square" rtlCol="0" anchor="ctr"/>
          <a:lstStyle/>
          <a:p>
            <a:pPr indent="0" marL="0">
              <a:buNone/>
            </a:pPr>
            <a:r>
              <a:rPr lang="en-US" sz="900" dirty="0">
                <a:solidFill>
                  <a:srgbClr val="FFFFFF"/>
                </a:solidFill>
                <a:latin typeface="Arial" pitchFamily="34" charset="0"/>
                <a:ea typeface="Arial" pitchFamily="34" charset="-122"/>
                <a:cs typeface="Arial" pitchFamily="34" charset="-120"/>
              </a:rPr>
              <a:t>即座対応（〜1ヶ月）</a:t>
            </a:r>
            <a:endParaRPr lang="en-US" sz="900" dirty="0"/>
          </a:p>
        </p:txBody>
      </p:sp>
      <p:sp>
        <p:nvSpPr>
          <p:cNvPr id="11" name="Shape 9"/>
          <p:cNvSpPr/>
          <p:nvPr/>
        </p:nvSpPr>
        <p:spPr>
          <a:xfrm>
            <a:off x="274320" y="155448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2" name="Shape 10"/>
          <p:cNvSpPr/>
          <p:nvPr/>
        </p:nvSpPr>
        <p:spPr>
          <a:xfrm>
            <a:off x="274320" y="1554480"/>
            <a:ext cx="73152" cy="640080"/>
          </a:xfrm>
          <a:prstGeom prst="rect">
            <a:avLst/>
          </a:prstGeom>
          <a:solidFill>
            <a:srgbClr val="DC2626"/>
          </a:solidFill>
          <a:ln/>
        </p:spPr>
      </p:sp>
      <p:sp>
        <p:nvSpPr>
          <p:cNvPr id="13" name="Text 11"/>
          <p:cNvSpPr/>
          <p:nvPr/>
        </p:nvSpPr>
        <p:spPr>
          <a:xfrm>
            <a:off x="411480" y="169164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口コミ全件返信（48h）</a:t>
            </a:r>
            <a:endParaRPr lang="en-US" sz="1000" dirty="0"/>
          </a:p>
        </p:txBody>
      </p:sp>
      <p:sp>
        <p:nvSpPr>
          <p:cNvPr id="14" name="Shape 12"/>
          <p:cNvSpPr/>
          <p:nvPr/>
        </p:nvSpPr>
        <p:spPr>
          <a:xfrm>
            <a:off x="274320" y="228600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274320" y="2286000"/>
            <a:ext cx="73152" cy="640080"/>
          </a:xfrm>
          <a:prstGeom prst="rect">
            <a:avLst/>
          </a:prstGeom>
          <a:solidFill>
            <a:srgbClr val="DC2626"/>
          </a:solidFill>
          <a:ln/>
        </p:spPr>
      </p:sp>
      <p:sp>
        <p:nvSpPr>
          <p:cNvPr id="16" name="Text 14"/>
          <p:cNvSpPr/>
          <p:nvPr/>
        </p:nvSpPr>
        <p:spPr>
          <a:xfrm>
            <a:off x="411480" y="242316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清掃品質チェックリスト強化</a:t>
            </a:r>
            <a:endParaRPr lang="en-US" sz="1000" dirty="0"/>
          </a:p>
        </p:txBody>
      </p:sp>
      <p:sp>
        <p:nvSpPr>
          <p:cNvPr id="17" name="Shape 15"/>
          <p:cNvSpPr/>
          <p:nvPr/>
        </p:nvSpPr>
        <p:spPr>
          <a:xfrm>
            <a:off x="274320" y="301752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274320" y="3017520"/>
            <a:ext cx="73152" cy="640080"/>
          </a:xfrm>
          <a:prstGeom prst="rect">
            <a:avLst/>
          </a:prstGeom>
          <a:solidFill>
            <a:srgbClr val="DC2626"/>
          </a:solidFill>
          <a:ln/>
        </p:spPr>
      </p:sp>
      <p:sp>
        <p:nvSpPr>
          <p:cNvPr id="19" name="Text 17"/>
          <p:cNvSpPr/>
          <p:nvPr/>
        </p:nvSpPr>
        <p:spPr>
          <a:xfrm>
            <a:off x="411480" y="315468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課題の朝礼共有</a:t>
            </a:r>
            <a:endParaRPr lang="en-US" sz="1000" dirty="0"/>
          </a:p>
        </p:txBody>
      </p:sp>
      <p:sp>
        <p:nvSpPr>
          <p:cNvPr id="20" name="Shape 18"/>
          <p:cNvSpPr/>
          <p:nvPr/>
        </p:nvSpPr>
        <p:spPr>
          <a:xfrm>
            <a:off x="3246120" y="914400"/>
            <a:ext cx="2743200" cy="502920"/>
          </a:xfrm>
          <a:prstGeom prst="rect">
            <a:avLst/>
          </a:prstGeom>
          <a:solidFill>
            <a:srgbClr val="EA580C"/>
          </a:solidFill>
          <a:ln/>
        </p:spPr>
      </p:sp>
      <p:sp>
        <p:nvSpPr>
          <p:cNvPr id="21" name="Text 19"/>
          <p:cNvSpPr/>
          <p:nvPr/>
        </p:nvSpPr>
        <p:spPr>
          <a:xfrm>
            <a:off x="3337560" y="914400"/>
            <a:ext cx="2560320" cy="27432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Phase 2</a:t>
            </a:r>
            <a:endParaRPr lang="en-US" sz="1400" dirty="0"/>
          </a:p>
        </p:txBody>
      </p:sp>
      <p:sp>
        <p:nvSpPr>
          <p:cNvPr id="22" name="Text 20"/>
          <p:cNvSpPr/>
          <p:nvPr/>
        </p:nvSpPr>
        <p:spPr>
          <a:xfrm>
            <a:off x="3337560" y="1170432"/>
            <a:ext cx="2560320" cy="228600"/>
          </a:xfrm>
          <a:prstGeom prst="rect">
            <a:avLst/>
          </a:prstGeom>
          <a:noFill/>
          <a:ln/>
        </p:spPr>
        <p:txBody>
          <a:bodyPr wrap="square" rtlCol="0" anchor="ctr"/>
          <a:lstStyle/>
          <a:p>
            <a:pPr indent="0" marL="0">
              <a:buNone/>
            </a:pPr>
            <a:r>
              <a:rPr lang="en-US" sz="900" dirty="0">
                <a:solidFill>
                  <a:srgbClr val="FFFFFF"/>
                </a:solidFill>
                <a:latin typeface="Arial" pitchFamily="34" charset="0"/>
                <a:ea typeface="Arial" pitchFamily="34" charset="-122"/>
                <a:cs typeface="Arial" pitchFamily="34" charset="-120"/>
              </a:rPr>
              <a:t>短期施策（1〜3ヶ月）</a:t>
            </a:r>
            <a:endParaRPr lang="en-US" sz="900" dirty="0"/>
          </a:p>
        </p:txBody>
      </p:sp>
      <p:sp>
        <p:nvSpPr>
          <p:cNvPr id="23" name="Shape 21"/>
          <p:cNvSpPr/>
          <p:nvPr/>
        </p:nvSpPr>
        <p:spPr>
          <a:xfrm>
            <a:off x="3246120" y="155448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4" name="Shape 22"/>
          <p:cNvSpPr/>
          <p:nvPr/>
        </p:nvSpPr>
        <p:spPr>
          <a:xfrm>
            <a:off x="3246120" y="1554480"/>
            <a:ext cx="73152" cy="640080"/>
          </a:xfrm>
          <a:prstGeom prst="rect">
            <a:avLst/>
          </a:prstGeom>
          <a:solidFill>
            <a:srgbClr val="EA580C"/>
          </a:solidFill>
          <a:ln/>
        </p:spPr>
      </p:sp>
      <p:sp>
        <p:nvSpPr>
          <p:cNvPr id="25" name="Text 23"/>
          <p:cNvSpPr/>
          <p:nvPr/>
        </p:nvSpPr>
        <p:spPr>
          <a:xfrm>
            <a:off x="3383280" y="169164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OTA掲載情報最適化</a:t>
            </a:r>
            <a:endParaRPr lang="en-US" sz="1000" dirty="0"/>
          </a:p>
        </p:txBody>
      </p:sp>
      <p:sp>
        <p:nvSpPr>
          <p:cNvPr id="26" name="Shape 24"/>
          <p:cNvSpPr/>
          <p:nvPr/>
        </p:nvSpPr>
        <p:spPr>
          <a:xfrm>
            <a:off x="3246120" y="228600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3246120" y="2286000"/>
            <a:ext cx="73152" cy="640080"/>
          </a:xfrm>
          <a:prstGeom prst="rect">
            <a:avLst/>
          </a:prstGeom>
          <a:solidFill>
            <a:srgbClr val="EA580C"/>
          </a:solidFill>
          <a:ln/>
        </p:spPr>
      </p:sp>
      <p:sp>
        <p:nvSpPr>
          <p:cNvPr id="28" name="Text 26"/>
          <p:cNvSpPr/>
          <p:nvPr/>
        </p:nvSpPr>
        <p:spPr>
          <a:xfrm>
            <a:off x="3383280" y="242316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競合比較・価格戦略見直し</a:t>
            </a:r>
            <a:endParaRPr lang="en-US" sz="1000" dirty="0"/>
          </a:p>
        </p:txBody>
      </p:sp>
      <p:sp>
        <p:nvSpPr>
          <p:cNvPr id="29" name="Shape 27"/>
          <p:cNvSpPr/>
          <p:nvPr/>
        </p:nvSpPr>
        <p:spPr>
          <a:xfrm>
            <a:off x="3246120" y="301752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0" name="Shape 28"/>
          <p:cNvSpPr/>
          <p:nvPr/>
        </p:nvSpPr>
        <p:spPr>
          <a:xfrm>
            <a:off x="3246120" y="3017520"/>
            <a:ext cx="73152" cy="640080"/>
          </a:xfrm>
          <a:prstGeom prst="rect">
            <a:avLst/>
          </a:prstGeom>
          <a:solidFill>
            <a:srgbClr val="EA580C"/>
          </a:solidFill>
          <a:ln/>
        </p:spPr>
      </p:sp>
      <p:sp>
        <p:nvSpPr>
          <p:cNvPr id="31" name="Text 29"/>
          <p:cNvSpPr/>
          <p:nvPr/>
        </p:nvSpPr>
        <p:spPr>
          <a:xfrm>
            <a:off x="3383280" y="315468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アメニティ改善</a:t>
            </a:r>
            <a:endParaRPr lang="en-US" sz="1000" dirty="0"/>
          </a:p>
        </p:txBody>
      </p:sp>
      <p:sp>
        <p:nvSpPr>
          <p:cNvPr id="32" name="Shape 30"/>
          <p:cNvSpPr/>
          <p:nvPr/>
        </p:nvSpPr>
        <p:spPr>
          <a:xfrm>
            <a:off x="6217920" y="914400"/>
            <a:ext cx="2743200" cy="502920"/>
          </a:xfrm>
          <a:prstGeom prst="rect">
            <a:avLst/>
          </a:prstGeom>
          <a:solidFill>
            <a:srgbClr val="3B7DD8"/>
          </a:solidFill>
          <a:ln/>
        </p:spPr>
      </p:sp>
      <p:sp>
        <p:nvSpPr>
          <p:cNvPr id="33" name="Text 31"/>
          <p:cNvSpPr/>
          <p:nvPr/>
        </p:nvSpPr>
        <p:spPr>
          <a:xfrm>
            <a:off x="6309360" y="914400"/>
            <a:ext cx="2560320" cy="27432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Phase 3</a:t>
            </a:r>
            <a:endParaRPr lang="en-US" sz="1400" dirty="0"/>
          </a:p>
        </p:txBody>
      </p:sp>
      <p:sp>
        <p:nvSpPr>
          <p:cNvPr id="34" name="Text 32"/>
          <p:cNvSpPr/>
          <p:nvPr/>
        </p:nvSpPr>
        <p:spPr>
          <a:xfrm>
            <a:off x="6309360" y="1170432"/>
            <a:ext cx="2560320" cy="228600"/>
          </a:xfrm>
          <a:prstGeom prst="rect">
            <a:avLst/>
          </a:prstGeom>
          <a:noFill/>
          <a:ln/>
        </p:spPr>
        <p:txBody>
          <a:bodyPr wrap="square" rtlCol="0" anchor="ctr"/>
          <a:lstStyle/>
          <a:p>
            <a:pPr indent="0" marL="0">
              <a:buNone/>
            </a:pPr>
            <a:r>
              <a:rPr lang="en-US" sz="900" dirty="0">
                <a:solidFill>
                  <a:srgbClr val="FFFFFF"/>
                </a:solidFill>
                <a:latin typeface="Arial" pitchFamily="34" charset="0"/>
                <a:ea typeface="Arial" pitchFamily="34" charset="-122"/>
                <a:cs typeface="Arial" pitchFamily="34" charset="-120"/>
              </a:rPr>
              <a:t>中期施策（3〜6ヶ月）</a:t>
            </a:r>
            <a:endParaRPr lang="en-US" sz="900" dirty="0"/>
          </a:p>
        </p:txBody>
      </p:sp>
      <p:sp>
        <p:nvSpPr>
          <p:cNvPr id="35" name="Shape 33"/>
          <p:cNvSpPr/>
          <p:nvPr/>
        </p:nvSpPr>
        <p:spPr>
          <a:xfrm>
            <a:off x="6217920" y="155448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6" name="Shape 34"/>
          <p:cNvSpPr/>
          <p:nvPr/>
        </p:nvSpPr>
        <p:spPr>
          <a:xfrm>
            <a:off x="6217920" y="1554480"/>
            <a:ext cx="73152" cy="640080"/>
          </a:xfrm>
          <a:prstGeom prst="rect">
            <a:avLst/>
          </a:prstGeom>
          <a:solidFill>
            <a:srgbClr val="3B7DD8"/>
          </a:solidFill>
          <a:ln/>
        </p:spPr>
      </p:sp>
      <p:sp>
        <p:nvSpPr>
          <p:cNvPr id="37" name="Text 35"/>
          <p:cNvSpPr/>
          <p:nvPr/>
        </p:nvSpPr>
        <p:spPr>
          <a:xfrm>
            <a:off x="6355080" y="169164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施設設備の修繕計画</a:t>
            </a:r>
            <a:endParaRPr lang="en-US" sz="1000" dirty="0"/>
          </a:p>
        </p:txBody>
      </p:sp>
      <p:sp>
        <p:nvSpPr>
          <p:cNvPr id="38" name="Shape 36"/>
          <p:cNvSpPr/>
          <p:nvPr/>
        </p:nvSpPr>
        <p:spPr>
          <a:xfrm>
            <a:off x="6217920" y="228600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9" name="Shape 37"/>
          <p:cNvSpPr/>
          <p:nvPr/>
        </p:nvSpPr>
        <p:spPr>
          <a:xfrm>
            <a:off x="6217920" y="2286000"/>
            <a:ext cx="73152" cy="640080"/>
          </a:xfrm>
          <a:prstGeom prst="rect">
            <a:avLst/>
          </a:prstGeom>
          <a:solidFill>
            <a:srgbClr val="3B7DD8"/>
          </a:solidFill>
          <a:ln/>
        </p:spPr>
      </p:sp>
      <p:sp>
        <p:nvSpPr>
          <p:cNvPr id="40" name="Text 38"/>
          <p:cNvSpPr/>
          <p:nvPr/>
        </p:nvSpPr>
        <p:spPr>
          <a:xfrm>
            <a:off x="6355080" y="242316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多言語対応整備</a:t>
            </a:r>
            <a:endParaRPr lang="en-US" sz="1000" dirty="0"/>
          </a:p>
        </p:txBody>
      </p:sp>
      <p:sp>
        <p:nvSpPr>
          <p:cNvPr id="41" name="Shape 39"/>
          <p:cNvSpPr/>
          <p:nvPr/>
        </p:nvSpPr>
        <p:spPr>
          <a:xfrm>
            <a:off x="6217920" y="301752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2" name="Shape 40"/>
          <p:cNvSpPr/>
          <p:nvPr/>
        </p:nvSpPr>
        <p:spPr>
          <a:xfrm>
            <a:off x="6217920" y="3017520"/>
            <a:ext cx="73152" cy="640080"/>
          </a:xfrm>
          <a:prstGeom prst="rect">
            <a:avLst/>
          </a:prstGeom>
          <a:solidFill>
            <a:srgbClr val="3B7DD8"/>
          </a:solidFill>
          <a:ln/>
        </p:spPr>
      </p:sp>
      <p:sp>
        <p:nvSpPr>
          <p:cNvPr id="43" name="Text 41"/>
          <p:cNvSpPr/>
          <p:nvPr/>
        </p:nvSpPr>
        <p:spPr>
          <a:xfrm>
            <a:off x="6355080" y="315468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デジタル体験向上</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6ヶ月後の目標値</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
        <p:nvSpPr>
          <p:cNvPr id="8" name="Shape 6"/>
          <p:cNvSpPr/>
          <p:nvPr/>
        </p:nvSpPr>
        <p:spPr>
          <a:xfrm>
            <a:off x="27432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9" name="Shape 7"/>
          <p:cNvSpPr/>
          <p:nvPr/>
        </p:nvSpPr>
        <p:spPr>
          <a:xfrm>
            <a:off x="274320" y="1005840"/>
            <a:ext cx="2011680" cy="54864"/>
          </a:xfrm>
          <a:prstGeom prst="rect">
            <a:avLst/>
          </a:prstGeom>
          <a:solidFill>
            <a:srgbClr val="3B7DD8"/>
          </a:solidFill>
          <a:ln/>
        </p:spPr>
      </p:sp>
      <p:sp>
        <p:nvSpPr>
          <p:cNvPr id="10" name="Text 8"/>
          <p:cNvSpPr/>
          <p:nvPr/>
        </p:nvSpPr>
        <p:spPr>
          <a:xfrm>
            <a:off x="36576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全体平均（10pt）</a:t>
            </a:r>
            <a:endParaRPr lang="en-US" sz="1100" dirty="0"/>
          </a:p>
        </p:txBody>
      </p:sp>
      <p:sp>
        <p:nvSpPr>
          <p:cNvPr id="11" name="Text 9"/>
          <p:cNvSpPr/>
          <p:nvPr/>
        </p:nvSpPr>
        <p:spPr>
          <a:xfrm>
            <a:off x="36576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12" name="Text 10"/>
          <p:cNvSpPr/>
          <p:nvPr/>
        </p:nvSpPr>
        <p:spPr>
          <a:xfrm>
            <a:off x="36576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8.13点</a:t>
            </a:r>
            <a:endParaRPr lang="en-US" sz="1800" dirty="0"/>
          </a:p>
        </p:txBody>
      </p:sp>
      <p:sp>
        <p:nvSpPr>
          <p:cNvPr id="13" name="Shape 11"/>
          <p:cNvSpPr/>
          <p:nvPr/>
        </p:nvSpPr>
        <p:spPr>
          <a:xfrm>
            <a:off x="548640" y="2697480"/>
            <a:ext cx="1463040" cy="0"/>
          </a:xfrm>
          <a:prstGeom prst="line">
            <a:avLst/>
          </a:prstGeom>
          <a:noFill/>
          <a:ln w="12700">
            <a:solidFill>
              <a:srgbClr val="94A3B8"/>
            </a:solidFill>
            <a:prstDash val="solid"/>
          </a:ln>
        </p:spPr>
      </p:sp>
      <p:sp>
        <p:nvSpPr>
          <p:cNvPr id="14" name="Text 12"/>
          <p:cNvSpPr/>
          <p:nvPr/>
        </p:nvSpPr>
        <p:spPr>
          <a:xfrm>
            <a:off x="36576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15" name="Text 13"/>
          <p:cNvSpPr/>
          <p:nvPr/>
        </p:nvSpPr>
        <p:spPr>
          <a:xfrm>
            <a:off x="365760" y="3017520"/>
            <a:ext cx="1828800" cy="548640"/>
          </a:xfrm>
          <a:prstGeom prst="rect">
            <a:avLst/>
          </a:prstGeom>
          <a:noFill/>
          <a:ln/>
        </p:spPr>
        <p:txBody>
          <a:bodyPr wrap="square" rtlCol="0" anchor="ctr"/>
          <a:lstStyle/>
          <a:p>
            <a:pPr algn="ctr" indent="0" marL="0">
              <a:buNone/>
            </a:pPr>
            <a:r>
              <a:rPr lang="en-US" sz="1600" b="1" dirty="0">
                <a:solidFill>
                  <a:srgbClr val="3B7DD8"/>
                </a:solidFill>
                <a:latin typeface="Arial" pitchFamily="34" charset="0"/>
                <a:ea typeface="Arial" pitchFamily="34" charset="-122"/>
                <a:cs typeface="Arial" pitchFamily="34" charset="-120"/>
              </a:rPr>
              <a:t>8.6点以上</a:t>
            </a:r>
            <a:endParaRPr lang="en-US" sz="1600" dirty="0"/>
          </a:p>
        </p:txBody>
      </p:sp>
      <p:sp>
        <p:nvSpPr>
          <p:cNvPr id="16" name="Shape 14"/>
          <p:cNvSpPr/>
          <p:nvPr/>
        </p:nvSpPr>
        <p:spPr>
          <a:xfrm>
            <a:off x="246888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Shape 15"/>
          <p:cNvSpPr/>
          <p:nvPr/>
        </p:nvSpPr>
        <p:spPr>
          <a:xfrm>
            <a:off x="2468880" y="1005840"/>
            <a:ext cx="2011680" cy="54864"/>
          </a:xfrm>
          <a:prstGeom prst="rect">
            <a:avLst/>
          </a:prstGeom>
          <a:solidFill>
            <a:srgbClr val="16A34A"/>
          </a:solidFill>
          <a:ln/>
        </p:spPr>
      </p:sp>
      <p:sp>
        <p:nvSpPr>
          <p:cNvPr id="18" name="Text 16"/>
          <p:cNvSpPr/>
          <p:nvPr/>
        </p:nvSpPr>
        <p:spPr>
          <a:xfrm>
            <a:off x="256032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高評価率</a:t>
            </a:r>
            <a:endParaRPr lang="en-US" sz="1100" dirty="0"/>
          </a:p>
        </p:txBody>
      </p:sp>
      <p:sp>
        <p:nvSpPr>
          <p:cNvPr id="19" name="Text 17"/>
          <p:cNvSpPr/>
          <p:nvPr/>
        </p:nvSpPr>
        <p:spPr>
          <a:xfrm>
            <a:off x="256032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20" name="Text 18"/>
          <p:cNvSpPr/>
          <p:nvPr/>
        </p:nvSpPr>
        <p:spPr>
          <a:xfrm>
            <a:off x="256032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69.6%</a:t>
            </a:r>
            <a:endParaRPr lang="en-US" sz="1800" dirty="0"/>
          </a:p>
        </p:txBody>
      </p:sp>
      <p:sp>
        <p:nvSpPr>
          <p:cNvPr id="21" name="Shape 19"/>
          <p:cNvSpPr/>
          <p:nvPr/>
        </p:nvSpPr>
        <p:spPr>
          <a:xfrm>
            <a:off x="2743200" y="2697480"/>
            <a:ext cx="1463040" cy="0"/>
          </a:xfrm>
          <a:prstGeom prst="line">
            <a:avLst/>
          </a:prstGeom>
          <a:noFill/>
          <a:ln w="12700">
            <a:solidFill>
              <a:srgbClr val="94A3B8"/>
            </a:solidFill>
            <a:prstDash val="solid"/>
          </a:ln>
        </p:spPr>
      </p:sp>
      <p:sp>
        <p:nvSpPr>
          <p:cNvPr id="22" name="Text 20"/>
          <p:cNvSpPr/>
          <p:nvPr/>
        </p:nvSpPr>
        <p:spPr>
          <a:xfrm>
            <a:off x="256032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23" name="Text 21"/>
          <p:cNvSpPr/>
          <p:nvPr/>
        </p:nvSpPr>
        <p:spPr>
          <a:xfrm>
            <a:off x="2560320" y="3017520"/>
            <a:ext cx="1828800" cy="548640"/>
          </a:xfrm>
          <a:prstGeom prst="rect">
            <a:avLst/>
          </a:prstGeom>
          <a:noFill/>
          <a:ln/>
        </p:spPr>
        <p:txBody>
          <a:bodyPr wrap="square" rtlCol="0" anchor="ctr"/>
          <a:lstStyle/>
          <a:p>
            <a:pPr algn="ctr" indent="0" marL="0">
              <a:buNone/>
            </a:pPr>
            <a:r>
              <a:rPr lang="en-US" sz="1600" b="1" dirty="0">
                <a:solidFill>
                  <a:srgbClr val="16A34A"/>
                </a:solidFill>
                <a:latin typeface="Arial" pitchFamily="34" charset="0"/>
                <a:ea typeface="Arial" pitchFamily="34" charset="-122"/>
                <a:cs typeface="Arial" pitchFamily="34" charset="-120"/>
              </a:rPr>
              <a:t>74.6%以上</a:t>
            </a:r>
            <a:endParaRPr lang="en-US" sz="1600" dirty="0"/>
          </a:p>
        </p:txBody>
      </p:sp>
      <p:sp>
        <p:nvSpPr>
          <p:cNvPr id="24" name="Shape 22"/>
          <p:cNvSpPr/>
          <p:nvPr/>
        </p:nvSpPr>
        <p:spPr>
          <a:xfrm>
            <a:off x="466344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5" name="Shape 23"/>
          <p:cNvSpPr/>
          <p:nvPr/>
        </p:nvSpPr>
        <p:spPr>
          <a:xfrm>
            <a:off x="4663440" y="1005840"/>
            <a:ext cx="2011680" cy="54864"/>
          </a:xfrm>
          <a:prstGeom prst="rect">
            <a:avLst/>
          </a:prstGeom>
          <a:solidFill>
            <a:srgbClr val="DC2626"/>
          </a:solidFill>
          <a:ln/>
        </p:spPr>
      </p:sp>
      <p:sp>
        <p:nvSpPr>
          <p:cNvPr id="26" name="Text 24"/>
          <p:cNvSpPr/>
          <p:nvPr/>
        </p:nvSpPr>
        <p:spPr>
          <a:xfrm>
            <a:off x="475488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低評価率</a:t>
            </a:r>
            <a:endParaRPr lang="en-US" sz="1100" dirty="0"/>
          </a:p>
        </p:txBody>
      </p:sp>
      <p:sp>
        <p:nvSpPr>
          <p:cNvPr id="27" name="Text 25"/>
          <p:cNvSpPr/>
          <p:nvPr/>
        </p:nvSpPr>
        <p:spPr>
          <a:xfrm>
            <a:off x="475488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28" name="Text 26"/>
          <p:cNvSpPr/>
          <p:nvPr/>
        </p:nvSpPr>
        <p:spPr>
          <a:xfrm>
            <a:off x="475488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1.4%</a:t>
            </a:r>
            <a:endParaRPr lang="en-US" sz="1800" dirty="0"/>
          </a:p>
        </p:txBody>
      </p:sp>
      <p:sp>
        <p:nvSpPr>
          <p:cNvPr id="29" name="Shape 27"/>
          <p:cNvSpPr/>
          <p:nvPr/>
        </p:nvSpPr>
        <p:spPr>
          <a:xfrm>
            <a:off x="4937760" y="2697480"/>
            <a:ext cx="1463040" cy="0"/>
          </a:xfrm>
          <a:prstGeom prst="line">
            <a:avLst/>
          </a:prstGeom>
          <a:noFill/>
          <a:ln w="12700">
            <a:solidFill>
              <a:srgbClr val="94A3B8"/>
            </a:solidFill>
            <a:prstDash val="solid"/>
          </a:ln>
        </p:spPr>
      </p:sp>
      <p:sp>
        <p:nvSpPr>
          <p:cNvPr id="30" name="Text 28"/>
          <p:cNvSpPr/>
          <p:nvPr/>
        </p:nvSpPr>
        <p:spPr>
          <a:xfrm>
            <a:off x="475488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31" name="Text 29"/>
          <p:cNvSpPr/>
          <p:nvPr/>
        </p:nvSpPr>
        <p:spPr>
          <a:xfrm>
            <a:off x="4754880" y="3017520"/>
            <a:ext cx="1828800" cy="548640"/>
          </a:xfrm>
          <a:prstGeom prst="rect">
            <a:avLst/>
          </a:prstGeom>
          <a:noFill/>
          <a:ln/>
        </p:spPr>
        <p:txBody>
          <a:bodyPr wrap="square" rtlCol="0" anchor="ctr"/>
          <a:lstStyle/>
          <a:p>
            <a:pPr algn="ctr" indent="0" marL="0">
              <a:buNone/>
            </a:pPr>
            <a:r>
              <a:rPr lang="en-US" sz="1600" b="1" dirty="0">
                <a:solidFill>
                  <a:srgbClr val="DC2626"/>
                </a:solidFill>
                <a:latin typeface="Arial" pitchFamily="34" charset="0"/>
                <a:ea typeface="Arial" pitchFamily="34" charset="-122"/>
                <a:cs typeface="Arial" pitchFamily="34" charset="-120"/>
              </a:rPr>
              <a:t>0.0%以下</a:t>
            </a:r>
            <a:endParaRPr lang="en-US" sz="1600" dirty="0"/>
          </a:p>
        </p:txBody>
      </p:sp>
      <p:sp>
        <p:nvSpPr>
          <p:cNvPr id="32" name="Shape 30"/>
          <p:cNvSpPr/>
          <p:nvPr/>
        </p:nvSpPr>
        <p:spPr>
          <a:xfrm>
            <a:off x="685800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3" name="Shape 31"/>
          <p:cNvSpPr/>
          <p:nvPr/>
        </p:nvSpPr>
        <p:spPr>
          <a:xfrm>
            <a:off x="6858000" y="1005840"/>
            <a:ext cx="2011680" cy="54864"/>
          </a:xfrm>
          <a:prstGeom prst="rect">
            <a:avLst/>
          </a:prstGeom>
          <a:solidFill>
            <a:srgbClr val="EA580C"/>
          </a:solidFill>
          <a:ln/>
        </p:spPr>
      </p:sp>
      <p:sp>
        <p:nvSpPr>
          <p:cNvPr id="34" name="Text 32"/>
          <p:cNvSpPr/>
          <p:nvPr/>
        </p:nvSpPr>
        <p:spPr>
          <a:xfrm>
            <a:off x="694944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口コミ返信率</a:t>
            </a:r>
            <a:endParaRPr lang="en-US" sz="1100" dirty="0"/>
          </a:p>
        </p:txBody>
      </p:sp>
      <p:sp>
        <p:nvSpPr>
          <p:cNvPr id="35" name="Text 33"/>
          <p:cNvSpPr/>
          <p:nvPr/>
        </p:nvSpPr>
        <p:spPr>
          <a:xfrm>
            <a:off x="694944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36" name="Text 34"/>
          <p:cNvSpPr/>
          <p:nvPr/>
        </p:nvSpPr>
        <p:spPr>
          <a:xfrm>
            <a:off x="694944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未計測</a:t>
            </a:r>
            <a:endParaRPr lang="en-US" sz="1800" dirty="0"/>
          </a:p>
        </p:txBody>
      </p:sp>
      <p:sp>
        <p:nvSpPr>
          <p:cNvPr id="37" name="Shape 35"/>
          <p:cNvSpPr/>
          <p:nvPr/>
        </p:nvSpPr>
        <p:spPr>
          <a:xfrm>
            <a:off x="7132320" y="2697480"/>
            <a:ext cx="1463040" cy="0"/>
          </a:xfrm>
          <a:prstGeom prst="line">
            <a:avLst/>
          </a:prstGeom>
          <a:noFill/>
          <a:ln w="12700">
            <a:solidFill>
              <a:srgbClr val="94A3B8"/>
            </a:solidFill>
            <a:prstDash val="solid"/>
          </a:ln>
        </p:spPr>
      </p:sp>
      <p:sp>
        <p:nvSpPr>
          <p:cNvPr id="38" name="Text 36"/>
          <p:cNvSpPr/>
          <p:nvPr/>
        </p:nvSpPr>
        <p:spPr>
          <a:xfrm>
            <a:off x="694944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39" name="Text 37"/>
          <p:cNvSpPr/>
          <p:nvPr/>
        </p:nvSpPr>
        <p:spPr>
          <a:xfrm>
            <a:off x="6949440" y="3017520"/>
            <a:ext cx="1828800" cy="548640"/>
          </a:xfrm>
          <a:prstGeom prst="rect">
            <a:avLst/>
          </a:prstGeom>
          <a:noFill/>
          <a:ln/>
        </p:spPr>
        <p:txBody>
          <a:bodyPr wrap="square" rtlCol="0" anchor="ctr"/>
          <a:lstStyle/>
          <a:p>
            <a:pPr algn="ctr" indent="0" marL="0">
              <a:buNone/>
            </a:pPr>
            <a:r>
              <a:rPr lang="en-US" sz="1600" b="1" dirty="0">
                <a:solidFill>
                  <a:srgbClr val="EA580C"/>
                </a:solidFill>
                <a:latin typeface="Arial" pitchFamily="34" charset="0"/>
                <a:ea typeface="Arial" pitchFamily="34" charset="-122"/>
                <a:cs typeface="Arial" pitchFamily="34" charset="-120"/>
              </a:rPr>
              <a:t>100%（48h以内）</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2744"/>
        </a:solidFill>
      </p:bgPr>
    </p:bg>
    <p:spTree>
      <p:nvGrpSpPr>
        <p:cNvPr id="1" name=""/>
        <p:cNvGrpSpPr/>
        <p:nvPr/>
      </p:nvGrpSpPr>
      <p:grpSpPr>
        <a:xfrm>
          <a:off x="0" y="0"/>
          <a:ext cx="0" cy="0"/>
          <a:chOff x="0" y="0"/>
          <a:chExt cx="0" cy="0"/>
        </a:xfrm>
      </p:grpSpPr>
      <p:sp>
        <p:nvSpPr>
          <p:cNvPr id="2" name="Text 0"/>
          <p:cNvSpPr/>
          <p:nvPr/>
        </p:nvSpPr>
        <p:spPr>
          <a:xfrm>
            <a:off x="457200" y="457200"/>
            <a:ext cx="8229600" cy="640080"/>
          </a:xfrm>
          <a:prstGeom prst="rect">
            <a:avLst/>
          </a:prstGeom>
          <a:noFill/>
          <a:ln/>
        </p:spPr>
        <p:txBody>
          <a:bodyPr wrap="square"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総括と今後のアクション</a:t>
            </a:r>
            <a:endParaRPr lang="en-US" sz="2800" dirty="0"/>
          </a:p>
        </p:txBody>
      </p:sp>
      <p:sp>
        <p:nvSpPr>
          <p:cNvPr id="3" name="Shape 1"/>
          <p:cNvSpPr/>
          <p:nvPr/>
        </p:nvSpPr>
        <p:spPr>
          <a:xfrm>
            <a:off x="914400" y="1280160"/>
            <a:ext cx="7315200" cy="2560320"/>
          </a:xfrm>
          <a:prstGeom prst="rect">
            <a:avLst/>
          </a:prstGeom>
          <a:solidFill>
            <a:srgbClr val="243556"/>
          </a:solidFill>
          <a:ln/>
          <a:effectLst>
            <a:outerShdw sx="100000" sy="100000" kx="0" ky="0" algn="bl" rotWithShape="0" blurRad="50800" dist="25400" dir="8100000">
              <a:srgbClr val="000000">
                <a:alpha val="10000"/>
              </a:srgbClr>
            </a:outerShdw>
          </a:effectLst>
        </p:spPr>
      </p:sp>
      <p:sp>
        <p:nvSpPr>
          <p:cNvPr id="4" name="Shape 2"/>
          <p:cNvSpPr/>
          <p:nvPr/>
        </p:nvSpPr>
        <p:spPr>
          <a:xfrm>
            <a:off x="914400" y="1280160"/>
            <a:ext cx="64008" cy="2560320"/>
          </a:xfrm>
          <a:prstGeom prst="rect">
            <a:avLst/>
          </a:prstGeom>
          <a:solidFill>
            <a:srgbClr val="3B7DD8"/>
          </a:solidFill>
          <a:ln/>
        </p:spPr>
      </p:sp>
      <p:sp>
        <p:nvSpPr>
          <p:cNvPr id="5" name="Text 3"/>
          <p:cNvSpPr/>
          <p:nvPr/>
        </p:nvSpPr>
        <p:spPr>
          <a:xfrm>
            <a:off x="1188720" y="1371600"/>
            <a:ext cx="6858000" cy="2377440"/>
          </a:xfrm>
          <a:prstGeom prst="rect">
            <a:avLst/>
          </a:prstGeom>
          <a:noFill/>
          <a:ln/>
        </p:spPr>
        <p:txBody>
          <a:bodyPr wrap="square" rtlCol="0" anchor="t"/>
          <a:lstStyle/>
          <a:p>
            <a:pPr indent="0" marL="0">
              <a:buNone/>
            </a:pPr>
            <a:r>
              <a:rPr lang="en-US" sz="1200" dirty="0">
                <a:solidFill>
                  <a:srgbClr val="FFFFFF"/>
                </a:solidFill>
                <a:latin typeface="Arial" pitchFamily="34" charset="0"/>
                <a:ea typeface="Arial" pitchFamily="34" charset="-122"/>
                <a:cs typeface="Arial" pitchFamily="34" charset="-120"/>
              </a:rPr>
              <a:t>アパホテル相模原橋本駅東の口コミ分析の結果、10点換算で平均8.13点（概ね良好）を記録しました。</a:t>
            </a:r>
            <a:endParaRPr lang="en-US" sz="1200" dirty="0"/>
          </a:p>
          <a:p>
            <a:pPr indent="0" marL="0">
              <a:buNone/>
            </a:pPr>
            <a:endParaRPr lang="en-US" sz="1200" dirty="0"/>
          </a:p>
          <a:p>
            <a:pPr indent="0" marL="0">
              <a:buNone/>
            </a:pPr>
            <a:r>
              <a:rPr lang="en-US" sz="1200" dirty="0">
                <a:solidFill>
                  <a:srgbClr val="FFFFFF"/>
                </a:solidFill>
                <a:latin typeface="Arial" pitchFamily="34" charset="0"/>
                <a:ea typeface="Arial" pitchFamily="34" charset="-122"/>
                <a:cs typeface="Arial" pitchFamily="34" charset="-120"/>
              </a:rPr>
              <a:t>分析対象69件のうち、高評価（8〜10点）が69.6%を占めており、継続的なサービス改善により更なる満足度向上が期待できます。</a:t>
            </a:r>
            <a:endParaRPr lang="en-US" sz="1200" dirty="0"/>
          </a:p>
          <a:p>
            <a:pPr indent="0" marL="0">
              <a:buNone/>
            </a:pPr>
            <a:endParaRPr lang="en-US" sz="1200" dirty="0"/>
          </a:p>
          <a:p>
            <a:pPr indent="0" marL="0">
              <a:buNone/>
            </a:pPr>
            <a:r>
              <a:rPr lang="en-US" sz="1200" dirty="0">
                <a:solidFill>
                  <a:srgbClr val="FFFFFF"/>
                </a:solidFill>
                <a:latin typeface="Arial" pitchFamily="34" charset="0"/>
                <a:ea typeface="Arial" pitchFamily="34" charset="-122"/>
                <a:cs typeface="Arial" pitchFamily="34" charset="-120"/>
              </a:rPr>
              <a:t>本レポートの改善施策を段階的に実施し、定期的な口コミモニタリングを通じて目標達成を目指してください。</a:t>
            </a:r>
            <a:endParaRPr lang="en-US" sz="1200" dirty="0"/>
          </a:p>
        </p:txBody>
      </p:sp>
      <p:sp>
        <p:nvSpPr>
          <p:cNvPr id="6" name="Shape 4"/>
          <p:cNvSpPr/>
          <p:nvPr/>
        </p:nvSpPr>
        <p:spPr>
          <a:xfrm>
            <a:off x="0" y="4800600"/>
            <a:ext cx="9144000" cy="342900"/>
          </a:xfrm>
          <a:prstGeom prst="rect">
            <a:avLst/>
          </a:prstGeom>
          <a:solidFill>
            <a:srgbClr val="1A2744"/>
          </a:solidFill>
          <a:ln/>
        </p:spPr>
      </p:sp>
      <p:sp>
        <p:nvSpPr>
          <p:cNvPr id="7"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8"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Hotel Consulting</dc:creator>
  <cp:lastModifiedBy>Hotel Consulting</cp:lastModifiedBy>
  <cp:revision>1</cp:revision>
  <dcterms:created xsi:type="dcterms:W3CDTF">2026-03-28T22:02:47Z</dcterms:created>
  <dcterms:modified xsi:type="dcterms:W3CDTF">2026-03-28T22:02:47Z</dcterms:modified>
</cp:coreProperties>
</file>