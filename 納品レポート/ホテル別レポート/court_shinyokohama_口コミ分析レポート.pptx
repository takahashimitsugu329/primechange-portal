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Sheet1!$A$2:$A$6</c:f>
              <c:multiLvlStrCache>
                <c:ptCount val="5"/>
                <c:lvl>
                  <c:pt idx="0">
                    <c:v>Trip.com</c:v>
                  </c:pt>
                  <c:pt idx="1">
                    <c:v>楽天トラベル</c:v>
                  </c:pt>
                  <c:pt idx="2">
                    <c:v>じゃらん</c:v>
                  </c:pt>
                  <c:pt idx="3">
                    <c:v>Booking.com</c:v>
                  </c:pt>
                  <c:pt idx="4">
                    <c:v>Google</c:v>
                  </c:pt>
                </c:lvl>
              </c:multiLvlStrCache>
            </c:multiLvlStrRef>
          </c:cat>
          <c:val>
            <c:numRef>
              <c:f>Sheet1!$B$2:$B$6</c:f>
              <c:numCache>
                <c:formatCode>General</c:formatCode>
                <c:ptCount val="5"/>
                <c:pt idx="0">
                  <c:v>9</c:v>
                </c:pt>
                <c:pt idx="1">
                  <c:v>7.5</c:v>
                </c:pt>
                <c:pt idx="2">
                  <c:v>7.38</c:v>
                </c:pt>
                <c:pt idx="3">
                  <c:v>7.01</c:v>
                </c:pt>
                <c:pt idx="4">
                  <c:v>6.17</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61</c:v>
                </c:pt>
                <c:pt idx="1">
                  <c:v>42</c:v>
                </c:pt>
                <c:pt idx="2">
                  <c:v>17</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DC2626"/>
              </a:solidFill>
              <a:effectLst/>
            </c:spPr>
          </c:dPt>
          <c:dPt>
            <c:idx val="7"/>
            <c:invertIfNegative val="0"/>
            <c:bubble3D val="0"/>
            <c:spPr>
              <a:solidFill>
                <a:srgbClr val="DC2626"/>
              </a:solidFill>
              <a:effectLst/>
            </c:spPr>
          </c:dPt>
          <c:dPt>
            <c:idx val="8"/>
            <c:invertIfNegative val="0"/>
            <c:bubble3D val="0"/>
            <c:spPr>
              <a:solidFill>
                <a:srgbClr val="DC2626"/>
              </a:solidFill>
              <a:effectLst/>
            </c:spPr>
          </c:dPt>
          <c:cat>
            <c:multiLvlStrRef>
              <c:f>Sheet1!$A$2:$A$10</c:f>
              <c:multiLvlStrCache>
                <c:ptCount val="9"/>
                <c:lvl>
                  <c:pt idx="0">
                    <c:v>10点</c:v>
                  </c:pt>
                  <c:pt idx="1">
                    <c:v>9点</c:v>
                  </c:pt>
                  <c:pt idx="2">
                    <c:v>8点</c:v>
                  </c:pt>
                  <c:pt idx="3">
                    <c:v>7点</c:v>
                  </c:pt>
                  <c:pt idx="4">
                    <c:v>6点</c:v>
                  </c:pt>
                  <c:pt idx="5">
                    <c:v>5点</c:v>
                  </c:pt>
                  <c:pt idx="6">
                    <c:v>4点</c:v>
                  </c:pt>
                  <c:pt idx="7">
                    <c:v>3点</c:v>
                  </c:pt>
                  <c:pt idx="8">
                    <c:v>2点</c:v>
                  </c:pt>
                </c:lvl>
              </c:multiLvlStrCache>
            </c:multiLvlStrRef>
          </c:cat>
          <c:val>
            <c:numRef>
              <c:f>Sheet1!$B$2:$B$10</c:f>
              <c:numCache>
                <c:formatCode>General</c:formatCode>
                <c:ptCount val="9"/>
                <c:pt idx="0">
                  <c:v>15</c:v>
                </c:pt>
                <c:pt idx="1">
                  <c:v>12</c:v>
                </c:pt>
                <c:pt idx="2">
                  <c:v>34</c:v>
                </c:pt>
                <c:pt idx="3">
                  <c:v>15</c:v>
                </c:pt>
                <c:pt idx="4">
                  <c:v>14</c:v>
                </c:pt>
                <c:pt idx="5">
                  <c:v>13</c:v>
                </c:pt>
                <c:pt idx="6">
                  <c:v>12</c:v>
                </c:pt>
                <c:pt idx="7">
                  <c:v>2</c:v>
                </c:pt>
                <c:pt idx="8">
                  <c:v>3</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コートホテル新横浜</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分析対象期間：2025年12月〜1月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レビュー総数：120件（5サイト）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作成日：2026年3月19日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7.03</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50.8%</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DC2626"/>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14.2%</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120件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あと駅から近いのがよかったです</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コーヒーとミネラルウォーターのサービスが良かった 特にない 特にない</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快適さ・設備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部屋も広く清潔で快適に過ごす事が出来ました</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さらに良いホテルになって欲しいという意味であえてコメントすると、①二つ枕があるので、片方は高めの枕、もう片方は低め...</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エアコンは集中式なので、温度調節ができません</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防音性能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各部屋の騒音がうるさかった</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FF9800"/>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FF9800"/>
                </a:solidFill>
                <a:latin typeface="Arial" pitchFamily="34" charset="0"/>
                <a:ea typeface="Arial" pitchFamily="34" charset="-122"/>
                <a:cs typeface="Arial" pitchFamily="34" charset="-120"/>
              </a:rPr>
              <a:t>7.03</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D4A843"/>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D4A843"/>
                </a:solidFill>
                <a:latin typeface="Arial" pitchFamily="34" charset="0"/>
                <a:ea typeface="Arial" pitchFamily="34" charset="-122"/>
                <a:cs typeface="Arial" pitchFamily="34" charset="-120"/>
              </a:rPr>
              <a:t>50.8%</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DC2626"/>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14.2%</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120件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Trip.com(9.00)が最高スコア。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Google(6.2)が相対的に低い。口コミ返信の強化が急務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3.75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3.69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7.38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7.01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7.01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3.08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6.17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61件（50.8%）</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42件（35.0%）</a:t>
            </a:r>
            <a:endParaRPr lang="en-US" sz="1100" dirty="0"/>
          </a:p>
        </p:txBody>
      </p:sp>
      <p:sp>
        <p:nvSpPr>
          <p:cNvPr id="13" name="Shape 9"/>
          <p:cNvSpPr/>
          <p:nvPr/>
        </p:nvSpPr>
        <p:spPr>
          <a:xfrm>
            <a:off x="6126480" y="4160520"/>
            <a:ext cx="2651760" cy="502920"/>
          </a:xfrm>
          <a:prstGeom prst="rect">
            <a:avLst/>
          </a:prstGeom>
          <a:solidFill>
            <a:srgbClr val="FEE2E2"/>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17件（14.2%）</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あと駅から近いのがよかったです</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「横浜駅近くのKアリーナでのライブ遠征にて利用」</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コーヒーとミネラルウォーターのサービスが良かった 特にない 特にない</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「スタッフの方がとても愛想良くて話しやすかったです」</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部屋も広く清潔で快適に過ごす事が出来ました</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「ベッドが広くてゆったりできた」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部屋も広く清潔で快適に過ごす事が出来ました</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「部屋は綺麗でしたが、入室してから照明のスイッチを探しました(汗)エアコン含め全て枕元で操作できるのは便利です」</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8件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部屋の照明が明るく、朝食が美味しく、フロント対応が良いホテル</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「朝食はこちらで美味しかったです」</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7件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コンビニ・周辺施設</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22:00前までならホテルの一階にあるレストランも利用できそう</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「それ以外は飲食店、コンビニもありますので困ることはなく快適に過ごせました」</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さらに良いホテルになって欲しいという意味であえてコメントすると、①二つ枕があるので、片方は高めの枕、もう片方は低め...</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エアコンは集中式なので、温度調節ができません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各部屋の騒音がうるさかった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製氷機が壊れてたのと、トイレの流れが悪かった事が少し残念でしたが、全体的には満足でした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設備の老朽化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蛇口が熱湯が出る古いタイプで、冷水の蛇口と調節しないといけなかったので、ちょっとめんどくさかったです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部屋の照明が明るく、朝食が美味しく、フロント対応が良いホテル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清掃不備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新横浜からの近さ 建物が古いため汚れが目立つ 建物が古いため汚れが目立つ</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臭い・匂い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バスとトイレの仕切りのカーテンの匂いが気になった バスとトイレの仕切りのカーテンの匂いが気になった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清掃品質の向上</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清掃チェックリストの見直しと強化（ベッド下・隅の重点確認）</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清掃後のダブルチェック体制の導入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清掃スタッフへの再研修実施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客室リニューアル計画</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壁紙・カーペットの張替えによる「古さ」印象の払拭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照明のLED化・調光機能の追加で客室の雰囲気向上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USB充電ポート付きコンセントの設置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7.03点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7.5点以上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50.8%</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61%以上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14.2%</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6.2点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7.2点以上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浴室・水回りクレーム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約13件/期間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6件以下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コートホテル新横浜 口コミ分析改善レポート</dc:title>
  <dc:subject>PptxGenJS Presentation</dc:subject>
  <dc:creator>Hotel Consulting</dc:creator>
  <cp:lastModifiedBy>Hotel Consulting</cp:lastModifiedBy>
  <cp:revision>1</cp:revision>
  <dcterms:created xsi:type="dcterms:W3CDTF">2026-03-19T01:52:12Z</dcterms:created>
  <dcterms:modified xsi:type="dcterms:W3CDTF">2026-03-19T01:52:12Z</dcterms:modified>
</cp:coreProperties>
</file>