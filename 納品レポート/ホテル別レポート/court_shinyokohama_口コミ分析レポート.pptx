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29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30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2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9.xlsx"/></Relationships>
</file>

<file path=ppt/charts/_rels/chart3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0.xlsx"/></Relationships>
</file>

<file path=ppt/charts/chart2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10pt換算平均</c:v>
                </c:pt>
              </c:strCache>
            </c:strRef>
          </c:tx>
          <c:spPr>
            <a:solidFill>
              <a:srgbClr val="EA580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Google</c:v>
                  </c:pt>
                  <c:pt idx="1">
                    <c:v>楽天トラベル</c:v>
                  </c:pt>
                  <c:pt idx="2">
                    <c:v>じゃらん</c:v>
                  </c:pt>
                  <c:pt idx="3">
                    <c:v>Booking.com</c:v>
                  </c:pt>
                  <c:pt idx="4">
                    <c:v>Trip.com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7.71</c:v>
                </c:pt>
                <c:pt idx="1">
                  <c:v>7.67</c:v>
                </c:pt>
                <c:pt idx="2">
                  <c:v>7.27</c:v>
                </c:pt>
                <c:pt idx="3">
                  <c:v>7.03</c:v>
                </c:pt>
                <c:pt idx="4">
                  <c:v>6.67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"/>
          <c:min val="0"/>
        </c:scaling>
        <c:delete val="0"/>
        <c:axPos val="b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件数</c:v>
                </c:pt>
              </c:strCache>
            </c:strRef>
          </c:tx>
          <c:spPr>
            <a:solidFill>
              <a:srgbClr val="16A3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dPt>
            <c:idx val="7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dPt>
            <c:idx val="8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cat>
            <c:multiLvlStrRef>
              <c:f>Sheet1!$A$2:$A$10</c:f>
              <c:multiLvlStrCache>
                <c:ptCount val="9"/>
                <c:lvl>
                  <c:pt idx="0">
                    <c:v>10点</c:v>
                  </c:pt>
                  <c:pt idx="1">
                    <c:v>9点</c:v>
                  </c:pt>
                  <c:pt idx="2">
                    <c:v>8点</c:v>
                  </c:pt>
                  <c:pt idx="3">
                    <c:v>7点</c:v>
                  </c:pt>
                  <c:pt idx="4">
                    <c:v>6点</c:v>
                  </c:pt>
                  <c:pt idx="5">
                    <c:v>5点</c:v>
                  </c:pt>
                  <c:pt idx="6">
                    <c:v>4点</c:v>
                  </c:pt>
                  <c:pt idx="7">
                    <c:v>3点</c:v>
                  </c:pt>
                  <c:pt idx="8">
                    <c:v>2点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16</c:v>
                </c:pt>
                <c:pt idx="1">
                  <c:v>10</c:v>
                </c:pt>
                <c:pt idx="2">
                  <c:v>34</c:v>
                </c:pt>
                <c:pt idx="3">
                  <c:v>18</c:v>
                </c:pt>
                <c:pt idx="4">
                  <c:v>15</c:v>
                </c:pt>
                <c:pt idx="5">
                  <c:v>11</c:v>
                </c:pt>
                <c:pt idx="6">
                  <c:v>8</c:v>
                </c:pt>
                <c:pt idx="7">
                  <c:v>3</c:v>
                </c:pt>
                <c:pt idx="8">
                  <c:v>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9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0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27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1828800"/>
            <a:ext cx="73152" cy="16459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371600"/>
            <a:ext cx="73152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口コミ分析改善レポート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731520" y="2606040"/>
            <a:ext cx="1828800" cy="0"/>
          </a:xfrm>
          <a:prstGeom prst="line">
            <a:avLst/>
          </a:prstGeom>
          <a:noFill/>
          <a:ln w="25400">
            <a:solidFill>
              <a:srgbClr val="D4A84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27432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コートホテル新横浜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31520" y="33832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分析対象期間：2024年1月〜2026年3月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レビュー総数：118件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作成日：2026年3月29日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エグゼクティブサマリー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コートホテル新横浜 | 2024年1月〜2026年3月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274320" y="914400"/>
            <a:ext cx="2011680" cy="1280160"/>
          </a:xfrm>
          <a:prstGeom prst="rect">
            <a:avLst/>
          </a:prstGeom>
          <a:solidFill>
            <a:srgbClr val="FFF7ED"/>
          </a:solidFill>
          <a:ln/>
        </p:spPr>
      </p:sp>
      <p:sp>
        <p:nvSpPr>
          <p:cNvPr id="9" name="Shape 7"/>
          <p:cNvSpPr/>
          <p:nvPr/>
        </p:nvSpPr>
        <p:spPr>
          <a:xfrm>
            <a:off x="274320" y="914400"/>
            <a:ext cx="2011680" cy="54864"/>
          </a:xfrm>
          <a:prstGeom prst="rect">
            <a:avLst/>
          </a:prstGeom>
          <a:solidFill>
            <a:srgbClr val="EA580C"/>
          </a:solidFill>
          <a:ln/>
        </p:spPr>
      </p:sp>
      <p:sp>
        <p:nvSpPr>
          <p:cNvPr id="10" name="Text 8"/>
          <p:cNvSpPr/>
          <p:nvPr/>
        </p:nvSpPr>
        <p:spPr>
          <a:xfrm>
            <a:off x="274320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全体平均(10pt換算)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274320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7.12</a:t>
            </a:r>
            <a:endParaRPr lang="en-US" sz="2800" dirty="0"/>
          </a:p>
        </p:txBody>
      </p:sp>
      <p:sp>
        <p:nvSpPr>
          <p:cNvPr id="12" name="Shape 10"/>
          <p:cNvSpPr/>
          <p:nvPr/>
        </p:nvSpPr>
        <p:spPr>
          <a:xfrm>
            <a:off x="2450592" y="914400"/>
            <a:ext cx="2011680" cy="12801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3" name="Shape 11"/>
          <p:cNvSpPr/>
          <p:nvPr/>
        </p:nvSpPr>
        <p:spPr>
          <a:xfrm>
            <a:off x="2450592" y="914400"/>
            <a:ext cx="2011680" cy="54864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4" name="Text 12"/>
          <p:cNvSpPr/>
          <p:nvPr/>
        </p:nvSpPr>
        <p:spPr>
          <a:xfrm>
            <a:off x="2450592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高評価率(8-10点)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2450592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50.8%</a:t>
            </a:r>
            <a:endParaRPr lang="en-US" sz="2800" dirty="0"/>
          </a:p>
        </p:txBody>
      </p:sp>
      <p:sp>
        <p:nvSpPr>
          <p:cNvPr id="16" name="Shape 14"/>
          <p:cNvSpPr/>
          <p:nvPr/>
        </p:nvSpPr>
        <p:spPr>
          <a:xfrm>
            <a:off x="4626864" y="914400"/>
            <a:ext cx="2011680" cy="1280160"/>
          </a:xfrm>
          <a:prstGeom prst="rect">
            <a:avLst/>
          </a:prstGeom>
          <a:solidFill>
            <a:srgbClr val="FEE2E2"/>
          </a:solidFill>
          <a:ln/>
        </p:spPr>
      </p:sp>
      <p:sp>
        <p:nvSpPr>
          <p:cNvPr id="17" name="Shape 15"/>
          <p:cNvSpPr/>
          <p:nvPr/>
        </p:nvSpPr>
        <p:spPr>
          <a:xfrm>
            <a:off x="4626864" y="914400"/>
            <a:ext cx="2011680" cy="54864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18" name="Text 16"/>
          <p:cNvSpPr/>
          <p:nvPr/>
        </p:nvSpPr>
        <p:spPr>
          <a:xfrm>
            <a:off x="4626864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低評価率(1-4点)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626864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11.9%</a:t>
            </a:r>
            <a:endParaRPr lang="en-US" sz="2800" dirty="0"/>
          </a:p>
        </p:txBody>
      </p:sp>
      <p:sp>
        <p:nvSpPr>
          <p:cNvPr id="20" name="Shape 18"/>
          <p:cNvSpPr/>
          <p:nvPr/>
        </p:nvSpPr>
        <p:spPr>
          <a:xfrm>
            <a:off x="6803136" y="914400"/>
            <a:ext cx="2011680" cy="1280160"/>
          </a:xfrm>
          <a:prstGeom prst="rect">
            <a:avLst/>
          </a:prstGeom>
          <a:solidFill>
            <a:srgbClr val="E8EFF8"/>
          </a:solidFill>
          <a:ln/>
        </p:spPr>
      </p:sp>
      <p:sp>
        <p:nvSpPr>
          <p:cNvPr id="21" name="Shape 19"/>
          <p:cNvSpPr/>
          <p:nvPr/>
        </p:nvSpPr>
        <p:spPr>
          <a:xfrm>
            <a:off x="6803136" y="914400"/>
            <a:ext cx="2011680" cy="54864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2" name="Text 20"/>
          <p:cNvSpPr/>
          <p:nvPr/>
        </p:nvSpPr>
        <p:spPr>
          <a:xfrm>
            <a:off x="6803136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803136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118件</a:t>
            </a:r>
            <a:endParaRPr lang="en-US" sz="2800" dirty="0"/>
          </a:p>
        </p:txBody>
      </p:sp>
      <p:sp>
        <p:nvSpPr>
          <p:cNvPr id="24" name="Text 22"/>
          <p:cNvSpPr/>
          <p:nvPr/>
        </p:nvSpPr>
        <p:spPr>
          <a:xfrm>
            <a:off x="274320" y="2377440"/>
            <a:ext cx="8595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高評価・中評価レビューの継続管理により、さらなる評価向上を目指します。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サイト別評価分析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10pt換算平均スコア比較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274320" y="822960"/>
          <a:ext cx="530352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760720" y="822960"/>
          <a:ext cx="310896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457200"/>
                <a:gridCol w="731520"/>
                <a:gridCol w="548640"/>
                <a:gridCol w="64008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サイト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件数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ネイティブ平均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10pt換算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判定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Google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3.86/5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7.71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概ね良好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楽天トラベル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3.83/5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7.67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概ね良好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じゃらん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3.64/5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7.27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概ね良好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Booking.com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7.03/10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7.03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概ね良好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Trip.com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6.67/10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6.67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要改善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評価分布分析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10pt換算スコア別件数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274320" y="822960"/>
          <a:ext cx="502920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Shape 6"/>
          <p:cNvSpPr/>
          <p:nvPr/>
        </p:nvSpPr>
        <p:spPr>
          <a:xfrm>
            <a:off x="5486400" y="914400"/>
            <a:ext cx="3291840" cy="8229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0" name="Text 7"/>
          <p:cNvSpPr/>
          <p:nvPr/>
        </p:nvSpPr>
        <p:spPr>
          <a:xfrm>
            <a:off x="5577840" y="96012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高評価（8-10点）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5577840" y="126187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60件（50.8%）</a:t>
            </a:r>
            <a:endParaRPr lang="en-US" sz="1600" dirty="0"/>
          </a:p>
        </p:txBody>
      </p:sp>
      <p:sp>
        <p:nvSpPr>
          <p:cNvPr id="12" name="Shape 9"/>
          <p:cNvSpPr/>
          <p:nvPr/>
        </p:nvSpPr>
        <p:spPr>
          <a:xfrm>
            <a:off x="5486400" y="1920240"/>
            <a:ext cx="3291840" cy="822960"/>
          </a:xfrm>
          <a:prstGeom prst="rect">
            <a:avLst/>
          </a:prstGeom>
          <a:solidFill>
            <a:srgbClr val="FFF7ED"/>
          </a:solidFill>
          <a:ln/>
        </p:spPr>
      </p:sp>
      <p:sp>
        <p:nvSpPr>
          <p:cNvPr id="13" name="Text 10"/>
          <p:cNvSpPr/>
          <p:nvPr/>
        </p:nvSpPr>
        <p:spPr>
          <a:xfrm>
            <a:off x="5577840" y="196596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中評価（5-7点）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5577840" y="226771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44件（37.3%）</a:t>
            </a:r>
            <a:endParaRPr lang="en-US" sz="1600" dirty="0"/>
          </a:p>
        </p:txBody>
      </p:sp>
      <p:sp>
        <p:nvSpPr>
          <p:cNvPr id="15" name="Shape 12"/>
          <p:cNvSpPr/>
          <p:nvPr/>
        </p:nvSpPr>
        <p:spPr>
          <a:xfrm>
            <a:off x="5486400" y="2926080"/>
            <a:ext cx="3291840" cy="822960"/>
          </a:xfrm>
          <a:prstGeom prst="rect">
            <a:avLst/>
          </a:prstGeom>
          <a:solidFill>
            <a:srgbClr val="FEE2E2"/>
          </a:solidFill>
          <a:ln/>
        </p:spPr>
      </p:sp>
      <p:sp>
        <p:nvSpPr>
          <p:cNvPr id="16" name="Text 13"/>
          <p:cNvSpPr/>
          <p:nvPr/>
        </p:nvSpPr>
        <p:spPr>
          <a:xfrm>
            <a:off x="5577840" y="297180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低評価（1-4点）</a:t>
            </a:r>
            <a:endParaRPr lang="en-US" sz="1000" dirty="0"/>
          </a:p>
        </p:txBody>
      </p:sp>
      <p:sp>
        <p:nvSpPr>
          <p:cNvPr id="17" name="Text 14"/>
          <p:cNvSpPr/>
          <p:nvPr/>
        </p:nvSpPr>
        <p:spPr>
          <a:xfrm>
            <a:off x="5577840" y="327355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14件（11.9%）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強み分析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コートホテル新横浜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高評価レビュー（8-10点: 60件）の分析から、主要な強みテーマを抽出しています。立地・アクセス、客室清潔感、スタッフ対応が高評価の中心的テーマです。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弱み分析・優先度マトリクス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コートホテル新横浜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低評価・中評価レビュー（58件）から改善課題を優先度別に整理しています。S/A/B/Cの4段階で優先度を設定し、計画的な改善を推進します。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1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コートホテル新横浜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即時対応が必要な課題への対応計画です。口コミで頻出する不満事項を30日以内に解消することを目標とします。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2・3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コートホテル新横浜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2（1-3ヶ月）では設備・サービス品質の継続改善を、Phase 3（3-6ヶ月）ではブランド戦略・OTA評価の底上げを実施します。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KPI目標設定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コートホテル新横浜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 7.12点 → 目標 7.62点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 50.8% → 目標 55.8%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 11.9% → 目標 9.9%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総括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コートホテル新横浜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コートホテル新横浜は全体平均7.12点（10pt換算）、高評価率50.8%を達成しています。本レポートで示した改善施策を段階的に実施することで、さらなる顧客満足度向上が期待できます。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コートホテル新横浜 口コミ分析レポート</dc:title>
  <dc:subject>PptxGenJS Presentation</dc:subject>
  <dc:creator>PptxGenJS</dc:creator>
  <cp:lastModifiedBy>PptxGenJS</cp:lastModifiedBy>
  <cp:revision>1</cp:revision>
  <dcterms:created xsi:type="dcterms:W3CDTF">2026-03-29T08:34:30Z</dcterms:created>
  <dcterms:modified xsi:type="dcterms:W3CDTF">2026-03-29T08:34:30Z</dcterms:modified>
</cp:coreProperties>
</file>