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Sheet1!$A$2:$A$5</c:f>
              <c:multiLvlStrCache>
                <c:ptCount val="4"/>
                <c:lvl>
                  <c:pt idx="0">
                    <c:v>Trip.com</c:v>
                  </c:pt>
                  <c:pt idx="1">
                    <c:v>Google(×2)</c:v>
                  </c:pt>
                  <c:pt idx="2">
                    <c:v>Booking.com</c:v>
                  </c:pt>
                  <c:pt idx="3">
                    <c:v>楽天(×2)</c:v>
                  </c:pt>
                </c:lvl>
              </c:multiLvlStrCache>
            </c:multiLvlStrRef>
          </c:cat>
          <c:val>
            <c:numRef>
              <c:f>Sheet1!$B$2:$B$5</c:f>
              <c:numCache>
                <c:formatCode>General</c:formatCode>
                <c:ptCount val="4"/>
                <c:pt idx="0">
                  <c:v>9.38</c:v>
                </c:pt>
                <c:pt idx="1">
                  <c:v>9.1</c:v>
                </c:pt>
                <c:pt idx="2">
                  <c:v>8.59</c:v>
                </c:pt>
                <c:pt idx="3">
                  <c:v>8</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80</c:v>
                </c:pt>
                <c:pt idx="1">
                  <c:v>11</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4点</c:v>
                  </c:pt>
                </c:lvl>
              </c:multiLvlStrCache>
            </c:multiLvlStrRef>
          </c:cat>
          <c:val>
            <c:numRef>
              <c:f>Sheet1!$B$2:$B$8</c:f>
              <c:numCache>
                <c:formatCode>General</c:formatCode>
                <c:ptCount val="7"/>
                <c:pt idx="0">
                  <c:v>48</c:v>
                </c:pt>
                <c:pt idx="1">
                  <c:v>17</c:v>
                </c:pt>
                <c:pt idx="2">
                  <c:v>15</c:v>
                </c:pt>
                <c:pt idx="3">
                  <c:v>3</c:v>
                </c:pt>
                <c:pt idx="4">
                  <c:v>6</c:v>
                </c:pt>
                <c:pt idx="5">
                  <c:v>2</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京成リッチモンドホテル東京錦糸町</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レビュー総数：92件（4サイト）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作成日：2026年3月8日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8.96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92件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立地・交通利便性（35件）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駅近で商業施設・飲食店が充実。浅草・秋葉原も数駅</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清潔感・客室品質（28件）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清潔な客室、三分離バスルーム、東京としては広い部屋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スタッフの対応（22件）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フロント接客レベルが高く、多国籍ゲストにも丁寧な対応</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清掃品質のばらつき（3件）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ベッドメイキング未実施、埃の残存など品質にムラ</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一部スタッフの接客（2件）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夜勤マネージャーの失礼な対応が報告されている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設備面の不足（3件）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コインランドリー不足、コンセント少、飲料水未設置</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海外OTA（高評価）</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 9.38点、全サイト中最高評価。アジア圏旅行者からの支持が厚い</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国内サイト（安定）</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 9.1点とリピーターからの高評価。楽天は件数少だが8.0点で良好</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Google・楽天は5点満点を×2で10点換算</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8.00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80件（87.0%）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11件（12.0%）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1件（1.1%）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35件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立地・交通利便性</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駅徒歩圏内、商業施設・飲食店が充実。浅草・秋葉原・渋谷へも直通</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「駅から近く、レストランやモールも多くて便利」</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28件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清潔感・客室品質</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清潔な客室と三分離バスルーム。東京としては広めの客室が好評</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「部屋はとても清潔で、バスルームも快適」</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22件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フロント接客の質が高く、丁寧で親切な対応が多数</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「スタッフの応対がとても良い」</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12件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価格に見合った価値があり、リーズナブルとの評価</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「この価格でこの品質は最高」</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アメニティ充実</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入浴剤・フェイスマスク等の無料アメニティが高評価</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「入浴剤とフェイスマスクが最高」</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8件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朝食の質</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朝食の種類が豊富で美味しいとの声が多い</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「朝食も美味しくて満足」</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清掃品質のばらつき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ベッドメイキング未実施、タオル配置不統一、隠れた場所の埃</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一部スタッフの接客</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夜勤マネージャーの失礼な対応が複数ゲストから報告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コインランドリー不足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共用洗濯機の台数不足で長時間待ちが発生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アメニティ補充</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21時頃にロビーのアメニティが品切れになるケース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客室コンセント不足</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コンセント数が少なく、複数デバイスの充電に不便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飲料水未設置</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客室に飲料水がなく、コンビニ購入が必要</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枕の品質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枕が柔らかすぎる、選択肢がないとの指摘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料金上昇への懸念</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以前と比べて料金が上がっているとの声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周辺環境</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ホテル周辺の歓楽街の雰囲気に関する指摘</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清掃品質の標準化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簡易清掃チェックリスト作成</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ベッドメイキング・タオル配置の必須化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スーパーバイザーによるスポット検査導入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TV画面・隠れ場所の定期清掃追加</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夜間接客品質の改善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夜勤スタッフ向け接客研修の実施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多国籍ゲスト対応マニュアル整備</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フィードバック共有ミーティング定期化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アメニティ補充最適化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17時・21時の2回補充巡回追加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人気アメニティの在庫量増加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補充状況モニタリング体制構築</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ゲスト対応フロー改善</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アレルギー等特殊リクエストの事前確認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部屋カード渡し時のダブルチェック</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チェックイン時の案内品質向上</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コインランドリー増設</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洗濯機・乾燥機を+2台追加設置</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空き状況確認機能の利用促進案内</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ピーク時間帯の分散化掲示</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USBポート付き電源タップの全室設置</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枕メニューの導入（硬・柔・低反発）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客室への飲料水ボトル設置検討</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共用スペースの向上</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ロビーにBGM（クラシック等）導入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低層階の防音対策強化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アレルギー対応体制構築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羽毛不使用寝具の常備</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予約時確認フローの整備</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対応情報の事前告知（メール等）</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リピーター向け体験強化</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リピーター認識システム導入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アメニティギフトパッケージ化</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デジタルサービス強化</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口コミ返信率100%体制の構築</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SNSでの魅力発信強化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多言語対応の拡充</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8.96点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Booking.com平均評価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8.59/10点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9.0/10点以上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楽天トラベル平均評価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4.00/5点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4.3/5点以上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清掃クレーム件数</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3件/2ヶ月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0件/2ヶ月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8862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886200"/>
            <a:ext cx="54864" cy="640080"/>
          </a:xfrm>
          <a:prstGeom prst="rect">
            <a:avLst/>
          </a:prstGeom>
          <a:solidFill>
            <a:srgbClr val="3B7DD8"/>
          </a:solidFill>
          <a:ln/>
        </p:spPr>
      </p:sp>
      <p:sp>
        <p:nvSpPr>
          <p:cNvPr id="8" name="Text 5"/>
          <p:cNvSpPr/>
          <p:nvPr/>
        </p:nvSpPr>
        <p:spPr>
          <a:xfrm>
            <a:off x="640080" y="38862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月次で口コミデータを収集・分析し、四半期レビューで改善施策の効果を検証。清掃品質と接客に関するクレームはリアルタイムでトラッキングし即時対応を徹底する。</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Text 1"/>
          <p:cNvSpPr/>
          <p:nvPr/>
        </p:nvSpPr>
        <p:spPr>
          <a:xfrm>
            <a:off x="731520" y="731520"/>
            <a:ext cx="7315200" cy="457200"/>
          </a:xfrm>
          <a:prstGeom prst="rect">
            <a:avLst/>
          </a:prstGeom>
          <a:noFill/>
          <a:ln/>
        </p:spPr>
        <p:txBody>
          <a:bodyPr wrap="square" lIns="0" tIns="0" rIns="0" bIns="0" rtlCol="0" anchor="ctr"/>
          <a:lstStyle/>
          <a:p>
            <a:pPr indent="0" marL="0">
              <a:buNone/>
            </a:pPr>
            <a:r>
              <a:rPr lang="en-US" sz="1400" spc="600" kern="0" dirty="0">
                <a:solidFill>
                  <a:srgbClr val="5A9BE6"/>
                </a:solidFill>
                <a:latin typeface="Arial" pitchFamily="34" charset="0"/>
                <a:ea typeface="Arial" pitchFamily="34" charset="-122"/>
                <a:cs typeface="Arial" pitchFamily="34" charset="-120"/>
              </a:rPr>
              <a:t>総括</a:t>
            </a:r>
            <a:endParaRPr lang="en-US" sz="1400" dirty="0"/>
          </a:p>
        </p:txBody>
      </p:sp>
      <p:sp>
        <p:nvSpPr>
          <p:cNvPr id="4" name="Shape 2"/>
          <p:cNvSpPr/>
          <p:nvPr/>
        </p:nvSpPr>
        <p:spPr>
          <a:xfrm>
            <a:off x="731520" y="1371600"/>
            <a:ext cx="7680960" cy="2560320"/>
          </a:xfrm>
          <a:prstGeom prst="rect">
            <a:avLst/>
          </a:prstGeom>
          <a:solidFill>
            <a:srgbClr val="FFFFFF">
              <a:alpha val="10000"/>
            </a:srgbClr>
          </a:solidFill>
          <a:ln/>
        </p:spPr>
      </p:sp>
      <p:sp>
        <p:nvSpPr>
          <p:cNvPr id="5" name="Text 3"/>
          <p:cNvSpPr/>
          <p:nvPr/>
        </p:nvSpPr>
        <p:spPr>
          <a:xfrm>
            <a:off x="914400" y="1463040"/>
            <a:ext cx="7315200" cy="2286000"/>
          </a:xfrm>
          <a:prstGeom prst="rect">
            <a:avLst/>
          </a:prstGeom>
          <a:noFill/>
          <a:ln/>
        </p:spPr>
        <p:txBody>
          <a:bodyPr wrap="square" lIns="0" tIns="0" rIns="0" bIns="0" rtlCol="0" anchor="ctr"/>
          <a:lstStyle/>
          <a:p>
            <a:pPr indent="0" marL="0">
              <a:spcAft>
                <a:spcPts val="400"/>
              </a:spcAft>
              <a:buNone/>
            </a:pPr>
            <a:r>
              <a:rPr lang="en-US" sz="1200" dirty="0">
                <a:solidFill>
                  <a:srgbClr val="FFFFFF"/>
                </a:solidFill>
                <a:latin typeface="Arial" pitchFamily="34" charset="0"/>
                <a:ea typeface="Arial" pitchFamily="34" charset="-122"/>
                <a:cs typeface="Arial" pitchFamily="34" charset="-120"/>
              </a:rPr>
              <a:t>京成リッチモンドホテル東京錦糸町は、全体平均8.96点・高評価率87.0%と、高い顧客満足度を実現しています。立地、清潔感、スタッフの質が三大強みとして確立されています。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改善課題は清掃品質のばらつきと一部スタッフの接客態度に集約されます。Phase 1の即座対応施策を最優先で実行し、オペレーション品質の底上げを図ります。</a:t>
            </a:r>
            <a:endParaRPr lang="en-US" sz="1200" dirty="0"/>
          </a:p>
          <a:p>
            <a:pPr indent="0" marL="0">
              <a:spcAft>
                <a:spcPts val="400"/>
              </a:spcAft>
              <a:buNone/>
            </a:pPr>
            <a:endParaRPr lang="en-US" sz="1200" dirty="0"/>
          </a:p>
          <a:p>
            <a:pPr indent="0" marL="0">
              <a:spcAft>
                <a:spcPts val="400"/>
              </a:spcAft>
              <a:buNone/>
            </a:pPr>
            <a:r>
              <a:rPr lang="en-US" sz="1200" dirty="0">
                <a:solidFill>
                  <a:srgbClr val="FFFFFF"/>
                </a:solidFill>
                <a:latin typeface="Arial" pitchFamily="34" charset="0"/>
                <a:ea typeface="Arial" pitchFamily="34" charset="-122"/>
                <a:cs typeface="Arial" pitchFamily="34" charset="-120"/>
              </a:rPr>
              <a:t>入浴剤・フェイスマスク等のユニークなアメニティと、リピーターの高い支持率を活かし、「錦糸町エリアNo.1ホテル」のポジションを確固たるものとします。</a:t>
            </a:r>
            <a:endParaRPr lang="en-US" sz="1200" dirty="0"/>
          </a:p>
          <a:p>
            <a:pPr indent="0" marL="0">
              <a:spcAft>
                <a:spcPts val="400"/>
              </a:spcAft>
              <a:buNone/>
            </a:pPr>
            <a:endParaRPr lang="en-US" sz="1200" dirty="0"/>
          </a:p>
          <a:p>
            <a:pPr indent="0" marL="0">
              <a:spcAft>
                <a:spcPts val="400"/>
              </a:spcAft>
              <a:buNone/>
            </a:pPr>
            <a:r>
              <a:rPr lang="en-US" sz="1200" b="1" dirty="0">
                <a:solidFill>
                  <a:srgbClr val="D4A843"/>
                </a:solidFill>
                <a:latin typeface="Arial" pitchFamily="34" charset="0"/>
                <a:ea typeface="Arial" pitchFamily="34" charset="-122"/>
                <a:cs typeface="Arial" pitchFamily="34" charset="-120"/>
              </a:rPr>
              <a:t>半年以内に全体平均9.2点以上、高評価率90%以上の達成を目指します。</a:t>
            </a:r>
            <a:endParaRPr lang="en-US" sz="1200" dirty="0"/>
          </a:p>
        </p:txBody>
      </p:sp>
      <p:sp>
        <p:nvSpPr>
          <p:cNvPr id="6" name="Shape 4"/>
          <p:cNvSpPr/>
          <p:nvPr/>
        </p:nvSpPr>
        <p:spPr>
          <a:xfrm>
            <a:off x="731520" y="4114800"/>
            <a:ext cx="1828800" cy="0"/>
          </a:xfrm>
          <a:prstGeom prst="line">
            <a:avLst/>
          </a:prstGeom>
          <a:noFill/>
          <a:ln w="25400">
            <a:solidFill>
              <a:srgbClr val="D4A843"/>
            </a:solidFill>
            <a:prstDash val="solid"/>
          </a:ln>
        </p:spPr>
      </p:sp>
      <p:sp>
        <p:nvSpPr>
          <p:cNvPr id="7" name="Text 5"/>
          <p:cNvSpPr/>
          <p:nvPr/>
        </p:nvSpPr>
        <p:spPr>
          <a:xfrm>
            <a:off x="731520" y="4206240"/>
            <a:ext cx="7315200" cy="365760"/>
          </a:xfrm>
          <a:prstGeom prst="rect">
            <a:avLst/>
          </a:prstGeom>
          <a:noFill/>
          <a:ln/>
        </p:spPr>
        <p:txBody>
          <a:bodyPr wrap="square" lIns="0" tIns="0" rIns="0" bIns="0" rtlCol="0" anchor="ctr"/>
          <a:lstStyle/>
          <a:p>
            <a:pPr indent="0" marL="0">
              <a:buNone/>
            </a:pPr>
            <a:r>
              <a:rPr lang="en-US" sz="1400" dirty="0">
                <a:solidFill>
                  <a:srgbClr val="94A3B8"/>
                </a:solidFill>
                <a:latin typeface="Arial" pitchFamily="34" charset="0"/>
                <a:ea typeface="Arial" pitchFamily="34" charset="-122"/>
                <a:cs typeface="Arial" pitchFamily="34" charset="-120"/>
              </a:rPr>
              <a:t>ご清聴ありがとうございました</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京成リッチモンドホテル東京錦糸町 口コミ分析改善レポート</dc:title>
  <dc:subject>PptxGenJS Presentation</dc:subject>
  <dc:creator>Hotel Consulting</dc:creator>
  <cp:lastModifiedBy>Hotel Consulting</cp:lastModifiedBy>
  <cp:revision>1</cp:revision>
  <dcterms:created xsi:type="dcterms:W3CDTF">2026-03-08T10:28:00Z</dcterms:created>
  <dcterms:modified xsi:type="dcterms:W3CDTF">2026-03-08T10:28:00Z</dcterms:modified>
</cp:coreProperties>
</file>