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Agoda</c:v>
                  </c:pt>
                  <c:pt idx="1">
                    <c:v>じゃらん</c:v>
                  </c:pt>
                  <c:pt idx="2">
                    <c:v>Trip.com</c:v>
                  </c:pt>
                  <c:pt idx="3">
                    <c:v>Booking.com</c:v>
                  </c:pt>
                  <c:pt idx="4">
                    <c:v>楽天トラベル</c:v>
                  </c:pt>
                  <c:pt idx="5">
                    <c:v>Google</c:v>
                  </c:pt>
                </c:lvl>
              </c:multiLvlStrCache>
            </c:multiLvlStrRef>
          </c:cat>
          <c:val>
            <c:numRef>
              <c:f>Sheet1!$B$2:$B$7</c:f>
              <c:numCache>
                <c:formatCode>General</c:formatCode>
                <c:ptCount val="6"/>
                <c:pt idx="0">
                  <c:v>10</c:v>
                </c:pt>
                <c:pt idx="1">
                  <c:v>10</c:v>
                </c:pt>
                <c:pt idx="2">
                  <c:v>9.79</c:v>
                </c:pt>
                <c:pt idx="3">
                  <c:v>8.95</c:v>
                </c:pt>
                <c:pt idx="4">
                  <c:v>8</c:v>
                </c:pt>
                <c:pt idx="5">
                  <c:v>7.65</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4A843"/>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106</c:v>
                </c:pt>
                <c:pt idx="1">
                  <c:v>11</c:v>
                </c:pt>
                <c:pt idx="2">
                  <c:v>6</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16A34A"/>
              </a:solidFill>
              <a:effectLst/>
            </c:spPr>
          </c:dPt>
          <c:dPt>
            <c:idx val="7"/>
            <c:invertIfNegative val="0"/>
            <c:bubble3D val="0"/>
            <c:spPr>
              <a:solidFill>
                <a:srgbClr val="16A34A"/>
              </a:solidFill>
              <a:effectLst/>
            </c:spPr>
          </c:dPt>
          <c:dPt>
            <c:idx val="8"/>
            <c:invertIfNegative val="0"/>
            <c:bubble3D val="0"/>
            <c:spPr>
              <a:solidFill>
                <a:srgbClr val="16A34A"/>
              </a:solidFill>
              <a:effectLst/>
            </c:spPr>
          </c:dPt>
          <c:cat>
            <c:multiLvlStrRef>
              <c:f>Sheet1!$A$2:$A$10</c:f>
              <c:multiLvlStrCache>
                <c:ptCount val="9"/>
                <c:lvl>
                  <c:pt idx="0">
                    <c:v>10点</c:v>
                  </c:pt>
                  <c:pt idx="1">
                    <c:v>9点</c:v>
                  </c:pt>
                  <c:pt idx="2">
                    <c:v>8点</c:v>
                  </c:pt>
                  <c:pt idx="3">
                    <c:v>7点</c:v>
                  </c:pt>
                  <c:pt idx="4">
                    <c:v>6点</c:v>
                  </c:pt>
                  <c:pt idx="5">
                    <c:v>5点</c:v>
                  </c:pt>
                  <c:pt idx="6">
                    <c:v>4点</c:v>
                  </c:pt>
                  <c:pt idx="7">
                    <c:v>3点</c:v>
                  </c:pt>
                  <c:pt idx="8">
                    <c:v>2点</c:v>
                  </c:pt>
                </c:lvl>
              </c:multiLvlStrCache>
            </c:multiLvlStrRef>
          </c:cat>
          <c:val>
            <c:numRef>
              <c:f>Sheet1!$B$2:$B$10</c:f>
              <c:numCache>
                <c:formatCode>General</c:formatCode>
                <c:ptCount val="9"/>
                <c:pt idx="0">
                  <c:v>71</c:v>
                </c:pt>
                <c:pt idx="1">
                  <c:v>16</c:v>
                </c:pt>
                <c:pt idx="2">
                  <c:v>19</c:v>
                </c:pt>
                <c:pt idx="3">
                  <c:v>7</c:v>
                </c:pt>
                <c:pt idx="4">
                  <c:v>3</c:v>
                </c:pt>
                <c:pt idx="5">
                  <c:v>1</c:v>
                </c:pt>
                <c:pt idx="6">
                  <c:v>2</c:v>
                </c:pt>
                <c:pt idx="7">
                  <c:v>1</c:v>
                </c:pt>
                <c:pt idx="8">
                  <c:v>3</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コンフォートイン東神田ERA</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分析対象期間：2026年2月〜3月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レビュー総数：123件（6サイト）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作成日：2026年3月28日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8.90</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86.2%</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4.9%</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123件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複数地下鉄・JR路線の交差点。秋葉原・浅草・東京駅へのアクセス抜群（42件）</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フレンドリーで効率的な対応。多言語対応も充実。Trip.com 9.79点の原動力（31件）</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無料朝食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多種多様なメニューを無料提供。海外旅行者の満足度向上に大きく貢献（20件）</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スタッフ対応の一部不備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「できません」で終わる対応への不満がGoogle低評価の主要因（3件）</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朝食の混雑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繁忙時間帯の混雑と補充待ちがネガティブ評価として複数回言及（2件）</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Google評価の低さ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他サイトと比べGoogle（7.65点）が低く、全体スコアへの影響が懸念（23件）</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サイト別パフォーマンス分析</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海外OTA圧倒的強み</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Trip.com（9.79点）・Booking.com（8.95点）で外国人ゲストから卓越した評価</a:t>
            </a:r>
            <a:endParaRPr lang="en-US" sz="1100" dirty="0"/>
          </a:p>
          <a:p>
            <a:pPr indent="0" marL="0">
              <a:spcAft>
                <a:spcPts val="200"/>
              </a:spcAft>
              <a:buNone/>
            </a:pPr>
            <a:endParaRPr lang="en-US" sz="1100" dirty="0"/>
          </a:p>
          <a:p>
            <a:pPr indent="0" marL="0">
              <a:spcAft>
                <a:spcPts val="200"/>
              </a:spcAft>
              <a:buNone/>
            </a:pPr>
            <a:r>
              <a:rPr lang="en-US" sz="1100" b="1" dirty="0">
                <a:solidFill>
                  <a:srgbClr val="D4A843"/>
                </a:solidFill>
                <a:latin typeface="Arial" pitchFamily="34" charset="0"/>
                <a:ea typeface="Arial" pitchFamily="34" charset="-122"/>
                <a:cs typeface="Arial" pitchFamily="34" charset="-120"/>
              </a:rPr>
              <a:t>Google要改善</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Google（7.65点）が全サイト最低。日本人ゲスト対応の強化とGoogle口コミ返信が鍵</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国内サイト（5点満点）は10点換算で比較</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9.79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9.79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8.95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8.95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3.83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7.65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106件（86.2%）</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11件（8.9%）</a:t>
            </a:r>
            <a:endParaRPr lang="en-US" sz="1100" dirty="0"/>
          </a:p>
        </p:txBody>
      </p:sp>
      <p:sp>
        <p:nvSpPr>
          <p:cNvPr id="13" name="Shape 9"/>
          <p:cNvSpPr/>
          <p:nvPr/>
        </p:nvSpPr>
        <p:spPr>
          <a:xfrm>
            <a:off x="6126480" y="4160520"/>
            <a:ext cx="2651760" cy="502920"/>
          </a:xfrm>
          <a:prstGeom prst="rect">
            <a:avLst/>
          </a:prstGeom>
          <a:solidFill>
            <a:srgbClr val="FEE2E2"/>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6件（4.9%）</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42件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複数路線の交差点。秋葉原・浅草・東京駅・銀座へのアクセスが抜群</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「複数の地下鉄JRの交差点、楼下には7-11、浅草・秋葉原へ2-3駅」</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18件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清潔感</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毎日のリネン交換・清掃が徹底されており高い清潔感を維持</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「清潔で静かで快適、毎日タオル等の備品を交換してもらえた」</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31件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スタッフ対応</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フレンドリーで効率的。多言語対応も充実しTip.comで最高評価</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「スタッフは非常にフレンドリーで効率的。朝食の補充も迅速」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41件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客室・設備</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コンパクトながら必要設備が充実。快適な滞在環境を提供</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「部屋は広く友人も良い印象。バスルームも清潔で快適」</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多種多様な無料朝食が特に外国人ゲストから高評価を獲得</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「無料朝食が付いており多種多様なメニューが揃っている」</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5件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コスパ・リピート</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価格・立地・サービスのバランスが良くリピート意向が高い</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「東京観光のベースとして最適なコスパホテル」</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スタッフ対応の一部不備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「申し訳ないができませんと言うだけ」「誕生日旅行なのに全く無関心」Google低評価の主要因</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朝食の混雑</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「朝食はいつ行っても人が多い。補充を待つ時間がある」繁忙時間帯の混雑問題</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コンパクトな部屋への言及（多くはポジティブコンテキストだが一部に不満あり）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カーテン・備品の劣化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「汚れたカーテン・シャワーカーテン」など一部備品の経年劣化が指摘される</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騒音の発生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「最初の夜は別の部屋からの騒音があった」「カーテンが薄く光が入る」という環境面の指摘</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駅からの距離</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「まあまあ普通、駅から遠い」という一部ゲストからの立地への不満（少数意見）</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スタッフ接客の均一化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「できません」で終わらない代替提案マニュアルの整備</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誕生日・記念日ゲストへの配慮プロトコルの導入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月次ロールプレイング研修での接客品質統一</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多言語（英語・中国語）対応マニュアルの整備</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朝食混雑の緩和</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繁忙時間帯（7〜9時）のスタッフ増配置</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料理補充5分以内ルールの導入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朝食時間分散インセンティブの案内</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劣化備品の交換</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カーテン・シャワーカーテンの定期交換サイクル確立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客室備品点検チェックリストの月次実施</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遮光性向上のためのブラックアウトカーテンへの変更</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Google口コミ返信強化</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Googleネガティブ口コミへの積極的な日本語・英語返信</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改善施策の実施をコメントで報告</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Googleビジネスプロフィールの最適化</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Google評価改善戦略</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日本人ゲスト向け接客プロトコルの強化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Googleビジネスプロフィールのフォト・情報更新</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満足度の高い宿泊者へのGoogle口コミ依頼施策</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防音・遮光設備の改善</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遮光カーテンの全室交換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隣室騒音対策の壁隙間シール施工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眠りの質向上グッズのアメニティ追加</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朝食エリアの効率化</a:t>
            </a:r>
            <a:endParaRPr lang="en-US" sz="1000" dirty="0"/>
          </a:p>
        </p:txBody>
      </p:sp>
      <p:sp>
        <p:nvSpPr>
          <p:cNvPr id="13" name="Text 11"/>
          <p:cNvSpPr/>
          <p:nvPr/>
        </p:nvSpPr>
        <p:spPr>
          <a:xfrm>
            <a:off x="640080" y="3803904"/>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混雑ピークの分散化施策（早朝・遅朝割引）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朝食補充自動モニタリングシステムの検討</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朝食エリアの拡張</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朝食スペースの席数拡大</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2部制の導入または朝食提供時間の延長</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メニュー品質の向上</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客室の高グレード化</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上位グレードルームの設定による単価向上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スマートロック・IoT設備の導入</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外国人ゲスト向けサービス強化</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多言語コンシェルジュサービスの拡充</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訪日外国人向け体験メニューの提供</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8.90点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9.2点以上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86.2%</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90%以上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4.9%</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2%以下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3.83/5点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4.3/5点以上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Trip.com平均評価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9.79/10点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9.8/10点維持</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スタッフ対応クレーム件数</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3件/2ヶ月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0件/2ヶ月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Shape 3"/>
          <p:cNvSpPr/>
          <p:nvPr/>
        </p:nvSpPr>
        <p:spPr>
          <a:xfrm>
            <a:off x="457200" y="38862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886200"/>
            <a:ext cx="54864" cy="640080"/>
          </a:xfrm>
          <a:prstGeom prst="rect">
            <a:avLst/>
          </a:prstGeom>
          <a:solidFill>
            <a:srgbClr val="3B7DD8"/>
          </a:solidFill>
          <a:ln/>
        </p:spPr>
      </p:sp>
      <p:sp>
        <p:nvSpPr>
          <p:cNvPr id="8" name="Text 5"/>
          <p:cNvSpPr/>
          <p:nvPr/>
        </p:nvSpPr>
        <p:spPr>
          <a:xfrm>
            <a:off x="640080" y="38862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毎月末に全サイトの口コミを収集・集計。Google評価改善とスタッフ対応クレーム0件化を最重点KPIとして月次報告を実施します。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1400" spc="600" kern="0" dirty="0">
                <a:solidFill>
                  <a:srgbClr val="5A9BE6"/>
                </a:solidFill>
                <a:latin typeface="Arial" pitchFamily="34" charset="0"/>
                <a:ea typeface="Arial" pitchFamily="34" charset="-122"/>
                <a:cs typeface="Arial" pitchFamily="34" charset="-120"/>
              </a:rPr>
              <a:t>総括</a:t>
            </a:r>
            <a:endParaRPr lang="en-US" sz="1400" dirty="0"/>
          </a:p>
        </p:txBody>
      </p:sp>
      <p:sp>
        <p:nvSpPr>
          <p:cNvPr id="4" name="Shape 2"/>
          <p:cNvSpPr/>
          <p:nvPr/>
        </p:nvSpPr>
        <p:spPr>
          <a:xfrm>
            <a:off x="731520" y="1371600"/>
            <a:ext cx="7680960" cy="2560320"/>
          </a:xfrm>
          <a:prstGeom prst="rect">
            <a:avLst/>
          </a:prstGeom>
          <a:solidFill>
            <a:srgbClr val="FFFFFF">
              <a:alpha val="10000"/>
            </a:srgbClr>
          </a:solidFill>
          <a:ln/>
        </p:spPr>
      </p:sp>
      <p:sp>
        <p:nvSpPr>
          <p:cNvPr id="5" name="Text 3"/>
          <p:cNvSpPr/>
          <p:nvPr/>
        </p:nvSpPr>
        <p:spPr>
          <a:xfrm>
            <a:off x="914400" y="1463040"/>
            <a:ext cx="7315200" cy="2286000"/>
          </a:xfrm>
          <a:prstGeom prst="rect">
            <a:avLst/>
          </a:prstGeom>
          <a:noFill/>
          <a:ln/>
        </p:spPr>
        <p:txBody>
          <a:bodyPr wrap="square" lIns="0" tIns="0" rIns="0" bIns="0" rtlCol="0" anchor="ctr"/>
          <a:lstStyle/>
          <a:p>
            <a:pPr indent="0" marL="0">
              <a:spcAft>
                <a:spcPts val="400"/>
              </a:spcAft>
              <a:buNone/>
            </a:pPr>
            <a:r>
              <a:rPr lang="en-US" sz="1200" dirty="0">
                <a:solidFill>
                  <a:srgbClr val="FFFFFF"/>
                </a:solidFill>
                <a:latin typeface="Arial" pitchFamily="34" charset="0"/>
                <a:ea typeface="Arial" pitchFamily="34" charset="-122"/>
                <a:cs typeface="Arial" pitchFamily="34" charset="-120"/>
              </a:rPr>
              <a:t>コンフォートイン東神田ERAは全体平均8.90点・高評価率86.2%・123件のレビューという圧倒的なパフォーマンスを誇り、4ホテル中最高評価を達成しています。複数路線アクセス・無料朝食・フレンドリーなスタッフが外国人旅行者を中心に熱狂的な支持を得ていま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唯一の主要課題はGoogle評価（7.65点）を引き下げているスタッフ対応への一部不満（3件）です。「できません」で終わらない代替提案型の接客マニュアル整備と、ゲストの特別な日への配慮プロトコルの導入は低コストで即効性の高い改善施策で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朝食の混雑対策（スタッフ増配置・補充モニタリング）とカーテン等備品の定期交換も速やかに実施することで、現在の優秀な評価水準をさらに引き上げることができます。</a:t>
            </a:r>
            <a:endParaRPr lang="en-US" sz="1200" dirty="0"/>
          </a:p>
          <a:p>
            <a:pPr indent="0" marL="0">
              <a:spcAft>
                <a:spcPts val="400"/>
              </a:spcAft>
              <a:buNone/>
            </a:pPr>
            <a:endParaRPr lang="en-US" sz="1200" dirty="0"/>
          </a:p>
          <a:p>
            <a:pPr indent="0" marL="0">
              <a:spcAft>
                <a:spcPts val="400"/>
              </a:spcAft>
              <a:buNone/>
            </a:pPr>
            <a:r>
              <a:rPr lang="en-US" sz="1200" b="1" dirty="0">
                <a:solidFill>
                  <a:srgbClr val="D4A843"/>
                </a:solidFill>
                <a:latin typeface="Arial" pitchFamily="34" charset="0"/>
                <a:ea typeface="Arial" pitchFamily="34" charset="-122"/>
                <a:cs typeface="Arial" pitchFamily="34" charset="-120"/>
              </a:rPr>
              <a:t>2026年9月末までに全体平均9.2点以上・高評価率90%以上を達成し、東京でのトップクラスの口コミ評価ホテルとしての地位を確立しましょう。</a:t>
            </a:r>
            <a:endParaRPr lang="en-US" sz="1200" dirty="0"/>
          </a:p>
        </p:txBody>
      </p:sp>
      <p:sp>
        <p:nvSpPr>
          <p:cNvPr id="6" name="Shape 4"/>
          <p:cNvSpPr/>
          <p:nvPr/>
        </p:nvSpPr>
        <p:spPr>
          <a:xfrm>
            <a:off x="731520" y="4114800"/>
            <a:ext cx="1828800" cy="0"/>
          </a:xfrm>
          <a:prstGeom prst="line">
            <a:avLst/>
          </a:prstGeom>
          <a:noFill/>
          <a:ln w="25400">
            <a:solidFill>
              <a:srgbClr val="D4A843"/>
            </a:solidFill>
            <a:prstDash val="solid"/>
          </a:ln>
        </p:spPr>
      </p:sp>
      <p:sp>
        <p:nvSpPr>
          <p:cNvPr id="7" name="Text 5"/>
          <p:cNvSpPr/>
          <p:nvPr/>
        </p:nvSpPr>
        <p:spPr>
          <a:xfrm>
            <a:off x="731520" y="4206240"/>
            <a:ext cx="7315200" cy="36576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ご清聴ありがとうございました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コンフォートイン東神田ERA 口コミ分析改善レポート</dc:title>
  <dc:subject>PptxGenJS Presentation</dc:subject>
  <dc:creator>Hotel Consulting</dc:creator>
  <cp:lastModifiedBy>Hotel Consulting</cp:lastModifiedBy>
  <cp:revision>1</cp:revision>
  <dcterms:created xsi:type="dcterms:W3CDTF">2026-03-28T23:31:54Z</dcterms:created>
  <dcterms:modified xsi:type="dcterms:W3CDTF">2026-03-28T23:31:54Z</dcterms:modified>
</cp:coreProperties>
</file>