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Trip.com</c:v>
                  </c:pt>
                  <c:pt idx="2">
                    <c:v>楽天トラベル</c:v>
                  </c:pt>
                  <c:pt idx="3">
                    <c:v>Agoda</c:v>
                  </c:pt>
                  <c:pt idx="4">
                    <c:v>Booking.com</c:v>
                  </c:pt>
                  <c:pt idx="5">
                    <c:v>じゃらん</c:v>
                  </c:pt>
                </c:lvl>
              </c:multiLvlStrCache>
            </c:multiLvlStrRef>
          </c:cat>
          <c:val>
            <c:numRef>
              <c:f>Sheet1!$B$2:$B$7</c:f>
              <c:numCache>
                <c:formatCode>General</c:formatCode>
                <c:ptCount val="6"/>
                <c:pt idx="0">
                  <c:v>9.43</c:v>
                </c:pt>
                <c:pt idx="1">
                  <c:v>9.36</c:v>
                </c:pt>
                <c:pt idx="2">
                  <c:v>9.27</c:v>
                </c:pt>
                <c:pt idx="3">
                  <c:v>9.25</c:v>
                </c:pt>
                <c:pt idx="4">
                  <c:v>8.57</c:v>
                </c:pt>
                <c:pt idx="5">
                  <c:v>8.55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高評価(8-10)</c:v>
                </c:pt>
                <c:pt idx="1">
                  <c:v>中評価(5-7)</c:v>
                </c:pt>
              </c:strCache>
            </c:strRef>
          </c:cat>
          <c:val>
            <c:numRef>
              <c:f>Sheet1!$B$2:$B$3</c:f>
              <c:numCache>
                <c:ptCount val="2"/>
                <c:pt idx="0">
                  <c:v>69</c:v>
                </c:pt>
                <c:pt idx="1">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40</c:v>
                </c:pt>
                <c:pt idx="1">
                  <c:v>8</c:v>
                </c:pt>
                <c:pt idx="2">
                  <c:v>21</c:v>
                </c:pt>
                <c:pt idx="3">
                  <c:v>1</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分析対象期間：2025年12月〜2026年3月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客室の快適性・設備の充実度への好評（82件）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朝食の品質・バリエーションへの高評価（43件）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フロントスタッフの丁寧な対応への好評（37件）</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騒音問題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2件の指摘あり。改善対応を推奨</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2件の指摘あり。改善対応を推奨</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口コミ返信率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継続的な品質管理・予防的対応を推奨</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サイト別評価インサイト</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最高評価サイト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 9.43点</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全体平均</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9.05点（10pt換算）</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海外OTAは/10、国内サイトは/5×2換算</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69件（94.5%）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2件（2.7%）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82件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部屋・設備</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客室の快適性・設備の充実度への好評</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「色々なアメニティグッズがあって少ない荷物で宿泊することが」</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43件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朝食の品質・バリエーションへの高評価</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「した。  朝食もプリンセスエリアにはケーキありませんでした。」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37件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フロントスタッフの丁寧な対応への好評</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「ればきっと親切に教えてくださるでしょう。部屋も上のフロアの足」</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35件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駅近・交通利便性に関する好評価</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「ってとても便利でした。」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30件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客室・共用部の清潔さへの高評価</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「。ホテルは綺麗でローソンが入っているのでとても便利でした。お」</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コスパ・リピート</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価格対価値の高さとリピート意向</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「大変満足です！こども達も大変喜んでいました😍 ただ、予」</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騒音問題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・強いて言うならお風呂の温度と実際に出てくるお湯の温度が差がある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口コミ返信率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口コミへの返信対応を強化する余地あり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サービス改善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継続的なサービス品質向上が必要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設備メンテナンス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定期的なメンテナンス体制の整備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(1) 騒音対策の即時対応</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防音対策済み部屋の積極的案内</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チェックイン時の防音耳栓提供</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騒音クレーム対応マニュアルの整備</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防音性能の高い部屋への優先アサイン</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(2) 水回り不具合の即時対応</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水回り点検チェックリストの強化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排水・給水トラブルの優先対応フロー</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浴室清潔度の定期巡回チェック強化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不具合報告専用の内線番号周知</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(3) 口コミ返信率100%の実現</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全OTAサイトの口コミへの返信ルール策定（48時間以内）</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ネガティブ口コミへの丁寧な対応テンプレート作成</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フロントマネージャーによる週次口コミモニタリング</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防音設備の強化</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防音カーテン・防音パネルの設置計画</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騒音の多い部屋の用途転換検討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建物外部騒音対策の工事計画</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水回り設備の計画的更新</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老朽化した給排水設備の交換計画</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シャワーヘッド・蛇口等の節水型設備導入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定期メンテナンス契約の見直し</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OTA評価スコア向上施策</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高評価レビュー投稿の依頼タイミング最適化（チェックアウト時）</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満足度の高い宿泊者へのフォローアップメール送信</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じゃらん・楽天の評価向上に向けた特典プログラム検討</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「部屋・設備」の競争優位性強化</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部屋・設備を訴求したブランディング戦略の策定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SNS・口コミサイトでの強み積極的発信</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旅行代理店・法人営業への強み訴求資料作成</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客室リノベーション計画</a:t>
            </a:r>
            <a:endParaRPr lang="en-US" sz="1000" dirty="0"/>
          </a:p>
        </p:txBody>
      </p:sp>
      <p:sp>
        <p:nvSpPr>
          <p:cNvPr id="20" name="Text 18"/>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客室設備の全面的な見直しと更新計画策定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最新のスマートホテル機能の導入検討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環境に配慮したサステナブル客室改装</a:t>
            </a:r>
            <a:endParaRPr lang="en-US" sz="900" dirty="0"/>
          </a:p>
        </p:txBody>
      </p:sp>
      <p:sp>
        <p:nvSpPr>
          <p:cNvPr id="21" name="Text 19"/>
          <p:cNvSpPr/>
          <p:nvPr/>
        </p:nvSpPr>
        <p:spPr>
          <a:xfrm>
            <a:off x="489204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デジタル接客・サービス高度化</a:t>
            </a:r>
            <a:endParaRPr lang="en-US" sz="1000" dirty="0"/>
          </a:p>
        </p:txBody>
      </p:sp>
      <p:sp>
        <p:nvSpPr>
          <p:cNvPr id="22" name="Text 20"/>
          <p:cNvSpPr/>
          <p:nvPr/>
        </p:nvSpPr>
        <p:spPr>
          <a:xfrm>
            <a:off x="489204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AIチャットボットによる24時間問合せ対応</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モバイルチェックイン/アウトシステムの導入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顧客データ分析によるパーソナライズサービスの実現</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2026年10月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2026年10月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2026年10月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2026年7月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4.71/5点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4.9/5点以上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2026年10月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9.36/10点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9.6/10点以上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2026年10月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8862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886200"/>
            <a:ext cx="54864" cy="640080"/>
          </a:xfrm>
          <a:prstGeom prst="rect">
            <a:avLst/>
          </a:prstGeom>
          <a:solidFill>
            <a:srgbClr val="3B7DD8"/>
          </a:solidFill>
          <a:ln/>
        </p:spPr>
      </p:sp>
      <p:sp>
        <p:nvSpPr>
          <p:cNvPr id="8" name="Text 5"/>
          <p:cNvSpPr/>
          <p:nvPr/>
        </p:nvSpPr>
        <p:spPr>
          <a:xfrm>
            <a:off x="640080" y="38862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月次でOTA評価スコアを確認し、騒音問題改善の進捗をトラッキングします。四半期ごとに目標値を見直し、継続的な改善サイクルを確立してください。</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Text 1"/>
          <p:cNvSpPr/>
          <p:nvPr/>
        </p:nvSpPr>
        <p:spPr>
          <a:xfrm>
            <a:off x="731520" y="731520"/>
            <a:ext cx="7315200" cy="457200"/>
          </a:xfrm>
          <a:prstGeom prst="rect">
            <a:avLst/>
          </a:prstGeom>
          <a:noFill/>
          <a:ln/>
        </p:spPr>
        <p:txBody>
          <a:bodyPr wrap="square" lIns="0" tIns="0" rIns="0" bIns="0" rtlCol="0" anchor="ctr"/>
          <a:lstStyle/>
          <a:p>
            <a:pPr indent="0" marL="0">
              <a:buNone/>
            </a:pPr>
            <a:r>
              <a:rPr lang="en-US" sz="1400" spc="600" kern="0" dirty="0">
                <a:solidFill>
                  <a:srgbClr val="5A9BE6"/>
                </a:solidFill>
                <a:latin typeface="Arial" pitchFamily="34" charset="0"/>
                <a:ea typeface="Arial" pitchFamily="34" charset="-122"/>
                <a:cs typeface="Arial" pitchFamily="34" charset="-120"/>
              </a:rPr>
              <a:t>総括</a:t>
            </a:r>
            <a:endParaRPr lang="en-US" sz="1400" dirty="0"/>
          </a:p>
        </p:txBody>
      </p:sp>
      <p:sp>
        <p:nvSpPr>
          <p:cNvPr id="4" name="Shape 2"/>
          <p:cNvSpPr/>
          <p:nvPr/>
        </p:nvSpPr>
        <p:spPr>
          <a:xfrm>
            <a:off x="731520" y="1371600"/>
            <a:ext cx="7680960" cy="2560320"/>
          </a:xfrm>
          <a:prstGeom prst="rect">
            <a:avLst/>
          </a:prstGeom>
          <a:solidFill>
            <a:srgbClr val="FFFFFF">
              <a:alpha val="10000"/>
            </a:srgbClr>
          </a:solidFill>
          <a:ln/>
        </p:spPr>
      </p:sp>
      <p:sp>
        <p:nvSpPr>
          <p:cNvPr id="5" name="Text 3"/>
          <p:cNvSpPr/>
          <p:nvPr/>
        </p:nvSpPr>
        <p:spPr>
          <a:xfrm>
            <a:off x="914400" y="1463040"/>
            <a:ext cx="7315200" cy="2286000"/>
          </a:xfrm>
          <a:prstGeom prst="rect">
            <a:avLst/>
          </a:prstGeom>
          <a:noFill/>
          <a:ln/>
        </p:spPr>
        <p:txBody>
          <a:bodyPr wrap="square" lIns="0" tIns="0" rIns="0" bIns="0" rtlCol="0" anchor="ctr"/>
          <a:lstStyle/>
          <a:p>
            <a:pPr indent="0" marL="0">
              <a:spcAft>
                <a:spcPts val="400"/>
              </a:spcAft>
              <a:buNone/>
            </a:pPr>
            <a:r>
              <a:rPr lang="en-US" sz="1200" dirty="0">
                <a:solidFill>
                  <a:srgbClr val="FFFFFF"/>
                </a:solidFill>
                <a:latin typeface="Arial" pitchFamily="34" charset="0"/>
                <a:ea typeface="Arial" pitchFamily="34" charset="-122"/>
                <a:cs typeface="Arial" pitchFamily="34" charset="-120"/>
              </a:rPr>
              <a:t>コンフォートスイーツ東京ベイの2025年12月〜2026年3月口コミ分析（73件）では、総合評価9.05点（10pt換算）、高評価率94.5%という結果が得られました。</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「部屋・設備」が最大の強みとして確認され、本レポートの3フェーズ改善施策の実施により、さらなる評価向上が期待されます。</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6ヶ月以内に全体平均9.4点以上、高評価率95%以上を目指し、継続的な改善サイクルを確立することを推奨します。</a:t>
            </a:r>
            <a:endParaRPr lang="en-US" sz="1200" dirty="0"/>
          </a:p>
          <a:p>
            <a:pPr indent="0" marL="0">
              <a:spcAft>
                <a:spcPts val="400"/>
              </a:spcAft>
              <a:buNone/>
            </a:pPr>
            <a:endParaRPr lang="en-US" sz="1200" dirty="0"/>
          </a:p>
          <a:p>
            <a:pPr indent="0" marL="0">
              <a:spcAft>
                <a:spcPts val="400"/>
              </a:spcAft>
              <a:buNone/>
            </a:pPr>
            <a:r>
              <a:rPr lang="en-US" sz="1200" b="1" dirty="0">
                <a:solidFill>
                  <a:srgbClr val="D4A843"/>
                </a:solidFill>
                <a:latin typeface="Arial" pitchFamily="34" charset="0"/>
                <a:ea typeface="Arial" pitchFamily="34" charset="-122"/>
                <a:cs typeface="Arial" pitchFamily="34" charset="-120"/>
              </a:rPr>
              <a:t>プライムチェンジは引き続き改善施策の実施をサポートいたします。</a:t>
            </a:r>
            <a:endParaRPr lang="en-US" sz="1200" dirty="0"/>
          </a:p>
        </p:txBody>
      </p:sp>
      <p:sp>
        <p:nvSpPr>
          <p:cNvPr id="6" name="Shape 4"/>
          <p:cNvSpPr/>
          <p:nvPr/>
        </p:nvSpPr>
        <p:spPr>
          <a:xfrm>
            <a:off x="731520" y="4114800"/>
            <a:ext cx="1828800" cy="0"/>
          </a:xfrm>
          <a:prstGeom prst="line">
            <a:avLst/>
          </a:prstGeom>
          <a:noFill/>
          <a:ln w="25400">
            <a:solidFill>
              <a:srgbClr val="D4A843"/>
            </a:solidFill>
            <a:prstDash val="solid"/>
          </a:ln>
        </p:spPr>
      </p:sp>
      <p:sp>
        <p:nvSpPr>
          <p:cNvPr id="7" name="Text 5"/>
          <p:cNvSpPr/>
          <p:nvPr/>
        </p:nvSpPr>
        <p:spPr>
          <a:xfrm>
            <a:off x="731520" y="4206240"/>
            <a:ext cx="7315200" cy="36576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ご清聴ありがとうございました</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2026-04-04T01:16:14Z</dcterms:created>
  <dcterms:modified xsi:type="dcterms:W3CDTF">2026-04-04T01:16:14Z</dcterms:modified>
</cp:coreProperties>
</file>