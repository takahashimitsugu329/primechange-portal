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2744"/>
          </a:solidFill>
          <a:ln/>
        </p:spPr>
      </p:sp>
      <p:sp>
        <p:nvSpPr>
          <p:cNvPr id="3" name="Shape 1"/>
          <p:cNvSpPr/>
          <p:nvPr/>
        </p:nvSpPr>
        <p:spPr>
          <a:xfrm>
            <a:off x="0" y="3474720"/>
            <a:ext cx="9144000" cy="1668780"/>
          </a:xfrm>
          <a:prstGeom prst="rect">
            <a:avLst/>
          </a:prstGeom>
          <a:solidFill>
            <a:srgbClr val="243556"/>
          </a:solidFill>
          <a:ln/>
        </p:spPr>
      </p:sp>
      <p:sp>
        <p:nvSpPr>
          <p:cNvPr id="4" name="Shape 2"/>
          <p:cNvSpPr/>
          <p:nvPr/>
        </p:nvSpPr>
        <p:spPr>
          <a:xfrm>
            <a:off x="457200" y="1371600"/>
            <a:ext cx="73152" cy="1645920"/>
          </a:xfrm>
          <a:prstGeom prst="rect">
            <a:avLst/>
          </a:prstGeom>
          <a:solidFill>
            <a:srgbClr val="3B7DD8"/>
          </a:solidFill>
          <a:ln/>
        </p:spPr>
      </p:sp>
      <p:sp>
        <p:nvSpPr>
          <p:cNvPr id="5" name="Text 3"/>
          <p:cNvSpPr/>
          <p:nvPr/>
        </p:nvSpPr>
        <p:spPr>
          <a:xfrm>
            <a:off x="685800" y="1325880"/>
            <a:ext cx="7772400" cy="640080"/>
          </a:xfrm>
          <a:prstGeom prst="rect">
            <a:avLst/>
          </a:prstGeom>
          <a:noFill/>
          <a:ln/>
        </p:spPr>
        <p:txBody>
          <a:bodyPr wrap="square" rtlCol="0" anchor="ctr"/>
          <a:lstStyle/>
          <a:p>
            <a:pPr indent="0" marL="0">
              <a:buNone/>
            </a:pPr>
            <a:r>
              <a:rPr lang="en-US" sz="3400" b="1" dirty="0">
                <a:solidFill>
                  <a:srgbClr val="FFFFFF"/>
                </a:solidFill>
                <a:latin typeface="Arial" pitchFamily="34" charset="0"/>
                <a:ea typeface="Arial" pitchFamily="34" charset="-122"/>
                <a:cs typeface="Arial" pitchFamily="34" charset="-120"/>
              </a:rPr>
              <a:t>口コミ分析改善レポート</a:t>
            </a:r>
            <a:endParaRPr lang="en-US" sz="3400" dirty="0"/>
          </a:p>
        </p:txBody>
      </p:sp>
      <p:sp>
        <p:nvSpPr>
          <p:cNvPr id="6" name="Text 4"/>
          <p:cNvSpPr/>
          <p:nvPr/>
        </p:nvSpPr>
        <p:spPr>
          <a:xfrm>
            <a:off x="685800" y="1965960"/>
            <a:ext cx="7772400" cy="502920"/>
          </a:xfrm>
          <a:prstGeom prst="rect">
            <a:avLst/>
          </a:prstGeom>
          <a:noFill/>
          <a:ln/>
        </p:spPr>
        <p:txBody>
          <a:bodyPr wrap="square" rtlCol="0" anchor="ctr"/>
          <a:lstStyle/>
          <a:p>
            <a:pPr indent="0" marL="0">
              <a:buNone/>
            </a:pPr>
            <a:r>
              <a:rPr lang="en-US" sz="2200" dirty="0">
                <a:solidFill>
                  <a:srgbClr val="5A9BE6"/>
                </a:solidFill>
                <a:latin typeface="Arial" pitchFamily="34" charset="0"/>
                <a:ea typeface="Arial" pitchFamily="34" charset="-122"/>
                <a:cs typeface="Arial" pitchFamily="34" charset="-120"/>
              </a:rPr>
              <a:t>コンフォートスイーツ東京ベイ</a:t>
            </a:r>
            <a:endParaRPr lang="en-US" sz="2200" dirty="0"/>
          </a:p>
        </p:txBody>
      </p:sp>
      <p:sp>
        <p:nvSpPr>
          <p:cNvPr id="7" name="Text 5"/>
          <p:cNvSpPr/>
          <p:nvPr/>
        </p:nvSpPr>
        <p:spPr>
          <a:xfrm>
            <a:off x="685800" y="2514600"/>
            <a:ext cx="7772400" cy="365760"/>
          </a:xfrm>
          <a:prstGeom prst="rect">
            <a:avLst/>
          </a:prstGeom>
          <a:noFill/>
          <a:ln/>
        </p:spPr>
        <p:txBody>
          <a:bodyPr wrap="square" rtlCol="0" anchor="ctr"/>
          <a:lstStyle/>
          <a:p>
            <a:pPr indent="0" marL="0">
              <a:buNone/>
            </a:pPr>
            <a:r>
              <a:rPr lang="en-US" sz="1300" dirty="0">
                <a:solidFill>
                  <a:srgbClr val="94A3B8"/>
                </a:solidFill>
                <a:latin typeface="Arial" pitchFamily="34" charset="0"/>
                <a:ea typeface="Arial" pitchFamily="34" charset="-122"/>
                <a:cs typeface="Arial" pitchFamily="34" charset="-120"/>
              </a:rPr>
              <a:t>レビュー総数: 148件　全体平均: 9.18/10</a:t>
            </a:r>
            <a:endParaRPr lang="en-US" sz="1300" dirty="0"/>
          </a:p>
        </p:txBody>
      </p:sp>
      <p:sp>
        <p:nvSpPr>
          <p:cNvPr id="8" name="Text 6"/>
          <p:cNvSpPr/>
          <p:nvPr/>
        </p:nvSpPr>
        <p:spPr>
          <a:xfrm>
            <a:off x="457200" y="3566160"/>
            <a:ext cx="4572000" cy="320040"/>
          </a:xfrm>
          <a:prstGeom prst="rect">
            <a:avLst/>
          </a:prstGeom>
          <a:noFill/>
          <a:ln/>
        </p:spPr>
        <p:txBody>
          <a:bodyPr wrap="square" rtlCol="0" anchor="ctr"/>
          <a:lstStyle/>
          <a:p>
            <a:pPr indent="0" marL="0">
              <a:buNone/>
            </a:pPr>
            <a:r>
              <a:rPr lang="en-US" sz="1100" dirty="0">
                <a:solidFill>
                  <a:srgbClr val="94A3B8"/>
                </a:solidFill>
                <a:latin typeface="Arial" pitchFamily="34" charset="0"/>
                <a:ea typeface="Arial" pitchFamily="34" charset="-122"/>
                <a:cs typeface="Arial" pitchFamily="34" charset="-120"/>
              </a:rPr>
              <a:t>作成日: 2026年3月28日</a:t>
            </a:r>
            <a:endParaRPr lang="en-US" sz="1100" dirty="0"/>
          </a:p>
        </p:txBody>
      </p:sp>
      <p:sp>
        <p:nvSpPr>
          <p:cNvPr id="9" name="Text 7"/>
          <p:cNvSpPr/>
          <p:nvPr/>
        </p:nvSpPr>
        <p:spPr>
          <a:xfrm>
            <a:off x="6400800" y="3566160"/>
            <a:ext cx="2286000" cy="320040"/>
          </a:xfrm>
          <a:prstGeom prst="rect">
            <a:avLst/>
          </a:prstGeom>
          <a:noFill/>
          <a:ln/>
        </p:spPr>
        <p:txBody>
          <a:bodyPr wrap="square" rtlCol="0" anchor="ctr"/>
          <a:lstStyle/>
          <a:p>
            <a:pPr algn="r" indent="0" marL="0">
              <a:buNone/>
            </a:pPr>
            <a:r>
              <a:rPr lang="en-US" sz="1000" dirty="0">
                <a:solidFill>
                  <a:srgbClr val="94A3B8"/>
                </a:solidFill>
                <a:latin typeface="Arial" pitchFamily="34" charset="0"/>
                <a:ea typeface="Arial" pitchFamily="34" charset="-122"/>
                <a:cs typeface="Arial" pitchFamily="34" charset="-120"/>
              </a:rPr>
              <a:t>Confidential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コンフォートスイーツ東京ベイ | 全148件分析</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9" name="Shape 7"/>
          <p:cNvSpPr/>
          <p:nvPr/>
        </p:nvSpPr>
        <p:spPr>
          <a:xfrm>
            <a:off x="27432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1005840"/>
            <a:ext cx="2011680" cy="45720"/>
          </a:xfrm>
          <a:prstGeom prst="rect">
            <a:avLst/>
          </a:prstGeom>
          <a:solidFill>
            <a:srgbClr val="16A34A"/>
          </a:solidFill>
          <a:ln/>
        </p:spPr>
      </p:sp>
      <p:sp>
        <p:nvSpPr>
          <p:cNvPr id="11" name="Text 9"/>
          <p:cNvSpPr/>
          <p:nvPr/>
        </p:nvSpPr>
        <p:spPr>
          <a:xfrm>
            <a:off x="27432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a:t>
            </a:r>
            <a:endParaRPr lang="en-US" sz="1000" dirty="0"/>
          </a:p>
        </p:txBody>
      </p:sp>
      <p:sp>
        <p:nvSpPr>
          <p:cNvPr id="12" name="Text 10"/>
          <p:cNvSpPr/>
          <p:nvPr/>
        </p:nvSpPr>
        <p:spPr>
          <a:xfrm>
            <a:off x="274320" y="1371600"/>
            <a:ext cx="201168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9.18/10</a:t>
            </a:r>
            <a:endParaRPr lang="en-US" sz="3200" dirty="0"/>
          </a:p>
        </p:txBody>
      </p:sp>
      <p:sp>
        <p:nvSpPr>
          <p:cNvPr id="13" name="Shape 11"/>
          <p:cNvSpPr/>
          <p:nvPr/>
        </p:nvSpPr>
        <p:spPr>
          <a:xfrm>
            <a:off x="246888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2468880" y="1005840"/>
            <a:ext cx="2011680" cy="45720"/>
          </a:xfrm>
          <a:prstGeom prst="rect">
            <a:avLst/>
          </a:prstGeom>
          <a:solidFill>
            <a:srgbClr val="16A34A"/>
          </a:solidFill>
          <a:ln/>
        </p:spPr>
      </p:sp>
      <p:sp>
        <p:nvSpPr>
          <p:cNvPr id="15" name="Text 13"/>
          <p:cNvSpPr/>
          <p:nvPr/>
        </p:nvSpPr>
        <p:spPr>
          <a:xfrm>
            <a:off x="246888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6" name="Text 14"/>
          <p:cNvSpPr/>
          <p:nvPr/>
        </p:nvSpPr>
        <p:spPr>
          <a:xfrm>
            <a:off x="2468880" y="1371600"/>
            <a:ext cx="201168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96.6%</a:t>
            </a:r>
            <a:endParaRPr lang="en-US" sz="3200" dirty="0"/>
          </a:p>
        </p:txBody>
      </p:sp>
      <p:sp>
        <p:nvSpPr>
          <p:cNvPr id="17" name="Shape 15"/>
          <p:cNvSpPr/>
          <p:nvPr/>
        </p:nvSpPr>
        <p:spPr>
          <a:xfrm>
            <a:off x="466344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663440" y="1005840"/>
            <a:ext cx="2011680" cy="45720"/>
          </a:xfrm>
          <a:prstGeom prst="rect">
            <a:avLst/>
          </a:prstGeom>
          <a:solidFill>
            <a:srgbClr val="3B7DD8"/>
          </a:solidFill>
          <a:ln/>
        </p:spPr>
      </p:sp>
      <p:sp>
        <p:nvSpPr>
          <p:cNvPr id="19" name="Text 17"/>
          <p:cNvSpPr/>
          <p:nvPr/>
        </p:nvSpPr>
        <p:spPr>
          <a:xfrm>
            <a:off x="466344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中評価率(6-7点)</a:t>
            </a:r>
            <a:endParaRPr lang="en-US" sz="1000" dirty="0"/>
          </a:p>
        </p:txBody>
      </p:sp>
      <p:sp>
        <p:nvSpPr>
          <p:cNvPr id="20" name="Text 18"/>
          <p:cNvSpPr/>
          <p:nvPr/>
        </p:nvSpPr>
        <p:spPr>
          <a:xfrm>
            <a:off x="4663440" y="1371600"/>
            <a:ext cx="201168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2.7%</a:t>
            </a:r>
            <a:endParaRPr lang="en-US" sz="3200" dirty="0"/>
          </a:p>
        </p:txBody>
      </p:sp>
      <p:sp>
        <p:nvSpPr>
          <p:cNvPr id="21" name="Shape 19"/>
          <p:cNvSpPr/>
          <p:nvPr/>
        </p:nvSpPr>
        <p:spPr>
          <a:xfrm>
            <a:off x="685800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6858000" y="1005840"/>
            <a:ext cx="2011680" cy="45720"/>
          </a:xfrm>
          <a:prstGeom prst="rect">
            <a:avLst/>
          </a:prstGeom>
          <a:solidFill>
            <a:srgbClr val="EA580C"/>
          </a:solidFill>
          <a:ln/>
        </p:spPr>
      </p:sp>
      <p:sp>
        <p:nvSpPr>
          <p:cNvPr id="23" name="Text 21"/>
          <p:cNvSpPr/>
          <p:nvPr/>
        </p:nvSpPr>
        <p:spPr>
          <a:xfrm>
            <a:off x="685800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低評価率(~5点)</a:t>
            </a:r>
            <a:endParaRPr lang="en-US" sz="1000" dirty="0"/>
          </a:p>
        </p:txBody>
      </p:sp>
      <p:sp>
        <p:nvSpPr>
          <p:cNvPr id="24" name="Text 22"/>
          <p:cNvSpPr/>
          <p:nvPr/>
        </p:nvSpPr>
        <p:spPr>
          <a:xfrm>
            <a:off x="6858000" y="1371600"/>
            <a:ext cx="2011680" cy="502920"/>
          </a:xfrm>
          <a:prstGeom prst="rect">
            <a:avLst/>
          </a:prstGeom>
          <a:noFill/>
          <a:ln/>
        </p:spPr>
        <p:txBody>
          <a:bodyPr wrap="square" lIns="0" tIns="0" rIns="0" bIns="0" rtlCol="0" anchor="ctr"/>
          <a:lstStyle/>
          <a:p>
            <a:pPr algn="ctr" indent="0" marL="0">
              <a:buNone/>
            </a:pPr>
            <a:r>
              <a:rPr lang="en-US" sz="3200" b="1" dirty="0">
                <a:solidFill>
                  <a:srgbClr val="EA580C"/>
                </a:solidFill>
                <a:latin typeface="Arial" pitchFamily="34" charset="0"/>
                <a:ea typeface="Arial" pitchFamily="34" charset="-122"/>
                <a:cs typeface="Arial" pitchFamily="34" charset="-120"/>
              </a:rPr>
              <a:t>0.7%</a:t>
            </a:r>
            <a:endParaRPr lang="en-US" sz="3200" dirty="0"/>
          </a:p>
        </p:txBody>
      </p:sp>
      <p:sp>
        <p:nvSpPr>
          <p:cNvPr id="25" name="Shape 23"/>
          <p:cNvSpPr/>
          <p:nvPr/>
        </p:nvSpPr>
        <p:spPr>
          <a:xfrm>
            <a:off x="274320" y="2240280"/>
            <a:ext cx="859536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Text 24"/>
          <p:cNvSpPr/>
          <p:nvPr/>
        </p:nvSpPr>
        <p:spPr>
          <a:xfrm>
            <a:off x="457200" y="2331720"/>
            <a:ext cx="7315200" cy="274320"/>
          </a:xfrm>
          <a:prstGeom prst="rect">
            <a:avLst/>
          </a:prstGeom>
          <a:noFill/>
          <a:ln/>
        </p:spPr>
        <p:txBody>
          <a:bodyPr wrap="square" rtlCol="0" anchor="ctr"/>
          <a:lstStyle/>
          <a:p>
            <a:pPr indent="0" marL="0">
              <a:buNone/>
            </a:pPr>
            <a:r>
              <a:rPr lang="en-US" sz="1100" b="1" dirty="0">
                <a:solidFill>
                  <a:srgbClr val="1A2744"/>
                </a:solidFill>
                <a:latin typeface="Arial" pitchFamily="34" charset="0"/>
                <a:ea typeface="Arial" pitchFamily="34" charset="-122"/>
                <a:cs typeface="Arial" pitchFamily="34" charset="-120"/>
              </a:rPr>
              <a:t>主要発見事項</a:t>
            </a:r>
            <a:endParaRPr lang="en-US" sz="1100" dirty="0"/>
          </a:p>
        </p:txBody>
      </p:sp>
      <p:sp>
        <p:nvSpPr>
          <p:cNvPr id="27" name="Text 25"/>
          <p:cNvSpPr/>
          <p:nvPr/>
        </p:nvSpPr>
        <p:spPr>
          <a:xfrm>
            <a:off x="457200" y="2697480"/>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全体平均スコア 9.18/10 — 高水準を維持しています</a:t>
            </a:r>
            <a:endParaRPr lang="en-US" sz="1000" dirty="0"/>
          </a:p>
        </p:txBody>
      </p:sp>
      <p:sp>
        <p:nvSpPr>
          <p:cNvPr id="28" name="Text 26"/>
          <p:cNvSpPr/>
          <p:nvPr/>
        </p:nvSpPr>
        <p:spPr>
          <a:xfrm>
            <a:off x="457200" y="3099816"/>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高評価(8点以上)が全体の96.6%を占めています</a:t>
            </a:r>
            <a:endParaRPr lang="en-US" sz="1000" dirty="0"/>
          </a:p>
        </p:txBody>
      </p:sp>
      <p:sp>
        <p:nvSpPr>
          <p:cNvPr id="29" name="Text 27"/>
          <p:cNvSpPr/>
          <p:nvPr/>
        </p:nvSpPr>
        <p:spPr>
          <a:xfrm>
            <a:off x="457200" y="3502152"/>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低評価(5点以下)は0.7%で管理可能な水準です</a:t>
            </a:r>
            <a:endParaRPr lang="en-US" sz="1000" dirty="0"/>
          </a:p>
        </p:txBody>
      </p:sp>
      <p:sp>
        <p:nvSpPr>
          <p:cNvPr id="30" name="Text 28"/>
          <p:cNvSpPr/>
          <p:nvPr/>
        </p:nvSpPr>
        <p:spPr>
          <a:xfrm>
            <a:off x="457200" y="3904488"/>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対象サイト: 楽天トラベル / Booking.com / じゃらん / Agoda / Trip.com / Google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各予約サイト・口コミサイト別スコア詳細</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
        <p:nvSpPr>
          <p:cNvPr id="9" name="Shape 7"/>
          <p:cNvSpPr/>
          <p:nvPr/>
        </p:nvSpPr>
        <p:spPr>
          <a:xfrm>
            <a:off x="274320" y="914400"/>
            <a:ext cx="2286000" cy="292608"/>
          </a:xfrm>
          <a:prstGeom prst="rect">
            <a:avLst/>
          </a:prstGeom>
          <a:solidFill>
            <a:srgbClr val="1A2744"/>
          </a:solidFill>
          <a:ln/>
        </p:spPr>
      </p:sp>
      <p:sp>
        <p:nvSpPr>
          <p:cNvPr id="10" name="Text 8"/>
          <p:cNvSpPr/>
          <p:nvPr/>
        </p:nvSpPr>
        <p:spPr>
          <a:xfrm>
            <a:off x="274320" y="914400"/>
            <a:ext cx="22860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p>
        </p:txBody>
      </p:sp>
      <p:sp>
        <p:nvSpPr>
          <p:cNvPr id="11" name="Shape 9"/>
          <p:cNvSpPr/>
          <p:nvPr/>
        </p:nvSpPr>
        <p:spPr>
          <a:xfrm>
            <a:off x="2560320" y="914400"/>
            <a:ext cx="1097280" cy="292608"/>
          </a:xfrm>
          <a:prstGeom prst="rect">
            <a:avLst/>
          </a:prstGeom>
          <a:solidFill>
            <a:srgbClr val="1A2744"/>
          </a:solidFill>
          <a:ln/>
        </p:spPr>
      </p:sp>
      <p:sp>
        <p:nvSpPr>
          <p:cNvPr id="12" name="Text 10"/>
          <p:cNvSpPr/>
          <p:nvPr/>
        </p:nvSpPr>
        <p:spPr>
          <a:xfrm>
            <a:off x="2560320" y="914400"/>
            <a:ext cx="109728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p>
        </p:txBody>
      </p:sp>
      <p:sp>
        <p:nvSpPr>
          <p:cNvPr id="13" name="Shape 11"/>
          <p:cNvSpPr/>
          <p:nvPr/>
        </p:nvSpPr>
        <p:spPr>
          <a:xfrm>
            <a:off x="3657600" y="914400"/>
            <a:ext cx="1371600" cy="292608"/>
          </a:xfrm>
          <a:prstGeom prst="rect">
            <a:avLst/>
          </a:prstGeom>
          <a:solidFill>
            <a:srgbClr val="1A2744"/>
          </a:solidFill>
          <a:ln/>
        </p:spPr>
      </p:sp>
      <p:sp>
        <p:nvSpPr>
          <p:cNvPr id="14" name="Text 12"/>
          <p:cNvSpPr/>
          <p:nvPr/>
        </p:nvSpPr>
        <p:spPr>
          <a:xfrm>
            <a:off x="3657600" y="914400"/>
            <a:ext cx="13716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平均評価</a:t>
            </a:r>
            <a:endParaRPr lang="en-US" sz="900" dirty="0"/>
          </a:p>
        </p:txBody>
      </p:sp>
      <p:sp>
        <p:nvSpPr>
          <p:cNvPr id="15" name="Shape 13"/>
          <p:cNvSpPr/>
          <p:nvPr/>
        </p:nvSpPr>
        <p:spPr>
          <a:xfrm>
            <a:off x="5029200" y="914400"/>
            <a:ext cx="1371600" cy="292608"/>
          </a:xfrm>
          <a:prstGeom prst="rect">
            <a:avLst/>
          </a:prstGeom>
          <a:solidFill>
            <a:srgbClr val="1A2744"/>
          </a:solidFill>
          <a:ln/>
        </p:spPr>
      </p:sp>
      <p:sp>
        <p:nvSpPr>
          <p:cNvPr id="16" name="Text 14"/>
          <p:cNvSpPr/>
          <p:nvPr/>
        </p:nvSpPr>
        <p:spPr>
          <a:xfrm>
            <a:off x="5029200" y="914400"/>
            <a:ext cx="13716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10点換算</a:t>
            </a:r>
            <a:endParaRPr lang="en-US" sz="900" dirty="0"/>
          </a:p>
        </p:txBody>
      </p:sp>
      <p:sp>
        <p:nvSpPr>
          <p:cNvPr id="17" name="Shape 15"/>
          <p:cNvSpPr/>
          <p:nvPr/>
        </p:nvSpPr>
        <p:spPr>
          <a:xfrm>
            <a:off x="6400800" y="914400"/>
            <a:ext cx="1828800" cy="292608"/>
          </a:xfrm>
          <a:prstGeom prst="rect">
            <a:avLst/>
          </a:prstGeom>
          <a:solidFill>
            <a:srgbClr val="1A2744"/>
          </a:solidFill>
          <a:ln/>
        </p:spPr>
      </p:sp>
      <p:sp>
        <p:nvSpPr>
          <p:cNvPr id="18" name="Text 16"/>
          <p:cNvSpPr/>
          <p:nvPr/>
        </p:nvSpPr>
        <p:spPr>
          <a:xfrm>
            <a:off x="6400800" y="914400"/>
            <a:ext cx="18288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評価判定</a:t>
            </a:r>
            <a:endParaRPr lang="en-US" sz="900" dirty="0"/>
          </a:p>
        </p:txBody>
      </p:sp>
      <p:sp>
        <p:nvSpPr>
          <p:cNvPr id="19" name="Shape 17"/>
          <p:cNvSpPr/>
          <p:nvPr/>
        </p:nvSpPr>
        <p:spPr>
          <a:xfrm>
            <a:off x="274320" y="1207008"/>
            <a:ext cx="2286000" cy="310896"/>
          </a:xfrm>
          <a:prstGeom prst="rect">
            <a:avLst/>
          </a:prstGeom>
          <a:solidFill>
            <a:srgbClr val="FFFFFF"/>
          </a:solidFill>
          <a:ln/>
        </p:spPr>
      </p:sp>
      <p:sp>
        <p:nvSpPr>
          <p:cNvPr id="20" name="Shape 18"/>
          <p:cNvSpPr/>
          <p:nvPr/>
        </p:nvSpPr>
        <p:spPr>
          <a:xfrm>
            <a:off x="2560320" y="1207008"/>
            <a:ext cx="1097280" cy="310896"/>
          </a:xfrm>
          <a:prstGeom prst="rect">
            <a:avLst/>
          </a:prstGeom>
          <a:solidFill>
            <a:srgbClr val="FFFFFF"/>
          </a:solidFill>
          <a:ln/>
        </p:spPr>
      </p:sp>
      <p:sp>
        <p:nvSpPr>
          <p:cNvPr id="21" name="Shape 19"/>
          <p:cNvSpPr/>
          <p:nvPr/>
        </p:nvSpPr>
        <p:spPr>
          <a:xfrm>
            <a:off x="3657600" y="1207008"/>
            <a:ext cx="1371600" cy="310896"/>
          </a:xfrm>
          <a:prstGeom prst="rect">
            <a:avLst/>
          </a:prstGeom>
          <a:solidFill>
            <a:srgbClr val="FFFFFF"/>
          </a:solidFill>
          <a:ln/>
        </p:spPr>
      </p:sp>
      <p:sp>
        <p:nvSpPr>
          <p:cNvPr id="22" name="Shape 20"/>
          <p:cNvSpPr/>
          <p:nvPr/>
        </p:nvSpPr>
        <p:spPr>
          <a:xfrm>
            <a:off x="5029200" y="1207008"/>
            <a:ext cx="1371600" cy="310896"/>
          </a:xfrm>
          <a:prstGeom prst="rect">
            <a:avLst/>
          </a:prstGeom>
          <a:solidFill>
            <a:srgbClr val="FFFFFF"/>
          </a:solidFill>
          <a:ln/>
        </p:spPr>
      </p:sp>
      <p:sp>
        <p:nvSpPr>
          <p:cNvPr id="23" name="Shape 21"/>
          <p:cNvSpPr/>
          <p:nvPr/>
        </p:nvSpPr>
        <p:spPr>
          <a:xfrm>
            <a:off x="6400800" y="1207008"/>
            <a:ext cx="1828800" cy="310896"/>
          </a:xfrm>
          <a:prstGeom prst="rect">
            <a:avLst/>
          </a:prstGeom>
          <a:solidFill>
            <a:srgbClr val="FFFFFF"/>
          </a:solidFill>
          <a:ln/>
        </p:spPr>
      </p:sp>
      <p:sp>
        <p:nvSpPr>
          <p:cNvPr id="24" name="Text 22"/>
          <p:cNvSpPr/>
          <p:nvPr/>
        </p:nvSpPr>
        <p:spPr>
          <a:xfrm>
            <a:off x="274320" y="1207008"/>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楽天トラベル</a:t>
            </a:r>
            <a:endParaRPr lang="en-US" sz="900" dirty="0"/>
          </a:p>
        </p:txBody>
      </p:sp>
      <p:sp>
        <p:nvSpPr>
          <p:cNvPr id="25" name="Text 23"/>
          <p:cNvSpPr/>
          <p:nvPr/>
        </p:nvSpPr>
        <p:spPr>
          <a:xfrm>
            <a:off x="2560320" y="1207008"/>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47</a:t>
            </a:r>
            <a:endParaRPr lang="en-US" sz="900" dirty="0"/>
          </a:p>
        </p:txBody>
      </p:sp>
      <p:sp>
        <p:nvSpPr>
          <p:cNvPr id="26" name="Text 24"/>
          <p:cNvSpPr/>
          <p:nvPr/>
        </p:nvSpPr>
        <p:spPr>
          <a:xfrm>
            <a:off x="3657600" y="120700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4.6/5</a:t>
            </a:r>
            <a:endParaRPr lang="en-US" sz="900" dirty="0"/>
          </a:p>
        </p:txBody>
      </p:sp>
      <p:sp>
        <p:nvSpPr>
          <p:cNvPr id="27" name="Text 25"/>
          <p:cNvSpPr/>
          <p:nvPr/>
        </p:nvSpPr>
        <p:spPr>
          <a:xfrm>
            <a:off x="5029200" y="120700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9.19/10</a:t>
            </a:r>
            <a:endParaRPr lang="en-US" sz="900" dirty="0"/>
          </a:p>
        </p:txBody>
      </p:sp>
      <p:sp>
        <p:nvSpPr>
          <p:cNvPr id="28" name="Text 26"/>
          <p:cNvSpPr/>
          <p:nvPr/>
        </p:nvSpPr>
        <p:spPr>
          <a:xfrm>
            <a:off x="6400800" y="1207008"/>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29" name="Shape 27"/>
          <p:cNvSpPr/>
          <p:nvPr/>
        </p:nvSpPr>
        <p:spPr>
          <a:xfrm>
            <a:off x="274320" y="1536192"/>
            <a:ext cx="2286000" cy="310896"/>
          </a:xfrm>
          <a:prstGeom prst="rect">
            <a:avLst/>
          </a:prstGeom>
          <a:solidFill>
            <a:srgbClr val="E8EFF8"/>
          </a:solidFill>
          <a:ln/>
        </p:spPr>
      </p:sp>
      <p:sp>
        <p:nvSpPr>
          <p:cNvPr id="30" name="Shape 28"/>
          <p:cNvSpPr/>
          <p:nvPr/>
        </p:nvSpPr>
        <p:spPr>
          <a:xfrm>
            <a:off x="2560320" y="1536192"/>
            <a:ext cx="1097280" cy="310896"/>
          </a:xfrm>
          <a:prstGeom prst="rect">
            <a:avLst/>
          </a:prstGeom>
          <a:solidFill>
            <a:srgbClr val="E8EFF8"/>
          </a:solidFill>
          <a:ln/>
        </p:spPr>
      </p:sp>
      <p:sp>
        <p:nvSpPr>
          <p:cNvPr id="31" name="Shape 29"/>
          <p:cNvSpPr/>
          <p:nvPr/>
        </p:nvSpPr>
        <p:spPr>
          <a:xfrm>
            <a:off x="3657600" y="1536192"/>
            <a:ext cx="1371600" cy="310896"/>
          </a:xfrm>
          <a:prstGeom prst="rect">
            <a:avLst/>
          </a:prstGeom>
          <a:solidFill>
            <a:srgbClr val="E8EFF8"/>
          </a:solidFill>
          <a:ln/>
        </p:spPr>
      </p:sp>
      <p:sp>
        <p:nvSpPr>
          <p:cNvPr id="32" name="Shape 30"/>
          <p:cNvSpPr/>
          <p:nvPr/>
        </p:nvSpPr>
        <p:spPr>
          <a:xfrm>
            <a:off x="5029200" y="1536192"/>
            <a:ext cx="1371600" cy="310896"/>
          </a:xfrm>
          <a:prstGeom prst="rect">
            <a:avLst/>
          </a:prstGeom>
          <a:solidFill>
            <a:srgbClr val="E8EFF8"/>
          </a:solidFill>
          <a:ln/>
        </p:spPr>
      </p:sp>
      <p:sp>
        <p:nvSpPr>
          <p:cNvPr id="33" name="Shape 31"/>
          <p:cNvSpPr/>
          <p:nvPr/>
        </p:nvSpPr>
        <p:spPr>
          <a:xfrm>
            <a:off x="6400800" y="1536192"/>
            <a:ext cx="1828800" cy="310896"/>
          </a:xfrm>
          <a:prstGeom prst="rect">
            <a:avLst/>
          </a:prstGeom>
          <a:solidFill>
            <a:srgbClr val="E8EFF8"/>
          </a:solidFill>
          <a:ln/>
        </p:spPr>
      </p:sp>
      <p:sp>
        <p:nvSpPr>
          <p:cNvPr id="34" name="Text 32"/>
          <p:cNvSpPr/>
          <p:nvPr/>
        </p:nvSpPr>
        <p:spPr>
          <a:xfrm>
            <a:off x="274320" y="1536192"/>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Booking.com</a:t>
            </a:r>
            <a:endParaRPr lang="en-US" sz="900" dirty="0"/>
          </a:p>
        </p:txBody>
      </p:sp>
      <p:sp>
        <p:nvSpPr>
          <p:cNvPr id="35" name="Text 33"/>
          <p:cNvSpPr/>
          <p:nvPr/>
        </p:nvSpPr>
        <p:spPr>
          <a:xfrm>
            <a:off x="2560320" y="1536192"/>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32</a:t>
            </a:r>
            <a:endParaRPr lang="en-US" sz="900" dirty="0"/>
          </a:p>
        </p:txBody>
      </p:sp>
      <p:sp>
        <p:nvSpPr>
          <p:cNvPr id="36" name="Text 34"/>
          <p:cNvSpPr/>
          <p:nvPr/>
        </p:nvSpPr>
        <p:spPr>
          <a:xfrm>
            <a:off x="3657600" y="1536192"/>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8.75/10</a:t>
            </a:r>
            <a:endParaRPr lang="en-US" sz="900" dirty="0"/>
          </a:p>
        </p:txBody>
      </p:sp>
      <p:sp>
        <p:nvSpPr>
          <p:cNvPr id="37" name="Text 35"/>
          <p:cNvSpPr/>
          <p:nvPr/>
        </p:nvSpPr>
        <p:spPr>
          <a:xfrm>
            <a:off x="5029200" y="1536192"/>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8.75/10</a:t>
            </a:r>
            <a:endParaRPr lang="en-US" sz="900" dirty="0"/>
          </a:p>
        </p:txBody>
      </p:sp>
      <p:sp>
        <p:nvSpPr>
          <p:cNvPr id="38" name="Text 36"/>
          <p:cNvSpPr/>
          <p:nvPr/>
        </p:nvSpPr>
        <p:spPr>
          <a:xfrm>
            <a:off x="6400800" y="1536192"/>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39" name="Shape 37"/>
          <p:cNvSpPr/>
          <p:nvPr/>
        </p:nvSpPr>
        <p:spPr>
          <a:xfrm>
            <a:off x="274320" y="1865376"/>
            <a:ext cx="2286000" cy="310896"/>
          </a:xfrm>
          <a:prstGeom prst="rect">
            <a:avLst/>
          </a:prstGeom>
          <a:solidFill>
            <a:srgbClr val="FFFFFF"/>
          </a:solidFill>
          <a:ln/>
        </p:spPr>
      </p:sp>
      <p:sp>
        <p:nvSpPr>
          <p:cNvPr id="40" name="Shape 38"/>
          <p:cNvSpPr/>
          <p:nvPr/>
        </p:nvSpPr>
        <p:spPr>
          <a:xfrm>
            <a:off x="2560320" y="1865376"/>
            <a:ext cx="1097280" cy="310896"/>
          </a:xfrm>
          <a:prstGeom prst="rect">
            <a:avLst/>
          </a:prstGeom>
          <a:solidFill>
            <a:srgbClr val="FFFFFF"/>
          </a:solidFill>
          <a:ln/>
        </p:spPr>
      </p:sp>
      <p:sp>
        <p:nvSpPr>
          <p:cNvPr id="41" name="Shape 39"/>
          <p:cNvSpPr/>
          <p:nvPr/>
        </p:nvSpPr>
        <p:spPr>
          <a:xfrm>
            <a:off x="3657600" y="1865376"/>
            <a:ext cx="1371600" cy="310896"/>
          </a:xfrm>
          <a:prstGeom prst="rect">
            <a:avLst/>
          </a:prstGeom>
          <a:solidFill>
            <a:srgbClr val="FFFFFF"/>
          </a:solidFill>
          <a:ln/>
        </p:spPr>
      </p:sp>
      <p:sp>
        <p:nvSpPr>
          <p:cNvPr id="42" name="Shape 40"/>
          <p:cNvSpPr/>
          <p:nvPr/>
        </p:nvSpPr>
        <p:spPr>
          <a:xfrm>
            <a:off x="5029200" y="1865376"/>
            <a:ext cx="1371600" cy="310896"/>
          </a:xfrm>
          <a:prstGeom prst="rect">
            <a:avLst/>
          </a:prstGeom>
          <a:solidFill>
            <a:srgbClr val="FFFFFF"/>
          </a:solidFill>
          <a:ln/>
        </p:spPr>
      </p:sp>
      <p:sp>
        <p:nvSpPr>
          <p:cNvPr id="43" name="Shape 41"/>
          <p:cNvSpPr/>
          <p:nvPr/>
        </p:nvSpPr>
        <p:spPr>
          <a:xfrm>
            <a:off x="6400800" y="1865376"/>
            <a:ext cx="1828800" cy="310896"/>
          </a:xfrm>
          <a:prstGeom prst="rect">
            <a:avLst/>
          </a:prstGeom>
          <a:solidFill>
            <a:srgbClr val="FFFFFF"/>
          </a:solidFill>
          <a:ln/>
        </p:spPr>
      </p:sp>
      <p:sp>
        <p:nvSpPr>
          <p:cNvPr id="44" name="Text 42"/>
          <p:cNvSpPr/>
          <p:nvPr/>
        </p:nvSpPr>
        <p:spPr>
          <a:xfrm>
            <a:off x="274320" y="1865376"/>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じゃらん</a:t>
            </a:r>
            <a:endParaRPr lang="en-US" sz="900" dirty="0"/>
          </a:p>
        </p:txBody>
      </p:sp>
      <p:sp>
        <p:nvSpPr>
          <p:cNvPr id="45" name="Text 43"/>
          <p:cNvSpPr/>
          <p:nvPr/>
        </p:nvSpPr>
        <p:spPr>
          <a:xfrm>
            <a:off x="2560320" y="1865376"/>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28</a:t>
            </a:r>
            <a:endParaRPr lang="en-US" sz="900" dirty="0"/>
          </a:p>
        </p:txBody>
      </p:sp>
      <p:sp>
        <p:nvSpPr>
          <p:cNvPr id="46" name="Text 44"/>
          <p:cNvSpPr/>
          <p:nvPr/>
        </p:nvSpPr>
        <p:spPr>
          <a:xfrm>
            <a:off x="3657600" y="1865376"/>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4.61/5</a:t>
            </a:r>
            <a:endParaRPr lang="en-US" sz="900" dirty="0"/>
          </a:p>
        </p:txBody>
      </p:sp>
      <p:sp>
        <p:nvSpPr>
          <p:cNvPr id="47" name="Text 45"/>
          <p:cNvSpPr/>
          <p:nvPr/>
        </p:nvSpPr>
        <p:spPr>
          <a:xfrm>
            <a:off x="5029200" y="1865376"/>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9.21/10</a:t>
            </a:r>
            <a:endParaRPr lang="en-US" sz="900" dirty="0"/>
          </a:p>
        </p:txBody>
      </p:sp>
      <p:sp>
        <p:nvSpPr>
          <p:cNvPr id="48" name="Text 46"/>
          <p:cNvSpPr/>
          <p:nvPr/>
        </p:nvSpPr>
        <p:spPr>
          <a:xfrm>
            <a:off x="6400800" y="1865376"/>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49" name="Shape 47"/>
          <p:cNvSpPr/>
          <p:nvPr/>
        </p:nvSpPr>
        <p:spPr>
          <a:xfrm>
            <a:off x="274320" y="2194560"/>
            <a:ext cx="2286000" cy="310896"/>
          </a:xfrm>
          <a:prstGeom prst="rect">
            <a:avLst/>
          </a:prstGeom>
          <a:solidFill>
            <a:srgbClr val="E8EFF8"/>
          </a:solidFill>
          <a:ln/>
        </p:spPr>
      </p:sp>
      <p:sp>
        <p:nvSpPr>
          <p:cNvPr id="50" name="Shape 48"/>
          <p:cNvSpPr/>
          <p:nvPr/>
        </p:nvSpPr>
        <p:spPr>
          <a:xfrm>
            <a:off x="2560320" y="2194560"/>
            <a:ext cx="1097280" cy="310896"/>
          </a:xfrm>
          <a:prstGeom prst="rect">
            <a:avLst/>
          </a:prstGeom>
          <a:solidFill>
            <a:srgbClr val="E8EFF8"/>
          </a:solidFill>
          <a:ln/>
        </p:spPr>
      </p:sp>
      <p:sp>
        <p:nvSpPr>
          <p:cNvPr id="51" name="Shape 49"/>
          <p:cNvSpPr/>
          <p:nvPr/>
        </p:nvSpPr>
        <p:spPr>
          <a:xfrm>
            <a:off x="3657600" y="2194560"/>
            <a:ext cx="1371600" cy="310896"/>
          </a:xfrm>
          <a:prstGeom prst="rect">
            <a:avLst/>
          </a:prstGeom>
          <a:solidFill>
            <a:srgbClr val="E8EFF8"/>
          </a:solidFill>
          <a:ln/>
        </p:spPr>
      </p:sp>
      <p:sp>
        <p:nvSpPr>
          <p:cNvPr id="52" name="Shape 50"/>
          <p:cNvSpPr/>
          <p:nvPr/>
        </p:nvSpPr>
        <p:spPr>
          <a:xfrm>
            <a:off x="5029200" y="2194560"/>
            <a:ext cx="1371600" cy="310896"/>
          </a:xfrm>
          <a:prstGeom prst="rect">
            <a:avLst/>
          </a:prstGeom>
          <a:solidFill>
            <a:srgbClr val="E8EFF8"/>
          </a:solidFill>
          <a:ln/>
        </p:spPr>
      </p:sp>
      <p:sp>
        <p:nvSpPr>
          <p:cNvPr id="53" name="Shape 51"/>
          <p:cNvSpPr/>
          <p:nvPr/>
        </p:nvSpPr>
        <p:spPr>
          <a:xfrm>
            <a:off x="6400800" y="2194560"/>
            <a:ext cx="1828800" cy="310896"/>
          </a:xfrm>
          <a:prstGeom prst="rect">
            <a:avLst/>
          </a:prstGeom>
          <a:solidFill>
            <a:srgbClr val="E8EFF8"/>
          </a:solidFill>
          <a:ln/>
        </p:spPr>
      </p:sp>
      <p:sp>
        <p:nvSpPr>
          <p:cNvPr id="54" name="Text 52"/>
          <p:cNvSpPr/>
          <p:nvPr/>
        </p:nvSpPr>
        <p:spPr>
          <a:xfrm>
            <a:off x="274320" y="2194560"/>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Agoda</a:t>
            </a:r>
            <a:endParaRPr lang="en-US" sz="900" dirty="0"/>
          </a:p>
        </p:txBody>
      </p:sp>
      <p:sp>
        <p:nvSpPr>
          <p:cNvPr id="55" name="Text 53"/>
          <p:cNvSpPr/>
          <p:nvPr/>
        </p:nvSpPr>
        <p:spPr>
          <a:xfrm>
            <a:off x="2560320" y="2194560"/>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18</a:t>
            </a:r>
            <a:endParaRPr lang="en-US" sz="900" dirty="0"/>
          </a:p>
        </p:txBody>
      </p:sp>
      <p:sp>
        <p:nvSpPr>
          <p:cNvPr id="56" name="Text 54"/>
          <p:cNvSpPr/>
          <p:nvPr/>
        </p:nvSpPr>
        <p:spPr>
          <a:xfrm>
            <a:off x="3657600" y="2194560"/>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9.5/10</a:t>
            </a:r>
            <a:endParaRPr lang="en-US" sz="900" dirty="0"/>
          </a:p>
        </p:txBody>
      </p:sp>
      <p:sp>
        <p:nvSpPr>
          <p:cNvPr id="57" name="Text 55"/>
          <p:cNvSpPr/>
          <p:nvPr/>
        </p:nvSpPr>
        <p:spPr>
          <a:xfrm>
            <a:off x="5029200" y="2194560"/>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9.5/10</a:t>
            </a:r>
            <a:endParaRPr lang="en-US" sz="900" dirty="0"/>
          </a:p>
        </p:txBody>
      </p:sp>
      <p:sp>
        <p:nvSpPr>
          <p:cNvPr id="58" name="Text 56"/>
          <p:cNvSpPr/>
          <p:nvPr/>
        </p:nvSpPr>
        <p:spPr>
          <a:xfrm>
            <a:off x="6400800" y="2194560"/>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59" name="Shape 57"/>
          <p:cNvSpPr/>
          <p:nvPr/>
        </p:nvSpPr>
        <p:spPr>
          <a:xfrm>
            <a:off x="274320" y="2523744"/>
            <a:ext cx="2286000" cy="310896"/>
          </a:xfrm>
          <a:prstGeom prst="rect">
            <a:avLst/>
          </a:prstGeom>
          <a:solidFill>
            <a:srgbClr val="FFFFFF"/>
          </a:solidFill>
          <a:ln/>
        </p:spPr>
      </p:sp>
      <p:sp>
        <p:nvSpPr>
          <p:cNvPr id="60" name="Shape 58"/>
          <p:cNvSpPr/>
          <p:nvPr/>
        </p:nvSpPr>
        <p:spPr>
          <a:xfrm>
            <a:off x="2560320" y="2523744"/>
            <a:ext cx="1097280" cy="310896"/>
          </a:xfrm>
          <a:prstGeom prst="rect">
            <a:avLst/>
          </a:prstGeom>
          <a:solidFill>
            <a:srgbClr val="FFFFFF"/>
          </a:solidFill>
          <a:ln/>
        </p:spPr>
      </p:sp>
      <p:sp>
        <p:nvSpPr>
          <p:cNvPr id="61" name="Shape 59"/>
          <p:cNvSpPr/>
          <p:nvPr/>
        </p:nvSpPr>
        <p:spPr>
          <a:xfrm>
            <a:off x="3657600" y="2523744"/>
            <a:ext cx="1371600" cy="310896"/>
          </a:xfrm>
          <a:prstGeom prst="rect">
            <a:avLst/>
          </a:prstGeom>
          <a:solidFill>
            <a:srgbClr val="FFFFFF"/>
          </a:solidFill>
          <a:ln/>
        </p:spPr>
      </p:sp>
      <p:sp>
        <p:nvSpPr>
          <p:cNvPr id="62" name="Shape 60"/>
          <p:cNvSpPr/>
          <p:nvPr/>
        </p:nvSpPr>
        <p:spPr>
          <a:xfrm>
            <a:off x="5029200" y="2523744"/>
            <a:ext cx="1371600" cy="310896"/>
          </a:xfrm>
          <a:prstGeom prst="rect">
            <a:avLst/>
          </a:prstGeom>
          <a:solidFill>
            <a:srgbClr val="FFFFFF"/>
          </a:solidFill>
          <a:ln/>
        </p:spPr>
      </p:sp>
      <p:sp>
        <p:nvSpPr>
          <p:cNvPr id="63" name="Shape 61"/>
          <p:cNvSpPr/>
          <p:nvPr/>
        </p:nvSpPr>
        <p:spPr>
          <a:xfrm>
            <a:off x="6400800" y="2523744"/>
            <a:ext cx="1828800" cy="310896"/>
          </a:xfrm>
          <a:prstGeom prst="rect">
            <a:avLst/>
          </a:prstGeom>
          <a:solidFill>
            <a:srgbClr val="FFFFFF"/>
          </a:solidFill>
          <a:ln/>
        </p:spPr>
      </p:sp>
      <p:sp>
        <p:nvSpPr>
          <p:cNvPr id="64" name="Text 62"/>
          <p:cNvSpPr/>
          <p:nvPr/>
        </p:nvSpPr>
        <p:spPr>
          <a:xfrm>
            <a:off x="274320" y="2523744"/>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Trip.com</a:t>
            </a:r>
            <a:endParaRPr lang="en-US" sz="900" dirty="0"/>
          </a:p>
        </p:txBody>
      </p:sp>
      <p:sp>
        <p:nvSpPr>
          <p:cNvPr id="65" name="Text 63"/>
          <p:cNvSpPr/>
          <p:nvPr/>
        </p:nvSpPr>
        <p:spPr>
          <a:xfrm>
            <a:off x="2560320" y="2523744"/>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15</a:t>
            </a:r>
            <a:endParaRPr lang="en-US" sz="900" dirty="0"/>
          </a:p>
        </p:txBody>
      </p:sp>
      <p:sp>
        <p:nvSpPr>
          <p:cNvPr id="66" name="Text 64"/>
          <p:cNvSpPr/>
          <p:nvPr/>
        </p:nvSpPr>
        <p:spPr>
          <a:xfrm>
            <a:off x="3657600" y="2523744"/>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9.6/10</a:t>
            </a:r>
            <a:endParaRPr lang="en-US" sz="900" dirty="0"/>
          </a:p>
        </p:txBody>
      </p:sp>
      <p:sp>
        <p:nvSpPr>
          <p:cNvPr id="67" name="Text 65"/>
          <p:cNvSpPr/>
          <p:nvPr/>
        </p:nvSpPr>
        <p:spPr>
          <a:xfrm>
            <a:off x="5029200" y="2523744"/>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9.6/10</a:t>
            </a:r>
            <a:endParaRPr lang="en-US" sz="900" dirty="0"/>
          </a:p>
        </p:txBody>
      </p:sp>
      <p:sp>
        <p:nvSpPr>
          <p:cNvPr id="68" name="Text 66"/>
          <p:cNvSpPr/>
          <p:nvPr/>
        </p:nvSpPr>
        <p:spPr>
          <a:xfrm>
            <a:off x="6400800" y="2523744"/>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69" name="Shape 67"/>
          <p:cNvSpPr/>
          <p:nvPr/>
        </p:nvSpPr>
        <p:spPr>
          <a:xfrm>
            <a:off x="274320" y="2852928"/>
            <a:ext cx="2286000" cy="310896"/>
          </a:xfrm>
          <a:prstGeom prst="rect">
            <a:avLst/>
          </a:prstGeom>
          <a:solidFill>
            <a:srgbClr val="E8EFF8"/>
          </a:solidFill>
          <a:ln/>
        </p:spPr>
      </p:sp>
      <p:sp>
        <p:nvSpPr>
          <p:cNvPr id="70" name="Shape 68"/>
          <p:cNvSpPr/>
          <p:nvPr/>
        </p:nvSpPr>
        <p:spPr>
          <a:xfrm>
            <a:off x="2560320" y="2852928"/>
            <a:ext cx="1097280" cy="310896"/>
          </a:xfrm>
          <a:prstGeom prst="rect">
            <a:avLst/>
          </a:prstGeom>
          <a:solidFill>
            <a:srgbClr val="E8EFF8"/>
          </a:solidFill>
          <a:ln/>
        </p:spPr>
      </p:sp>
      <p:sp>
        <p:nvSpPr>
          <p:cNvPr id="71" name="Shape 69"/>
          <p:cNvSpPr/>
          <p:nvPr/>
        </p:nvSpPr>
        <p:spPr>
          <a:xfrm>
            <a:off x="3657600" y="2852928"/>
            <a:ext cx="1371600" cy="310896"/>
          </a:xfrm>
          <a:prstGeom prst="rect">
            <a:avLst/>
          </a:prstGeom>
          <a:solidFill>
            <a:srgbClr val="E8EFF8"/>
          </a:solidFill>
          <a:ln/>
        </p:spPr>
      </p:sp>
      <p:sp>
        <p:nvSpPr>
          <p:cNvPr id="72" name="Shape 70"/>
          <p:cNvSpPr/>
          <p:nvPr/>
        </p:nvSpPr>
        <p:spPr>
          <a:xfrm>
            <a:off x="5029200" y="2852928"/>
            <a:ext cx="1371600" cy="310896"/>
          </a:xfrm>
          <a:prstGeom prst="rect">
            <a:avLst/>
          </a:prstGeom>
          <a:solidFill>
            <a:srgbClr val="E8EFF8"/>
          </a:solidFill>
          <a:ln/>
        </p:spPr>
      </p:sp>
      <p:sp>
        <p:nvSpPr>
          <p:cNvPr id="73" name="Shape 71"/>
          <p:cNvSpPr/>
          <p:nvPr/>
        </p:nvSpPr>
        <p:spPr>
          <a:xfrm>
            <a:off x="6400800" y="2852928"/>
            <a:ext cx="1828800" cy="310896"/>
          </a:xfrm>
          <a:prstGeom prst="rect">
            <a:avLst/>
          </a:prstGeom>
          <a:solidFill>
            <a:srgbClr val="E8EFF8"/>
          </a:solidFill>
          <a:ln/>
        </p:spPr>
      </p:sp>
      <p:sp>
        <p:nvSpPr>
          <p:cNvPr id="74" name="Text 72"/>
          <p:cNvSpPr/>
          <p:nvPr/>
        </p:nvSpPr>
        <p:spPr>
          <a:xfrm>
            <a:off x="274320" y="2852928"/>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Google</a:t>
            </a:r>
            <a:endParaRPr lang="en-US" sz="900" dirty="0"/>
          </a:p>
        </p:txBody>
      </p:sp>
      <p:sp>
        <p:nvSpPr>
          <p:cNvPr id="75" name="Text 73"/>
          <p:cNvSpPr/>
          <p:nvPr/>
        </p:nvSpPr>
        <p:spPr>
          <a:xfrm>
            <a:off x="2560320" y="2852928"/>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a:t>
            </a:r>
            <a:endParaRPr lang="en-US" sz="900" dirty="0"/>
          </a:p>
        </p:txBody>
      </p:sp>
      <p:sp>
        <p:nvSpPr>
          <p:cNvPr id="76" name="Text 74"/>
          <p:cNvSpPr/>
          <p:nvPr/>
        </p:nvSpPr>
        <p:spPr>
          <a:xfrm>
            <a:off x="3657600" y="285292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4.62/5</a:t>
            </a:r>
            <a:endParaRPr lang="en-US" sz="900" dirty="0"/>
          </a:p>
        </p:txBody>
      </p:sp>
      <p:sp>
        <p:nvSpPr>
          <p:cNvPr id="77" name="Text 75"/>
          <p:cNvSpPr/>
          <p:nvPr/>
        </p:nvSpPr>
        <p:spPr>
          <a:xfrm>
            <a:off x="5029200" y="285292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9.25/10</a:t>
            </a:r>
            <a:endParaRPr lang="en-US" sz="900" dirty="0"/>
          </a:p>
        </p:txBody>
      </p:sp>
      <p:sp>
        <p:nvSpPr>
          <p:cNvPr id="78" name="Text 76"/>
          <p:cNvSpPr/>
          <p:nvPr/>
        </p:nvSpPr>
        <p:spPr>
          <a:xfrm>
            <a:off x="6400800" y="2852928"/>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評価スコア分布</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10点換算スコア別件数・割合</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9" name="Text 7"/>
          <p:cNvSpPr/>
          <p:nvPr/>
        </p:nvSpPr>
        <p:spPr>
          <a:xfrm>
            <a:off x="274320" y="1005840"/>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Shape 8"/>
          <p:cNvSpPr/>
          <p:nvPr/>
        </p:nvSpPr>
        <p:spPr>
          <a:xfrm>
            <a:off x="1097280" y="1033272"/>
            <a:ext cx="5486400" cy="237744"/>
          </a:xfrm>
          <a:prstGeom prst="rect">
            <a:avLst/>
          </a:prstGeom>
          <a:solidFill>
            <a:srgbClr val="16A34A"/>
          </a:solidFill>
          <a:ln/>
        </p:spPr>
      </p:sp>
      <p:sp>
        <p:nvSpPr>
          <p:cNvPr id="11" name="Text 9"/>
          <p:cNvSpPr/>
          <p:nvPr/>
        </p:nvSpPr>
        <p:spPr>
          <a:xfrm>
            <a:off x="6675120" y="1005840"/>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84件 (56.8%)</a:t>
            </a:r>
            <a:endParaRPr lang="en-US" sz="900" dirty="0"/>
          </a:p>
        </p:txBody>
      </p:sp>
      <p:sp>
        <p:nvSpPr>
          <p:cNvPr id="12" name="Text 10"/>
          <p:cNvSpPr/>
          <p:nvPr/>
        </p:nvSpPr>
        <p:spPr>
          <a:xfrm>
            <a:off x="274320" y="1353312"/>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3" name="Shape 11"/>
          <p:cNvSpPr/>
          <p:nvPr/>
        </p:nvSpPr>
        <p:spPr>
          <a:xfrm>
            <a:off x="1097280" y="1380744"/>
            <a:ext cx="1045029" cy="237744"/>
          </a:xfrm>
          <a:prstGeom prst="rect">
            <a:avLst/>
          </a:prstGeom>
          <a:solidFill>
            <a:srgbClr val="16A34A"/>
          </a:solidFill>
          <a:ln/>
        </p:spPr>
      </p:sp>
      <p:sp>
        <p:nvSpPr>
          <p:cNvPr id="14" name="Text 12"/>
          <p:cNvSpPr/>
          <p:nvPr/>
        </p:nvSpPr>
        <p:spPr>
          <a:xfrm>
            <a:off x="2233749" y="1353312"/>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16件 (10.8%)</a:t>
            </a:r>
            <a:endParaRPr lang="en-US" sz="900" dirty="0"/>
          </a:p>
        </p:txBody>
      </p:sp>
      <p:sp>
        <p:nvSpPr>
          <p:cNvPr id="15" name="Text 13"/>
          <p:cNvSpPr/>
          <p:nvPr/>
        </p:nvSpPr>
        <p:spPr>
          <a:xfrm>
            <a:off x="274320" y="1700784"/>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6" name="Shape 14"/>
          <p:cNvSpPr/>
          <p:nvPr/>
        </p:nvSpPr>
        <p:spPr>
          <a:xfrm>
            <a:off x="1097280" y="1728216"/>
            <a:ext cx="2808514" cy="237744"/>
          </a:xfrm>
          <a:prstGeom prst="rect">
            <a:avLst/>
          </a:prstGeom>
          <a:solidFill>
            <a:srgbClr val="16A34A"/>
          </a:solidFill>
          <a:ln/>
        </p:spPr>
      </p:sp>
      <p:sp>
        <p:nvSpPr>
          <p:cNvPr id="17" name="Text 15"/>
          <p:cNvSpPr/>
          <p:nvPr/>
        </p:nvSpPr>
        <p:spPr>
          <a:xfrm>
            <a:off x="3997234" y="1700784"/>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43件 (29.1%)</a:t>
            </a:r>
            <a:endParaRPr lang="en-US" sz="900" dirty="0"/>
          </a:p>
        </p:txBody>
      </p:sp>
      <p:sp>
        <p:nvSpPr>
          <p:cNvPr id="18" name="Text 16"/>
          <p:cNvSpPr/>
          <p:nvPr/>
        </p:nvSpPr>
        <p:spPr>
          <a:xfrm>
            <a:off x="274320" y="2048256"/>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19" name="Shape 17"/>
          <p:cNvSpPr/>
          <p:nvPr/>
        </p:nvSpPr>
        <p:spPr>
          <a:xfrm>
            <a:off x="1097280" y="2075688"/>
            <a:ext cx="195943" cy="237744"/>
          </a:xfrm>
          <a:prstGeom prst="rect">
            <a:avLst/>
          </a:prstGeom>
          <a:solidFill>
            <a:srgbClr val="3B7DD8"/>
          </a:solidFill>
          <a:ln/>
        </p:spPr>
      </p:sp>
      <p:sp>
        <p:nvSpPr>
          <p:cNvPr id="20" name="Text 18"/>
          <p:cNvSpPr/>
          <p:nvPr/>
        </p:nvSpPr>
        <p:spPr>
          <a:xfrm>
            <a:off x="1384663" y="2048256"/>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3件 (2.0%)</a:t>
            </a:r>
            <a:endParaRPr lang="en-US" sz="900" dirty="0"/>
          </a:p>
        </p:txBody>
      </p:sp>
      <p:sp>
        <p:nvSpPr>
          <p:cNvPr id="21" name="Text 19"/>
          <p:cNvSpPr/>
          <p:nvPr/>
        </p:nvSpPr>
        <p:spPr>
          <a:xfrm>
            <a:off x="274320" y="2395728"/>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2" name="Shape 20"/>
          <p:cNvSpPr/>
          <p:nvPr/>
        </p:nvSpPr>
        <p:spPr>
          <a:xfrm>
            <a:off x="1097280" y="2423160"/>
            <a:ext cx="65314" cy="237744"/>
          </a:xfrm>
          <a:prstGeom prst="rect">
            <a:avLst/>
          </a:prstGeom>
          <a:solidFill>
            <a:srgbClr val="3B7DD8"/>
          </a:solidFill>
          <a:ln/>
        </p:spPr>
      </p:sp>
      <p:sp>
        <p:nvSpPr>
          <p:cNvPr id="23" name="Text 21"/>
          <p:cNvSpPr/>
          <p:nvPr/>
        </p:nvSpPr>
        <p:spPr>
          <a:xfrm>
            <a:off x="1254034" y="2395728"/>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1件 (0.7%)</a:t>
            </a:r>
            <a:endParaRPr lang="en-US" sz="900" dirty="0"/>
          </a:p>
        </p:txBody>
      </p:sp>
      <p:sp>
        <p:nvSpPr>
          <p:cNvPr id="24" name="Text 22"/>
          <p:cNvSpPr/>
          <p:nvPr/>
        </p:nvSpPr>
        <p:spPr>
          <a:xfrm>
            <a:off x="274320" y="2743200"/>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25" name="Shape 23"/>
          <p:cNvSpPr/>
          <p:nvPr/>
        </p:nvSpPr>
        <p:spPr>
          <a:xfrm>
            <a:off x="1097280" y="2770632"/>
            <a:ext cx="65314" cy="237744"/>
          </a:xfrm>
          <a:prstGeom prst="rect">
            <a:avLst/>
          </a:prstGeom>
          <a:solidFill>
            <a:srgbClr val="DC2626"/>
          </a:solidFill>
          <a:ln/>
        </p:spPr>
      </p:sp>
      <p:sp>
        <p:nvSpPr>
          <p:cNvPr id="26" name="Text 24"/>
          <p:cNvSpPr/>
          <p:nvPr/>
        </p:nvSpPr>
        <p:spPr>
          <a:xfrm>
            <a:off x="1254034" y="2743200"/>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1件 (0.7%)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顧客フィードバック分析</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主要ポジティブ・ネガティブポイント</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9" name="Shape 7"/>
          <p:cNvSpPr/>
          <p:nvPr/>
        </p:nvSpPr>
        <p:spPr>
          <a:xfrm>
            <a:off x="274320" y="914400"/>
            <a:ext cx="4023360" cy="3657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914400"/>
            <a:ext cx="4023360" cy="320040"/>
          </a:xfrm>
          <a:prstGeom prst="rect">
            <a:avLst/>
          </a:prstGeom>
          <a:solidFill>
            <a:srgbClr val="16A34A"/>
          </a:solidFill>
          <a:ln/>
        </p:spPr>
      </p:sp>
      <p:sp>
        <p:nvSpPr>
          <p:cNvPr id="11" name="Text 9"/>
          <p:cNvSpPr/>
          <p:nvPr/>
        </p:nvSpPr>
        <p:spPr>
          <a:xfrm>
            <a:off x="274320" y="914400"/>
            <a:ext cx="402336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好評ポイント</a:t>
            </a:r>
            <a:endParaRPr lang="en-US" sz="1100" dirty="0"/>
          </a:p>
        </p:txBody>
      </p:sp>
      <p:sp>
        <p:nvSpPr>
          <p:cNvPr id="12" name="Text 10"/>
          <p:cNvSpPr/>
          <p:nvPr/>
        </p:nvSpPr>
        <p:spPr>
          <a:xfrm>
            <a:off x="365760" y="132588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大満足のホテルでした、ここ数年で一番。 ロケーションは、窓が小さく、磨りガラスだったのと雨降りだったのでいまいちでした。 温泉は、あったのかな？ここはわからないから星3個。 基本は大満足、リピートも考...</a:t>
            </a:r>
            <a:endParaRPr lang="en-US" sz="850" dirty="0"/>
          </a:p>
        </p:txBody>
      </p:sp>
      <p:sp>
        <p:nvSpPr>
          <p:cNvPr id="13" name="Text 11"/>
          <p:cNvSpPr/>
          <p:nvPr/>
        </p:nvSpPr>
        <p:spPr>
          <a:xfrm>
            <a:off x="365760" y="205740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忘れ物しても返ってきました。神です。</a:t>
            </a:r>
            <a:endParaRPr lang="en-US" sz="850" dirty="0"/>
          </a:p>
        </p:txBody>
      </p:sp>
      <p:sp>
        <p:nvSpPr>
          <p:cNvPr id="14" name="Text 12"/>
          <p:cNvSpPr/>
          <p:nvPr/>
        </p:nvSpPr>
        <p:spPr>
          <a:xfrm>
            <a:off x="365760" y="278892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ディズニーで遊んだ後に利用させていただきました。子ども2人と添い寝しても十分な大きさのベッドで、しっかり休めました。 朝食は子どもが好きなメニューが多く、たくさん食べることができました。畳の席があり、...</a:t>
            </a:r>
            <a:endParaRPr lang="en-US" sz="850" dirty="0"/>
          </a:p>
        </p:txBody>
      </p:sp>
      <p:sp>
        <p:nvSpPr>
          <p:cNvPr id="15" name="Text 13"/>
          <p:cNvSpPr/>
          <p:nvPr/>
        </p:nvSpPr>
        <p:spPr>
          <a:xfrm>
            <a:off x="365760" y="352044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スタッフの方が親切で、声をかけてくれたり、ディズニー帰りで混み合っていてもスムーズな流れで何でも出来て良かった。</a:t>
            </a:r>
            <a:endParaRPr lang="en-US" sz="850" dirty="0"/>
          </a:p>
        </p:txBody>
      </p:sp>
      <p:sp>
        <p:nvSpPr>
          <p:cNvPr id="16" name="Shape 14"/>
          <p:cNvSpPr/>
          <p:nvPr/>
        </p:nvSpPr>
        <p:spPr>
          <a:xfrm>
            <a:off x="4846320" y="914400"/>
            <a:ext cx="4023360" cy="3657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846320" y="914400"/>
            <a:ext cx="4023360" cy="320040"/>
          </a:xfrm>
          <a:prstGeom prst="rect">
            <a:avLst/>
          </a:prstGeom>
          <a:solidFill>
            <a:srgbClr val="DC2626"/>
          </a:solidFill>
          <a:ln/>
        </p:spPr>
      </p:sp>
      <p:sp>
        <p:nvSpPr>
          <p:cNvPr id="18" name="Text 16"/>
          <p:cNvSpPr/>
          <p:nvPr/>
        </p:nvSpPr>
        <p:spPr>
          <a:xfrm>
            <a:off x="4846320" y="914400"/>
            <a:ext cx="402336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改善課題</a:t>
            </a:r>
            <a:endParaRPr lang="en-US" sz="1100" dirty="0"/>
          </a:p>
        </p:txBody>
      </p:sp>
      <p:sp>
        <p:nvSpPr>
          <p:cNvPr id="19" name="Text 17"/>
          <p:cNvSpPr/>
          <p:nvPr/>
        </p:nvSpPr>
        <p:spPr>
          <a:xfrm>
            <a:off x="4937760" y="132588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ディズニーの送迎バスの最終時間が早い、もう少しバスの本数と終バスの時間を遅くして欲しい</a:t>
            </a:r>
            <a:endParaRPr lang="en-US" sz="850" dirty="0"/>
          </a:p>
        </p:txBody>
      </p:sp>
      <p:sp>
        <p:nvSpPr>
          <p:cNvPr id="20" name="Text 18"/>
          <p:cNvSpPr/>
          <p:nvPr/>
        </p:nvSpPr>
        <p:spPr>
          <a:xfrm>
            <a:off x="4937760" y="205740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特になし。</a:t>
            </a:r>
            <a:endParaRPr lang="en-US" sz="850" dirty="0"/>
          </a:p>
        </p:txBody>
      </p:sp>
      <p:sp>
        <p:nvSpPr>
          <p:cNvPr id="21" name="Text 19"/>
          <p:cNvSpPr/>
          <p:nvPr/>
        </p:nvSpPr>
        <p:spPr>
          <a:xfrm>
            <a:off x="4937760" y="278892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エアコンや冷蔵庫の音が気になりました</a:t>
            </a:r>
            <a:endParaRPr lang="en-US" sz="850" dirty="0"/>
          </a:p>
        </p:txBody>
      </p:sp>
      <p:sp>
        <p:nvSpPr>
          <p:cNvPr id="22" name="Text 20"/>
          <p:cNvSpPr/>
          <p:nvPr/>
        </p:nvSpPr>
        <p:spPr>
          <a:xfrm>
            <a:off x="4937760" y="352044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・強いて言うならお風呂の温度と実際に出てくるお湯の温度が差がある</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改善アクションプラン</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優先度別施策ロードマップ</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9" name="Shape 7"/>
          <p:cNvSpPr/>
          <p:nvPr/>
        </p:nvSpPr>
        <p:spPr>
          <a:xfrm>
            <a:off x="274320" y="960120"/>
            <a:ext cx="8595360" cy="1188720"/>
          </a:xfrm>
          <a:prstGeom prst="rect">
            <a:avLst/>
          </a:prstGeom>
          <a:solidFill>
            <a:srgbClr val="FEE2E2"/>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960120"/>
            <a:ext cx="457200" cy="1188720"/>
          </a:xfrm>
          <a:prstGeom prst="rect">
            <a:avLst/>
          </a:prstGeom>
          <a:solidFill>
            <a:srgbClr val="DC2626"/>
          </a:solidFill>
          <a:ln/>
        </p:spPr>
      </p:sp>
      <p:sp>
        <p:nvSpPr>
          <p:cNvPr id="11" name="Text 9"/>
          <p:cNvSpPr/>
          <p:nvPr/>
        </p:nvSpPr>
        <p:spPr>
          <a:xfrm>
            <a:off x="274320" y="96012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S</a:t>
            </a:r>
            <a:endParaRPr lang="en-US" sz="1800" dirty="0"/>
          </a:p>
        </p:txBody>
      </p:sp>
      <p:sp>
        <p:nvSpPr>
          <p:cNvPr id="12" name="Text 10"/>
          <p:cNvSpPr/>
          <p:nvPr/>
        </p:nvSpPr>
        <p:spPr>
          <a:xfrm>
            <a:off x="822960" y="1033272"/>
            <a:ext cx="7772400" cy="292608"/>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即時対応（~2週間）</a:t>
            </a:r>
            <a:endParaRPr lang="en-US" sz="1100" dirty="0"/>
          </a:p>
        </p:txBody>
      </p:sp>
      <p:sp>
        <p:nvSpPr>
          <p:cNvPr id="13" name="Text 11"/>
          <p:cNvSpPr/>
          <p:nvPr/>
        </p:nvSpPr>
        <p:spPr>
          <a:xfrm>
            <a:off x="868680" y="134416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低評価の根本原因特定とオペレーション改善</a:t>
            </a:r>
            <a:endParaRPr lang="en-US" sz="950" dirty="0"/>
          </a:p>
        </p:txBody>
      </p:sp>
      <p:sp>
        <p:nvSpPr>
          <p:cNvPr id="14" name="Text 12"/>
          <p:cNvSpPr/>
          <p:nvPr/>
        </p:nvSpPr>
        <p:spPr>
          <a:xfrm>
            <a:off x="868680" y="169164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スタッフサービス品質トレーニング強化</a:t>
            </a:r>
            <a:endParaRPr lang="en-US" sz="950" dirty="0"/>
          </a:p>
        </p:txBody>
      </p:sp>
      <p:sp>
        <p:nvSpPr>
          <p:cNvPr id="15" name="Shape 13"/>
          <p:cNvSpPr/>
          <p:nvPr/>
        </p:nvSpPr>
        <p:spPr>
          <a:xfrm>
            <a:off x="274320" y="2286000"/>
            <a:ext cx="8595360" cy="1188720"/>
          </a:xfrm>
          <a:prstGeom prst="rect">
            <a:avLst/>
          </a:prstGeom>
          <a:solidFill>
            <a:srgbClr val="FFF7ED"/>
          </a:solidFill>
          <a:ln/>
          <a:effectLst>
            <a:outerShdw sx="100000" sy="100000" kx="0" ky="0" algn="bl" rotWithShape="0" blurRad="50800" dist="25400" dir="8100000">
              <a:srgbClr val="000000">
                <a:alpha val="10000"/>
              </a:srgbClr>
            </a:outerShdw>
          </a:effectLst>
        </p:spPr>
      </p:sp>
      <p:sp>
        <p:nvSpPr>
          <p:cNvPr id="16" name="Shape 14"/>
          <p:cNvSpPr/>
          <p:nvPr/>
        </p:nvSpPr>
        <p:spPr>
          <a:xfrm>
            <a:off x="274320" y="2286000"/>
            <a:ext cx="457200" cy="1188720"/>
          </a:xfrm>
          <a:prstGeom prst="rect">
            <a:avLst/>
          </a:prstGeom>
          <a:solidFill>
            <a:srgbClr val="EA580C"/>
          </a:solidFill>
          <a:ln/>
        </p:spPr>
      </p:sp>
      <p:sp>
        <p:nvSpPr>
          <p:cNvPr id="17" name="Text 15"/>
          <p:cNvSpPr/>
          <p:nvPr/>
        </p:nvSpPr>
        <p:spPr>
          <a:xfrm>
            <a:off x="274320" y="228600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18" name="Text 16"/>
          <p:cNvSpPr/>
          <p:nvPr/>
        </p:nvSpPr>
        <p:spPr>
          <a:xfrm>
            <a:off x="822960" y="2359152"/>
            <a:ext cx="7772400" cy="292608"/>
          </a:xfrm>
          <a:prstGeom prst="rect">
            <a:avLst/>
          </a:prstGeom>
          <a:noFill/>
          <a:ln/>
        </p:spPr>
        <p:txBody>
          <a:bodyPr wrap="square" rtlCol="0" anchor="ctr"/>
          <a:lstStyle/>
          <a:p>
            <a:pPr indent="0" marL="0">
              <a:buNone/>
            </a:pPr>
            <a:r>
              <a:rPr lang="en-US" sz="1100" b="1" dirty="0">
                <a:solidFill>
                  <a:srgbClr val="EA580C"/>
                </a:solidFill>
                <a:latin typeface="Arial" pitchFamily="34" charset="0"/>
                <a:ea typeface="Arial" pitchFamily="34" charset="-122"/>
                <a:cs typeface="Arial" pitchFamily="34" charset="-120"/>
              </a:rPr>
              <a:t>短期対応（1ヶ月以内）</a:t>
            </a:r>
            <a:endParaRPr lang="en-US" sz="1100" dirty="0"/>
          </a:p>
        </p:txBody>
      </p:sp>
      <p:sp>
        <p:nvSpPr>
          <p:cNvPr id="19" name="Text 17"/>
          <p:cNvSpPr/>
          <p:nvPr/>
        </p:nvSpPr>
        <p:spPr>
          <a:xfrm>
            <a:off x="868680" y="267004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口コミ返信率向上によるブランド管理強化</a:t>
            </a:r>
            <a:endParaRPr lang="en-US" sz="950" dirty="0"/>
          </a:p>
        </p:txBody>
      </p:sp>
      <p:sp>
        <p:nvSpPr>
          <p:cNvPr id="20" name="Text 18"/>
          <p:cNvSpPr/>
          <p:nvPr/>
        </p:nvSpPr>
        <p:spPr>
          <a:xfrm>
            <a:off x="868680" y="301752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多言語対応改善による外国人ゲスト満足度向上</a:t>
            </a:r>
            <a:endParaRPr lang="en-US" sz="950" dirty="0"/>
          </a:p>
        </p:txBody>
      </p:sp>
      <p:sp>
        <p:nvSpPr>
          <p:cNvPr id="21" name="Shape 19"/>
          <p:cNvSpPr/>
          <p:nvPr/>
        </p:nvSpPr>
        <p:spPr>
          <a:xfrm>
            <a:off x="274320" y="3611880"/>
            <a:ext cx="8595360" cy="1188720"/>
          </a:xfrm>
          <a:prstGeom prst="rect">
            <a:avLst/>
          </a:prstGeom>
          <a:solidFill>
            <a:srgbClr val="EFF6FF"/>
          </a:solidFill>
          <a:ln/>
          <a:effectLst>
            <a:outerShdw sx="100000" sy="100000" kx="0" ky="0" algn="bl" rotWithShape="0" blurRad="50800" dist="25400" dir="8100000">
              <a:srgbClr val="000000">
                <a:alpha val="10000"/>
              </a:srgbClr>
            </a:outerShdw>
          </a:effectLst>
        </p:spPr>
      </p:sp>
      <p:sp>
        <p:nvSpPr>
          <p:cNvPr id="22" name="Shape 20"/>
          <p:cNvSpPr/>
          <p:nvPr/>
        </p:nvSpPr>
        <p:spPr>
          <a:xfrm>
            <a:off x="274320" y="3611880"/>
            <a:ext cx="457200" cy="1188720"/>
          </a:xfrm>
          <a:prstGeom prst="rect">
            <a:avLst/>
          </a:prstGeom>
          <a:solidFill>
            <a:srgbClr val="3B7DD8"/>
          </a:solidFill>
          <a:ln/>
        </p:spPr>
      </p:sp>
      <p:sp>
        <p:nvSpPr>
          <p:cNvPr id="23" name="Text 21"/>
          <p:cNvSpPr/>
          <p:nvPr/>
        </p:nvSpPr>
        <p:spPr>
          <a:xfrm>
            <a:off x="274320" y="361188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24" name="Text 22"/>
          <p:cNvSpPr/>
          <p:nvPr/>
        </p:nvSpPr>
        <p:spPr>
          <a:xfrm>
            <a:off x="822960" y="3685032"/>
            <a:ext cx="7772400" cy="292608"/>
          </a:xfrm>
          <a:prstGeom prst="rect">
            <a:avLst/>
          </a:prstGeom>
          <a:noFill/>
          <a:ln/>
        </p:spPr>
        <p:txBody>
          <a:bodyPr wrap="square" rtlCol="0" anchor="ctr"/>
          <a:lstStyle/>
          <a:p>
            <a:pPr indent="0" marL="0">
              <a:buNone/>
            </a:pPr>
            <a:r>
              <a:rPr lang="en-US" sz="1100" b="1" dirty="0">
                <a:solidFill>
                  <a:srgbClr val="3B7DD8"/>
                </a:solidFill>
                <a:latin typeface="Arial" pitchFamily="34" charset="0"/>
                <a:ea typeface="Arial" pitchFamily="34" charset="-122"/>
                <a:cs typeface="Arial" pitchFamily="34" charset="-120"/>
              </a:rPr>
              <a:t>中期対応（3ヶ月以内）</a:t>
            </a:r>
            <a:endParaRPr lang="en-US" sz="1100" dirty="0"/>
          </a:p>
        </p:txBody>
      </p:sp>
      <p:sp>
        <p:nvSpPr>
          <p:cNvPr id="25" name="Text 23"/>
          <p:cNvSpPr/>
          <p:nvPr/>
        </p:nvSpPr>
        <p:spPr>
          <a:xfrm>
            <a:off x="868680" y="399592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設備・アメニティ定期点検・更新サイクル確立</a:t>
            </a:r>
            <a:endParaRPr lang="en-US" sz="950" dirty="0"/>
          </a:p>
        </p:txBody>
      </p:sp>
      <p:sp>
        <p:nvSpPr>
          <p:cNvPr id="26" name="Text 24"/>
          <p:cNvSpPr/>
          <p:nvPr/>
        </p:nvSpPr>
        <p:spPr>
          <a:xfrm>
            <a:off x="868680" y="434340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ゲストフィードバック収集システムの整備</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2026-03-28T22:44:16Z</dcterms:created>
  <dcterms:modified xsi:type="dcterms:W3CDTF">2026-03-28T22:44:16Z</dcterms:modified>
</cp:coreProperties>
</file>