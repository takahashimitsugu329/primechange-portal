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10pt換算平均</c:v>
                </c:pt>
              </c:strCache>
            </c:strRef>
          </c:tx>
          <c:spPr>
            <a:solidFill>
              <a:srgbClr val="3B7DD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33415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Trip.com</c:v>
                  </c:pt>
                  <c:pt idx="1">
                    <c:v>Booking.com</c:v>
                  </c:pt>
                  <c:pt idx="2">
                    <c:v>Agoda</c:v>
                  </c:pt>
                  <c:pt idx="3">
                    <c:v>Google</c:v>
                  </c:pt>
                  <c:pt idx="4">
                    <c:v>楽天トラベル</c:v>
                  </c:pt>
                  <c:pt idx="5">
                    <c:v>じゃらん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</c:v>
                </c:pt>
                <c:pt idx="1">
                  <c:v>8.81</c:v>
                </c:pt>
                <c:pt idx="2">
                  <c:v>8.25</c:v>
                </c:pt>
                <c:pt idx="3">
                  <c:v>8</c:v>
                </c:pt>
                <c:pt idx="4">
                  <c:v>8</c:v>
                </c:pt>
                <c:pt idx="5">
                  <c:v>7.6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33415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評価分布（10pt換算）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6A34A"/>
              </a:solidFill>
              <a:effectLst/>
            </c:spPr>
          </c:dPt>
          <c:dPt>
            <c:idx val="1"/>
            <c:bubble3D val="0"/>
            <c:spPr>
              <a:solidFill>
                <a:srgbClr val="D4A843"/>
              </a:solidFill>
              <a:effectLst/>
            </c:spPr>
          </c:dPt>
          <c:dPt>
            <c:idx val="2"/>
            <c:bubble3D val="0"/>
            <c:spPr>
              <a:solidFill>
                <a:srgbClr val="DC2626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高評価(8-10)</c:v>
                </c:pt>
                <c:pt idx="1">
                  <c:v>中評価(5-7)</c:v>
                </c:pt>
                <c:pt idx="2">
                  <c:v>低評価(1-4)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27</c:v>
                </c:pt>
                <c:pt idx="1">
                  <c:v>10</c:v>
                </c:pt>
                <c:pt idx="2">
                  <c:v>0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64748B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件数</c:v>
                </c:pt>
              </c:strCache>
            </c:strRef>
          </c:tx>
          <c:spPr>
            <a:solidFill>
              <a:srgbClr val="16A3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3415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6A34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6A34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6A34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D4A843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D4A843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10点</c:v>
                  </c:pt>
                  <c:pt idx="1">
                    <c:v>9点</c:v>
                  </c:pt>
                  <c:pt idx="2">
                    <c:v>8点</c:v>
                  </c:pt>
                  <c:pt idx="3">
                    <c:v>7点</c:v>
                  </c:pt>
                  <c:pt idx="4">
                    <c:v>6点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17</c:v>
                </c:pt>
                <c:pt idx="1">
                  <c:v>2</c:v>
                </c:pt>
                <c:pt idx="2">
                  <c:v>8</c:v>
                </c:pt>
                <c:pt idx="3">
                  <c:v>6</c:v>
                </c:pt>
                <c:pt idx="4">
                  <c:v>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33415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43556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828800"/>
            <a:ext cx="73152" cy="16459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spc="600" kern="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口コミ分析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9202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改善レポート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731520" y="2834640"/>
            <a:ext cx="1828800" cy="0"/>
          </a:xfrm>
          <a:prstGeom prst="line">
            <a:avLst/>
          </a:prstGeom>
          <a:noFill/>
          <a:ln w="25400">
            <a:solidFill>
              <a:srgbClr val="D4A84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30175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daiwa_osaki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374904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分析対象期間：2026年3月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レビュー総数：37件（6サイト）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作成日：2026年4月19日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3B7DD8">
              <a:alpha val="15000"/>
            </a:srgbClr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エグゼクティブサマリー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187452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51560"/>
            <a:ext cx="1874520" cy="45720"/>
          </a:xfrm>
          <a:prstGeom prst="rect">
            <a:avLst/>
          </a:prstGeom>
          <a:solidFill>
            <a:srgbClr val="3B7DD8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18872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全体平均(10pt換算)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41732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B7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8.59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2514600" y="1051560"/>
            <a:ext cx="187452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14600" y="1051560"/>
            <a:ext cx="1874520" cy="4572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1" name="Text 9"/>
          <p:cNvSpPr/>
          <p:nvPr/>
        </p:nvSpPr>
        <p:spPr>
          <a:xfrm>
            <a:off x="2514600" y="118872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高評価率(8-10点)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514600" y="141732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73.0%</a:t>
            </a:r>
            <a:endParaRPr lang="en-US" sz="3200" dirty="0"/>
          </a:p>
        </p:txBody>
      </p:sp>
      <p:sp>
        <p:nvSpPr>
          <p:cNvPr id="13" name="Shape 11"/>
          <p:cNvSpPr/>
          <p:nvPr/>
        </p:nvSpPr>
        <p:spPr>
          <a:xfrm>
            <a:off x="4572000" y="1051560"/>
            <a:ext cx="187452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0" y="1051560"/>
            <a:ext cx="1874520" cy="4572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0" y="118872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低評価率(1-4点)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0" y="141732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0.0%</a:t>
            </a:r>
            <a:endParaRPr lang="en-US" sz="3200" dirty="0"/>
          </a:p>
        </p:txBody>
      </p:sp>
      <p:sp>
        <p:nvSpPr>
          <p:cNvPr id="17" name="Shape 15"/>
          <p:cNvSpPr/>
          <p:nvPr/>
        </p:nvSpPr>
        <p:spPr>
          <a:xfrm>
            <a:off x="6629400" y="1051560"/>
            <a:ext cx="205740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629400" y="1051560"/>
            <a:ext cx="2057400" cy="4572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9" name="Text 17"/>
          <p:cNvSpPr/>
          <p:nvPr/>
        </p:nvSpPr>
        <p:spPr>
          <a:xfrm>
            <a:off x="6629400" y="118872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レビュー総数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629400" y="141732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37件</a:t>
            </a:r>
            <a:endParaRPr lang="en-US" sz="3200" dirty="0"/>
          </a:p>
        </p:txBody>
      </p:sp>
      <p:sp>
        <p:nvSpPr>
          <p:cNvPr id="21" name="Shape 19"/>
          <p:cNvSpPr/>
          <p:nvPr/>
        </p:nvSpPr>
        <p:spPr>
          <a:xfrm>
            <a:off x="457200" y="2286000"/>
            <a:ext cx="393192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2286000"/>
            <a:ext cx="3931920" cy="4572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23774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Strengths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0080" y="2743200"/>
            <a:ext cx="3474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立地・アクセス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会社にも徒歩圏内でとても近く、地下鉄大斉駅もすぐ下にあります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清潔さ・清掃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非常好乾凈 とても清潔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朝食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以前、レストランが14階にあったと思うのですが、その時の朝食は素晴らしかったです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54880" y="2286000"/>
            <a:ext cx="393192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2286000"/>
            <a:ext cx="3931920" cy="457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7" name="Text 25"/>
          <p:cNvSpPr/>
          <p:nvPr/>
        </p:nvSpPr>
        <p:spPr>
          <a:xfrm>
            <a:off x="4937760" y="23774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Weaknesses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937760" y="2743200"/>
            <a:ext cx="3474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エアコン・空調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As a result, I experienced significant back soreness thro...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対応・サービスの不満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残念ながら、私の部屋のマットレスは沈み込んでいて、全く快適ではありませんでした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設備の老朽化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Gloomy cold breakfast in gloomy cold pseudo Italian resta...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主要KPI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Performance Indicators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393192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88720"/>
            <a:ext cx="3931920" cy="45720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3258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全体平均スコア（10点換算）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55448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196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8.59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4754880" y="1188720"/>
            <a:ext cx="393192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188720"/>
            <a:ext cx="3931920" cy="45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0" y="13258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高評価率（8-10点）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754880" y="155448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73.0%</a:t>
            </a:r>
            <a:endParaRPr lang="en-US" sz="3200" dirty="0"/>
          </a:p>
        </p:txBody>
      </p:sp>
      <p:sp>
        <p:nvSpPr>
          <p:cNvPr id="13" name="Shape 11"/>
          <p:cNvSpPr/>
          <p:nvPr/>
        </p:nvSpPr>
        <p:spPr>
          <a:xfrm>
            <a:off x="457200" y="3108960"/>
            <a:ext cx="39319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3108960"/>
            <a:ext cx="3931920" cy="4572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32461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低評価率（1-4点）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347472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0.0%</a:t>
            </a:r>
            <a:endParaRPr lang="en-US" sz="3200" dirty="0"/>
          </a:p>
        </p:txBody>
      </p:sp>
      <p:sp>
        <p:nvSpPr>
          <p:cNvPr id="17" name="Shape 15"/>
          <p:cNvSpPr/>
          <p:nvPr/>
        </p:nvSpPr>
        <p:spPr>
          <a:xfrm>
            <a:off x="4754880" y="3108960"/>
            <a:ext cx="39319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3108960"/>
            <a:ext cx="3931920" cy="4572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9" name="Text 17"/>
          <p:cNvSpPr/>
          <p:nvPr/>
        </p:nvSpPr>
        <p:spPr>
          <a:xfrm>
            <a:off x="4754880" y="32461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レビュー総数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754880" y="347472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37件</a:t>
            </a:r>
            <a:endParaRPr lang="en-US" sz="3200" dirty="0"/>
          </a:p>
        </p:txBody>
      </p:sp>
      <p:sp>
        <p:nvSpPr>
          <p:cNvPr id="21" name="Shape 19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サイト別評価分析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Rating Analysis by Platform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005840"/>
          <a:ext cx="50292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760720" y="1005840"/>
            <a:ext cx="301752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760720" y="1005840"/>
            <a:ext cx="3017520" cy="45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8" name="Text 5"/>
          <p:cNvSpPr/>
          <p:nvPr/>
        </p:nvSpPr>
        <p:spPr>
          <a:xfrm>
            <a:off x="5943600" y="10972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943600" y="1417320"/>
            <a:ext cx="26517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サイト別評価の傾向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高評価グループ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Trip.com(10.00)が最高スコア。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改善対象サイト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じゃらん(7.6)が相対的に低い。口コミ返信の強化が急務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注：</a:t>
            </a:r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Google/じゃらん/楽天は5点満点のため×2で10pt換算</a:t>
            </a:r>
            <a:endParaRPr lang="en-US" sz="11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297680"/>
          <a:ext cx="8229600" cy="91440"/>
        </p:xfrm>
        <a:graphic>
          <a:graphicData uri="http://schemas.openxmlformats.org/drawingml/2006/table">
            <a:tbl>
              <a:tblPr/>
              <a:tblGrid>
                <a:gridCol w="1828800"/>
                <a:gridCol w="914400"/>
                <a:gridCol w="1828800"/>
                <a:gridCol w="914400"/>
                <a:gridCol w="2743200"/>
              </a:tblGrid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サイト名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件数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ネイティブ平均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尺度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10pt換算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Trip.com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/10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Booking.com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8.81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/10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8.81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Agoda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8.25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/10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8.25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Google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/5 (×2)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楽天トラベル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/5 (×2)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じゃらん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/5 (×2)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2" name="Text 8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評価分布分析（10点換算）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Rating Distribution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74320" y="1097280"/>
          <a:ext cx="365760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Chart 1" descr=""/>
          <p:cNvGraphicFramePr/>
          <p:nvPr/>
        </p:nvGraphicFramePr>
        <p:xfrm>
          <a:off x="4114800" y="1097280"/>
          <a:ext cx="475488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Shape 3"/>
          <p:cNvSpPr/>
          <p:nvPr/>
        </p:nvSpPr>
        <p:spPr>
          <a:xfrm>
            <a:off x="457200" y="4160520"/>
            <a:ext cx="2651760" cy="50292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8" name="Text 4"/>
          <p:cNvSpPr/>
          <p:nvPr/>
        </p:nvSpPr>
        <p:spPr>
          <a:xfrm>
            <a:off x="457200" y="41605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高評価 8-10点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1737360" y="41605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10160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27件（73.0%）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3291840" y="4160520"/>
            <a:ext cx="2651760" cy="502920"/>
          </a:xfrm>
          <a:prstGeom prst="rect">
            <a:avLst/>
          </a:prstGeom>
          <a:solidFill>
            <a:srgbClr val="FFF7ED"/>
          </a:solidFill>
          <a:ln/>
        </p:spPr>
      </p:sp>
      <p:sp>
        <p:nvSpPr>
          <p:cNvPr id="11" name="Text 7"/>
          <p:cNvSpPr/>
          <p:nvPr/>
        </p:nvSpPr>
        <p:spPr>
          <a:xfrm>
            <a:off x="3291840" y="41605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中評価 5-7点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4572000" y="41605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10160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10件（27.0%）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126480" y="4160520"/>
            <a:ext cx="2651760" cy="50292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14" name="Text 10"/>
          <p:cNvSpPr/>
          <p:nvPr/>
        </p:nvSpPr>
        <p:spPr>
          <a:xfrm>
            <a:off x="6126480" y="41605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低評価 1-4点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7406640" y="41605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10160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0件（0.0%）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7" name="Text 13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18" name="Text 14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強み分析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Strength Analysis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51560"/>
            <a:ext cx="54864" cy="16002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7" name="Shape 5"/>
          <p:cNvSpPr/>
          <p:nvPr/>
        </p:nvSpPr>
        <p:spPr>
          <a:xfrm>
            <a:off x="2286000" y="1124712"/>
            <a:ext cx="658368" cy="22860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8" name="Text 6"/>
          <p:cNvSpPr/>
          <p:nvPr/>
        </p:nvSpPr>
        <p:spPr>
          <a:xfrm>
            <a:off x="2286000" y="1124712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10件+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94360" y="11247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立地・アクセス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14173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会社にも徒歩圏内でとても近く、地下鉄大斉駅もすぐ下にあります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94360" y="18288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B7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「Good location with the train station is just 3 minutes of...」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91840" y="105156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91840" y="1051560"/>
            <a:ext cx="54864" cy="16002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4" name="Shape 12"/>
          <p:cNvSpPr/>
          <p:nvPr/>
        </p:nvSpPr>
        <p:spPr>
          <a:xfrm>
            <a:off x="5120640" y="1124712"/>
            <a:ext cx="658368" cy="22860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15" name="Text 13"/>
          <p:cNvSpPr/>
          <p:nvPr/>
        </p:nvSpPr>
        <p:spPr>
          <a:xfrm>
            <a:off x="5120640" y="1124712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9件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429000" y="11247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清潔さ・清掃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429000" y="14173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非常好乾凈 とても清潔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429000" y="18288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B7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「それ以外は、部屋の広さと清潔さは気に入っています」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126480" y="105156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26480" y="1051560"/>
            <a:ext cx="54864" cy="16002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1" name="Shape 19"/>
          <p:cNvSpPr/>
          <p:nvPr/>
        </p:nvSpPr>
        <p:spPr>
          <a:xfrm>
            <a:off x="7955280" y="1124712"/>
            <a:ext cx="658368" cy="22860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22" name="Text 20"/>
          <p:cNvSpPr/>
          <p:nvPr/>
        </p:nvSpPr>
        <p:spPr>
          <a:xfrm>
            <a:off x="7955280" y="1124712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8件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263640" y="11247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朝食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263640" y="14173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以前、レストランが14階にあったと思うのですが、その時の朝食は素晴らしかったです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263640" y="18288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B7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「Gloomy cold breakfast in gloomy cold pseudo Italian resta...」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57200" y="288036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57200" y="2880360"/>
            <a:ext cx="54864" cy="16002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8" name="Shape 26"/>
          <p:cNvSpPr/>
          <p:nvPr/>
        </p:nvSpPr>
        <p:spPr>
          <a:xfrm>
            <a:off x="2286000" y="2953512"/>
            <a:ext cx="658368" cy="22860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29" name="Text 27"/>
          <p:cNvSpPr/>
          <p:nvPr/>
        </p:nvSpPr>
        <p:spPr>
          <a:xfrm>
            <a:off x="2286000" y="2953512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8件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94360" y="29535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快適さ・設備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94360" y="32461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残念ながら、私の部屋のマットレスは沈み込んでいて、全く快適ではありませんでした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94360" y="36576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B7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「コットンボールなどの基本的なアメニティが用意されていないのは驚きです」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291840" y="288036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291840" y="2880360"/>
            <a:ext cx="54864" cy="16002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5" name="Shape 33"/>
          <p:cNvSpPr/>
          <p:nvPr/>
        </p:nvSpPr>
        <p:spPr>
          <a:xfrm>
            <a:off x="5120640" y="2953512"/>
            <a:ext cx="658368" cy="22860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36" name="Text 34"/>
          <p:cNvSpPr/>
          <p:nvPr/>
        </p:nvSpPr>
        <p:spPr>
          <a:xfrm>
            <a:off x="5120640" y="2953512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5件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429000" y="29535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スタッフの対応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3429000" y="32461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結局、貴重品は毎日フロントに預けなければなりませんでした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3429000" y="36576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B7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「スタッフ皆さんに優しくしていただき感謝しています」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126480" y="288036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126480" y="2880360"/>
            <a:ext cx="54864" cy="16002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2" name="Shape 40"/>
          <p:cNvSpPr/>
          <p:nvPr/>
        </p:nvSpPr>
        <p:spPr>
          <a:xfrm>
            <a:off x="7955280" y="2953512"/>
            <a:ext cx="658368" cy="22860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43" name="Text 41"/>
          <p:cNvSpPr/>
          <p:nvPr/>
        </p:nvSpPr>
        <p:spPr>
          <a:xfrm>
            <a:off x="7955280" y="2953512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4件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263640" y="29535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コンビニ・周辺施設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6263640" y="32461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以前、レストランが14階にあったと思うのですが、その時の朝食は素晴らしかったです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263640" y="36576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B7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「Gloomy cold breakfast in gloomy cold pseudo Italian resta...」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48" name="Text 46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弱み分析・優先度マトリクス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Weakness Analysis &amp; Priority Matrix</a:t>
            </a:r>
            <a:endParaRPr lang="en-US" sz="1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"/>
        </p:xfrm>
        <a:graphic>
          <a:graphicData uri="http://schemas.openxmlformats.org/drawingml/2006/table">
            <a:tbl>
              <a:tblPr/>
              <a:tblGrid>
                <a:gridCol w="731520"/>
                <a:gridCol w="1828800"/>
                <a:gridCol w="4572000"/>
                <a:gridCol w="109728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優先度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課題カテゴリ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具体的内容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件数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C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エアコン・空調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 a result, I experienced significant back soreness thro...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3件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A58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対応・サービスの不満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残念ながら、私の部屋のマットレスは沈み込んでいて、全く快適ではありませんでした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2件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A58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設備の老朽化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Gloomy cold breakfast in gloomy cold pseudo Italian resta...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1件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4A8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部屋の狭さ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広いお部屋にしていただいたおかげで、トイレとお風呂も十分な広さがあり、子供と二人で着替えやトイレ利用をしても全く窮...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1件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4A8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浴室・水回り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広いお部屋にしていただいたおかげで、トイレとお風呂も十分な広さがあり、子供と二人で着替えやトイレ利用をしても全く窮...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1件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窓・採光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立地はとても便利で、窓の一つからは素晴らしい景色が望めます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1件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 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最優先   </a:t>
            </a:r>
            <a:pPr indent="0" marL="0">
              <a:buNone/>
            </a:pPr>
            <a:r>
              <a:rPr lang="en-US" sz="10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高優先   </a:t>
            </a:r>
            <a:pPr indent="0" marL="0">
              <a:buNone/>
            </a:pPr>
            <a:r>
              <a:rPr lang="en-US" sz="10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中優先   </a:t>
            </a:r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低優先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改善施策 Phase 1：即座対応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Immediate Actions (Today ~ 1 Month)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B7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投資不要・オペレーション改善で対応可能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397764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234440"/>
            <a:ext cx="54864" cy="1600200"/>
          </a:xfrm>
          <a:prstGeom prst="rect">
            <a:avLst/>
          </a:prstGeom>
          <a:solidFill>
            <a:srgbClr val="3B7DD8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280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エアコン・空調の定期点検強化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160020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全室のエアコン設定を季節に応じてデフォルト確認する運用フロー導入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冷暖房の正常動作を定期チェックリストに追加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異常報告があった客室の優先メンテナンス実施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663440" y="1234440"/>
            <a:ext cx="397764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234440"/>
            <a:ext cx="54864" cy="1600200"/>
          </a:xfrm>
          <a:prstGeom prst="rect">
            <a:avLst/>
          </a:prstGeom>
          <a:solidFill>
            <a:srgbClr val="3B7DD8"/>
          </a:solidFill>
          <a:ln/>
        </p:spPr>
      </p:sp>
      <p:sp>
        <p:nvSpPr>
          <p:cNvPr id="12" name="Text 10"/>
          <p:cNvSpPr/>
          <p:nvPr/>
        </p:nvSpPr>
        <p:spPr>
          <a:xfrm>
            <a:off x="4800600" y="1280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スタッフ対応品質の統一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00600" y="160020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接客マニュアルの見直しと全スタッフへの周知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ゲストからのクレーム対応フローの明確化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定期的なCS研修の実施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3017520"/>
            <a:ext cx="397764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3017520"/>
            <a:ext cx="54864" cy="1600200"/>
          </a:xfrm>
          <a:prstGeom prst="rect">
            <a:avLst/>
          </a:prstGeom>
          <a:solidFill>
            <a:srgbClr val="3B7DD8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" y="3063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ゲストコミュニケーションの強化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94360" y="338328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チェックイン時の挨拶・案内の標準化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チェックアウト時の簡易アンケート実施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リピーターへの感謝メッセージの導入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改善施策 Phase 2・3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Short-term &amp; Mid-term Actions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397764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05840"/>
            <a:ext cx="3977640" cy="365760"/>
          </a:xfrm>
          <a:prstGeom prst="rect">
            <a:avLst/>
          </a:prstGeom>
          <a:solidFill>
            <a:srgbClr val="3B7DD8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005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2：短期施策（1〜3ヶ月）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14630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浴室の快適性向上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1719072"/>
            <a:ext cx="3474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排水口の清掃・修繕を全室で実施し、排水速度を改善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シャワーヘッドの交換（水圧改善・節水タイプ導入）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浴室換気・暖房設備の点検と改善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" y="250545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窓・採光環境の改善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2761488"/>
            <a:ext cx="3474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遮光カーテンとレースカーテンの品質見直し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窓の開閉可否に関する事前案内の徹底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採光の良い客室の優先割り当てルール整備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40080" y="354787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口コミ返信体制の構築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3803904"/>
            <a:ext cx="3474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全サイトの口コミに48時間以内の返信を目標に設定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特に低評価レビューへのフォローアップ強化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709160" y="1005840"/>
            <a:ext cx="397764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09160" y="1005840"/>
            <a:ext cx="3977640" cy="36576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6" name="Text 14"/>
          <p:cNvSpPr/>
          <p:nvPr/>
        </p:nvSpPr>
        <p:spPr>
          <a:xfrm>
            <a:off x="4846320" y="1005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3：中期施策（3〜6ヶ月）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92040" y="14630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客室リニューアル計画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92040" y="1719072"/>
            <a:ext cx="3474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壁紙・カーペットの張替えによる「古さ」印象の払拭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照明のLED化・調光機能の追加で客室の雰囲気向上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USB充電ポート付きコンセントの設置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892040" y="250545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浴室の抜本的改修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92040" y="2761488"/>
            <a:ext cx="3474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配管更新による排水問題の根本解決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換気設備の強化による浴室内の温度・湿度改善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892040" y="334670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客室レイアウトの見直し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92040" y="3602736"/>
            <a:ext cx="3474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家具配置の最適化による体感スペースの拡大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コンパクト家具への入替検討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収納スペースの効率化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KPI目標設定・まとめ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Performance Indicators &amp; Summary</a:t>
            </a:r>
            <a:endParaRPr lang="en-US" sz="1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"/>
        </p:xfrm>
        <a:graphic>
          <a:graphicData uri="http://schemas.openxmlformats.org/drawingml/2006/table">
            <a:tbl>
              <a:tblPr/>
              <a:tblGrid>
                <a:gridCol w="2560320"/>
                <a:gridCol w="1828800"/>
                <a:gridCol w="2011680"/>
                <a:gridCol w="182880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KPI項目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現状値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目標値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期限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全体平均(10pt換算)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8.59点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8.9点以上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2026年9月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高評価率（8-10点）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73.0%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78%以上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2026年9月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低評価率（1-4点）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0%維持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2026年9月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じゃらん平均評価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7.6点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8.6点以上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2026年9月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口コミ返信率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未計測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100%（48h以内）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2026年6月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エアコン・空調クレーム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約3件/期間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1件以下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2026年9月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342900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57200" y="3429000"/>
            <a:ext cx="54864" cy="640080"/>
          </a:xfrm>
          <a:prstGeom prst="rect">
            <a:avLst/>
          </a:prstGeom>
          <a:solidFill>
            <a:srgbClr val="3B7DD8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342900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モニタリング方針：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毎月のサイト別スコア集計と口コミ内容の定性分析を実施。四半期ごとに改善施策の効果を検証し、Phase 2・3の優先順位を見直します。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0" name="Text 7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daiwa_osaki 口コミ分析改善レポート</dc:title>
  <dc:subject>PptxGenJS Presentation</dc:subject>
  <dc:creator>Hotel Consulting</dc:creator>
  <cp:lastModifiedBy>Hotel Consulting</cp:lastModifiedBy>
  <cp:revision>1</cp:revision>
  <dcterms:created xsi:type="dcterms:W3CDTF">2026-04-19T23:30:59Z</dcterms:created>
  <dcterms:modified xsi:type="dcterms:W3CDTF">2026-04-19T23:30:59Z</dcterms:modified>
</cp:coreProperties>
</file>