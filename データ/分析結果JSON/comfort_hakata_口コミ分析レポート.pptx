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Sheet1!$A$2:$A$6</c:f>
              <c:multiLvlStrCache>
                <c:ptCount val="5"/>
                <c:lvl>
                  <c:pt idx="0">
                    <c:v>Trip.com</c:v>
                  </c:pt>
                  <c:pt idx="1">
                    <c:v>じゃらん</c:v>
                  </c:pt>
                  <c:pt idx="2">
                    <c:v>Booking.com</c:v>
                  </c:pt>
                  <c:pt idx="3">
                    <c:v>楽天トラベル</c:v>
                  </c:pt>
                  <c:pt idx="4">
                    <c:v>Google</c:v>
                  </c:pt>
                </c:lvl>
              </c:multiLvlStrCache>
            </c:multiLvlStrRef>
          </c:cat>
          <c:val>
            <c:numRef>
              <c:f>Sheet1!$B$2:$B$6</c:f>
              <c:numCache>
                <c:formatCode>General</c:formatCode>
                <c:ptCount val="5"/>
                <c:pt idx="0">
                  <c:v>9.03</c:v>
                </c:pt>
                <c:pt idx="1">
                  <c:v>8</c:v>
                </c:pt>
                <c:pt idx="2">
                  <c:v>7</c:v>
                </c:pt>
                <c:pt idx="3">
                  <c:v>6.67</c:v>
                </c:pt>
                <c:pt idx="4">
                  <c:v>6.33</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49</c:v>
                </c:pt>
                <c:pt idx="1">
                  <c:v>13</c:v>
                </c:pt>
                <c:pt idx="2">
                  <c:v>8</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DC2626"/>
              </a:solidFill>
              <a:effectLst/>
            </c:spPr>
          </c:dPt>
          <c:dPt>
            <c:idx val="7"/>
            <c:invertIfNegative val="0"/>
            <c:bubble3D val="0"/>
            <c:spPr>
              <a:solidFill>
                <a:srgbClr val="DC2626"/>
              </a:solidFill>
              <a:effectLst/>
            </c:spPr>
          </c:dPt>
          <c:dPt>
            <c:idx val="8"/>
            <c:invertIfNegative val="0"/>
            <c:bubble3D val="0"/>
            <c:spPr>
              <a:solidFill>
                <a:srgbClr val="DC2626"/>
              </a:solidFill>
              <a:effectLst/>
            </c:spPr>
          </c:dPt>
          <c:cat>
            <c:multiLvlStrRef>
              <c:f>Sheet1!$A$2:$A$10</c:f>
              <c:multiLvlStrCache>
                <c:ptCount val="9"/>
                <c:lvl>
                  <c:pt idx="0">
                    <c:v>10点</c:v>
                  </c:pt>
                  <c:pt idx="1">
                    <c:v>9点</c:v>
                  </c:pt>
                  <c:pt idx="2">
                    <c:v>8点</c:v>
                  </c:pt>
                  <c:pt idx="3">
                    <c:v>7点</c:v>
                  </c:pt>
                  <c:pt idx="4">
                    <c:v>6点</c:v>
                  </c:pt>
                  <c:pt idx="5">
                    <c:v>5点</c:v>
                  </c:pt>
                  <c:pt idx="6">
                    <c:v>4点</c:v>
                  </c:pt>
                  <c:pt idx="7">
                    <c:v>3点</c:v>
                  </c:pt>
                  <c:pt idx="8">
                    <c:v>2点</c:v>
                  </c:pt>
                </c:lvl>
              </c:multiLvlStrCache>
            </c:multiLvlStrRef>
          </c:cat>
          <c:val>
            <c:numRef>
              <c:f>Sheet1!$B$2:$B$10</c:f>
              <c:numCache>
                <c:formatCode>General</c:formatCode>
                <c:ptCount val="9"/>
                <c:pt idx="0">
                  <c:v>23</c:v>
                </c:pt>
                <c:pt idx="1">
                  <c:v>7</c:v>
                </c:pt>
                <c:pt idx="2">
                  <c:v>19</c:v>
                </c:pt>
                <c:pt idx="3">
                  <c:v>4</c:v>
                </c:pt>
                <c:pt idx="4">
                  <c:v>6</c:v>
                </c:pt>
                <c:pt idx="5">
                  <c:v>3</c:v>
                </c:pt>
                <c:pt idx="6">
                  <c:v>3</c:v>
                </c:pt>
                <c:pt idx="7">
                  <c:v>2</c:v>
                </c:pt>
                <c:pt idx="8">
                  <c:v>3</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comfort_hakata</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レビュー総数：70件（5サイト）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7.83</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70.0%</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DC2626"/>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11.4%</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70件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位置很好，房間很舊，早餐有啲難食 立地は最高だが、部屋は古く、朝食は少し残念だった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位置很好，房間很舊，早餐有啲難食 立地は最高だが、部屋は古く、朝食は少し残念だった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朝食のスタッフの方が案内などの対応がてきぱきされており良かった バスルームが古く、清潔感が低い　カビもみられる バ...</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朝食のスタッフの方が案内などの対応がてきぱきされており良かった バスルームが古く、清潔感が低い　カビもみられる バ...</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設備の老朽化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それから設備の古さが目につく</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壁紙が剥がれていたり、エアコンの吐き出し口がズレていたり、水まわりも年季が入っています</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FF9800"/>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FF9800"/>
                </a:solidFill>
                <a:latin typeface="Arial" pitchFamily="34" charset="0"/>
                <a:ea typeface="Arial" pitchFamily="34" charset="-122"/>
                <a:cs typeface="Arial" pitchFamily="34" charset="-120"/>
              </a:rPr>
              <a:t>7.83</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D4A843"/>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pitchFamily="34" charset="0"/>
                <a:ea typeface="Arial" pitchFamily="34" charset="-122"/>
                <a:cs typeface="Arial" pitchFamily="34" charset="-120"/>
              </a:rPr>
              <a:t>70.0%</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DC2626"/>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11.4%</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70件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Trip.com(9.03)が最高スコア。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Google(6.3)が相対的に低い。口コミ返信の強化が急務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9.03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9.03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6.67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3.17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49件（70.0%）</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13件（18.6%）</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8件（11.4%）</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位置很好，房間很舊，早餐有啲難食 立地は最高だが、部屋は古く、朝食は少し残念だった</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「立地は超がつくほど良好」</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位置很好，房間很舊，早餐有啲難食 立地は最高だが、部屋は古く、朝食は少し残念だった</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「朝食のスタッフの方が案内などの対応がてきぱきされており良かった バスルームが古く、清潔感が低い　カビもみられる バ...」</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朝食のスタッフの方が案内などの対応がてきぱきされており良かった バスルームが古く、清潔感が低い　カビもみられる バ...</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「スタッフさんの対応も良かった」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それから設備の古さが目につく</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「Comfortable住起來根本uncomfortable 房間的佈局、燈光、環境、設計爛的要命」</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朝食のスタッフの方が案内などの対応がてきぱきされており良かった バスルームが古く、清潔感が低い　カビもみられる バ...</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「清掃、手入れの甘さを感じさせました」</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7件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コストパフォーマンス</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料金も手頃で、部屋も清潔です</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「手頃な価格で、料金に見合った広さがあり、立地も良く、朝食も付いています」</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朝食のスタッフの方が案内などの対応がてきぱきされており良かった バスルームが古く、清潔感が低い　カビもみられる バ...</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それから設備の古さが目につく</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壁紙が剥がれていたり、エアコンの吐き出し口がズレていたり、水まわりも年季が入っています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8件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部屋の防音性が低く、隣の部屋がものすごくうるさい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7件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清掃不備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水まわりが、正直汚い……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Only small issue sometimes bathroom smells</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朝食はほぼ毎日同じです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位置很好，房間很舊，早餐有啲難食 立地は最高だが、部屋は古く、朝食は少し残念だった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どこから臭いがするのかは分かりません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清掃品質の向上</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清掃チェックリストの見直しと強化（ベッド下・隅の重点確認）</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清掃後のダブルチェック体制の導入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清掃スタッフへの再研修実施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7.83点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8.3点以上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70.0%</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75%以上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11.4%</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6%以下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6.3点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7.3点以上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浴室・水回りクレーム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約11件/期間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5件以下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comfort_hakata 口コミ分析改善レポート</dc:title>
  <dc:subject>PptxGenJS Presentation</dc:subject>
  <dc:creator>Hotel Consulting</dc:creator>
  <cp:lastModifiedBy>Hotel Consulting</cp:lastModifiedBy>
  <cp:revision>1</cp:revision>
  <dcterms:created xsi:type="dcterms:W3CDTF">2026-04-19T23:31:10Z</dcterms:created>
  <dcterms:modified xsi:type="dcterms:W3CDTF">2026-04-19T23:31:10Z</dcterms:modified>
</cp:coreProperties>
</file>