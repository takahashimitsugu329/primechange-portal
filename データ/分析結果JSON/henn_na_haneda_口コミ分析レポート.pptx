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じゃらん</c:v>
                  </c:pt>
                  <c:pt idx="2">
                    <c:v>楽天トラベル</c:v>
                  </c:pt>
                  <c:pt idx="3">
                    <c:v>Agoda</c:v>
                  </c:pt>
                  <c:pt idx="4">
                    <c:v>Booking.com</c:v>
                  </c:pt>
                  <c:pt idx="5">
                    <c:v>Google</c:v>
                  </c:pt>
                </c:lvl>
              </c:multiLvlStrCache>
            </c:multiLvlStrRef>
          </c:cat>
          <c:val>
            <c:numRef>
              <c:f>Sheet1!$B$2:$B$7</c:f>
              <c:numCache>
                <c:formatCode>General</c:formatCode>
                <c:ptCount val="6"/>
                <c:pt idx="0">
                  <c:v>9.56</c:v>
                </c:pt>
                <c:pt idx="1">
                  <c:v>8.75</c:v>
                </c:pt>
                <c:pt idx="2">
                  <c:v>8.63</c:v>
                </c:pt>
                <c:pt idx="3">
                  <c:v>8.4</c:v>
                </c:pt>
                <c:pt idx="4">
                  <c:v>8.23</c:v>
                </c:pt>
                <c:pt idx="5">
                  <c:v>8</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126</c:v>
                </c:pt>
                <c:pt idx="1">
                  <c:v>31</c:v>
                </c:pt>
                <c:pt idx="2">
                  <c:v>7</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DC2626"/>
              </a:solidFill>
              <a:effectLst/>
            </c:spPr>
          </c:dPt>
          <c:dPt>
            <c:idx val="7"/>
            <c:invertIfNegative val="0"/>
            <c:bubble3D val="0"/>
            <c:spPr>
              <a:solidFill>
                <a:srgbClr val="DC2626"/>
              </a:solidFill>
              <a:effectLst/>
            </c:spPr>
          </c:dPt>
          <c:dPt>
            <c:idx val="8"/>
            <c:invertIfNegative val="0"/>
            <c:bubble3D val="0"/>
            <c:spPr>
              <a:solidFill>
                <a:srgbClr val="DC2626"/>
              </a:solidFill>
              <a:effectLst/>
            </c:spPr>
          </c:dPt>
          <c:cat>
            <c:multiLvlStrRef>
              <c:f>Sheet1!$A$2:$A$10</c:f>
              <c:multiLvlStrCache>
                <c:ptCount val="9"/>
                <c:lvl>
                  <c:pt idx="0">
                    <c:v>10点</c:v>
                  </c:pt>
                  <c:pt idx="1">
                    <c:v>9点</c:v>
                  </c:pt>
                  <c:pt idx="2">
                    <c:v>8点</c:v>
                  </c:pt>
                  <c:pt idx="3">
                    <c:v>7点</c:v>
                  </c:pt>
                  <c:pt idx="4">
                    <c:v>6点</c:v>
                  </c:pt>
                  <c:pt idx="5">
                    <c:v>5点</c:v>
                  </c:pt>
                  <c:pt idx="6">
                    <c:v>4点</c:v>
                  </c:pt>
                  <c:pt idx="7">
                    <c:v>3点</c:v>
                  </c:pt>
                  <c:pt idx="8">
                    <c:v>2点</c:v>
                  </c:pt>
                </c:lvl>
              </c:multiLvlStrCache>
            </c:multiLvlStrRef>
          </c:cat>
          <c:val>
            <c:numRef>
              <c:f>Sheet1!$B$2:$B$10</c:f>
              <c:numCache>
                <c:formatCode>General</c:formatCode>
                <c:ptCount val="9"/>
                <c:pt idx="0">
                  <c:v>61</c:v>
                </c:pt>
                <c:pt idx="1">
                  <c:v>23</c:v>
                </c:pt>
                <c:pt idx="2">
                  <c:v>42</c:v>
                </c:pt>
                <c:pt idx="3">
                  <c:v>16</c:v>
                </c:pt>
                <c:pt idx="4">
                  <c:v>11</c:v>
                </c:pt>
                <c:pt idx="5">
                  <c:v>4</c:v>
                </c:pt>
                <c:pt idx="6">
                  <c:v>2</c:v>
                </c:pt>
                <c:pt idx="7">
                  <c:v>1</c:v>
                </c:pt>
                <c:pt idx="8">
                  <c:v>4</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henn_na_haneda</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レビュー総数：164件（6サイト）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作成日：2026年4月19日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8.35</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76.8%</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4.3%</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164件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เดินทางสะดวก ใกล้สนามบิน 空港に近い便利な立地</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空港シャトルサービスもあるので、旅行もとても便利です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清潔さ・清掃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Good breakfast, room was as advertised, everything was clean</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無料シャトルバスもありますが、京急の駅が近いので空港へすぐ到着できて大変便利でした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Habitaciones minúsculas, con amenities que están de sobra...</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部屋の狭さ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部屋は小さいですが、必要なものはすべて揃っています</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8.35</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D4A843"/>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D4A843"/>
                </a:solidFill>
                <a:latin typeface="Arial" pitchFamily="34" charset="0"/>
                <a:ea typeface="Arial" pitchFamily="34" charset="-122"/>
                <a:cs typeface="Arial" pitchFamily="34" charset="-120"/>
              </a:rPr>
              <a:t>76.8%</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4.3%</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164件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Trip.com(9.56)が最高スコア。</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4.38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8.75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4.32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8.63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8.23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126件（76.8%）</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31件（18.9%）</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7件（4.3%）</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เดินทางสะดวก ใกล้สนามบิน 空港に近い便利な立地</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「ロビーにも自販機のパスタなどが売っていて便利でした」</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空港シャトルサービスもあるので、旅行もとても便利です</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「チェックインには、人間味のある対応が欠けている」</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Good breakfast, room was as advertised, everything was clean</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「館内はきれいに清掃されていて気持ちよく過ごせました」</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部屋は狭く、余計なアメニティが置かれていて、さらに場所を取っている</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「部屋は広々としていてとても快適です」</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Good breakfast, room was as advertised, everything was clean</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「すぐ近くにスーパーやコンビニがあるので、夕飯や朝ごはんには困りませんでした」</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9件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すぐ近くにスーパーやコンビニがあるので、夕飯や朝ごはんには困りませんでした</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「場所も大鳥居駅から近く、周りにもコンビニやテイクアウトできるレストランがあったので便利でした」</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無料シャトルバスもありますが、京急の駅が近いので空港へすぐ到着できて大変便利でした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Habitaciones minúsculas, con amenities que están de sobra...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27件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部屋は小さいですが、必要なものはすべて揃っています</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どうして朝のシャトルバスがなくなったのか分かりませんが、結構残念でした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早朝出発の人などの音が気になるのと、お風呂の排水口の臭いが気になる〜後は快適に過ごせた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Also, I booked this hotel because I thought the shuttle b...</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早朝出発の人などの音が気になるのと、お風呂の排水口の臭いが気になる〜後は快適に過ごせた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初めて宿泊させていただきました 話に聞いてた通り恐竜がお出迎えしてくれるフロントにはやっぱりビックリさせられました...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18" name="Shape 16"/>
          <p:cNvSpPr/>
          <p:nvPr/>
        </p:nvSpPr>
        <p:spPr>
          <a:xfrm>
            <a:off x="0" y="4800600"/>
            <a:ext cx="9144000" cy="342900"/>
          </a:xfrm>
          <a:prstGeom prst="rect">
            <a:avLst/>
          </a:prstGeom>
          <a:solidFill>
            <a:srgbClr val="1A2744"/>
          </a:solidFill>
          <a:ln/>
        </p:spPr>
      </p:sp>
      <p:sp>
        <p:nvSpPr>
          <p:cNvPr id="19" name="Text 1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0" name="Text 1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8.35点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8.7点以上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76.8%</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82%以上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浴室・水回りクレーム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約51件/期間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25件以下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10896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108960"/>
            <a:ext cx="54864" cy="640080"/>
          </a:xfrm>
          <a:prstGeom prst="rect">
            <a:avLst/>
          </a:prstGeom>
          <a:solidFill>
            <a:srgbClr val="3B7DD8"/>
          </a:solidFill>
          <a:ln/>
        </p:spPr>
      </p:sp>
      <p:sp>
        <p:nvSpPr>
          <p:cNvPr id="8" name="Text 5"/>
          <p:cNvSpPr/>
          <p:nvPr/>
        </p:nvSpPr>
        <p:spPr>
          <a:xfrm>
            <a:off x="640080" y="310896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henn_na_haneda 口コミ分析改善レポート</dc:title>
  <dc:subject>PptxGenJS Presentation</dc:subject>
  <dc:creator>Hotel Consulting</dc:creator>
  <cp:lastModifiedBy>Hotel Consulting</cp:lastModifiedBy>
  <cp:revision>1</cp:revision>
  <dcterms:created xsi:type="dcterms:W3CDTF">2026-04-19T23:31:09Z</dcterms:created>
  <dcterms:modified xsi:type="dcterms:W3CDTF">2026-04-19T23:31:09Z</dcterms:modified>
</cp:coreProperties>
</file>