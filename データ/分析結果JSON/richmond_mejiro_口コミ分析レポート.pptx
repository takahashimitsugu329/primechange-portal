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Agoda</c:v>
                  </c:pt>
                  <c:pt idx="1">
                    <c:v>Trip.com</c:v>
                  </c:pt>
                  <c:pt idx="2">
                    <c:v>Google</c:v>
                  </c:pt>
                  <c:pt idx="3">
                    <c:v>楽天トラベル</c:v>
                  </c:pt>
                  <c:pt idx="4">
                    <c:v>Booking.com</c:v>
                  </c:pt>
                  <c:pt idx="5">
                    <c:v>じゃらん</c:v>
                  </c:pt>
                </c:lvl>
              </c:multiLvlStrCache>
            </c:multiLvlStrRef>
          </c:cat>
          <c:val>
            <c:numRef>
              <c:f>Sheet1!$B$2:$B$7</c:f>
              <c:numCache>
                <c:formatCode>General</c:formatCode>
                <c:ptCount val="6"/>
                <c:pt idx="0">
                  <c:v>10</c:v>
                </c:pt>
                <c:pt idx="1">
                  <c:v>9.48</c:v>
                </c:pt>
                <c:pt idx="2">
                  <c:v>8.4</c:v>
                </c:pt>
                <c:pt idx="3">
                  <c:v>8</c:v>
                </c:pt>
                <c:pt idx="4">
                  <c:v>7.86</c:v>
                </c:pt>
                <c:pt idx="5">
                  <c:v>7.83</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61</c:v>
                </c:pt>
                <c:pt idx="1">
                  <c:v>9</c:v>
                </c:pt>
                <c:pt idx="2">
                  <c:v>3</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DC2626"/>
              </a:solidFill>
              <a:effectLst/>
            </c:spPr>
          </c:dPt>
          <c:dPt>
            <c:idx val="7"/>
            <c:invertIfNegative val="0"/>
            <c:bubble3D val="0"/>
            <c:spPr>
              <a:solidFill>
                <a:srgbClr val="DC2626"/>
              </a:solidFill>
              <a:effectLst/>
            </c:spPr>
          </c:dPt>
          <c:cat>
            <c:multiLvlStrRef>
              <c:f>Sheet1!$A$2:$A$9</c:f>
              <c:multiLvlStrCache>
                <c:ptCount val="8"/>
                <c:lvl>
                  <c:pt idx="0">
                    <c:v>10点</c:v>
                  </c:pt>
                  <c:pt idx="1">
                    <c:v>9点</c:v>
                  </c:pt>
                  <c:pt idx="2">
                    <c:v>8点</c:v>
                  </c:pt>
                  <c:pt idx="3">
                    <c:v>7点</c:v>
                  </c:pt>
                  <c:pt idx="4">
                    <c:v>6点</c:v>
                  </c:pt>
                  <c:pt idx="5">
                    <c:v>5点</c:v>
                  </c:pt>
                  <c:pt idx="6">
                    <c:v>3点</c:v>
                  </c:pt>
                  <c:pt idx="7">
                    <c:v>2点</c:v>
                  </c:pt>
                </c:lvl>
              </c:multiLvlStrCache>
            </c:multiLvlStrRef>
          </c:cat>
          <c:val>
            <c:numRef>
              <c:f>Sheet1!$B$2:$B$9</c:f>
              <c:numCache>
                <c:formatCode>General</c:formatCode>
                <c:ptCount val="8"/>
                <c:pt idx="0">
                  <c:v>30</c:v>
                </c:pt>
                <c:pt idx="1">
                  <c:v>9</c:v>
                </c:pt>
                <c:pt idx="2">
                  <c:v>22</c:v>
                </c:pt>
                <c:pt idx="3">
                  <c:v>4</c:v>
                </c:pt>
                <c:pt idx="4">
                  <c:v>3</c:v>
                </c:pt>
                <c:pt idx="5">
                  <c:v>2</c:v>
                </c:pt>
                <c:pt idx="6">
                  <c:v>1</c:v>
                </c:pt>
                <c:pt idx="7">
                  <c:v>2</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richmond_mejiro</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レビュー総数：73件（6サイト）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8.49</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83.6%</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4.1%</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73件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ホテルの立地は最高でした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とにかくスタッフに電話したら、とても親切に対応してくれて、対応してくれたのはありがたかったのですが、エアコンの音は...</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快適さ・設備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ベッドが少し堅かった</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エアコン・空調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It was easily accessible to all the attractions</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理由はわかりませんが、廊下とバスルームの室温が高く、ときに暑く感じるほどでした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防音性能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ああ、エアコンの音がうるさくてよく眠れません</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2196F3"/>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2196F3"/>
                </a:solidFill>
                <a:latin typeface="Arial" pitchFamily="34" charset="0"/>
                <a:ea typeface="Arial" pitchFamily="34" charset="-122"/>
                <a:cs typeface="Arial" pitchFamily="34" charset="-120"/>
              </a:rPr>
              <a:t>8.49</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16A34A"/>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83.6%</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16A34A"/>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4.1%</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73件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Agoda(10.00)が最高スコア。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じゃらん(7.8)が相対的に低い。口コミ返信の強化が急務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9.48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9.48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7.86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7.86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3.92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7.83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61件（83.6%）</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9件（12.3%）</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3件（4.1%）</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ホテルの立地は最高でした</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「Great location Nothing 何もない」</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とにかくスタッフに電話したら、とても親切に対応してくれて、対応してくれたのはありがたかったのですが、エアコンの音は...</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「チェックイン後、アメニティを選んでいたらスタッフの方が子供用の可愛いアメニティを持ってきてくださり、その他にも塗り...」</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ベッドが少し堅かった</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「Really disturbed us」</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The room is big and clean… will stay at this hotel if we ...</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「ホテルは立地が良く、サービスも素晴らしく、部屋も清潔です」</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朝食はガストのビュッフェでした</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「朝食はすごく面白かったです」</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コストパフォーマンス</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部屋は小さいですが、基本的なアメニティはすべて揃っているので、コストパフォーマンスに優れています</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「素敵でお手頃価格 素敵でお手頃価格」</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It was easily accessible to all the attractions</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理由はわかりませんが、廊下とバスルームの室温が高く、ときに暑く感じるほどでした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9件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ああ、エアコンの音がうるさくてよく眠れません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房間很不錯 酒店負一層有投幣的洗衣機 500日圓就可以把衣服洗凈烘乾 非常方便 前台服務職員非常溫馨 服務態度很好...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部屋は小さいですが、基本的なアメニティはすべて揃っているので、コストパフォーマンスに優れています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窓がない部屋だったので寝泊まりだけでは充分ですがホテル滞在メインだと部屋有りのとこがいいかもです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設備の老朽化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部屋はやや年季が入っていますが、きれいに掃除されておりました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朝食の改善要望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宿泊者サービスがどこもウェルカムドリンクでチェックイン時には終わっていることがほどんどでしたが、こちらは朝食時にホ...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清掃不備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汚いです 汚いです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客室の消臭対策の強化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チェックアウト後の換気・消臭スプレー処理の徹底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定期的な脱臭剤の設置と交換フローの確立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喫煙・臭いに関するクレーム発生時の即座対応マニュアル作成</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清掃品質の向上</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清掃チェックリストの見直しと強化（ベッド下・隅の重点確認）</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清掃後のダブルチェック体制の導入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清掃スタッフへの再研修実施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朝食サービスの改善</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メニューの定期的な見直しとバリエーション追加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補充頻度の向上と品切れ防止</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宿泊客数に応じた朝食準備量の最適化</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客室リニューアル計画</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壁紙・カーペットの張替えによる「古さ」印象の払拭</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照明のLED化・調光機能の追加で客室の雰囲気向上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USB充電ポート付きコンセントの設置</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8.49点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8.8点以上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83.6%</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89%以上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4.1%</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じゃらん平均評価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7.8点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8.8点以上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エアコン・空調クレーム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約16件/期間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richmond_mejiro 口コミ分析改善レポート</dc:title>
  <dc:subject>PptxGenJS Presentation</dc:subject>
  <dc:creator>Hotel Consulting</dc:creator>
  <cp:lastModifiedBy>Hotel Consulting</cp:lastModifiedBy>
  <cp:revision>1</cp:revision>
  <dcterms:created xsi:type="dcterms:W3CDTF">2026-04-19T23:31:02Z</dcterms:created>
  <dcterms:modified xsi:type="dcterms:W3CDTF">2026-04-19T23:31:02Z</dcterms:modified>
</cp:coreProperties>
</file>