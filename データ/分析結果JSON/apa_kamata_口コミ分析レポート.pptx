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Sheet1!$A$2:$A$5</c:f>
              <c:multiLvlStrCache>
                <c:ptCount val="4"/>
                <c:lvl>
                  <c:pt idx="0">
                    <c:v>Booking.com</c:v>
                  </c:pt>
                  <c:pt idx="1">
                    <c:v>Google</c:v>
                  </c:pt>
                  <c:pt idx="2">
                    <c:v>じゃらん</c:v>
                  </c:pt>
                  <c:pt idx="3">
                    <c:v>Agoda</c:v>
                  </c:pt>
                </c:lvl>
              </c:multiLvlStrCache>
            </c:multiLvlStrRef>
          </c:cat>
          <c:val>
            <c:numRef>
              <c:f>Sheet1!$B$2:$B$5</c:f>
              <c:numCache>
                <c:formatCode>General</c:formatCode>
                <c:ptCount val="4"/>
                <c:pt idx="0">
                  <c:v>8</c:v>
                </c:pt>
                <c:pt idx="1">
                  <c:v>8</c:v>
                </c:pt>
                <c:pt idx="2">
                  <c:v>7.33</c:v>
                </c:pt>
                <c:pt idx="3">
                  <c:v>6.67</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18</c:v>
                </c:pt>
                <c:pt idx="1">
                  <c:v>8</c:v>
                </c:pt>
                <c:pt idx="2">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cat>
            <c:multiLvlStrRef>
              <c:f>Sheet1!$A$2:$A$9</c:f>
              <c:multiLvlStrCache>
                <c:ptCount val="8"/>
                <c:lvl>
                  <c:pt idx="0">
                    <c:v>10点</c:v>
                  </c:pt>
                  <c:pt idx="1">
                    <c:v>9点</c:v>
                  </c:pt>
                  <c:pt idx="2">
                    <c:v>8点</c:v>
                  </c:pt>
                  <c:pt idx="3">
                    <c:v>7点</c:v>
                  </c:pt>
                  <c:pt idx="4">
                    <c:v>6点</c:v>
                  </c:pt>
                  <c:pt idx="5">
                    <c:v>5点</c:v>
                  </c:pt>
                  <c:pt idx="6">
                    <c:v>4点</c:v>
                  </c:pt>
                  <c:pt idx="7">
                    <c:v>3点</c:v>
                  </c:pt>
                </c:lvl>
              </c:multiLvlStrCache>
            </c:multiLvlStrRef>
          </c:cat>
          <c:val>
            <c:numRef>
              <c:f>Sheet1!$B$2:$B$9</c:f>
              <c:numCache>
                <c:formatCode>General</c:formatCode>
                <c:ptCount val="8"/>
                <c:pt idx="0">
                  <c:v>5</c:v>
                </c:pt>
                <c:pt idx="1">
                  <c:v>2</c:v>
                </c:pt>
                <c:pt idx="2">
                  <c:v>11</c:v>
                </c:pt>
                <c:pt idx="3">
                  <c:v>1</c:v>
                </c:pt>
                <c:pt idx="4">
                  <c:v>5</c:v>
                </c:pt>
                <c:pt idx="5">
                  <c:v>2</c:v>
                </c:pt>
                <c:pt idx="6">
                  <c:v>1</c:v>
                </c:pt>
                <c:pt idx="7">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apa_kamata</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レビュー総数：28件（4サイト）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7.50</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64.3%</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7.1%</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28件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他のアバよりも狭い 駅からは遠いが、その分比較的安い 羽田空港の乗り継ぎに利用するなら十分か 他のアバよりも狭い ...</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清潔さ・清掃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きれい</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フロントロビーは非常に狭かったですが、これはどうしようもない点です</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他のアバよりも狭い 駅からは遠いが、その分比較的安い 羽田空港の乗り継ぎに利用するなら十分か 他のアバよりも狭い ...</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The room itself was decent -- small, but standard for APA...</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防音性能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道路沿いだったけど防音がしっかりされていて外の音は聞こえない</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FF980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FF9800"/>
                </a:solidFill>
                <a:latin typeface="Arial" pitchFamily="34" charset="0"/>
                <a:ea typeface="Arial" pitchFamily="34" charset="-122"/>
                <a:cs typeface="Arial" pitchFamily="34" charset="-120"/>
              </a:rPr>
              <a:t>7.50</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64.3%</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7.1%</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28件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Google(8.00)が最高スコア。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Agoda(6.7)が相対的に低い。口コミ返信の強化が急務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18件（64.3%）</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8件（28.6%）</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2件（7.1%）</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「The location was great, located right halfway between JR ...」</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きれい</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「Clean and ready for rest」</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6件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フロントロビーは非常に狭かったですが、これはどうしようもない点です</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「フロントの愛想がない」</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6件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ベッドはまあまあでしたが、枕は薄くてひどかったです</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「設備は必要なものはすべてそろっていて、必要十分です」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ビュッフェ式の朝食は1日あたり12～16カナダドルも追加料金がかかるので、近くにスーパーやコンビニがあることを考え...</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「駅近で周りにスーパー、コンビニがあるところ」</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コストパフォーマンス</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The room itself was decent -- small, but standard for APA...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道路沿いだったけど防音がしっかりされていて外の音は聞こえない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Coming from Keikyu-Kamata there was a shoutengai giving p...</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歯ブラシでこすれば、パッと見はもっときれいになりそうなので、ちょっと残念なところ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そこは汚くて埃っぽく、以前の訪問時の残骸も散乱していた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口コミ返信体制の構築</a:t>
            </a:r>
            <a:endParaRPr lang="en-US" sz="1000" dirty="0"/>
          </a:p>
        </p:txBody>
      </p:sp>
      <p:sp>
        <p:nvSpPr>
          <p:cNvPr id="13" name="Text 11"/>
          <p:cNvSpPr/>
          <p:nvPr/>
        </p:nvSpPr>
        <p:spPr>
          <a:xfrm>
            <a:off x="64008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全サイトの口コミに48時間以内の返信を目標に設定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特に低評価レビューへのフォローアップ強化</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客室設備のアップグレード</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内装の定期的なリフレッシュ計画の策定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照明・電源周りの設備更新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快適性向上のための設備投資計画の立案</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7.50点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64.3%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74%以上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7.1%</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Agoda平均評価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6.7点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7.7点以上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部屋の狭さクレーム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約3件/期間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apa_kamata 口コミ分析改善レポート</dc:title>
  <dc:subject>PptxGenJS Presentation</dc:subject>
  <dc:creator>Hotel Consulting</dc:creator>
  <cp:lastModifiedBy>Hotel Consulting</cp:lastModifiedBy>
  <cp:revision>1</cp:revision>
  <dcterms:created xsi:type="dcterms:W3CDTF">2026-04-19T23:31:06Z</dcterms:created>
  <dcterms:modified xsi:type="dcterms:W3CDTF">2026-04-19T23:31:06Z</dcterms:modified>
</cp:coreProperties>
</file>